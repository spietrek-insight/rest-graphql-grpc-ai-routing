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49a1721c3e54d78" /><Relationship Type="http://schemas.openxmlformats.org/officeDocument/2006/relationships/extended-properties" Target="/docProps/app.xml" Id="R87d572a234d649ad" /><Relationship Type="http://schemas.openxmlformats.org/officeDocument/2006/relationships/officeDocument" Target="/ppt/presentation.xml" Id="R029de28b5f2d4c34" /></Relationships>
</file>

<file path=ppt/presentation.xml><?xml version="1.0" encoding="utf-8"?>
<p:presentation xmlns:p="http://schemas.openxmlformats.org/presentationml/2006/main">
  <p:sldMasterIdLst>
    <p:sldMasterId xmlns:r="http://schemas.openxmlformats.org/officeDocument/2006/relationships" id="2147483648" r:id="Ra42e7a3a331e470c"/>
  </p:sldMasterIdLst>
  <p:notesMasterIdLst>
    <p:notesMasterId xmlns:r="http://schemas.openxmlformats.org/officeDocument/2006/relationships" r:id="R6987290363cc415c"/>
  </p:notesMasterIdLst>
  <p:sldIdLst>
    <p:sldId xmlns:r="http://schemas.openxmlformats.org/officeDocument/2006/relationships" id="256" r:id="R7afdd89fad5f40ee"/>
    <p:sldId xmlns:r="http://schemas.openxmlformats.org/officeDocument/2006/relationships" id="257" r:id="R7baa3bf17b464e59"/>
    <p:sldId xmlns:r="http://schemas.openxmlformats.org/officeDocument/2006/relationships" id="258" r:id="Ra221ae266f914f9d"/>
    <p:sldId xmlns:r="http://schemas.openxmlformats.org/officeDocument/2006/relationships" id="259" r:id="R9816680077764fa0"/>
    <p:sldId xmlns:r="http://schemas.openxmlformats.org/officeDocument/2006/relationships" id="260" r:id="Reecaddf7c8024b07"/>
    <p:sldId xmlns:r="http://schemas.openxmlformats.org/officeDocument/2006/relationships" id="261" r:id="Rae2dd15aefef4a0b"/>
    <p:sldId xmlns:r="http://schemas.openxmlformats.org/officeDocument/2006/relationships" id="262" r:id="R816bc068faf44c0a"/>
    <p:sldId xmlns:r="http://schemas.openxmlformats.org/officeDocument/2006/relationships" id="263" r:id="Rfb47afc409414b93"/>
    <p:sldId xmlns:r="http://schemas.openxmlformats.org/officeDocument/2006/relationships" id="264" r:id="R638abaa593664c37"/>
    <p:sldId xmlns:r="http://schemas.openxmlformats.org/officeDocument/2006/relationships" id="265" r:id="R41717585bd084f6e"/>
    <p:sldId xmlns:r="http://schemas.openxmlformats.org/officeDocument/2006/relationships" id="266" r:id="R39ea4291a5f4453c"/>
    <p:sldId xmlns:r="http://schemas.openxmlformats.org/officeDocument/2006/relationships" id="267" r:id="Ra7cd0473defc4b91"/>
    <p:sldId xmlns:r="http://schemas.openxmlformats.org/officeDocument/2006/relationships" id="268" r:id="Rbf25d30f12a941a1"/>
    <p:sldId xmlns:r="http://schemas.openxmlformats.org/officeDocument/2006/relationships" id="269" r:id="R7fd8210b11924361"/>
    <p:sldId xmlns:r="http://schemas.openxmlformats.org/officeDocument/2006/relationships" id="270" r:id="R0b0d23610d804552"/>
    <p:sldId xmlns:r="http://schemas.openxmlformats.org/officeDocument/2006/relationships" id="271" r:id="R4d571960559d428b"/>
    <p:sldId xmlns:r="http://schemas.openxmlformats.org/officeDocument/2006/relationships" id="272" r:id="R6d9648f6c1bf41a4"/>
    <p:sldId xmlns:r="http://schemas.openxmlformats.org/officeDocument/2006/relationships" id="273" r:id="Rf0ad06d291a8449c"/>
    <p:sldId xmlns:r="http://schemas.openxmlformats.org/officeDocument/2006/relationships" id="274" r:id="Rd9443b4280f84938"/>
    <p:sldId xmlns:r="http://schemas.openxmlformats.org/officeDocument/2006/relationships" id="275" r:id="R9dd178f82018430b"/>
    <p:sldId xmlns:r="http://schemas.openxmlformats.org/officeDocument/2006/relationships" id="276" r:id="Re1d41a2dffaf4af4"/>
    <p:sldId xmlns:r="http://schemas.openxmlformats.org/officeDocument/2006/relationships" id="277" r:id="R8f48654e92394389"/>
    <p:sldId xmlns:r="http://schemas.openxmlformats.org/officeDocument/2006/relationships" id="278" r:id="Rbe39a9fa45ab42a2"/>
    <p:sldId xmlns:r="http://schemas.openxmlformats.org/officeDocument/2006/relationships" id="279" r:id="R6a8a151d4f1e4ec0"/>
    <p:sldId xmlns:r="http://schemas.openxmlformats.org/officeDocument/2006/relationships" id="280" r:id="R5d99bf26c4b24eed"/>
    <p:sldId xmlns:r="http://schemas.openxmlformats.org/officeDocument/2006/relationships" id="281" r:id="R1d5076e3d6094333"/>
    <p:sldId xmlns:r="http://schemas.openxmlformats.org/officeDocument/2006/relationships" id="282" r:id="R7fad98c88c144be9"/>
  </p:sldIdLst>
  <p:sldSz cx="12192000" cy="6858000"/>
  <p:notesSz cx="6858000" cy="9144000"/>
  <p:defaultText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64c2c2ac180d4597" /><Relationship Type="http://schemas.openxmlformats.org/officeDocument/2006/relationships/slideMaster" Target="/ppt/slideMasters/slideMaster1.xml" Id="Ra42e7a3a331e470c" /><Relationship Type="http://schemas.openxmlformats.org/officeDocument/2006/relationships/notesMaster" Target="/ppt/notesMasters/notesMaster1.xml" Id="R6987290363cc415c" /><Relationship Type="http://schemas.openxmlformats.org/officeDocument/2006/relationships/presProps" Target="/ppt/presProps.xml" Id="Rb38f5a0bcc034f4c" /><Relationship Type="http://schemas.openxmlformats.org/officeDocument/2006/relationships/viewProps" Target="/ppt/viewProps.xml" Id="R9ce395cade534668" /><Relationship Type="http://schemas.openxmlformats.org/officeDocument/2006/relationships/tableStyles" Target="/ppt/tableStyles.xml" Id="R566a991e6bbe4dd9" /><Relationship Type="http://schemas.openxmlformats.org/officeDocument/2006/relationships/slide" Target="/ppt/slides/slide1.xml" Id="R7afdd89fad5f40ee" /><Relationship Type="http://schemas.openxmlformats.org/officeDocument/2006/relationships/slide" Target="/ppt/slides/slide2.xml" Id="R7baa3bf17b464e59" /><Relationship Type="http://schemas.openxmlformats.org/officeDocument/2006/relationships/slide" Target="/ppt/slides/slide3.xml" Id="Ra221ae266f914f9d" /><Relationship Type="http://schemas.openxmlformats.org/officeDocument/2006/relationships/slide" Target="/ppt/slides/slide4.xml" Id="R9816680077764fa0" /><Relationship Type="http://schemas.openxmlformats.org/officeDocument/2006/relationships/slide" Target="/ppt/slides/slide5.xml" Id="Reecaddf7c8024b07" /><Relationship Type="http://schemas.openxmlformats.org/officeDocument/2006/relationships/slide" Target="/ppt/slides/slide6.xml" Id="Rae2dd15aefef4a0b" /><Relationship Type="http://schemas.openxmlformats.org/officeDocument/2006/relationships/slide" Target="/ppt/slides/slide7.xml" Id="R816bc068faf44c0a" /><Relationship Type="http://schemas.openxmlformats.org/officeDocument/2006/relationships/slide" Target="/ppt/slides/slide8.xml" Id="Rfb47afc409414b93" /><Relationship Type="http://schemas.openxmlformats.org/officeDocument/2006/relationships/slide" Target="/ppt/slides/slide9.xml" Id="R638abaa593664c37" /><Relationship Type="http://schemas.openxmlformats.org/officeDocument/2006/relationships/slide" Target="/ppt/slides/slide10.xml" Id="R41717585bd084f6e" /><Relationship Type="http://schemas.openxmlformats.org/officeDocument/2006/relationships/slide" Target="/ppt/slides/slide11.xml" Id="R39ea4291a5f4453c" /><Relationship Type="http://schemas.openxmlformats.org/officeDocument/2006/relationships/slide" Target="/ppt/slides/slide12.xml" Id="Ra7cd0473defc4b91" /><Relationship Type="http://schemas.openxmlformats.org/officeDocument/2006/relationships/slide" Target="/ppt/slides/slide13.xml" Id="Rbf25d30f12a941a1" /><Relationship Type="http://schemas.openxmlformats.org/officeDocument/2006/relationships/slide" Target="/ppt/slides/slide14.xml" Id="R7fd8210b11924361" /><Relationship Type="http://schemas.openxmlformats.org/officeDocument/2006/relationships/slide" Target="/ppt/slides/slide15.xml" Id="R0b0d23610d804552" /><Relationship Type="http://schemas.openxmlformats.org/officeDocument/2006/relationships/slide" Target="/ppt/slides/slide16.xml" Id="R4d571960559d428b" /><Relationship Type="http://schemas.openxmlformats.org/officeDocument/2006/relationships/slide" Target="/ppt/slides/slide17.xml" Id="R6d9648f6c1bf41a4" /><Relationship Type="http://schemas.openxmlformats.org/officeDocument/2006/relationships/slide" Target="/ppt/slides/slide18.xml" Id="Rf0ad06d291a8449c" /><Relationship Type="http://schemas.openxmlformats.org/officeDocument/2006/relationships/slide" Target="/ppt/slides/slide19.xml" Id="Rd9443b4280f84938" /><Relationship Type="http://schemas.openxmlformats.org/officeDocument/2006/relationships/slide" Target="/ppt/slides/slide20.xml" Id="R9dd178f82018430b" /><Relationship Type="http://schemas.openxmlformats.org/officeDocument/2006/relationships/slide" Target="/ppt/slides/slide21.xml" Id="Re1d41a2dffaf4af4" /><Relationship Type="http://schemas.openxmlformats.org/officeDocument/2006/relationships/slide" Target="/ppt/slides/slide22.xml" Id="R8f48654e92394389" /><Relationship Type="http://schemas.openxmlformats.org/officeDocument/2006/relationships/slide" Target="/ppt/slides/slide23.xml" Id="Rbe39a9fa45ab42a2" /><Relationship Type="http://schemas.openxmlformats.org/officeDocument/2006/relationships/slide" Target="/ppt/slides/slide24.xml" Id="R6a8a151d4f1e4ec0" /><Relationship Type="http://schemas.openxmlformats.org/officeDocument/2006/relationships/slide" Target="/ppt/slides/slide25.xml" Id="R5d99bf26c4b24eed" /><Relationship Type="http://schemas.openxmlformats.org/officeDocument/2006/relationships/slide" Target="/ppt/slides/slide26.xml" Id="R1d5076e3d6094333" /><Relationship Type="http://schemas.openxmlformats.org/officeDocument/2006/relationships/slide" Target="/ppt/slides/slide27.xml" Id="R7fad98c88c144be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41fd7b6e1c4415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8ea2f2ff5d44714" /><Relationship Type="http://schemas.openxmlformats.org/officeDocument/2006/relationships/notesMaster" Target="/ppt/notesMasters/notesMaster1.xml" Id="Rd6cd68526f604d66" /></Relationships>
</file>

<file path=ppt/notesSlides/_rels/notesSlide2.xml.rels>&#65279;<?xml version="1.0" encoding="utf-8"?><Relationships xmlns="http://schemas.openxmlformats.org/package/2006/relationships"><Relationship Type="http://schemas.openxmlformats.org/officeDocument/2006/relationships/slide" Target="/ppt/slides/slide2.xml" Id="R3093e3b058a04f25" /><Relationship Type="http://schemas.openxmlformats.org/officeDocument/2006/relationships/notesMaster" Target="/ppt/notesMasters/notesMaster1.xml" Id="Re561c1a01af74811" /></Relationships>
</file>

<file path=ppt/notesSlides/_rels/notesSlide3.xml.rels>&#65279;<?xml version="1.0" encoding="utf-8"?><Relationships xmlns="http://schemas.openxmlformats.org/package/2006/relationships"><Relationship Type="http://schemas.openxmlformats.org/officeDocument/2006/relationships/slide" Target="/ppt/slides/slide3.xml" Id="Rec46cdbf76f3491b" /><Relationship Type="http://schemas.openxmlformats.org/officeDocument/2006/relationships/notesMaster" Target="/ppt/notesMasters/notesMaster1.xml" Id="R1c34995281cf4212" /></Relationships>
</file>

<file path=ppt/notesSlides/_rels/notesSlide4.xml.rels>&#65279;<?xml version="1.0" encoding="utf-8"?><Relationships xmlns="http://schemas.openxmlformats.org/package/2006/relationships"><Relationship Type="http://schemas.openxmlformats.org/officeDocument/2006/relationships/slide" Target="/ppt/slides/slide4.xml" Id="Raad8b880d79645c3" /><Relationship Type="http://schemas.openxmlformats.org/officeDocument/2006/relationships/notesMaster" Target="/ppt/notesMasters/notesMaster1.xml" Id="R2fb9dd5561c544ad" /></Relationships>
</file>

<file path=ppt/notesSlides/_rels/notesSlide5.xml.rels>&#65279;<?xml version="1.0" encoding="utf-8"?><Relationships xmlns="http://schemas.openxmlformats.org/package/2006/relationships"><Relationship Type="http://schemas.openxmlformats.org/officeDocument/2006/relationships/slide" Target="/ppt/slides/slide5.xml" Id="R7fdc85847ecf4971" /><Relationship Type="http://schemas.openxmlformats.org/officeDocument/2006/relationships/notesMaster" Target="/ppt/notesMasters/notesMaster1.xml" Id="R555c968394544903" /></Relationships>
</file>

<file path=ppt/notesSlides/_rels/notesSlide6.xml.rels>&#65279;<?xml version="1.0" encoding="utf-8"?><Relationships xmlns="http://schemas.openxmlformats.org/package/2006/relationships"><Relationship Type="http://schemas.openxmlformats.org/officeDocument/2006/relationships/slide" Target="/ppt/slides/slide6.xml" Id="Rba72a2449a204f1d" /><Relationship Type="http://schemas.openxmlformats.org/officeDocument/2006/relationships/notesMaster" Target="/ppt/notesMasters/notesMaster1.xml" Id="R5ea54656c5a04b99" /></Relationships>
</file>

<file path=ppt/notesSlides/_rels/notesSlide7.xml.rels>&#65279;<?xml version="1.0" encoding="utf-8"?><Relationships xmlns="http://schemas.openxmlformats.org/package/2006/relationships"><Relationship Type="http://schemas.openxmlformats.org/officeDocument/2006/relationships/slide" Target="/ppt/slides/slide7.xml" Id="R3d3b1c513b9f46dd" /><Relationship Type="http://schemas.openxmlformats.org/officeDocument/2006/relationships/notesMaster" Target="/ppt/notesMasters/notesMaster1.xml" Id="Rc911132abd7648bd" /></Relationships>
</file>

<file path=ppt/notesSlides/_rels/notesSlide8.xml.rels>&#65279;<?xml version="1.0" encoding="utf-8"?><Relationships xmlns="http://schemas.openxmlformats.org/package/2006/relationships"><Relationship Type="http://schemas.openxmlformats.org/officeDocument/2006/relationships/slide" Target="/ppt/slides/slide8.xml" Id="R0d357cf3b1ae4e44" /><Relationship Type="http://schemas.openxmlformats.org/officeDocument/2006/relationships/notesMaster" Target="/ppt/notesMasters/notesMaster1.xml" Id="R6fa7e817e6524e06" /></Relationships>
</file>

<file path=ppt/notesSlides/_rels/notesSlide9.xml.rels>&#65279;<?xml version="1.0" encoding="utf-8"?><Relationships xmlns="http://schemas.openxmlformats.org/package/2006/relationships"><Relationship Type="http://schemas.openxmlformats.org/officeDocument/2006/relationships/slide" Target="/ppt/slides/slide9.xml" Id="Rfa70a0c8364d4067" /><Relationship Type="http://schemas.openxmlformats.org/officeDocument/2006/relationships/notesMaster" Target="/ppt/notesMasters/notesMaster1.xml" Id="R2ed91f3f2f204f9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d9cfd67d0b64b54" /><Relationship Type="http://schemas.openxmlformats.org/officeDocument/2006/relationships/notesMaster" Target="/ppt/notesMasters/notesMaster1.xml" Id="Rb374703bbda04a9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5555557fe45495c" /><Relationship Type="http://schemas.openxmlformats.org/officeDocument/2006/relationships/notesMaster" Target="/ppt/notesMasters/notesMaster1.xml" Id="R308a08e7e56c495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4cd7af66d314f77" /><Relationship Type="http://schemas.openxmlformats.org/officeDocument/2006/relationships/notesMaster" Target="/ppt/notesMasters/notesMaster1.xml" Id="R7e38d3ace831473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ec5fc2664ea42ac" /><Relationship Type="http://schemas.openxmlformats.org/officeDocument/2006/relationships/notesMaster" Target="/ppt/notesMasters/notesMaster1.xml" Id="R346cf2eb7f81466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a35a580e6e84407" /><Relationship Type="http://schemas.openxmlformats.org/officeDocument/2006/relationships/notesMaster" Target="/ppt/notesMasters/notesMaster1.xml" Id="R0da04e435396453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25dc1aebb374f94" /><Relationship Type="http://schemas.openxmlformats.org/officeDocument/2006/relationships/notesMaster" Target="/ppt/notesMasters/notesMaster1.xml" Id="Ra27f3055e16c49a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a2d349cec594964" /><Relationship Type="http://schemas.openxmlformats.org/officeDocument/2006/relationships/notesMaster" Target="/ppt/notesMasters/notesMaster1.xml" Id="R1b50e3b6515e446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d9f92ea221a416e" /><Relationship Type="http://schemas.openxmlformats.org/officeDocument/2006/relationships/notesMaster" Target="/ppt/notesMasters/notesMaster1.xml" Id="R7031134e86684eb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c1a768f65554a01" /><Relationship Type="http://schemas.openxmlformats.org/officeDocument/2006/relationships/notesMaster" Target="/ppt/notesMasters/notesMaster1.xml" Id="R44b73bf1d859465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584ee9724bf4bcc" /><Relationship Type="http://schemas.openxmlformats.org/officeDocument/2006/relationships/notesMaster" Target="/ppt/notesMasters/notesMaster1.xml" Id="Rcabe1067ebe0483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2c4f040b58e4246" /><Relationship Type="http://schemas.openxmlformats.org/officeDocument/2006/relationships/notesMaster" Target="/ppt/notesMasters/notesMaster1.xml" Id="Re863484f3a2a438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242c252a9444e80" /><Relationship Type="http://schemas.openxmlformats.org/officeDocument/2006/relationships/notesMaster" Target="/ppt/notesMasters/notesMaster1.xml" Id="Rb8d8612677e345f4"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4fcb663bc054883" /><Relationship Type="http://schemas.openxmlformats.org/officeDocument/2006/relationships/notesMaster" Target="/ppt/notesMasters/notesMaster1.xml" Id="R9465cdba7f5b44a5"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623367ed4e2a4cbf" /><Relationship Type="http://schemas.openxmlformats.org/officeDocument/2006/relationships/notesMaster" Target="/ppt/notesMasters/notesMaster1.xml" Id="R9acd572172b5489f"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48a0cb1e498d463e" /><Relationship Type="http://schemas.openxmlformats.org/officeDocument/2006/relationships/notesMaster" Target="/ppt/notesMasters/notesMaster1.xml" Id="Rff8e7bd2c2be425f"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2da9766c4ddc4f53" /><Relationship Type="http://schemas.openxmlformats.org/officeDocument/2006/relationships/notesMaster" Target="/ppt/notesMasters/notesMaster1.xml" Id="R6bd733788dd64d27"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25f5c6ef4ec34742" /><Relationship Type="http://schemas.openxmlformats.org/officeDocument/2006/relationships/notesMaster" Target="/ppt/notesMasters/notesMaster1.xml" Id="Rf2c46382b01548af"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e63bfa303d224b45" /><Relationship Type="http://schemas.openxmlformats.org/officeDocument/2006/relationships/notesMaster" Target="/ppt/notesMasters/notesMaster1.xml" Id="R4acedeea57cf45e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br/>
          </a:p>
          <a:p xmlns:a="http://schemas.openxmlformats.org/drawingml/2006/main">
            <a:r>
              <a:t>"Thank you all for being here. There is a lot on the agenda today, and we do not take your time lightly."</a:t>
            </a:r>
            <a:br/>
          </a:p>
          <a:p xmlns:a="http://schemas.openxmlformats.org/drawingml/2006/main">
            <a:br/>
          </a:p>
          <a:p xmlns:a="http://schemas.openxmlformats.org/drawingml/2006/main">
            <a:r>
              <a:t>"This is a 300-level session on REST, GraphQL and gRPC. Not a beginner overview, and not a vendor pitch."</a:t>
            </a:r>
            <a:br/>
          </a:p>
          <a:p xmlns:a="http://schemas.openxmlformats.org/drawingml/2006/main">
            <a:br/>
          </a:p>
          <a:p xmlns:a="http://schemas.openxmlformats.org/drawingml/2006/main">
            <a:r>
              <a:t>1. "We will look at where each protocol fits and where it strains."</a:t>
            </a:r>
            <a:br/>
          </a:p>
          <a:p xmlns:a="http://schemas.openxmlformats.org/drawingml/2006/main">
            <a:r>
              <a:t>2. "We will show all three running side by side in one application — real traffic, nothing mocked."</a:t>
            </a:r>
            <a:br/>
          </a:p>
          <a:p xmlns:a="http://schemas.openxmlformats.org/drawingml/2006/main">
            <a:r>
              <a:t>3. "And we will share what we have seen in the field, with clients who had to make this choice for real."</a:t>
            </a:r>
            <a:br/>
          </a:p>
          <a:p xmlns:a="http://schemas.openxmlformats.org/drawingml/2006/main">
            <a:br/>
          </a:p>
          <a:p xmlns:a="http://schemas.openxmlformats.org/drawingml/2006/main">
            <a:r>
              <a:t>BE CLEAR ABOUT THIS:</a:t>
            </a:r>
            <a:br/>
          </a:p>
          <a:p xmlns:a="http://schemas.openxmlformats.org/drawingml/2006/main">
            <a:r>
              <a:t>"There is no winner in this talk. The goal is to leave you with a way to choose, not a protocol to adopt."</a:t>
            </a:r>
            <a:br/>
          </a:p>
          <a:p xmlns:a="http://schemas.openxmlformats.org/drawingml/2006/main">
            <a:br/>
          </a:p>
          <a:p xmlns:a="http://schemas.openxmlformats.org/drawingml/2006/main">
            <a:r>
              <a:t>TRANSITION:</a:t>
            </a:r>
            <a:br/>
          </a:p>
          <a:p xmlns:a="http://schemas.openxmlformats.org/drawingml/2006/main">
            <a:r>
              <a:t>"Let me show you how the session is laid out."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br/>
          </a:p>
          <a:p xmlns:a="http://schemas.openxmlformats.org/drawingml/2006/main">
            <a:r>
              <a:t>"Here is the shape of the session."</a:t>
            </a:r>
            <a:br/>
          </a:p>
          <a:p xmlns:a="http://schemas.openxmlformats.org/drawingml/2006/main">
            <a:br/>
          </a:p>
          <a:p xmlns:a="http://schemas.openxmlformats.org/drawingml/2006/main">
            <a:r>
              <a:t>1. "Section one is the landscape — why this choice is still contentious, how the three compare, and the data set we will use throughout."</a:t>
            </a:r>
            <a:br/>
          </a:p>
          <a:p xmlns:a="http://schemas.openxmlformats.org/drawingml/2006/main">
            <a:r>
              <a:t>2. "Section two is the protocols themselves. Each one gets two slides: the concept, then the working code."</a:t>
            </a:r>
            <a:br/>
          </a:p>
          <a:p xmlns:a="http://schemas.openxmlformats.org/drawingml/2006/main">
            <a:r>
              <a:t>3. "Section three is the live demo and two client stories from the field."</a:t>
            </a:r>
            <a:br/>
          </a:p>
          <a:p xmlns:a="http://schemas.openxmlformats.org/drawingml/2006/main">
            <a:r>
              <a:t>4. "There is an appendix on how the demo uses AI to route questions. We will cover it if time allows, or in Q&amp;A."</a:t>
            </a:r>
            <a:br/>
          </a:p>
          <a:p xmlns:a="http://schemas.openxmlformats.org/drawingml/2006/main">
            <a:br/>
          </a:p>
          <a:p xmlns:a="http://schemas.openxmlformats.org/drawingml/2006/main">
            <a:r>
              <a:t>BE CLEAR ABOUT THIS:</a:t>
            </a:r>
            <a:br/>
          </a:p>
          <a:p xmlns:a="http://schemas.openxmlformats.org/drawingml/2006/main">
            <a:r>
              <a:t>"Everything you see today runs. Every request in the demo is real HTTP, GraphQL or gRPC traffic you can inspect."</a:t>
            </a:r>
            <a:br/>
          </a:p>
          <a:p xmlns:a="http://schemas.openxmlformats.org/drawingml/2006/main">
            <a:br/>
          </a:p>
          <a:p xmlns:a="http://schemas.openxmlformats.org/drawingml/2006/main">
            <a:r>
              <a:t>TRANSITION:</a:t>
            </a:r>
            <a:br/>
          </a:p>
          <a:p xmlns:a="http://schemas.openxmlformats.org/drawingml/2006/main">
            <a:r>
              <a:t>"Let's start with the landscape."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br/>
          </a:p>
          <a:p xmlns:a="http://schemas.openxmlformats.org/drawingml/2006/main">
            <a:r>
              <a:t>"Section one: the landscape."</a:t>
            </a:r>
            <a:br/>
          </a:p>
          <a:p xmlns:a="http://schemas.openxmlformats.org/drawingml/2006/main">
            <a:br/>
          </a:p>
          <a:p xmlns:a="http://schemas.openxmlformats.org/drawingml/2006/main">
            <a:r>
              <a:t>"Three short slides here — the problem, the comparison, and the data we will use for every example."</a:t>
            </a:r>
            <a:br/>
          </a:p>
          <a:p xmlns:a="http://schemas.openxmlformats.org/drawingml/2006/main">
            <a:br/>
          </a:p>
          <a:p xmlns:a="http://schemas.openxmlformats.org/drawingml/2006/main">
            <a:r>
              <a:t>TRANSITION:</a:t>
            </a:r>
            <a:br/>
          </a:p>
          <a:p xmlns:a="http://schemas.openxmlformats.org/drawingml/2006/main">
            <a:r>
              <a:t>"First, why this is still a debate at all."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br/>
          </a:p>
          <a:p xmlns:a="http://schemas.openxmlformats.org/drawingml/2006/main">
            <a:r>
              <a:t>"The standard for exchanging data between frontends, backends and integrations has always been contentious."</a:t>
            </a:r>
            <a:br/>
          </a:p>
          <a:p xmlns:a="http://schemas.openxmlformats.org/drawingml/2006/main">
            <a:br/>
          </a:p>
          <a:p xmlns:a="http://schemas.openxmlformats.org/drawingml/2006/main">
            <a:r>
              <a:t>1. "Every team has a default. Frontend teams reach for one thing, backend teams for another, integration teams for a third — and the contract becomes a negotiation."</a:t>
            </a:r>
            <a:br/>
          </a:p>
          <a:p xmlns:a="http://schemas.openxmlformats.org/drawingml/2006/main">
            <a:r>
              <a:t>2. "Each protocol has a sweet spot. Cacheable resources, client-shaped graphs and low-latency streams are genuinely different problems."</a:t>
            </a:r>
            <a:br/>
          </a:p>
          <a:p xmlns:a="http://schemas.openxmlformats.org/drawingml/2006/main">
            <a:r>
              <a:t>3. "So the practical answer is to choose per operation. Most systems we see in production run more than one protocol, deliberately."</a:t>
            </a:r>
            <a:br/>
          </a:p>
          <a:p xmlns:a="http://schemas.openxmlformats.org/drawingml/2006/main">
            <a:br/>
          </a:p>
          <a:p xmlns:a="http://schemas.openxmlformats.org/drawingml/2006/main">
            <a:r>
              <a:t>BE CLEAR ABOUT THIS:</a:t>
            </a:r>
            <a:br/>
          </a:p>
          <a:p xmlns:a="http://schemas.openxmlformats.org/drawingml/2006/main">
            <a:r>
              <a:t>"The question is not which protocol wins. It is which one fits the operation in front of you."</a:t>
            </a:r>
            <a:br/>
          </a:p>
          <a:p xmlns:a="http://schemas.openxmlformats.org/drawingml/2006/main">
            <a:br/>
          </a:p>
          <a:p xmlns:a="http://schemas.openxmlformats.org/drawingml/2006/main">
            <a:r>
              <a:t>TRANSITION:</a:t>
            </a:r>
            <a:br/>
          </a:p>
          <a:p xmlns:a="http://schemas.openxmlformats.org/drawingml/2006/main">
            <a:r>
              <a:t>"Let's put them side by side."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br/>
          </a:p>
          <a:p xmlns:a="http://schemas.openxmlformats.org/drawingml/2006/main">
            <a:r>
              <a:t>"Here are the same questions asked of all three."</a:t>
            </a:r>
            <a:br/>
          </a:p>
          <a:p xmlns:a="http://schemas.openxmlformats.org/drawingml/2006/main">
            <a:br/>
          </a:p>
          <a:p xmlns:a="http://schemas.openxmlformats.org/drawingml/2006/main">
            <a:r>
              <a:t>1. "Transport and payload: REST and GraphQL are HTTP and JSON. gRPC requires HTTP/2 and uses binary Protobuf."</a:t>
            </a:r>
            <a:br/>
          </a:p>
          <a:p xmlns:a="http://schemas.openxmlformats.org/drawingml/2006/main">
            <a:r>
              <a:t>2. "Contract: optional for REST with OpenAPI, required for GraphQL with its schema, and required for gRPC with the proto file."</a:t>
            </a:r>
            <a:br/>
          </a:p>
          <a:p xmlns:a="http://schemas.openxmlformats.org/drawingml/2006/main">
            <a:r>
              <a:t>3. "Caching is where REST is strongest — it gets HTTP and CDN caching for free. GraphQL and gRPC have to work harder."</a:t>
            </a:r>
            <a:br/>
          </a:p>
          <a:p xmlns:a="http://schemas.openxmlformats.org/drawingml/2006/main">
            <a:r>
              <a:t>4. "Streaming and browser support are where gRPC stands out, in both directions: it streams natively, but browsers need gRPC-Web or a bridge."</a:t>
            </a:r>
            <a:br/>
          </a:p>
          <a:p xmlns:a="http://schemas.openxmlformats.org/drawingml/2006/main">
            <a:br/>
          </a:p>
          <a:p xmlns:a="http://schemas.openxmlformats.org/drawingml/2006/main">
            <a:r>
              <a:t>BE CLEAR ABOUT THIS:</a:t>
            </a:r>
            <a:br/>
          </a:p>
          <a:p xmlns:a="http://schemas.openxmlformats.org/drawingml/2006/main">
            <a:r>
              <a:t>"Two corrections from last year's version of this table: GraphQL does stream, through subscriptions, and gRPC does not run natively in a browser. Our demo bridges it, and we will show you how."</a:t>
            </a:r>
            <a:br/>
          </a:p>
          <a:p xmlns:a="http://schemas.openxmlformats.org/drawingml/2006/main">
            <a:br/>
          </a:p>
          <a:p xmlns:a="http://schemas.openxmlformats.org/drawingml/2006/main">
            <a:r>
              <a:t>TRANSITION:</a:t>
            </a:r>
            <a:br/>
          </a:p>
          <a:p xmlns:a="http://schemas.openxmlformats.org/drawingml/2006/main">
            <a:r>
              <a:t>"To make this concrete, here is the data every example uses."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
            </a:r>
          </a:p>
          <a:p xmlns:a="http://schemas.openxmlformats.org/drawingml/2006/main">
            <a:r>
              <a:t>"One catalog sits behind all three protocols: nineteen starships, six films and eighteen characters."</a:t>
            </a:r>
          </a:p>
          <a:p xmlns:a="http://schemas.openxmlformats.org/drawingml/2006/main">
            <a:r>
              <a:t/>
            </a:r>
          </a:p>
          <a:p xmlns:a="http://schemas.openxmlformats.org/drawingml/2006/main">
            <a:r>
              <a:t>"The ship values and ship/film links come from the original demo. We added a curated character cast and four verified flight-crew assignments. Cast means characters such as Luke Skywalker and Han Solo."</a:t>
            </a:r>
          </a:p>
          <a:p xmlns:a="http://schemas.openxmlformats.org/drawingml/2006/main">
            <a:r>
              <a:t/>
            </a:r>
          </a:p>
          <a:p xmlns:a="http://schemas.openxmlformats.org/drawingml/2006/main">
            <a:r>
              <a:t>"Ships appear in many films, and characters appear in many films. All three protocols resolve the same immutable seed. There is no database to configure."</a:t>
            </a:r>
          </a:p>
          <a:p xmlns:a="http://schemas.openxmlformats.org/drawingml/2006/main">
            <a:r>
              <a:t/>
            </a:r>
          </a:p>
          <a:p xmlns:a="http://schemas.openxmlformats.org/drawingml/2006/main">
            <a:r>
              <a:t>BE CLEAR ABOUT THIS:</a:t>
            </a:r>
          </a:p>
          <a:p xmlns:a="http://schemas.openxmlformats.org/drawingml/2006/main">
            <a:r>
              <a:t/>
            </a:r>
          </a:p>
          <a:p xmlns:a="http://schemas.openxmlformats.org/drawingml/2006/main">
            <a:r>
              <a:t>"A character's film appearance does not establish that they piloted a ship. We store the ship, film, character and crew role explicitly. Crew coverage currently includes the Falcon in A New Hope and the Battle of Endor. Missing evidence produces a coverage-gap answer."</a:t>
            </a:r>
          </a:p>
          <a:p xmlns:a="http://schemas.openxmlformats.org/drawingml/2006/main">
            <a:r>
              <a:t/>
            </a:r>
          </a:p>
          <a:p xmlns:a="http://schemas.openxmlformats.org/drawingml/2006/main">
            <a:r>
              <a:t>TRANSITION:</a:t>
            </a:r>
          </a:p>
          <a:p xmlns:a="http://schemas.openxmlformats.org/drawingml/2006/main">
            <a:r>
              <a:t/>
            </a:r>
          </a:p>
          <a:p xmlns:a="http://schemas.openxmlformats.org/drawingml/2006/main">
            <a:r>
              <a:t>"With that in place, let's go protocol by protocol."</a:t>
            </a:r>
          </a:p>
          <a:p xmlns:a="http://schemas.openxmlformats.org/drawingml/2006/main">
            <a:r>
              <a:t/>
            </a:r>
          </a:p>
          <a:p xmlns:a="http://schemas.openxmlformats.org/drawingml/2006/main">
            <a:r>
              <a:t>SOURCES:</a:t>
            </a:r>
          </a:p>
          <a:p xmlns:a="http://schemas.openxmlformats.org/drawingml/2006/main">
            <a:r>
              <a:t>Project: backend/src/main/resources/catalog.json and docs/dataset-provenance.md.</a:t>
            </a:r>
          </a:p>
          <a:p xmlns:a="http://schemas.openxmlformats.org/drawingml/2006/main">
            <a:r>
              <a:t>https://www.starwars.com/films/star-wars-episode-iv-a-new-hope</a:t>
            </a:r>
          </a:p>
          <a:p xmlns:a="http://schemas.openxmlformats.org/drawingml/2006/main">
            <a:r>
              <a:t>https://www.starwars.com/databank/chewbacca</a:t>
            </a:r>
          </a:p>
          <a:p xmlns:a="http://schemas.openxmlformats.org/drawingml/2006/main">
            <a:r>
              <a:t>https://www.starwars.com/databank/nien-nunb</a:t>
            </a:r>
          </a:p>
          <a:p xmlns:a="http://schemas.openxmlformats.org/drawingml/2006/main">
            <a:r>
              <a:t/>
            </a:r>
          </a:p>
          <a:p xmlns:a="http://schemas.openxmlformats.org/drawingml/2006/main">
            <a:r>
              <a:t>STREAMING EXTENSION:</a:t>
            </a:r>
          </a:p>
          <a:p xmlns:a="http://schemas.openxmlformats.org/drawingml/2006/main">
            <a:r>
              <a:t>The historical catalog is shared by all three protocols. A separate fictional flight script adds changing Falcon telemetry to the Watch stream. Its simulated assignments do not change the sourced film-crew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br/>
          </a:p>
          <a:p xmlns:a="http://schemas.openxmlformats.org/drawingml/2006/main">
            <a:r>
              <a:t>"Section two: the protocols."</a:t>
            </a:r>
            <a:br/>
          </a:p>
          <a:p xmlns:a="http://schemas.openxmlformats.org/drawingml/2006/main">
            <a:br/>
          </a:p>
          <a:p xmlns:a="http://schemas.openxmlformats.org/drawingml/2006/main">
            <a:r>
              <a:t>"Each one gets two slides — the concept first, then the exact code the demo runs. We finish with a short history and a usage comparison."</a:t>
            </a:r>
            <a:br/>
          </a:p>
          <a:p xmlns:a="http://schemas.openxmlformats.org/drawingml/2006/main">
            <a:br/>
          </a:p>
          <a:p xmlns:a="http://schemas.openxmlformats.org/drawingml/2006/main">
            <a:r>
              <a:t>TRANSITION:</a:t>
            </a:r>
            <a:br/>
          </a:p>
          <a:p xmlns:a="http://schemas.openxmlformats.org/drawingml/2006/main">
            <a:r>
              <a:t>"We start with the one everyone knows: REST."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br/>
          </a:p>
          <a:p xmlns:a="http://schemas.openxmlformats.org/drawingml/2006/main">
            <a:r>
              <a:t>"REST is resources over HTTP. Every resource has a URL and the HTTP verbs carry the intent."</a:t>
            </a:r>
            <a:br/>
          </a:p>
          <a:p xmlns:a="http://schemas.openxmlformats.org/drawingml/2006/main">
            <a:br/>
          </a:p>
          <a:p xmlns:a="http://schemas.openxmlformats.org/drawingml/2006/main">
            <a:r>
              <a:t>1. "Where it shines: standard verbs and status codes, native caching through browsers, CDNs and proxies, and tooling that every developer and every partner already has."</a:t>
            </a:r>
            <a:br/>
          </a:p>
          <a:p xmlns:a="http://schemas.openxmlformats.org/drawingml/2006/main">
            <a:r>
              <a:t>2. "Where it strains: fixed payloads over-fetch, related data means extra round trips, versions multiply as clients diverge, and there is no first-class streaming."</a:t>
            </a:r>
            <a:br/>
          </a:p>
          <a:p xmlns:a="http://schemas.openxmlformats.org/drawingml/2006/main">
            <a:br/>
          </a:p>
          <a:p xmlns:a="http://schemas.openxmlformats.org/drawingml/2006/main">
            <a:r>
              <a:t>BE CLEAR ABOUT THIS:</a:t>
            </a:r>
            <a:br/>
          </a:p>
          <a:p xmlns:a="http://schemas.openxmlformats.org/drawingml/2006/main">
            <a:r>
              <a:t>"REST is still the right default for simple, cacheable, stateless APIs — especially anything you publish to people outside your team."</a:t>
            </a:r>
            <a:br/>
          </a:p>
          <a:p xmlns:a="http://schemas.openxmlformats.org/drawingml/2006/main">
            <a:br/>
          </a:p>
          <a:p xmlns:a="http://schemas.openxmlformats.org/drawingml/2006/main">
            <a:r>
              <a:t>TRANSITION:</a:t>
            </a:r>
            <a:br/>
          </a:p>
          <a:p xmlns:a="http://schemas.openxmlformats.org/drawingml/2006/main">
            <a:r>
              <a:t>"Here is what that looks like in the demo."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
            </a:r>
          </a:p>
          <a:p xmlns:a="http://schemas.openxmlformats.org/drawingml/2006/main">
            <a:r>
              <a:t>"In Protocol Studio, single-resource lookups go to REST."</a:t>
            </a:r>
          </a:p>
          <a:p xmlns:a="http://schemas.openxmlformats.org/drawingml/2006/main">
            <a:r>
              <a:t/>
            </a:r>
          </a:p>
          <a:p xmlns:a="http://schemas.openxmlformats.org/drawingml/2006/main">
            <a:r>
              <a:t>1. "Spring MVC exposes starships, films and character cast as resources. The character endpoint is /api/catalog/cast/{id}."</a:t>
            </a:r>
          </a:p>
          <a:p xmlns:a="http://schemas.openxmlformats.org/drawingml/2006/main">
            <a:r>
              <a:t>2. "Starship reads return Cache-Control with a five-minute maximum age."</a:t>
            </a:r>
          </a:p>
          <a:p xmlns:a="http://schemas.openxmlformats.org/drawingml/2006/main">
            <a:r>
              <a:t>3. "Questions about speed, length or one resource's details route here. Try 'Tell me about Luke Skywalker' for a character lookup."</a:t>
            </a:r>
          </a:p>
          <a:p xmlns:a="http://schemas.openxmlformats.org/drawingml/2006/main">
            <a:r>
              <a:t/>
            </a:r>
          </a:p>
          <a:p xmlns:a="http://schemas.openxmlformats.org/drawingml/2006/main">
            <a:r>
              <a:t>BE CLEAR ABOUT THIS:</a:t>
            </a:r>
          </a:p>
          <a:p xmlns:a="http://schemas.openxmlformats.org/drawingml/2006/main">
            <a:r>
              <a:t/>
            </a:r>
          </a:p>
          <a:p xmlns:a="http://schemas.openxmlformats.org/drawingml/2006/main">
            <a:r>
              <a:t>"This demo's fixed REST payload already includes nested films, cast and crew. GraphQL lets the client select the needed fields. We should not claim that this REST endpoint always needs more calls. The response excerpt omits nested values for space."</a:t>
            </a:r>
          </a:p>
          <a:p xmlns:a="http://schemas.openxmlformats.org/drawingml/2006/main">
            <a:r>
              <a:t/>
            </a:r>
          </a:p>
          <a:p xmlns:a="http://schemas.openxmlformats.org/drawingml/2006/main">
            <a:r>
              <a:t>TRANSITION:</a:t>
            </a:r>
          </a:p>
          <a:p xmlns:a="http://schemas.openxmlformats.org/drawingml/2006/main">
            <a:r>
              <a:t/>
            </a:r>
          </a:p>
          <a:p xmlns:a="http://schemas.openxmlformats.org/drawingml/2006/main">
            <a:r>
              <a:t>"Next is the query-shaped view of the same catalog."</a:t>
            </a:r>
          </a:p>
          <a:p xmlns:a="http://schemas.openxmlformats.org/drawingml/2006/main">
            <a:r>
              <a:t/>
            </a:r>
          </a:p>
          <a:p xmlns:a="http://schemas.openxmlformats.org/drawingml/2006/main">
            <a:r>
              <a:t>SOURCE: backend/src/main/java/com/insight/router/CatalogController.java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br/>
          </a:p>
          <a:p xmlns:a="http://schemas.openxmlformats.org/drawingml/2006/main">
            <a:r>
              <a:t>"GraphQL is one endpoint and one typed schema, and the client decides the shape of the response."</a:t>
            </a:r>
            <a:br/>
          </a:p>
          <a:p xmlns:a="http://schemas.openxmlformats.org/drawingml/2006/main">
            <a:br/>
          </a:p>
          <a:p xmlns:a="http://schemas.openxmlformats.org/drawingml/2006/main">
            <a:r>
              <a:t>1. "Where it shines: the schema describes the whole graph, clients ask for exactly the fields a screen needs, and nested relationships come back in one round trip."</a:t>
            </a:r>
            <a:br/>
          </a:p>
          <a:p xmlns:a="http://schemas.openxmlformats.org/drawingml/2006/main">
            <a:r>
              <a:t>2. "Where it strains: HTTP caching is harder because everything is a POST to one URL, resolvers can cause N+1 load without batching, and public APIs need depth and cost limits."</a:t>
            </a:r>
            <a:br/>
          </a:p>
          <a:p xmlns:a="http://schemas.openxmlformats.org/drawingml/2006/main">
            <a:br/>
          </a:p>
          <a:p xmlns:a="http://schemas.openxmlformats.org/drawingml/2006/main">
            <a:r>
              <a:t>BE CLEAR ABOUT THIS:</a:t>
            </a:r>
            <a:br/>
          </a:p>
          <a:p xmlns:a="http://schemas.openxmlformats.org/drawingml/2006/main">
            <a:r>
              <a:t>"GraphQL moves the shaping work to the client — and moves the cost to the server. Plan for resolvers, batching and limits from day one."</a:t>
            </a:r>
            <a:br/>
          </a:p>
          <a:p xmlns:a="http://schemas.openxmlformats.org/drawingml/2006/main">
            <a:br/>
          </a:p>
          <a:p xmlns:a="http://schemas.openxmlformats.org/drawingml/2006/main">
            <a:r>
              <a:t>TRANSITION:</a:t>
            </a:r>
            <a:br/>
          </a:p>
          <a:p xmlns:a="http://schemas.openxmlformats.org/drawingml/2006/main">
            <a:r>
              <a:t>"Here is the query the demo sends."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
            </a:r>
          </a:p>
          <a:p xmlns:a="http://schemas.openxmlformats.org/drawingml/2006/main">
            <a:r>
              <a:t>"Relationship questions go to GraphQL."</a:t>
            </a:r>
          </a:p>
          <a:p xmlns:a="http://schemas.openxmlformats.org/drawingml/2006/main">
            <a:r>
              <a:t/>
            </a:r>
          </a:p>
          <a:p xmlns:a="http://schemas.openxmlformats.org/drawingml/2006/main">
            <a:r>
              <a:t>1. "This shortened ExploreStarships query connects the Falcon to its films, character cast and explicit flight crew. The full application query also requests numeric fields, IDs, source URLs and top-level films."</a:t>
            </a:r>
          </a:p>
          <a:p xmlns:a="http://schemas.openxmlformats.org/drawingml/2006/main">
            <a:r>
              <a:t>2. "The target crew:5:1 means ship 5, the Millennium Falcon, in film 1, A New Hope."</a:t>
            </a:r>
          </a:p>
          <a:p xmlns:a="http://schemas.openxmlformats.org/drawingml/2006/main">
            <a:r>
              <a:t>3. "The response names Han Solo as pilot and Chewbacca as co-pilot. Luke and Leia appear in the film cast, but that does not make them Falcon pilots."</a:t>
            </a:r>
          </a:p>
          <a:p xmlns:a="http://schemas.openxmlformats.org/drawingml/2006/main">
            <a:r>
              <a:t/>
            </a:r>
          </a:p>
          <a:p xmlns:a="http://schemas.openxmlformats.org/drawingml/2006/main">
            <a:r>
              <a:t>BE CLEAR ABOUT THIS:</a:t>
            </a:r>
          </a:p>
          <a:p xmlns:a="http://schemas.openxmlformats.org/drawingml/2006/main">
            <a:r>
              <a:t/>
            </a:r>
          </a:p>
          <a:p xmlns:a="http://schemas.openxmlformats.org/drawingml/2006/main">
            <a:r>
              <a:t>"The film is part of the relationship. The Battle of Endor records in Return of the Jedi instead name Lando Calrissian and Nien Nunb. These are documented assignments in a partial demo catalog, not a complete flight history."</a:t>
            </a:r>
          </a:p>
          <a:p xmlns:a="http://schemas.openxmlformats.org/drawingml/2006/main">
            <a:r>
              <a:t/>
            </a:r>
          </a:p>
          <a:p xmlns:a="http://schemas.openxmlformats.org/drawingml/2006/main">
            <a:r>
              <a:t>TRANSITION:</a:t>
            </a:r>
          </a:p>
          <a:p xmlns:a="http://schemas.openxmlformats.org/drawingml/2006/main">
            <a:r>
              <a:t/>
            </a:r>
          </a:p>
          <a:p xmlns:a="http://schemas.openxmlformats.org/drawingml/2006/main">
            <a:r>
              <a:t>"Now we will look at gRPC streaming."</a:t>
            </a:r>
          </a:p>
          <a:p xmlns:a="http://schemas.openxmlformats.org/drawingml/2006/main">
            <a:r>
              <a:t/>
            </a:r>
          </a:p>
          <a:p xmlns:a="http://schemas.openxmlformats.org/drawingml/2006/main">
            <a:r>
              <a:t>SOURCES:</a:t>
            </a:r>
          </a:p>
          <a:p xmlns:a="http://schemas.openxmlformats.org/drawingml/2006/main">
            <a:r>
              <a:t>Project: backend/src/main/resources/graphql/schema.graphqls and backend/src/main/resources/catalog.json.</a:t>
            </a:r>
          </a:p>
          <a:p xmlns:a="http://schemas.openxmlformats.org/drawingml/2006/main">
            <a:r>
              <a:t>https://www.starwars.com/databank/han-solo</a:t>
            </a:r>
          </a:p>
          <a:p xmlns:a="http://schemas.openxmlformats.org/drawingml/2006/main">
            <a:r>
              <a:t>https://www.starwars.com/databank/chewbacca</a:t>
            </a:r>
          </a:p>
          <a:p xmlns:a="http://schemas.openxmlformats.org/drawingml/2006/main">
            <a:r>
              <a:t>https://www.starwars.com/databank/nien-nunb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br/>
          </a:p>
          <a:p xmlns:a="http://schemas.openxmlformats.org/drawingml/2006/main">
            <a:r>
              <a:t>"gRPC is contract-first RPC over HTTP/2, with compact binary Protobuf messages."</a:t>
            </a:r>
            <a:br/>
          </a:p>
          <a:p xmlns:a="http://schemas.openxmlformats.org/drawingml/2006/main">
            <a:br/>
          </a:p>
          <a:p xmlns:a="http://schemas.openxmlformats.org/drawingml/2006/main">
            <a:r>
              <a:t>1. "Where it shines: generated clients from one proto file in many languages, HTTP/2 multiplexing, four call types including bidirectional streaming, and deadlines and cancellation built in."</a:t>
            </a:r>
            <a:br/>
          </a:p>
          <a:p xmlns:a="http://schemas.openxmlformats.org/drawingml/2006/main">
            <a:r>
              <a:t>2. "Where it strains: browsers need gRPC-Web or a bridge, binary payloads are harder to debug, you need HTTP/2 end to end through every proxy, and field numbers are forever."</a:t>
            </a:r>
            <a:br/>
          </a:p>
          <a:p xmlns:a="http://schemas.openxmlformats.org/drawingml/2006/main">
            <a:br/>
          </a:p>
          <a:p xmlns:a="http://schemas.openxmlformats.org/drawingml/2006/main">
            <a:r>
              <a:t>BE CLEAR ABOUT THIS:</a:t>
            </a:r>
            <a:br/>
          </a:p>
          <a:p xmlns:a="http://schemas.openxmlformats.org/drawingml/2006/main">
            <a:r>
              <a:t>"gRPC is the right tool for internal service-to-service calls, low-latency paths and real-time streams — not usually for your public API."</a:t>
            </a:r>
            <a:br/>
          </a:p>
          <a:p xmlns:a="http://schemas.openxmlformats.org/drawingml/2006/main">
            <a:br/>
          </a:p>
          <a:p xmlns:a="http://schemas.openxmlformats.org/drawingml/2006/main">
            <a:r>
              <a:t>TRANSITION:</a:t>
            </a:r>
            <a:br/>
          </a:p>
          <a:p xmlns:a="http://schemas.openxmlformats.org/drawingml/2006/main">
            <a:r>
              <a:t>"Here is the contract behind the demo's streaming feature."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
            </a:r>
          </a:p>
          <a:p xmlns:a="http://schemas.openxmlformats.org/drawingml/2006/main">
            <a:r>
              <a:t>"Ask once, and the ship's location, pilot and shields change in the chat as updates arrive."</a:t>
            </a:r>
          </a:p>
          <a:p xmlns:a="http://schemas.openxmlformats.org/drawingml/2006/main">
            <a:r>
              <a:t/>
            </a:r>
          </a:p>
          <a:p xmlns:a="http://schemas.openxmlformats.org/drawingml/2006/main">
            <a:r>
              <a:t>"Watch is a real server-streaming gRPC call: one request and twenty-one responses over about forty seconds. The server owns the timeline, so the agent does not rerun the question or ask the model to route every update."</a:t>
            </a:r>
          </a:p>
          <a:p xmlns:a="http://schemas.openxmlformats.org/drawingml/2006/main">
            <a:r>
              <a:t/>
            </a:r>
          </a:p>
          <a:p xmlns:a="http://schemas.openxmlformats.org/drawingml/2006/main">
            <a:r>
              <a:t>"The browser receives each update through the NDJSON bridge. The backend explicitly flushes the servlet response after every event so updates arrive individually."</a:t>
            </a:r>
          </a:p>
          <a:p xmlns:a="http://schemas.openxmlformats.org/drawingml/2006/main">
            <a:r>
              <a:t/>
            </a:r>
          </a:p>
          <a:p xmlns:a="http://schemas.openxmlformats.org/drawingml/2006/main">
            <a:r>
              <a:t>DEMONSTRATE:</a:t>
            </a:r>
          </a:p>
          <a:p xmlns:a="http://schemas.openxmlformats.org/drawingml/2006/main">
            <a:r>
              <a:t/>
            </a:r>
          </a:p>
          <a:p xmlns:a="http://schemas.openxmlformats.org/drawingml/2006/main">
            <a:r>
              <a:t>Click Present flight. The Falcon departs Tatooine, Chewbacca takes the controls, a debris alert lowers shields, Han retakes the controls, and the ship travels through hyperspace to Yavin 4. The UI keeps the final state and flight log; Stop keeps the last received state, and Replay starts again.</a:t>
            </a:r>
          </a:p>
          <a:p xmlns:a="http://schemas.openxmlformats.org/drawingml/2006/main">
            <a:r>
              <a:t/>
            </a:r>
          </a:p>
          <a:p xmlns:a="http://schemas.openxmlformats.org/drawingml/2006/main">
            <a:r>
              <a:t>BE CLEAR ABOUT THIS:</a:t>
            </a:r>
          </a:p>
          <a:p xmlns:a="http://schemas.openxmlformats.org/drawingml/2006/main">
            <a:r>
              <a:t/>
            </a:r>
          </a:p>
          <a:p xmlns:a="http://schemas.openxmlformats.org/drawingml/2006/main">
            <a:r>
              <a:t>This is authored fiction for a repeatable presentation, not canon flight history or live telemetry. The script is separate from documented film-crew records. Only the Falcon has a flight scenario; other targets return catalog data with an explicit coverage message. Each subscription starts its own timeline.</a:t>
            </a:r>
          </a:p>
          <a:p xmlns:a="http://schemas.openxmlformats.org/drawingml/2006/main">
            <a:r>
              <a:t/>
            </a:r>
          </a:p>
          <a:p xmlns:a="http://schemas.openxmlformats.org/drawingml/2006/main">
            <a:r>
              <a:t>The older bidirectional Track method remains available for comparison. Bidirectional streaming is useful when a client must change its request during an open response stream; this guided flight only needs server streaming. The displayed proto is an excerpt; FlightState and other fields are omitted for space.</a:t>
            </a:r>
          </a:p>
          <a:p xmlns:a="http://schemas.openxmlformats.org/drawingml/2006/main">
            <a:r>
              <a:t/>
            </a:r>
          </a:p>
          <a:p xmlns:a="http://schemas.openxmlformats.org/drawingml/2006/main">
            <a:r>
              <a:t>Default pacing is 2000 ms for 40 seconds. DEMO_FLIGHT_INTERVAL_MS=3000 gives 60 seconds; 5000 gives 100 seconds. Restart the backend after changing it. The gRPC deadline is 115 seconds; response sizes count serialized Protobuf bytes, not headers or framing. Playback time is not a protocol speed benchmark.</a:t>
            </a:r>
          </a:p>
          <a:p xmlns:a="http://schemas.openxmlformats.org/drawingml/2006/main">
            <a:r>
              <a:t/>
            </a:r>
          </a:p>
          <a:p xmlns:a="http://schemas.openxmlformats.org/drawingml/2006/main">
            <a:r>
              <a:t>SOURCES:</a:t>
            </a:r>
          </a:p>
          <a:p xmlns:a="http://schemas.openxmlformats.org/drawingml/2006/main">
            <a:r>
              <a:t>Project: backend/src/main/proto/catalog.proto, backend/src/main/resources/falcon-flight.json, docs/architecture.md.</a:t>
            </a:r>
          </a:p>
          <a:p xmlns:a="http://schemas.openxmlformats.org/drawingml/2006/main">
            <a:r>
              <a:t>https://grpc.io/docs/languages/java/generated-code/</a:t>
            </a:r>
          </a:p>
          <a:p xmlns:a="http://schemas.openxmlformats.org/drawingml/2006/main">
            <a:r>
              <a:t>https://grpc.io/docs/guides/cancellation/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br/>
          </a:p>
          <a:p xmlns:a="http://schemas.openxmlformats.org/drawingml/2006/main">
            <a:r>
              <a:t>"Each of these answered the problem of its moment."</a:t>
            </a:r>
            <a:br/>
          </a:p>
          <a:p xmlns:a="http://schemas.openxmlformats.org/drawingml/2006/main">
            <a:br/>
          </a:p>
          <a:p xmlns:a="http://schemas.openxmlformats.org/drawingml/2006/main">
            <a:r>
              <a:t>1. "REST was described in Roy Fielding's dissertation in 2000."</a:t>
            </a:r>
            <a:br/>
          </a:p>
          <a:p xmlns:a="http://schemas.openxmlformats.org/drawingml/2006/main">
            <a:r>
              <a:t>2. "GraphQL was built inside Facebook in 2012 for mobile, and published as a spec in 2015."</a:t>
            </a:r>
            <a:br/>
          </a:p>
          <a:p xmlns:a="http://schemas.openxmlformats.org/drawingml/2006/main">
            <a:r>
              <a:t>3. "gRPC was open-sourced by Google in 2015, reached 1.0 in 2016, and joined the CNCF in 2017."</a:t>
            </a:r>
            <a:br/>
          </a:p>
          <a:p xmlns:a="http://schemas.openxmlformats.org/drawingml/2006/main">
            <a:br/>
          </a:p>
          <a:p xmlns:a="http://schemas.openxmlformats.org/drawingml/2006/main">
            <a:r>
              <a:t>"On the practical side: REST has the lowest learning curve and the largest ecosystem. GraphQL and gRPC are both mature, and gRPC's learning curve is mostly the toolchain rather than the concepts."</a:t>
            </a:r>
            <a:br/>
          </a:p>
          <a:p xmlns:a="http://schemas.openxmlformats.org/drawingml/2006/main">
            <a:br/>
          </a:p>
          <a:p xmlns:a="http://schemas.openxmlformats.org/drawingml/2006/main">
            <a:r>
              <a:t>TRANSITION:</a:t>
            </a:r>
            <a:br/>
          </a:p>
          <a:p xmlns:a="http://schemas.openxmlformats.org/drawingml/2006/main">
            <a:r>
              <a:t>"Enough slides. Let's look at it running."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br/>
          </a:p>
          <a:p xmlns:a="http://schemas.openxmlformats.org/drawingml/2006/main">
            <a:r>
              <a:t>"Section three: the demo, and then two stories from the field."</a:t>
            </a:r>
            <a:br/>
          </a:p>
          <a:p xmlns:a="http://schemas.openxmlformats.org/drawingml/2006/main">
            <a:br/>
          </a:p>
          <a:p xmlns:a="http://schemas.openxmlformats.org/drawingml/2006/main">
            <a:r>
              <a:t>TRANSITION:</a:t>
            </a:r>
            <a:br/>
          </a:p>
          <a:p xmlns:a="http://schemas.openxmlformats.org/drawingml/2006/main">
            <a:r>
              <a:t>"Let me switch over to Protocol Studio."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
            </a:r>
          </a:p>
          <a:p xmlns:a="http://schemas.openxmlformats.org/drawingml/2006/main">
            <a:r>
              <a:t>"This is Protocol Studio. Ask a question, see the selected protocol and its explanation, and inspect the real request and response."</a:t>
            </a:r>
          </a:p>
          <a:p xmlns:a="http://schemas.openxmlformats.org/drawingml/2006/main">
            <a:r>
              <a:t/>
            </a:r>
          </a:p>
          <a:p xmlns:a="http://schemas.openxmlformats.org/drawingml/2006/main">
            <a:r>
              <a:t>DO:</a:t>
            </a:r>
          </a:p>
          <a:p xmlns:a="http://schemas.openxmlformats.org/drawingml/2006/main">
            <a:r>
              <a:t/>
            </a:r>
          </a:p>
          <a:p xmlns:a="http://schemas.openxmlformats.org/drawingml/2006/main">
            <a:r>
              <a:t>1. Ask "Tell me about the Millennium Falcon." Show REST, the cache header and the response size.</a:t>
            </a:r>
          </a:p>
          <a:p xmlns:a="http://schemas.openxmlformats.org/drawingml/2006/main">
            <a:r>
              <a:t>2. Ask "Who flew the Millennium Falcon in A New Hope?" Show GraphQL, the 'Why this protocol' explanation, and target crew:5:1. The answer names Han Solo and Chewbacca.</a:t>
            </a:r>
          </a:p>
          <a:p xmlns:a="http://schemas.openxmlformats.org/drawingml/2006/main">
            <a:r>
              <a:t>3. Ask "Track the Millennium Falcon." Click Present flight and watch location, pilot, shields and flight events update over about forty seconds. Point out the Chewbacca handoff, alert, recovery and arrival. Close the presentation view and inspect one Watch request with twenty-one responses.</a:t>
            </a:r>
          </a:p>
          <a:p xmlns:a="http://schemas.openxmlformats.org/drawingml/2006/main">
            <a:r>
              <a:t/>
            </a:r>
          </a:p>
          <a:p xmlns:a="http://schemas.openxmlformats.org/drawingml/2006/main">
            <a:r>
              <a:t>OPTIONAL FOLLOW-UPS:</a:t>
            </a:r>
          </a:p>
          <a:p xmlns:a="http://schemas.openxmlformats.org/drawingml/2006/main">
            <a:r>
              <a:t/>
            </a:r>
          </a:p>
          <a:p xmlns:a="http://schemas.openxmlformats.org/drawingml/2006/main">
            <a:r>
              <a:t>"Where is the Millennium Falcon currently?" and "Who is currently flying the Millennium Falcon?" also start the labeled flight simulation. Each new request starts its own replay, not a shared continuously running galaxy.</a:t>
            </a:r>
          </a:p>
          <a:p xmlns:a="http://schemas.openxmlformats.org/drawingml/2006/main">
            <a:r>
              <a:t/>
            </a:r>
          </a:p>
          <a:p xmlns:a="http://schemas.openxmlformats.org/drawingml/2006/main">
            <a:r>
              <a:t>"Which films feature Luke Skywalker?" explores character appearances.</a:t>
            </a:r>
          </a:p>
          <a:p xmlns:a="http://schemas.openxmlformats.org/drawingml/2006/main">
            <a:r>
              <a:t>"Who flew the Millennium Falcon in Return of the Jedi?" returns Lando Calrissian and Nien Nunb for the Battle of Endor.</a:t>
            </a:r>
          </a:p>
          <a:p xmlns:a="http://schemas.openxmlformats.org/drawingml/2006/main">
            <a:r>
              <a:t/>
            </a:r>
          </a:p>
          <a:p xmlns:a="http://schemas.openxmlformats.org/drawingml/2006/main">
            <a:r>
              <a:t>BE CLEAR ABOUT THIS:</a:t>
            </a:r>
          </a:p>
          <a:p xmlns:a="http://schemas.openxmlformats.org/drawingml/2006/main">
            <a:r>
              <a:t/>
            </a:r>
          </a:p>
          <a:p xmlns:a="http://schemas.openxmlformats.org/drawingml/2006/main">
            <a:r>
              <a:t>"Cast means fictional characters. Flight-crew data is film-specific and partial. The gRPC flight is a clearly labeled fictional simulation, separate from documented film crew. It is repeatable, not a canon itinerary or live telemetry."</a:t>
            </a:r>
          </a:p>
          <a:p xmlns:a="http://schemas.openxmlformats.org/drawingml/2006/main">
            <a:r>
              <a:t/>
            </a:r>
          </a:p>
          <a:p xmlns:a="http://schemas.openxmlformats.org/drawingml/2006/main">
            <a:r>
              <a:t>"A presenter override applies to one question and the UI labels it. Allow the local model to warm up before presenting."</a:t>
            </a:r>
          </a:p>
          <a:p xmlns:a="http://schemas.openxmlformats.org/drawingml/2006/main">
            <a:r>
              <a:t/>
            </a:r>
          </a:p>
          <a:p xmlns:a="http://schemas.openxmlformats.org/drawingml/2006/main">
            <a:r>
              <a:t>TRANSITION:</a:t>
            </a:r>
          </a:p>
          <a:p xmlns:a="http://schemas.openxmlformats.org/drawingml/2006/main">
            <a:r>
              <a:t/>
            </a:r>
          </a:p>
          <a:p xmlns:a="http://schemas.openxmlformats.org/drawingml/2006/main">
            <a:r>
              <a:t>"That is the lab example. Here is what this looks like with real clients."</a:t>
            </a:r>
          </a:p>
          <a:p xmlns:a="http://schemas.openxmlformats.org/drawingml/2006/main">
            <a:r>
              <a:t/>
            </a:r>
          </a:p>
          <a:p xmlns:a="http://schemas.openxmlformats.org/drawingml/2006/main">
            <a:r>
              <a:t>SOURCES:</a:t>
            </a:r>
          </a:p>
          <a:p xmlns:a="http://schemas.openxmlformats.org/drawingml/2006/main">
            <a:r>
              <a:t>Project: docs/dataset-provenance.md, docs/validation.md and backend/src/main/resources/catalog.json.</a:t>
            </a:r>
          </a:p>
          <a:p xmlns:a="http://schemas.openxmlformats.org/drawingml/2006/main">
            <a:r>
              <a:t>https://www.starwars.com/databank/han-solo</a:t>
            </a:r>
          </a:p>
          <a:p xmlns:a="http://schemas.openxmlformats.org/drawingml/2006/main">
            <a:r>
              <a:t>https://www.starwars.com/databank/chewbacca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br/>
          </a:p>
          <a:p xmlns:a="http://schemas.openxmlformats.org/drawingml/2006/main">
            <a:r>
              <a:t>"Our first client is a large-scale distribution company — automated material handling systems, equipment and consulting."</a:t>
            </a:r>
            <a:br/>
          </a:p>
          <a:p xmlns:a="http://schemas.openxmlformats.org/drawingml/2006/main">
            <a:br/>
          </a:p>
          <a:p xmlns:a="http://schemas.openxmlformats.org/drawingml/2006/main">
            <a:r>
              <a:t>1. "They set out to build the next-generation warehouse execution system: 'Waze for the warehouse', in the public cloud."</a:t>
            </a:r>
            <a:br/>
          </a:p>
          <a:p xmlns:a="http://schemas.openxmlformats.org/drawingml/2006/main">
            <a:r>
              <a:t>2. "Complete automation, which had not been done before, across an industrial IoT estate — sorting, picking and conveyors."</a:t>
            </a:r>
            <a:br/>
          </a:p>
          <a:p xmlns:a="http://schemas.openxmlformats.org/drawingml/2006/main">
            <a:r>
              <a:t>3. "It is built on microservices and functions, with REST for resources and GraphQL for the connected view of the warehouse."</a:t>
            </a:r>
            <a:br/>
          </a:p>
          <a:p xmlns:a="http://schemas.openxmlformats.org/drawingml/2006/main">
            <a:br/>
          </a:p>
          <a:p xmlns:a="http://schemas.openxmlformats.org/drawingml/2006/main">
            <a:r>
              <a:t>BE CLEAR ABOUT THIS:</a:t>
            </a:r>
            <a:br/>
          </a:p>
          <a:p xmlns:a="http://schemas.openxmlformats.org/drawingml/2006/main">
            <a:r>
              <a:t>"This is a case of choosing per operation: REST where the resource is the unit, GraphQL where the relationships are the product."</a:t>
            </a:r>
            <a:br/>
          </a:p>
          <a:p xmlns:a="http://schemas.openxmlformats.org/drawingml/2006/main">
            <a:br/>
          </a:p>
          <a:p xmlns:a="http://schemas.openxmlformats.org/drawingml/2006/main">
            <a:r>
              <a:t>TRANSITION:</a:t>
            </a:r>
            <a:br/>
          </a:p>
          <a:p xmlns:a="http://schemas.openxmlformats.org/drawingml/2006/main">
            <a:r>
              <a:t>"The second story made a very different choice."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br/>
          </a:p>
          <a:p xmlns:a="http://schemas.openxmlformats.org/drawingml/2006/main">
            <a:r>
              <a:t>"Our second client is a global retail coffee company, rebuilding point of sale and ordering."</a:t>
            </a:r>
            <a:br/>
          </a:p>
          <a:p xmlns:a="http://schemas.openxmlformats.org/drawingml/2006/main">
            <a:br/>
          </a:p>
          <a:p xmlns:a="http://schemas.openxmlformats.org/drawingml/2006/main">
            <a:r>
              <a:t>1. "Thirty-three thousand locations. Security and offline operation are non-negotiable."</a:t>
            </a:r>
            <a:br/>
          </a:p>
          <a:p xmlns:a="http://schemas.openxmlformats.org/drawingml/2006/main">
            <a:r>
              <a:t>2. "They have limited ability to expose endpoints at the store."</a:t>
            </a:r>
            <a:br/>
          </a:p>
          <a:p xmlns:a="http://schemas.openxmlformats.org/drawingml/2006/main">
            <a:r>
              <a:t>3. "gRPC integration reduced that exposure and increased performance, with typed contracts between services."</a:t>
            </a:r>
            <a:br/>
          </a:p>
          <a:p xmlns:a="http://schemas.openxmlformats.org/drawingml/2006/main">
            <a:br/>
          </a:p>
          <a:p xmlns:a="http://schemas.openxmlformats.org/drawingml/2006/main">
            <a:r>
              <a:t>BE CLEAR ABOUT THIS:</a:t>
            </a:r>
            <a:br/>
          </a:p>
          <a:p xmlns:a="http://schemas.openxmlformats.org/drawingml/2006/main">
            <a:r>
              <a:t>"Same decision process, different answer. The constraints — exposure, offline, performance — pointed to gRPC."</a:t>
            </a:r>
            <a:br/>
          </a:p>
          <a:p xmlns:a="http://schemas.openxmlformats.org/drawingml/2006/main">
            <a:br/>
          </a:p>
          <a:p xmlns:a="http://schemas.openxmlformats.org/drawingml/2006/main">
            <a:r>
              <a:t>TRANSITION:</a:t>
            </a:r>
            <a:br/>
          </a:p>
          <a:p xmlns:a="http://schemas.openxmlformats.org/drawingml/2006/main">
            <a:r>
              <a:t>"So what should you take away from all of this?"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br/>
          </a:p>
          <a:p xmlns:a="http://schemas.openxmlformats.org/drawingml/2006/main">
            <a:r>
              <a:t>"Three things to take away."</a:t>
            </a:r>
            <a:br/>
          </a:p>
          <a:p xmlns:a="http://schemas.openxmlformats.org/drawingml/2006/main">
            <a:br/>
          </a:p>
          <a:p xmlns:a="http://schemas.openxmlformats.org/drawingml/2006/main">
            <a:r>
              <a:t>1. "Choose per operation. REST for cacheable resources, GraphQL for related data, gRPC for streams and service-to-service calls. Most systems use more than one."</a:t>
            </a:r>
            <a:br/>
          </a:p>
          <a:p xmlns:a="http://schemas.openxmlformats.org/drawingml/2006/main">
            <a:r>
              <a:t>2. "Design the contract first. OpenAPI, schema or proto file — the contract outlives the implementation and drives your tooling, tests and code generation."</a:t>
            </a:r>
            <a:br/>
          </a:p>
          <a:p xmlns:a="http://schemas.openxmlformats.org/drawingml/2006/main">
            <a:r>
              <a:t>3. "Measure the whole path. Round trips, payload size and caching decide real-world latency more than the protocol label does."</a:t>
            </a:r>
            <a:br/>
          </a:p>
          <a:p xmlns:a="http://schemas.openxmlformats.org/drawingml/2006/main">
            <a:br/>
          </a:p>
          <a:p xmlns:a="http://schemas.openxmlformats.org/drawingml/2006/main">
            <a:r>
              <a:t>BE CLEAR ABOUT THIS:</a:t>
            </a:r>
            <a:br/>
          </a:p>
          <a:p xmlns:a="http://schemas.openxmlformats.org/drawingml/2006/main">
            <a:r>
              <a:t>"Everything you saw today is in the repository — the code, the runbook and the measurements — so you can run it yourself."</a:t>
            </a:r>
            <a:br/>
          </a:p>
          <a:p xmlns:a="http://schemas.openxmlformats.org/drawingml/2006/main">
            <a:br/>
          </a:p>
          <a:p xmlns:a="http://schemas.openxmlformats.org/drawingml/2006/main">
            <a:r>
              <a:t>TRANSITION:</a:t>
            </a:r>
            <a:br/>
          </a:p>
          <a:p xmlns:a="http://schemas.openxmlformats.org/drawingml/2006/main">
            <a:r>
              <a:t>"With that, let's open it up."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br/>
          </a:p>
          <a:p xmlns:a="http://schemas.openxmlformats.org/drawingml/2006/main">
            <a:r>
              <a:t>"Thank you. We would love to take your questions."</a:t>
            </a:r>
            <a:br/>
          </a:p>
          <a:p xmlns:a="http://schemas.openxmlformats.org/drawingml/2006/main">
            <a:br/>
          </a:p>
          <a:p xmlns:a="http://schemas.openxmlformats.org/drawingml/2006/main">
            <a:r>
              <a:t>"If you want to try it yourself, it is one command: docker compose up, then open localhost:3000. No API keys needed."</a:t>
            </a:r>
            <a:br/>
          </a:p>
          <a:p xmlns:a="http://schemas.openxmlformats.org/drawingml/2006/main">
            <a:br/>
          </a:p>
          <a:p xmlns:a="http://schemas.openxmlformats.org/drawingml/2006/main">
            <a:r>
              <a:t>IF ASKED ABOUT AI:</a:t>
            </a:r>
            <a:br/>
          </a:p>
          <a:p xmlns:a="http://schemas.openxmlformats.org/drawingml/2006/main">
            <a:r>
              <a:t>"The appendix covers how the demo lets a local model or Jev choose the protocol — I am happy to walk through it."</a:t>
            </a:r>
            <a:br/>
          </a:p>
          <a:p xmlns:a="http://schemas.openxmlformats.org/drawingml/2006/main">
            <a:br/>
          </a:p>
          <a:p xmlns:a="http://schemas.openxmlformats.org/drawingml/2006/main">
            <a:r>
              <a:t>(Replace the presenter placeholders before presenting.)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br/>
          </a:p>
          <a:p xmlns:a="http://schemas.openxmlformats.org/drawingml/2006/main">
            <a:r>
              <a:t>"This appendix explains how Protocol Studio lets a model choose the protocol — without letting it invent the answer."</a:t>
            </a:r>
            <a:br/>
          </a:p>
          <a:p xmlns:a="http://schemas.openxmlformats.org/drawingml/2006/main">
            <a:br/>
          </a:p>
          <a:p xmlns:a="http://schemas.openxmlformats.org/drawingml/2006/main">
            <a:r>
              <a:t>1. "The architecture: how a question becomes a protocol call."</a:t>
            </a:r>
            <a:br/>
          </a:p>
          <a:p xmlns:a="http://schemas.openxmlformats.org/drawingml/2006/main">
            <a:r>
              <a:t>2. "Two ways to make the decision: Ollama tool calling on a small local model, and Jev's structured decisions."</a:t>
            </a:r>
            <a:br/>
          </a:p>
          <a:p xmlns:a="http://schemas.openxmlformats.org/drawingml/2006/main">
            <a:r>
              <a:t>3. "The guardrails, and what it costs in latency."</a:t>
            </a:r>
            <a:br/>
          </a:p>
          <a:p xmlns:a="http://schemas.openxmlformats.org/drawingml/2006/main">
            <a:br/>
          </a:p>
          <a:p xmlns:a="http://schemas.openxmlformats.org/drawingml/2006/main">
            <a:r>
              <a:t>TRANSITION:</a:t>
            </a:r>
            <a:br/>
          </a:p>
          <a:p xmlns:a="http://schemas.openxmlformats.org/drawingml/2006/main">
            <a:r>
              <a:t>"Here is the path a question takes."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br/>
          </a:p>
          <a:p xmlns:a="http://schemas.openxmlformats.org/drawingml/2006/main">
            <a:r>
              <a:t>"Every question goes through five steps."</a:t>
            </a:r>
            <a:br/>
          </a:p>
          <a:p xmlns:a="http://schemas.openxmlformats.org/drawingml/2006/main">
            <a:br/>
          </a:p>
          <a:p xmlns:a="http://schemas.openxmlformats.org/drawingml/2006/main">
            <a:r>
              <a:t>1. "The browser posts the message and recent turns."</a:t>
            </a:r>
            <a:br/>
          </a:p>
          <a:p xmlns:a="http://schemas.openxmlformats.org/drawingml/2006/main">
            <a:r>
              <a:t>2. "A classifier — Ollama or Jev, behind one interface — picks one protocol and one allowlisted target."</a:t>
            </a:r>
            <a:br/>
          </a:p>
          <a:p xmlns:a="http://schemas.openxmlformats.org/drawingml/2006/main">
            <a:r>
              <a:t>3. "The decision is just protocol plus target. Never a URL, never query text."</a:t>
            </a:r>
            <a:br/>
          </a:p>
          <a:p xmlns:a="http://schemas.openxmlformats.org/drawingml/2006/main">
            <a:r>
              <a:t>4. "The server calls its own REST, GraphQL or native gRPC endpoint — real traffic."</a:t>
            </a:r>
            <a:br/>
          </a:p>
          <a:p xmlns:a="http://schemas.openxmlformats.org/drawingml/2006/main">
            <a:r>
              <a:t>5. "The answer is composed from the response, and the inspector shows the payloads and timings."</a:t>
            </a:r>
            <a:br/>
          </a:p>
          <a:p xmlns:a="http://schemas.openxmlformats.org/drawingml/2006/main">
            <a:br/>
          </a:p>
          <a:p xmlns:a="http://schemas.openxmlformats.org/drawingml/2006/main">
            <a:r>
              <a:t>BE CLEAR ABOUT THIS:</a:t>
            </a:r>
            <a:br/>
          </a:p>
          <a:p xmlns:a="http://schemas.openxmlformats.org/drawingml/2006/main">
            <a:r>
              <a:t>"The model chooses the route. It never supplies the data. If it routes wrongly, you can see it — and it cannot invent facts."</a:t>
            </a:r>
            <a:br/>
          </a:p>
          <a:p xmlns:a="http://schemas.openxmlformats.org/drawingml/2006/main">
            <a:br/>
          </a:p>
          <a:p xmlns:a="http://schemas.openxmlformats.org/drawingml/2006/main">
            <a:r>
              <a:t>TRANSITION:</a:t>
            </a:r>
            <a:br/>
          </a:p>
          <a:p xmlns:a="http://schemas.openxmlformats.org/drawingml/2006/main">
            <a:r>
              <a:t>"Let's look at the default router: Ollama."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
            </a:r>
          </a:p>
          <a:p xmlns:a="http://schemas.openxmlformats.org/drawingml/2006/main">
            <a:r>
              <a:t>"The default is genuine tool calling on a small local model — no API key, and no cloud dependency."</a:t>
            </a:r>
          </a:p>
          <a:p xmlns:a="http://schemas.openxmlformats.org/drawingml/2006/main">
            <a:r>
              <a:t/>
            </a:r>
          </a:p>
          <a:p xmlns:a="http://schemas.openxmlformats.org/drawingml/2006/main">
            <a:r>
              <a:t/>
            </a:r>
          </a:p>
          <a:p xmlns:a="http://schemas.openxmlformats.org/drawingml/2006/main">
            <a:r>
              <a:t/>
            </a:r>
          </a:p>
          <a:p xmlns:a="http://schemas.openxmlformats.org/drawingml/2006/main">
            <a:r>
              <a:t>1. "There is one tool per protocol. The tool the model calls is the decision."</a:t>
            </a:r>
          </a:p>
          <a:p xmlns:a="http://schemas.openxmlformats.org/drawingml/2006/main">
            <a:r>
              <a:t/>
            </a:r>
          </a:p>
          <a:p xmlns:a="http://schemas.openxmlformats.org/drawingml/2006/main">
            <a:r>
              <a:t>2. "The target is an enum, so the model can only pick catalog IDs that exist."</a:t>
            </a:r>
          </a:p>
          <a:p xmlns:a="http://schemas.openxmlformats.org/drawingml/2006/main">
            <a:r>
              <a:t/>
            </a:r>
          </a:p>
          <a:p xmlns:a="http://schemas.openxmlformats.org/drawingml/2006/main">
            <a:r>
              <a:t>3. "We pin a four-billion-parameter instruct model without thinking mode, running locally."</a:t>
            </a:r>
          </a:p>
          <a:p xmlns:a="http://schemas.openxmlformats.org/drawingml/2006/main">
            <a:r>
              <a:t/>
            </a:r>
          </a:p>
          <a:p xmlns:a="http://schemas.openxmlformats.org/drawingml/2006/main">
            <a:r>
              <a:t>4. "It is tuned for latency: temperature zero, a 96-token cap, a thirty-minute keep-alive and a warm-up at startup."</a:t>
            </a:r>
          </a:p>
          <a:p xmlns:a="http://schemas.openxmlformats.org/drawingml/2006/main">
            <a:r>
              <a:t/>
            </a:r>
          </a:p>
          <a:p xmlns:a="http://schemas.openxmlformats.org/drawingml/2006/main">
            <a:r>
              <a:t/>
            </a:r>
          </a:p>
          <a:p xmlns:a="http://schemas.openxmlformats.org/drawingml/2006/main">
            <a:r>
              <a:t/>
            </a:r>
          </a:p>
          <a:p xmlns:a="http://schemas.openxmlformats.org/drawingml/2006/main">
            <a:r>
              <a:t>BE CLEAR ABOUT THIS:</a:t>
            </a:r>
          </a:p>
          <a:p xmlns:a="http://schemas.openxmlformats.org/drawingml/2006/main">
            <a:r>
              <a:t/>
            </a:r>
          </a:p>
          <a:p xmlns:a="http://schemas.openxmlformats.org/drawingml/2006/main">
            <a:r>
              <a:t>"Pin the exact model tag. The unqualified tag resolves to a thinking model that burns tokens before it calls a tool."</a:t>
            </a:r>
          </a:p>
          <a:p xmlns:a="http://schemas.openxmlformats.org/drawingml/2006/main">
            <a:r>
              <a:t/>
            </a:r>
          </a:p>
          <a:p xmlns:a="http://schemas.openxmlformats.org/drawingml/2006/main">
            <a:r>
              <a:t/>
            </a:r>
          </a:p>
          <a:p xmlns:a="http://schemas.openxmlformats.org/drawingml/2006/main">
            <a:r>
              <a:t/>
            </a:r>
          </a:p>
          <a:p xmlns:a="http://schemas.openxmlformats.org/drawingml/2006/main">
            <a:r>
              <a:t>TRANSITION:</a:t>
            </a:r>
          </a:p>
          <a:p xmlns:a="http://schemas.openxmlformats.org/drawingml/2006/main">
            <a:r>
              <a:t/>
            </a:r>
          </a:p>
          <a:p xmlns:a="http://schemas.openxmlformats.org/drawingml/2006/main">
            <a:r>
              <a:t>"The alternative is a model built for decisions rather than text."</a:t>
            </a:r>
          </a:p>
          <a:p xmlns:a="http://schemas.openxmlformats.org/drawingml/2006/main">
            <a:r>
              <a:t/>
            </a:r>
          </a:p>
          <a:p xmlns:a="http://schemas.openxmlformats.org/drawingml/2006/main">
            <a:r>
              <a:t>DEMO CONTEXT:</a:t>
            </a:r>
          </a:p>
          <a:p xmlns:a="http://schemas.openxmlformats.org/drawingml/2006/main">
            <a:r>
              <a:t/>
            </a:r>
          </a:p>
          <a:p xmlns:a="http://schemas.openxmlformats.org/drawingml/2006/main">
            <a:r>
              <a:t>Character target cast:1 identifies Luke Skywalker. Crew target crew:5:1 preserves both the Falcon and A New Hope. The backend rejects unsupported target formats. Missing crew evidence remains a valid coverage-gap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br/>
          </a:p>
          <a:p xmlns:a="http://schemas.openxmlformats.org/drawingml/2006/main">
            <a:r>
              <a:t>"Jev is a decision model, not a text generator."</a:t>
            </a:r>
            <a:br/>
          </a:p>
          <a:p xmlns:a="http://schemas.openxmlformats.org/drawingml/2006/main">
            <a:br/>
          </a:p>
          <a:p xmlns:a="http://schemas.openxmlformats.org/drawingml/2006/main">
            <a:r>
              <a:t>1. "Instead of generating text, we ask two typed choice questions: which protocol, and which target."</a:t>
            </a:r>
            <a:br/>
          </a:p>
          <a:p xmlns:a="http://schemas.openxmlformats.org/drawingml/2006/main">
            <a:r>
              <a:t>2. "Each answer comes back with a confidence and probabilities, and we show them in the inspector."</a:t>
            </a:r>
            <a:br/>
          </a:p>
          <a:p xmlns:a="http://schemas.openxmlformats.org/drawingml/2006/main">
            <a:r>
              <a:t>3. "It plugs in behind the same interface — one environment variable switches providers."</a:t>
            </a:r>
            <a:br/>
          </a:p>
          <a:p xmlns:a="http://schemas.openxmlformats.org/drawingml/2006/main">
            <a:r>
              <a:t>4. "It is hosted by TypeSafe, so it needs internet access and an API key. The key never leaves the server."</a:t>
            </a:r>
            <a:br/>
          </a:p>
          <a:p xmlns:a="http://schemas.openxmlformats.org/drawingml/2006/main">
            <a:br/>
          </a:p>
          <a:p xmlns:a="http://schemas.openxmlformats.org/drawingml/2006/main">
            <a:r>
              <a:t>BE CLEAR ABOUT THIS:</a:t>
            </a:r>
            <a:br/>
          </a:p>
          <a:p xmlns:a="http://schemas.openxmlformats.org/drawingml/2006/main">
            <a:r>
              <a:t>"Jev is optional. For a small, closed decision like this one, a structured decision fits better than free-form generation."</a:t>
            </a:r>
            <a:br/>
          </a:p>
          <a:p xmlns:a="http://schemas.openxmlformats.org/drawingml/2006/main">
            <a:br/>
          </a:p>
          <a:p xmlns:a="http://schemas.openxmlformats.org/drawingml/2006/main">
            <a:r>
              <a:t>TRANSITION:</a:t>
            </a:r>
            <a:br/>
          </a:p>
          <a:p xmlns:a="http://schemas.openxmlformats.org/drawingml/2006/main">
            <a:r>
              <a:t>"So how do you choose between them?"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br/>
          </a:p>
          <a:p xmlns:a="http://schemas.openxmlformats.org/drawingml/2006/main">
            <a:r>
              <a:t>"Both routers make the same decision in different ways."</a:t>
            </a:r>
            <a:br/>
          </a:p>
          <a:p xmlns:a="http://schemas.openxmlformats.org/drawingml/2006/main">
            <a:br/>
          </a:p>
          <a:p xmlns:a="http://schemas.openxmlformats.org/drawingml/2006/main">
            <a:r>
              <a:t>1. "Ollama runs locally and works offline, which matters for demos and data residency. It does not report confidence, and we do not invent one."</a:t>
            </a:r>
            <a:br/>
          </a:p>
          <a:p xmlns:a="http://schemas.openxmlformats.org/drawingml/2006/main">
            <a:r>
              <a:t>2. "Jev is hosted, needs a key, and gives you calibrated confidence per decision."</a:t>
            </a:r>
            <a:br/>
          </a:p>
          <a:p xmlns:a="http://schemas.openxmlformats.org/drawingml/2006/main">
            <a:br/>
          </a:p>
          <a:p xmlns:a="http://schemas.openxmlformats.org/drawingml/2006/main">
            <a:r>
              <a:t>BE CLEAR ABOUT THIS:</a:t>
            </a:r>
            <a:br/>
          </a:p>
          <a:p xmlns:a="http://schemas.openxmlformats.org/drawingml/2006/main">
            <a:r>
              <a:t>"Presenter overrides bypass the model for one question, and the UI says so every time."</a:t>
            </a:r>
            <a:br/>
          </a:p>
          <a:p xmlns:a="http://schemas.openxmlformats.org/drawingml/2006/main">
            <a:br/>
          </a:p>
          <a:p xmlns:a="http://schemas.openxmlformats.org/drawingml/2006/main">
            <a:r>
              <a:t>TRANSITION:</a:t>
            </a:r>
            <a:br/>
          </a:p>
          <a:p xmlns:a="http://schemas.openxmlformats.org/drawingml/2006/main">
            <a:r>
              <a:t>"That brings us to the rules that keep this honest."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br/>
          </a:p>
          <a:p xmlns:a="http://schemas.openxmlformats.org/drawingml/2006/main">
            <a:r>
              <a:t>"Five rules make it safe to put a model in the request path."</a:t>
            </a:r>
            <a:br/>
          </a:p>
          <a:p xmlns:a="http://schemas.openxmlformats.org/drawingml/2006/main">
            <a:br/>
          </a:p>
          <a:p xmlns:a="http://schemas.openxmlformats.org/drawingml/2006/main">
            <a:r>
              <a:t>1. "Allowlisted targets — the model picks from catalog IDs, never URLs or queries."</a:t>
            </a:r>
            <a:br/>
          </a:p>
          <a:p xmlns:a="http://schemas.openxmlformats.org/drawingml/2006/main">
            <a:r>
              <a:t>2. "No hidden fallback — if the model fails, you see an error, not keyword routing labeled as AI."</a:t>
            </a:r>
            <a:br/>
          </a:p>
          <a:p xmlns:a="http://schemas.openxmlformats.org/drawingml/2006/main">
            <a:r>
              <a:t>3. "Labeled overrides — they apply to one question, then routing resets to Auto."</a:t>
            </a:r>
            <a:br/>
          </a:p>
          <a:p xmlns:a="http://schemas.openxmlformats.org/drawingml/2006/main">
            <a:r>
              <a:t>4. "Grounded answers — every answer is built from the actual transport response."</a:t>
            </a:r>
            <a:br/>
          </a:p>
          <a:p xmlns:a="http://schemas.openxmlformats.org/drawingml/2006/main">
            <a:r>
              <a:t>5. "Secrets stay server-side, and ports bind to loopback by default."</a:t>
            </a:r>
            <a:br/>
          </a:p>
          <a:p xmlns:a="http://schemas.openxmlformats.org/drawingml/2006/main">
            <a:br/>
          </a:p>
          <a:p xmlns:a="http://schemas.openxmlformats.org/drawingml/2006/main">
            <a:r>
              <a:t>TRANSITION:</a:t>
            </a:r>
            <a:br/>
          </a:p>
          <a:p xmlns:a="http://schemas.openxmlformats.org/drawingml/2006/main">
            <a:r>
              <a:t>"Finally, what does the router cost?"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
            </a:r>
          </a:p>
          <a:p xmlns:a="http://schemas.openxmlformats.org/drawingml/2006/main">
            <a:r>
              <a:t>"These are medians to a complete response, on warm runs with native Ollama on Apple Silicon."</a:t>
            </a:r>
          </a:p>
          <a:p xmlns:a="http://schemas.openxmlformats.org/drawingml/2006/main">
            <a:r>
              <a:t/>
            </a:r>
          </a:p>
          <a:p xmlns:a="http://schemas.openxmlformats.org/drawingml/2006/main">
            <a:r>
              <a:t/>
            </a:r>
          </a:p>
          <a:p xmlns:a="http://schemas.openxmlformats.org/drawingml/2006/main">
            <a:r>
              <a:t/>
            </a:r>
          </a:p>
          <a:p xmlns:a="http://schemas.openxmlformats.org/drawingml/2006/main">
            <a:r>
              <a:t>1. "REST in 1.11 seconds, GraphQL in 1.26, gRPC in 1.86 including three streamed snapshots."</a:t>
            </a:r>
          </a:p>
          <a:p xmlns:a="http://schemas.openxmlformats.org/drawingml/2006/main">
            <a:r>
              <a:t/>
            </a:r>
          </a:p>
          <a:p xmlns:a="http://schemas.openxmlformats.org/drawingml/2006/main">
            <a:r>
              <a:t>2. "Routing is the cost — about a second on a warm four-billion-parameter model. REST and GraphQL execute in single-digit milliseconds."</a:t>
            </a:r>
          </a:p>
          <a:p xmlns:a="http://schemas.openxmlformats.org/drawingml/2006/main">
            <a:r>
              <a:t/>
            </a:r>
          </a:p>
          <a:p xmlns:a="http://schemas.openxmlformats.org/drawingml/2006/main">
            <a:r>
              <a:t>3. "Most of the gRPC stream time is the deliberate pacing, so you can watch it happen."</a:t>
            </a:r>
          </a:p>
          <a:p xmlns:a="http://schemas.openxmlformats.org/drawingml/2006/main">
            <a:r>
              <a:t/>
            </a:r>
          </a:p>
          <a:p xmlns:a="http://schemas.openxmlformats.org/drawingml/2006/main">
            <a:r>
              <a:t/>
            </a:r>
          </a:p>
          <a:p xmlns:a="http://schemas.openxmlformats.org/drawingml/2006/main">
            <a:r>
              <a:t/>
            </a:r>
          </a:p>
          <a:p xmlns:a="http://schemas.openxmlformats.org/drawingml/2006/main">
            <a:r>
              <a:t>BE CLEAR ABOUT THIS:</a:t>
            </a:r>
          </a:p>
          <a:p xmlns:a="http://schemas.openxmlformats.org/drawingml/2006/main">
            <a:r>
              <a:t/>
            </a:r>
          </a:p>
          <a:p xmlns:a="http://schemas.openxmlformats.org/drawingml/2006/main">
            <a:r>
              <a:t>"This is a request diagnostic from three runs per protocol, not a load test or a protocol benchmark. You can reproduce it with the benchmark script in the repository."</a:t>
            </a:r>
          </a:p>
          <a:p xmlns:a="http://schemas.openxmlformats.org/drawingml/2006/main">
            <a:r>
              <a:t/>
            </a:r>
          </a:p>
          <a:p xmlns:a="http://schemas.openxmlformats.org/drawingml/2006/main">
            <a:r>
              <a:t>DEMO CONTEXT:</a:t>
            </a:r>
          </a:p>
          <a:p xmlns:a="http://schemas.openxmlformats.org/drawingml/2006/main">
            <a:r>
              <a:t/>
            </a:r>
          </a:p>
          <a:p xmlns:a="http://schemas.openxmlformats.org/drawingml/2006/main">
            <a:r>
              <a:t>These measurements describe the earlier catalog and routing prompt. They are historical context, not a measurement of v4 character and crew routing. Do not promise these timings for the current demo. Rerun scripts/benchmark.mjs in the intended presentation environment for a new baseline.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a4a67a4147e4738"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0847fe400074c95" /><Relationship Type="http://schemas.openxmlformats.org/officeDocument/2006/relationships/slideLayout" Target="/ppt/slideLayouts/slideLayout1.xml" Id="R81f9bab5ea87448b"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1f9bab5ea87448b"/>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dc26fd1b2f64870" /><Relationship Type="http://schemas.openxmlformats.org/officeDocument/2006/relationships/image" Target="/ppt/media/image.png" Id="R595159eb65fc42a0" /><Relationship Type="http://schemas.openxmlformats.org/officeDocument/2006/relationships/notesSlide" Target="/ppt/notesSlides/notesSlide1.xml" Id="Rb580721e8be7457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9ad71f48df9470d" /><Relationship Type="http://schemas.openxmlformats.org/officeDocument/2006/relationships/image" Target="/ppt/media/image.png" Id="R984e9d81eb3742e1" /><Relationship Type="http://schemas.openxmlformats.org/officeDocument/2006/relationships/notesSlide" Target="/ppt/notesSlides/notesSlide2.xml" Id="R25dcb050b39140a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7e070edb24e47fc" /><Relationship Type="http://schemas.openxmlformats.org/officeDocument/2006/relationships/image" Target="/ppt/media/image.png" Id="R7b7ec8448ef642d3" /><Relationship Type="http://schemas.openxmlformats.org/officeDocument/2006/relationships/notesSlide" Target="/ppt/notesSlides/notesSlide3.xml" Id="R5aa686aa65124d0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5822c270aad484e" /><Relationship Type="http://schemas.openxmlformats.org/officeDocument/2006/relationships/image" Target="/ppt/media/image.png" Id="Rd8212867ba884a60" /><Relationship Type="http://schemas.openxmlformats.org/officeDocument/2006/relationships/notesSlide" Target="/ppt/notesSlides/notesSlide4.xml" Id="R03039db0d9ee47f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29eed77f59648e3" /><Relationship Type="http://schemas.openxmlformats.org/officeDocument/2006/relationships/image" Target="/ppt/media/image.png" Id="R92baab7da73b4244" /><Relationship Type="http://schemas.openxmlformats.org/officeDocument/2006/relationships/notesSlide" Target="/ppt/notesSlides/notesSlide5.xml" Id="Rbbb677533ed7479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1d3124d956d4ad5" /><Relationship Type="http://schemas.openxmlformats.org/officeDocument/2006/relationships/image" Target="/ppt/media/image.png" Id="R2a2db898ba134601" /><Relationship Type="http://schemas.openxmlformats.org/officeDocument/2006/relationships/notesSlide" Target="/ppt/notesSlides/notesSlide6.xml" Id="R15b804149594416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82b5ca624724f7d" /><Relationship Type="http://schemas.openxmlformats.org/officeDocument/2006/relationships/image" Target="/ppt/media/image.png" Id="Rcbcdfc3ccd444fba" /><Relationship Type="http://schemas.openxmlformats.org/officeDocument/2006/relationships/notesSlide" Target="/ppt/notesSlides/notesSlide7.xml" Id="R77e2abb080ec463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32e936aa66d4c56" /><Relationship Type="http://schemas.openxmlformats.org/officeDocument/2006/relationships/image" Target="/ppt/media/image.png" Id="R7bb1093423de405e" /><Relationship Type="http://schemas.openxmlformats.org/officeDocument/2006/relationships/notesSlide" Target="/ppt/notesSlides/notesSlide8.xml" Id="R92a8338e75074a1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949e5a26f4f4060" /><Relationship Type="http://schemas.openxmlformats.org/officeDocument/2006/relationships/image" Target="/ppt/media/image.png" Id="Rdfe41acd60264d2e" /><Relationship Type="http://schemas.openxmlformats.org/officeDocument/2006/relationships/notesSlide" Target="/ppt/notesSlides/notesSlide9.xml" Id="R3284ce20d5c24ff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00731bfcd5442b5" /><Relationship Type="http://schemas.openxmlformats.org/officeDocument/2006/relationships/image" Target="/ppt/media/image.png" Id="R1224d52211474f2a" /><Relationship Type="http://schemas.openxmlformats.org/officeDocument/2006/relationships/notesSlide" Target="/ppt/notesSlides/notesSlide10.xml" Id="R1b1d951ace6441f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59c6e8d32fb4706" /><Relationship Type="http://schemas.openxmlformats.org/officeDocument/2006/relationships/image" Target="/ppt/media/image.png" Id="R3545f1e2ceb14ad5" /><Relationship Type="http://schemas.openxmlformats.org/officeDocument/2006/relationships/notesSlide" Target="/ppt/notesSlides/notesSlide11.xml" Id="R0511cc881c96478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19039c100f747d3" /><Relationship Type="http://schemas.openxmlformats.org/officeDocument/2006/relationships/image" Target="/ppt/media/image.png" Id="R34258ffb64db495d" /><Relationship Type="http://schemas.openxmlformats.org/officeDocument/2006/relationships/notesSlide" Target="/ppt/notesSlides/notesSlide12.xml" Id="R34b148a1c81d405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d11d892d2114a09" /><Relationship Type="http://schemas.openxmlformats.org/officeDocument/2006/relationships/image" Target="/ppt/media/image.png" Id="R2fc10229724d43ad" /><Relationship Type="http://schemas.openxmlformats.org/officeDocument/2006/relationships/notesSlide" Target="/ppt/notesSlides/notesSlide13.xml" Id="Rafbab95fb81a410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1995eda114c64301" /><Relationship Type="http://schemas.openxmlformats.org/officeDocument/2006/relationships/image" Target="/ppt/media/image.png" Id="R0082a64dd3804a37" /><Relationship Type="http://schemas.openxmlformats.org/officeDocument/2006/relationships/notesSlide" Target="/ppt/notesSlides/notesSlide14.xml" Id="Rbbaed01570604fc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024148db8bb34c02" /><Relationship Type="http://schemas.openxmlformats.org/officeDocument/2006/relationships/image" Target="/ppt/media/image.png" Id="R76383cda8dfd4287" /><Relationship Type="http://schemas.openxmlformats.org/officeDocument/2006/relationships/notesSlide" Target="/ppt/notesSlides/notesSlide15.xml" Id="R25e8ac6bd1324ba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df3a8ee82013478b" /><Relationship Type="http://schemas.openxmlformats.org/officeDocument/2006/relationships/image" Target="/ppt/media/image.png" Id="Rd147e93130fc48bd" /><Relationship Type="http://schemas.openxmlformats.org/officeDocument/2006/relationships/notesSlide" Target="/ppt/notesSlides/notesSlide16.xml" Id="R83b7450d7cf04eb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1565983a851f48bf" /><Relationship Type="http://schemas.openxmlformats.org/officeDocument/2006/relationships/image" Target="/ppt/media/image.png" Id="R5f56d8c7fc42445a" /><Relationship Type="http://schemas.openxmlformats.org/officeDocument/2006/relationships/notesSlide" Target="/ppt/notesSlides/notesSlide17.xml" Id="R41572f66316d49f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790ed15f492c41af" /><Relationship Type="http://schemas.openxmlformats.org/officeDocument/2006/relationships/image" Target="/ppt/media/image.png" Id="Rbc7c5c4f5ece4d3a" /><Relationship Type="http://schemas.openxmlformats.org/officeDocument/2006/relationships/notesSlide" Target="/ppt/notesSlides/notesSlide18.xml" Id="R646c55a99b474a0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878b7fa295354d37" /><Relationship Type="http://schemas.openxmlformats.org/officeDocument/2006/relationships/image" Target="/ppt/media/image.png" Id="R2a748d75b4294a09" /><Relationship Type="http://schemas.openxmlformats.org/officeDocument/2006/relationships/notesSlide" Target="/ppt/notesSlides/notesSlide19.xml" Id="Ra5ba69566e274d9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191c9ae494e74ff3" /><Relationship Type="http://schemas.openxmlformats.org/officeDocument/2006/relationships/image" Target="/ppt/media/image.png" Id="R6f8c1c237dd84116" /><Relationship Type="http://schemas.openxmlformats.org/officeDocument/2006/relationships/notesSlide" Target="/ppt/notesSlides/notesSlide20.xml" Id="Re08e1531db5b468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9b4d225912f344a7" /><Relationship Type="http://schemas.openxmlformats.org/officeDocument/2006/relationships/image" Target="/ppt/media/image.png" Id="R198fa9bf5ef84a4a" /><Relationship Type="http://schemas.openxmlformats.org/officeDocument/2006/relationships/notesSlide" Target="/ppt/notesSlides/notesSlide21.xml" Id="Re8d1ed031347417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0a0e85f2a09141f5" /><Relationship Type="http://schemas.openxmlformats.org/officeDocument/2006/relationships/image" Target="/ppt/media/image.png" Id="Ra33054d247de4d40" /><Relationship Type="http://schemas.openxmlformats.org/officeDocument/2006/relationships/notesSlide" Target="/ppt/notesSlides/notesSlide22.xml" Id="R0aa5862f2f234a73"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0db0fe88b9744917" /><Relationship Type="http://schemas.openxmlformats.org/officeDocument/2006/relationships/image" Target="/ppt/media/image.png" Id="R0c40a82f4cb04f3c" /><Relationship Type="http://schemas.openxmlformats.org/officeDocument/2006/relationships/notesSlide" Target="/ppt/notesSlides/notesSlide23.xml" Id="Rb6a10684b0b241b3"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240461e81be74bae" /><Relationship Type="http://schemas.openxmlformats.org/officeDocument/2006/relationships/image" Target="/ppt/media/image.png" Id="R313ac5b76ee844c5" /><Relationship Type="http://schemas.openxmlformats.org/officeDocument/2006/relationships/notesSlide" Target="/ppt/notesSlides/notesSlide24.xml" Id="R52fc93bcc22a4204"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4f00655639d64d0a" /><Relationship Type="http://schemas.openxmlformats.org/officeDocument/2006/relationships/image" Target="/ppt/media/image.png" Id="Rb7a2db8325ef4c39" /><Relationship Type="http://schemas.openxmlformats.org/officeDocument/2006/relationships/notesSlide" Target="/ppt/notesSlides/notesSlide25.xml" Id="Refc15a1e0b4046d8"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50b01aa779144012" /><Relationship Type="http://schemas.openxmlformats.org/officeDocument/2006/relationships/image" Target="/ppt/media/image.png" Id="Rcf36543bc11e4877" /><Relationship Type="http://schemas.openxmlformats.org/officeDocument/2006/relationships/notesSlide" Target="/ppt/notesSlides/notesSlide26.xml" Id="Rad401d575a6b4e3a"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5e26b5da4e5144a4" /><Relationship Type="http://schemas.openxmlformats.org/officeDocument/2006/relationships/image" Target="/ppt/media/image.png" Id="R01780dbd6451453e" /><Relationship Type="http://schemas.openxmlformats.org/officeDocument/2006/relationships/notesSlide" Target="/ppt/notesSlides/notesSlide27.xml" Id="R59d69213561f4e1a"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7EBE9F90-8E8C-4586-BFB0-A5C7C861C5AB}"/>
              </a:ext>
            </a:extLst>
          </p:cNvPr>
          <p:cNvSpPr>
            <a:spLocks xmlns:a="http://schemas.openxmlformats.org/drawingml/2006/main" noGrp="1"/>
          </p:cNvSpPr>
          <p:nvPr/>
        </p:nvSpPr>
        <p:spPr>
          <a:xfrm xmlns:a="http://schemas.openxmlformats.org/drawingml/2006/main">
            <a:off x="8128000" y="0"/>
            <a:ext cx="4064000" cy="6858000"/>
          </a:xfrm>
          <a:prstGeom xmlns:a="http://schemas.openxmlformats.org/drawingml/2006/main" prst="rect">
            <a:avLst/>
          </a:prstGeom>
          <a:solidFill xmlns:a="http://schemas.openxmlformats.org/drawingml/2006/main">
            <a:srgbClr val="DA1884"/>
          </a:solidFill>
        </p:spPr>
        <p:txBody>
          <a:bodyPr xmlns:a="http://schemas.openxmlformats.org/drawingml/2006/main"/>
          <a:lstStyle xmlns:a="http://schemas.openxmlformats.org/drawingml/2006/main"/>
          <a:p xmlns:a="http://schemas.openxmlformats.org/drawingml/2006/main">
            <a:endParaRPr/>
          </a:p>
        </p:txBody>
      </p:sp>
      <p:pic>
        <p:nvPicPr>
          <p:cNvPr id="3" name="Image 0">
            <a:extLst xmlns:a="http://schemas.openxmlformats.org/drawingml/2006/main">
              <a:ext uri="{FF2B5EF4-FFF2-40B4-BE49-F238E27FC236}">
                <a16:creationId xmlns:a16="http://schemas.microsoft.com/office/drawing/2014/main" id="{A49365A6-9F53-4326-A000-D68A588168EF}"/>
              </a:ext>
            </a:extLst>
          </p:cNvPr>
          <p:cNvPicPr>
            <a:picLocks xmlns:a="http://schemas.openxmlformats.org/drawingml/2006/main" noChangeAspect="1"/>
          </p:cNvPicPr>
          <p:nvPr/>
        </p:nvPicPr>
        <p:blipFill>
          <a:blip xmlns:r="http://schemas.openxmlformats.org/officeDocument/2006/relationships" xmlns:a="http://schemas.openxmlformats.org/drawingml/2006/main" r:embed="R595159eb65fc42a0"/>
          <a:stretch xmlns:a="http://schemas.openxmlformats.org/drawingml/2006/main">
            <a:fillRect l="0" t="0" r="0" b="0"/>
          </a:stretch>
        </p:blipFill>
        <p:spPr>
          <a:xfrm xmlns:a="http://schemas.openxmlformats.org/drawingml/2006/main">
            <a:off x="609600" y="825500"/>
            <a:ext cx="1905000" cy="787400"/>
          </a:xfrm>
          <a:prstGeom xmlns:a="http://schemas.openxmlformats.org/drawingml/2006/main" prst="rect">
            <a:avLst/>
          </a:prstGeom>
        </p:spPr>
      </p:pic>
      <p:sp>
        <p:nvSpPr>
          <p:cNvPr id="4" name="Text 1">
            <a:extLst xmlns:a="http://schemas.openxmlformats.org/drawingml/2006/main">
              <a:ext uri="{FF2B5EF4-FFF2-40B4-BE49-F238E27FC236}">
                <a16:creationId xmlns:a16="http://schemas.microsoft.com/office/drawing/2014/main" id="{DCE838DC-585B-4447-9144-D86C83963F71}"/>
              </a:ext>
            </a:extLst>
          </p:cNvPr>
          <p:cNvSpPr>
            <a:spLocks xmlns:a="http://schemas.openxmlformats.org/drawingml/2006/main" noGrp="1"/>
          </p:cNvSpPr>
          <p:nvPr/>
        </p:nvSpPr>
        <p:spPr>
          <a:xfrm xmlns:a="http://schemas.openxmlformats.org/drawingml/2006/main">
            <a:off x="609600" y="2095500"/>
            <a:ext cx="69850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1300" b="1">
                <a:solidFill>
                  <a:srgbClr val="DA1884"/>
                </a:solidFill>
                <a:latin typeface="Arial"/>
                <a:ea typeface="Arial"/>
                <a:cs typeface="Arial"/>
              </a:rPr>
              <a:t>TECHNICAL SESSION</a:t>
            </a:r>
            <a:endParaRPr sz="1300"/>
          </a:p>
        </p:txBody>
      </p:sp>
      <p:sp>
        <p:nvSpPr>
          <p:cNvPr id="5" name="Text 2">
            <a:extLst xmlns:a="http://schemas.openxmlformats.org/drawingml/2006/main">
              <a:ext uri="{FF2B5EF4-FFF2-40B4-BE49-F238E27FC236}">
                <a16:creationId xmlns:a16="http://schemas.microsoft.com/office/drawing/2014/main" id="{F5F12340-2216-4DE3-8101-23F035570DC2}"/>
              </a:ext>
            </a:extLst>
          </p:cNvPr>
          <p:cNvSpPr>
            <a:spLocks xmlns:a="http://schemas.openxmlformats.org/drawingml/2006/main" noGrp="1"/>
          </p:cNvSpPr>
          <p:nvPr/>
        </p:nvSpPr>
        <p:spPr>
          <a:xfrm xmlns:a="http://schemas.openxmlformats.org/drawingml/2006/main">
            <a:off x="609600" y="2374900"/>
            <a:ext cx="7112000" cy="635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3600" b="1">
                <a:solidFill>
                  <a:srgbClr val="141414"/>
                </a:solidFill>
                <a:latin typeface="Arial"/>
                <a:ea typeface="Arial"/>
                <a:cs typeface="Arial"/>
              </a:rPr>
              <a:t>REST vs GraphQL vs gRPC</a:t>
            </a:r>
            <a:endParaRPr sz="3600"/>
          </a:p>
        </p:txBody>
      </p:sp>
      <p:sp>
        <p:nvSpPr>
          <p:cNvPr id="6" name="Text 3">
            <a:extLst xmlns:a="http://schemas.openxmlformats.org/drawingml/2006/main">
              <a:ext uri="{FF2B5EF4-FFF2-40B4-BE49-F238E27FC236}">
                <a16:creationId xmlns:a16="http://schemas.microsoft.com/office/drawing/2014/main" id="{486E88AD-5B10-4F03-B083-F93DC25006AF}"/>
              </a:ext>
            </a:extLst>
          </p:cNvPr>
          <p:cNvSpPr>
            <a:spLocks xmlns:a="http://schemas.openxmlformats.org/drawingml/2006/main" noGrp="1"/>
          </p:cNvSpPr>
          <p:nvPr/>
        </p:nvSpPr>
        <p:spPr>
          <a:xfrm xmlns:a="http://schemas.openxmlformats.org/drawingml/2006/main">
            <a:off x="609600" y="3111500"/>
            <a:ext cx="6985000" cy="609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0000"/>
              </a:lnSpc>
              <a:buNone/>
            </a:pPr>
            <a:r>
              <a:rPr sz="1600" b="1">
                <a:solidFill>
                  <a:srgbClr val="333333"/>
                </a:solidFill>
                <a:latin typeface="Arial"/>
                <a:ea typeface="Arial"/>
                <a:cs typeface="Arial"/>
              </a:rPr>
              <a:t>Choosing the right API protocol for the operation in front of you.</a:t>
            </a:r>
            <a:endParaRPr sz="1600"/>
          </a:p>
        </p:txBody>
      </p:sp>
      <p:sp>
        <p:nvSpPr>
          <p:cNvPr id="7" name="Shape 4">
            <a:extLst xmlns:a="http://schemas.openxmlformats.org/drawingml/2006/main">
              <a:ext uri="{FF2B5EF4-FFF2-40B4-BE49-F238E27FC236}">
                <a16:creationId xmlns:a16="http://schemas.microsoft.com/office/drawing/2014/main" id="{0314C58B-0333-4A41-997B-C208E6A8442D}"/>
              </a:ext>
            </a:extLst>
          </p:cNvPr>
          <p:cNvSpPr>
            <a:spLocks xmlns:a="http://schemas.openxmlformats.org/drawingml/2006/main" noGrp="1"/>
          </p:cNvSpPr>
          <p:nvPr/>
        </p:nvSpPr>
        <p:spPr>
          <a:xfrm xmlns:a="http://schemas.openxmlformats.org/drawingml/2006/main">
            <a:off x="609600" y="3911600"/>
            <a:ext cx="50800" cy="1371600"/>
          </a:xfrm>
          <a:prstGeom xmlns:a="http://schemas.openxmlformats.org/drawingml/2006/main" prst="rect">
            <a:avLst/>
          </a:prstGeom>
          <a:solidFill xmlns:a="http://schemas.openxmlformats.org/drawingml/2006/main">
            <a:srgbClr val="DA1884"/>
          </a:solidFill>
        </p:spPr>
        <p:txBody>
          <a:bodyPr xmlns:a="http://schemas.openxmlformats.org/drawingml/2006/main"/>
          <a:lstStyle xmlns:a="http://schemas.openxmlformats.org/drawingml/2006/main"/>
          <a:p xmlns:a="http://schemas.openxmlformats.org/drawingml/2006/main">
            <a:endParaRPr/>
          </a:p>
        </p:txBody>
      </p:sp>
      <p:sp>
        <p:nvSpPr>
          <p:cNvPr id="8" name="Text 5">
            <a:extLst xmlns:a="http://schemas.openxmlformats.org/drawingml/2006/main">
              <a:ext uri="{FF2B5EF4-FFF2-40B4-BE49-F238E27FC236}">
                <a16:creationId xmlns:a16="http://schemas.microsoft.com/office/drawing/2014/main" id="{439C4A71-70ED-400F-829D-70BF26B98097}"/>
              </a:ext>
            </a:extLst>
          </p:cNvPr>
          <p:cNvSpPr>
            <a:spLocks xmlns:a="http://schemas.openxmlformats.org/drawingml/2006/main" noGrp="1"/>
          </p:cNvSpPr>
          <p:nvPr/>
        </p:nvSpPr>
        <p:spPr>
          <a:xfrm xmlns:a="http://schemas.openxmlformats.org/drawingml/2006/main">
            <a:off x="863600" y="3937000"/>
            <a:ext cx="6731000" cy="2159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1200" b="1">
                <a:solidFill>
                  <a:srgbClr val="DA1884"/>
                </a:solidFill>
                <a:latin typeface="Arial"/>
                <a:ea typeface="Arial"/>
                <a:cs typeface="Arial"/>
              </a:rPr>
              <a:t>WHAT IT IS</a:t>
            </a:r>
            <a:endParaRPr sz="1200"/>
          </a:p>
        </p:txBody>
      </p:sp>
      <p:sp>
        <p:nvSpPr>
          <p:cNvPr id="9" name="Text 6">
            <a:extLst xmlns:a="http://schemas.openxmlformats.org/drawingml/2006/main">
              <a:ext uri="{FF2B5EF4-FFF2-40B4-BE49-F238E27FC236}">
                <a16:creationId xmlns:a16="http://schemas.microsoft.com/office/drawing/2014/main" id="{51C42803-AD44-41C4-9AB0-5DA8E6196539}"/>
              </a:ext>
            </a:extLst>
          </p:cNvPr>
          <p:cNvSpPr>
            <a:spLocks xmlns:a="http://schemas.openxmlformats.org/drawingml/2006/main" noGrp="1"/>
          </p:cNvSpPr>
          <p:nvPr/>
        </p:nvSpPr>
        <p:spPr>
          <a:xfrm xmlns:a="http://schemas.openxmlformats.org/drawingml/2006/main">
            <a:off x="863600" y="4216400"/>
            <a:ext cx="6731000" cy="1079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30000"/>
              </a:lnSpc>
              <a:buNone/>
            </a:pPr>
            <a:r>
              <a:rPr sz="1300">
                <a:solidFill>
                  <a:srgbClr val="333333"/>
                </a:solidFill>
                <a:latin typeface="Arial"/>
                <a:ea typeface="Arial"/>
                <a:cs typeface="Arial"/>
              </a:rPr>
              <a:t>A 300-level tour of REST, GraphQL and gRPC through one working app, Protocol Studio: a local or hosted model routes each question to the protocol that fits, and every request is real traffic you can inspect.</a:t>
            </a:r>
            <a:endParaRPr sz="1300"/>
          </a:p>
        </p:txBody>
      </p:sp>
      <p:sp>
        <p:nvSpPr>
          <p:cNvPr id="10" name="Text 7">
            <a:extLst xmlns:a="http://schemas.openxmlformats.org/drawingml/2006/main">
              <a:ext uri="{FF2B5EF4-FFF2-40B4-BE49-F238E27FC236}">
                <a16:creationId xmlns:a16="http://schemas.microsoft.com/office/drawing/2014/main" id="{09A5BA9F-BF66-4223-8B7A-531B9F168E56}"/>
              </a:ext>
            </a:extLst>
          </p:cNvPr>
          <p:cNvSpPr>
            <a:spLocks xmlns:a="http://schemas.openxmlformats.org/drawingml/2006/main" noGrp="1"/>
          </p:cNvSpPr>
          <p:nvPr/>
        </p:nvSpPr>
        <p:spPr>
          <a:xfrm xmlns:a="http://schemas.openxmlformats.org/drawingml/2006/main">
            <a:off x="609600" y="5842000"/>
            <a:ext cx="6985000" cy="2159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1200">
                <a:solidFill>
                  <a:srgbClr val="6B6B6B"/>
                </a:solidFill>
                <a:latin typeface="Arial"/>
                <a:ea typeface="Arial"/>
                <a:cs typeface="Arial"/>
              </a:rPr>
              <a:t>[Conference name] 2026   •   Insight</a:t>
            </a:r>
            <a:endParaRPr sz="1200"/>
          </a:p>
        </p:txBody>
      </p:sp>
      <p:sp>
        <p:nvSpPr>
          <p:cNvPr id="11" name="Text 8">
            <a:extLst xmlns:a="http://schemas.openxmlformats.org/drawingml/2006/main">
              <a:ext uri="{FF2B5EF4-FFF2-40B4-BE49-F238E27FC236}">
                <a16:creationId xmlns:a16="http://schemas.microsoft.com/office/drawing/2014/main" id="{D16FA3BB-D5BC-44D9-A89B-DEFA95BC39F3}"/>
              </a:ext>
            </a:extLst>
          </p:cNvPr>
          <p:cNvSpPr>
            <a:spLocks xmlns:a="http://schemas.openxmlformats.org/drawingml/2006/main" noGrp="1"/>
          </p:cNvSpPr>
          <p:nvPr/>
        </p:nvSpPr>
        <p:spPr>
          <a:xfrm xmlns:a="http://schemas.openxmlformats.org/drawingml/2006/main">
            <a:off x="609600" y="6578600"/>
            <a:ext cx="7366000" cy="177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900">
                <a:solidFill>
                  <a:srgbClr val="9E9E9E"/>
                </a:solidFill>
                <a:latin typeface="Arial"/>
                <a:ea typeface="Arial"/>
                <a:cs typeface="Arial"/>
              </a:rPr>
              <a:t>Insight Proprietary &amp; Confidential.  Do Not Copy or Distribute.  © 2026 Insight.  All Rights Reserved.</a:t>
            </a:r>
            <a:endParaRPr sz="900"/>
          </a:p>
        </p:txBody>
      </p:sp>
      <p:sp>
        <p:nvSpPr>
          <p:cNvPr id="12" name="Text 9">
            <a:extLst xmlns:a="http://schemas.openxmlformats.org/drawingml/2006/main">
              <a:ext uri="{FF2B5EF4-FFF2-40B4-BE49-F238E27FC236}">
                <a16:creationId xmlns:a16="http://schemas.microsoft.com/office/drawing/2014/main" id="{5429DD11-21FB-427B-BC08-6C6539286827}"/>
              </a:ext>
            </a:extLst>
          </p:cNvPr>
          <p:cNvSpPr>
            <a:spLocks xmlns:a="http://schemas.openxmlformats.org/drawingml/2006/main" noGrp="1"/>
          </p:cNvSpPr>
          <p:nvPr/>
        </p:nvSpPr>
        <p:spPr>
          <a:xfrm xmlns:a="http://schemas.openxmlformats.org/drawingml/2006/main">
            <a:off x="8636000" y="1587500"/>
            <a:ext cx="3048000" cy="1524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5000"/>
              </a:lnSpc>
              <a:buNone/>
            </a:pPr>
            <a:r>
              <a:rPr sz="3000" b="1">
                <a:solidFill>
                  <a:srgbClr val="FFFFFF"/>
                </a:solidFill>
                <a:latin typeface="Arial"/>
                <a:ea typeface="Arial"/>
                <a:cs typeface="Arial"/>
              </a:rPr>
              <a:t>Three protocols.</a:t>
            </a:r>
            <a:endParaRPr sz="3000"/>
          </a:p>
          <a:p xmlns:a="http://schemas.openxmlformats.org/drawingml/2006/main">
            <a:pPr marL="0" indent="0" algn="l">
              <a:lnSpc>
                <a:spcPct val="105000"/>
              </a:lnSpc>
              <a:buNone/>
            </a:pPr>
            <a:r>
              <a:rPr sz="3000" b="1">
                <a:solidFill>
                  <a:srgbClr val="FFFFFF"/>
                </a:solidFill>
                <a:latin typeface="Arial"/>
                <a:ea typeface="Arial"/>
                <a:cs typeface="Arial"/>
              </a:rPr>
              <a:t>One question.</a:t>
            </a:r>
            <a:endParaRPr sz="3000"/>
          </a:p>
          <a:p xmlns:a="http://schemas.openxmlformats.org/drawingml/2006/main">
            <a:pPr marL="0" indent="0" algn="l">
              <a:lnSpc>
                <a:spcPct val="105000"/>
              </a:lnSpc>
              <a:buNone/>
            </a:pPr>
            <a:r>
              <a:rPr sz="3000" b="1">
                <a:solidFill>
                  <a:srgbClr val="FFFFFF"/>
                </a:solidFill>
                <a:latin typeface="Arial"/>
                <a:ea typeface="Arial"/>
                <a:cs typeface="Arial"/>
              </a:rPr>
              <a:t>The right call.</a:t>
            </a:r>
            <a:endParaRPr sz="3000"/>
          </a:p>
        </p:txBody>
      </p:sp>
      <p:sp>
        <p:nvSpPr>
          <p:cNvPr id="13" name="Shape 10">
            <a:extLst xmlns:a="http://schemas.openxmlformats.org/drawingml/2006/main">
              <a:ext uri="{FF2B5EF4-FFF2-40B4-BE49-F238E27FC236}">
                <a16:creationId xmlns:a16="http://schemas.microsoft.com/office/drawing/2014/main" id="{D5875327-1087-4BFE-9FC1-822A48AFB797}"/>
              </a:ext>
            </a:extLst>
          </p:cNvPr>
          <p:cNvSpPr>
            <a:spLocks xmlns:a="http://schemas.openxmlformats.org/drawingml/2006/main" noGrp="1"/>
          </p:cNvSpPr>
          <p:nvPr/>
        </p:nvSpPr>
        <p:spPr>
          <a:xfrm xmlns:a="http://schemas.openxmlformats.org/drawingml/2006/main">
            <a:off x="8636000" y="3238500"/>
            <a:ext cx="508000" cy="38100"/>
          </a:xfrm>
          <a:prstGeom xmlns:a="http://schemas.openxmlformats.org/drawingml/2006/main" prst="rect">
            <a:avLst/>
          </a:prstGeom>
          <a:solidFill xmlns:a="http://schemas.openxmlformats.org/drawingml/2006/main">
            <a:srgbClr val="FFFFFF"/>
          </a:solidFill>
        </p:spPr>
        <p:txBody>
          <a:bodyPr xmlns:a="http://schemas.openxmlformats.org/drawingml/2006/main"/>
          <a:lstStyle xmlns:a="http://schemas.openxmlformats.org/drawingml/2006/main"/>
          <a:p xmlns:a="http://schemas.openxmlformats.org/drawingml/2006/main">
            <a:endParaRPr/>
          </a:p>
        </p:txBody>
      </p:sp>
      <p:sp>
        <p:nvSpPr>
          <p:cNvPr id="14" name="Text 11">
            <a:extLst xmlns:a="http://schemas.openxmlformats.org/drawingml/2006/main">
              <a:ext uri="{FF2B5EF4-FFF2-40B4-BE49-F238E27FC236}">
                <a16:creationId xmlns:a16="http://schemas.microsoft.com/office/drawing/2014/main" id="{441CCBF4-E82C-45E9-9E10-7074693668A3}"/>
              </a:ext>
            </a:extLst>
          </p:cNvPr>
          <p:cNvSpPr>
            <a:spLocks xmlns:a="http://schemas.openxmlformats.org/drawingml/2006/main" noGrp="1"/>
          </p:cNvSpPr>
          <p:nvPr/>
        </p:nvSpPr>
        <p:spPr>
          <a:xfrm xmlns:a="http://schemas.openxmlformats.org/drawingml/2006/main">
            <a:off x="8636000" y="3492500"/>
            <a:ext cx="3048000" cy="203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1200" b="1">
                <a:solidFill>
                  <a:srgbClr val="FFFFFF"/>
                </a:solidFill>
                <a:latin typeface="Arial"/>
                <a:ea typeface="Arial"/>
                <a:cs typeface="Arial"/>
              </a:rPr>
              <a:t>01 · THE PROTOCOLS</a:t>
            </a:r>
            <a:endParaRPr sz="1200"/>
          </a:p>
        </p:txBody>
      </p:sp>
      <p:sp>
        <p:nvSpPr>
          <p:cNvPr id="15" name="Text 12">
            <a:extLst xmlns:a="http://schemas.openxmlformats.org/drawingml/2006/main">
              <a:ext uri="{FF2B5EF4-FFF2-40B4-BE49-F238E27FC236}">
                <a16:creationId xmlns:a16="http://schemas.microsoft.com/office/drawing/2014/main" id="{03952A99-B263-4F88-BDEA-A63E69F3CDA5}"/>
              </a:ext>
            </a:extLst>
          </p:cNvPr>
          <p:cNvSpPr>
            <a:spLocks xmlns:a="http://schemas.openxmlformats.org/drawingml/2006/main" noGrp="1"/>
          </p:cNvSpPr>
          <p:nvPr/>
        </p:nvSpPr>
        <p:spPr>
          <a:xfrm xmlns:a="http://schemas.openxmlformats.org/drawingml/2006/main">
            <a:off x="8636000" y="3733800"/>
            <a:ext cx="3048000" cy="444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0000"/>
              </a:lnSpc>
              <a:buNone/>
            </a:pPr>
            <a:r>
              <a:rPr sz="1200">
                <a:solidFill>
                  <a:srgbClr val="FFFFFF"/>
                </a:solidFill>
                <a:latin typeface="Arial"/>
                <a:ea typeface="Arial"/>
                <a:cs typeface="Arial"/>
              </a:rPr>
              <a:t>REST, GraphQL and gRPC compared on real traffic.</a:t>
            </a:r>
            <a:endParaRPr sz="1200"/>
          </a:p>
        </p:txBody>
      </p:sp>
      <p:sp>
        <p:nvSpPr>
          <p:cNvPr id="16" name="Text 13">
            <a:extLst xmlns:a="http://schemas.openxmlformats.org/drawingml/2006/main">
              <a:ext uri="{FF2B5EF4-FFF2-40B4-BE49-F238E27FC236}">
                <a16:creationId xmlns:a16="http://schemas.microsoft.com/office/drawing/2014/main" id="{5FD22519-3F91-4C1D-A32D-3171E9103245}"/>
              </a:ext>
            </a:extLst>
          </p:cNvPr>
          <p:cNvSpPr>
            <a:spLocks xmlns:a="http://schemas.openxmlformats.org/drawingml/2006/main" noGrp="1"/>
          </p:cNvSpPr>
          <p:nvPr/>
        </p:nvSpPr>
        <p:spPr>
          <a:xfrm xmlns:a="http://schemas.openxmlformats.org/drawingml/2006/main">
            <a:off x="8636000" y="4318000"/>
            <a:ext cx="3048000" cy="203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1200" b="1">
                <a:solidFill>
                  <a:srgbClr val="FFFFFF"/>
                </a:solidFill>
                <a:latin typeface="Arial"/>
                <a:ea typeface="Arial"/>
                <a:cs typeface="Arial"/>
              </a:rPr>
              <a:t>02 · THE DEMO</a:t>
            </a:r>
            <a:endParaRPr sz="1200"/>
          </a:p>
        </p:txBody>
      </p:sp>
      <p:sp>
        <p:nvSpPr>
          <p:cNvPr id="17" name="Text 14">
            <a:extLst xmlns:a="http://schemas.openxmlformats.org/drawingml/2006/main">
              <a:ext uri="{FF2B5EF4-FFF2-40B4-BE49-F238E27FC236}">
                <a16:creationId xmlns:a16="http://schemas.microsoft.com/office/drawing/2014/main" id="{95FDA45B-ED7E-4547-8EED-9AD28803A1E5}"/>
              </a:ext>
            </a:extLst>
          </p:cNvPr>
          <p:cNvSpPr>
            <a:spLocks xmlns:a="http://schemas.openxmlformats.org/drawingml/2006/main" noGrp="1"/>
          </p:cNvSpPr>
          <p:nvPr/>
        </p:nvSpPr>
        <p:spPr>
          <a:xfrm xmlns:a="http://schemas.openxmlformats.org/drawingml/2006/main">
            <a:off x="8636000" y="4559300"/>
            <a:ext cx="3048000" cy="444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0000"/>
              </a:lnSpc>
              <a:buNone/>
            </a:pPr>
            <a:r>
              <a:rPr sz="1200">
                <a:solidFill>
                  <a:srgbClr val="FFFFFF"/>
                </a:solidFill>
                <a:latin typeface="Arial"/>
                <a:ea typeface="Arial"/>
                <a:cs typeface="Arial"/>
              </a:rPr>
              <a:t>One app, three protocols, every request inspectable.</a:t>
            </a:r>
            <a:endParaRPr sz="1200"/>
          </a:p>
        </p:txBody>
      </p:sp>
      <p:sp>
        <p:nvSpPr>
          <p:cNvPr id="18" name="Text 15">
            <a:extLst xmlns:a="http://schemas.openxmlformats.org/drawingml/2006/main">
              <a:ext uri="{FF2B5EF4-FFF2-40B4-BE49-F238E27FC236}">
                <a16:creationId xmlns:a16="http://schemas.microsoft.com/office/drawing/2014/main" id="{050E2357-AF71-4A98-9B5C-29AF3BC41571}"/>
              </a:ext>
            </a:extLst>
          </p:cNvPr>
          <p:cNvSpPr>
            <a:spLocks xmlns:a="http://schemas.openxmlformats.org/drawingml/2006/main" noGrp="1"/>
          </p:cNvSpPr>
          <p:nvPr/>
        </p:nvSpPr>
        <p:spPr>
          <a:xfrm xmlns:a="http://schemas.openxmlformats.org/drawingml/2006/main">
            <a:off x="8636000" y="5143500"/>
            <a:ext cx="3048000" cy="203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1200" b="1">
                <a:solidFill>
                  <a:srgbClr val="FFFFFF"/>
                </a:solidFill>
                <a:latin typeface="Arial"/>
                <a:ea typeface="Arial"/>
                <a:cs typeface="Arial"/>
              </a:rPr>
              <a:t>03 · THE FIELD</a:t>
            </a:r>
            <a:endParaRPr sz="1200"/>
          </a:p>
        </p:txBody>
      </p:sp>
      <p:sp>
        <p:nvSpPr>
          <p:cNvPr id="19" name="Text 16">
            <a:extLst xmlns:a="http://schemas.openxmlformats.org/drawingml/2006/main">
              <a:ext uri="{FF2B5EF4-FFF2-40B4-BE49-F238E27FC236}">
                <a16:creationId xmlns:a16="http://schemas.microsoft.com/office/drawing/2014/main" id="{5E8752C4-F34E-4DF4-8CAF-74429AA2D881}"/>
              </a:ext>
            </a:extLst>
          </p:cNvPr>
          <p:cNvSpPr>
            <a:spLocks xmlns:a="http://schemas.openxmlformats.org/drawingml/2006/main" noGrp="1"/>
          </p:cNvSpPr>
          <p:nvPr/>
        </p:nvSpPr>
        <p:spPr>
          <a:xfrm xmlns:a="http://schemas.openxmlformats.org/drawingml/2006/main">
            <a:off x="8636000" y="5384800"/>
            <a:ext cx="3048000" cy="444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0000"/>
              </a:lnSpc>
              <a:buNone/>
            </a:pPr>
            <a:r>
              <a:rPr sz="1200">
                <a:solidFill>
                  <a:srgbClr val="FFFFFF"/>
                </a:solidFill>
                <a:latin typeface="Arial"/>
                <a:ea typeface="Arial"/>
                <a:cs typeface="Arial"/>
              </a:rPr>
              <a:t>Client stories where the choice mattered.</a:t>
            </a:r>
            <a:endParaRPr sz="1200"/>
          </a:p>
        </p:txBody>
      </p:sp>
    </p:spTree>
    <p:extLst>
      <p:ext uri="{BB962C8B-B14F-4D97-AF65-F5344CB8AC3E}">
        <p14:creationId xmlns:p14="http://schemas.microsoft.com/office/powerpoint/2010/main" val="182494515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5EDC4AEC-91AC-40AF-9B31-D9EF9550304D}"/>
              </a:ext>
            </a:extLst>
          </p:cNvPr>
          <p:cNvPicPr>
            <a:picLocks xmlns:a="http://schemas.openxmlformats.org/drawingml/2006/main" noChangeAspect="1"/>
          </p:cNvPicPr>
          <p:nvPr/>
        </p:nvPicPr>
        <p:blipFill>
          <a:blip xmlns:r="http://schemas.openxmlformats.org/officeDocument/2006/relationships" xmlns:a="http://schemas.openxmlformats.org/drawingml/2006/main" r:embed="R984e9d81eb3742e1"/>
          <a:stretch xmlns:a="http://schemas.openxmlformats.org/drawingml/2006/main">
            <a:fillRect l="0" t="0" r="0" b="0"/>
          </a:stretch>
        </p:blipFill>
        <p:spPr>
          <a:xfrm xmlns:a="http://schemas.openxmlformats.org/drawingml/2006/main">
            <a:off x="508000" y="152400"/>
            <a:ext cx="990600" cy="40640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A1E027C0-0B10-40C5-8D8E-730D6D04B8C3}"/>
              </a:ext>
            </a:extLst>
          </p:cNvPr>
          <p:cNvSpPr>
            <a:spLocks xmlns:a="http://schemas.openxmlformats.org/drawingml/2006/main" noGrp="1"/>
          </p:cNvSpPr>
          <p:nvPr/>
        </p:nvSpPr>
        <p:spPr>
          <a:xfrm xmlns:a="http://schemas.openxmlformats.org/drawingml/2006/main">
            <a:off x="3556000" y="406400"/>
            <a:ext cx="5080000" cy="190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110000"/>
              </a:lnSpc>
              <a:buNone/>
            </a:pPr>
            <a:r>
              <a:rPr sz="1000">
                <a:solidFill>
                  <a:srgbClr val="6B6B6B"/>
                </a:solidFill>
                <a:latin typeface="Arial"/>
                <a:ea typeface="Arial"/>
                <a:cs typeface="Arial"/>
              </a:rPr>
              <a:t>Protocol Studio  —  REST · GraphQL · gRPC</a:t>
            </a:r>
            <a:endParaRPr sz="1000"/>
          </a:p>
        </p:txBody>
      </p:sp>
      <p:sp>
        <p:nvSpPr>
          <p:cNvPr id="4" name="Text 1">
            <a:extLst xmlns:a="http://schemas.openxmlformats.org/drawingml/2006/main">
              <a:ext uri="{FF2B5EF4-FFF2-40B4-BE49-F238E27FC236}">
                <a16:creationId xmlns:a16="http://schemas.microsoft.com/office/drawing/2014/main" id="{D3921857-26E7-4BD0-A823-173D4A6F1A06}"/>
              </a:ext>
            </a:extLst>
          </p:cNvPr>
          <p:cNvSpPr>
            <a:spLocks xmlns:a="http://schemas.openxmlformats.org/drawingml/2006/main" noGrp="1"/>
          </p:cNvSpPr>
          <p:nvPr/>
        </p:nvSpPr>
        <p:spPr>
          <a:xfrm xmlns:a="http://schemas.openxmlformats.org/drawingml/2006/main">
            <a:off x="6350000" y="406400"/>
            <a:ext cx="5334000" cy="190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ct val="110000"/>
              </a:lnSpc>
              <a:buNone/>
            </a:pPr>
            <a:r>
              <a:rPr sz="1000" b="1">
                <a:solidFill>
                  <a:srgbClr val="DA1884"/>
                </a:solidFill>
                <a:latin typeface="Arial"/>
                <a:ea typeface="Arial"/>
                <a:cs typeface="Arial"/>
              </a:rPr>
              <a:t>AGENDA</a:t>
            </a:r>
            <a:endParaRPr sz="1000"/>
          </a:p>
        </p:txBody>
      </p:sp>
      <p:sp>
        <p:nvSpPr>
          <p:cNvPr id="5" name="Text 2">
            <a:extLst xmlns:a="http://schemas.openxmlformats.org/drawingml/2006/main">
              <a:ext uri="{FF2B5EF4-FFF2-40B4-BE49-F238E27FC236}">
                <a16:creationId xmlns:a16="http://schemas.microsoft.com/office/drawing/2014/main" id="{C9A976EB-0E2D-4E31-8A9E-CC248029D269}"/>
              </a:ext>
            </a:extLst>
          </p:cNvPr>
          <p:cNvSpPr>
            <a:spLocks xmlns:a="http://schemas.openxmlformats.org/drawingml/2006/main" noGrp="1"/>
          </p:cNvSpPr>
          <p:nvPr/>
        </p:nvSpPr>
        <p:spPr>
          <a:xfrm xmlns:a="http://schemas.openxmlformats.org/drawingml/2006/main">
            <a:off x="508000" y="6578600"/>
            <a:ext cx="8890000" cy="177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900">
                <a:solidFill>
                  <a:srgbClr val="9E9E9E"/>
                </a:solidFill>
                <a:latin typeface="Arial"/>
                <a:ea typeface="Arial"/>
                <a:cs typeface="Arial"/>
              </a:rPr>
              <a:t>Insight Proprietary &amp; Confidential.  Do Not Copy or Distribute.  © 2026 Insight.  All Rights Reserved.</a:t>
            </a:r>
            <a:endParaRPr sz="900"/>
          </a:p>
        </p:txBody>
      </p:sp>
      <p:sp>
        <p:nvSpPr>
          <p:cNvPr id="6" name="Text 3">
            <a:extLst xmlns:a="http://schemas.openxmlformats.org/drawingml/2006/main">
              <a:ext uri="{FF2B5EF4-FFF2-40B4-BE49-F238E27FC236}">
                <a16:creationId xmlns:a16="http://schemas.microsoft.com/office/drawing/2014/main" id="{471C80EB-FFC1-49BC-B520-07C2813DF48E}"/>
              </a:ext>
            </a:extLst>
          </p:cNvPr>
          <p:cNvSpPr>
            <a:spLocks xmlns:a="http://schemas.openxmlformats.org/drawingml/2006/main" noGrp="1"/>
          </p:cNvSpPr>
          <p:nvPr/>
        </p:nvSpPr>
        <p:spPr>
          <a:xfrm xmlns:a="http://schemas.openxmlformats.org/drawingml/2006/main">
            <a:off x="10922000" y="6578600"/>
            <a:ext cx="762000" cy="177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ct val="110000"/>
              </a:lnSpc>
              <a:buNone/>
            </a:pPr>
            <a:r>
              <a:rPr sz="900">
                <a:solidFill>
                  <a:srgbClr val="9E9E9E"/>
                </a:solidFill>
                <a:latin typeface="Arial"/>
                <a:ea typeface="Arial"/>
                <a:cs typeface="Arial"/>
              </a:rPr>
              <a:t>2</a:t>
            </a:r>
            <a:endParaRPr sz="900"/>
          </a:p>
        </p:txBody>
      </p:sp>
      <p:sp>
        <p:nvSpPr>
          <p:cNvPr id="7" name="Text 4">
            <a:extLst xmlns:a="http://schemas.openxmlformats.org/drawingml/2006/main">
              <a:ext uri="{FF2B5EF4-FFF2-40B4-BE49-F238E27FC236}">
                <a16:creationId xmlns:a16="http://schemas.microsoft.com/office/drawing/2014/main" id="{CF76F669-D8F8-4009-89D8-119E9D33523C}"/>
              </a:ext>
            </a:extLst>
          </p:cNvPr>
          <p:cNvSpPr>
            <a:spLocks xmlns:a="http://schemas.openxmlformats.org/drawingml/2006/main" noGrp="1"/>
          </p:cNvSpPr>
          <p:nvPr/>
        </p:nvSpPr>
        <p:spPr>
          <a:xfrm xmlns:a="http://schemas.openxmlformats.org/drawingml/2006/main">
            <a:off x="508000" y="889000"/>
            <a:ext cx="11176000" cy="2159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1200" b="1">
                <a:solidFill>
                  <a:srgbClr val="DA1884"/>
                </a:solidFill>
                <a:latin typeface="Arial"/>
                <a:ea typeface="Arial"/>
                <a:cs typeface="Arial"/>
              </a:rPr>
              <a:t>TODAY</a:t>
            </a:r>
            <a:endParaRPr sz="1200"/>
          </a:p>
        </p:txBody>
      </p:sp>
      <p:sp>
        <p:nvSpPr>
          <p:cNvPr id="8" name="Text 5">
            <a:extLst xmlns:a="http://schemas.openxmlformats.org/drawingml/2006/main">
              <a:ext uri="{FF2B5EF4-FFF2-40B4-BE49-F238E27FC236}">
                <a16:creationId xmlns:a16="http://schemas.microsoft.com/office/drawing/2014/main" id="{D83B5907-B724-4038-BD19-C3B0439D938F}"/>
              </a:ext>
            </a:extLst>
          </p:cNvPr>
          <p:cNvSpPr>
            <a:spLocks xmlns:a="http://schemas.openxmlformats.org/drawingml/2006/main" noGrp="1"/>
          </p:cNvSpPr>
          <p:nvPr/>
        </p:nvSpPr>
        <p:spPr>
          <a:xfrm xmlns:a="http://schemas.openxmlformats.org/drawingml/2006/main">
            <a:off x="508000" y="1130300"/>
            <a:ext cx="11176000" cy="482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3000" b="1">
                <a:solidFill>
                  <a:srgbClr val="141414"/>
                </a:solidFill>
                <a:latin typeface="Arial"/>
                <a:ea typeface="Arial"/>
                <a:cs typeface="Arial"/>
              </a:rPr>
              <a:t>Key Expectations &amp; Takeaways</a:t>
            </a:r>
            <a:endParaRPr sz="3000"/>
          </a:p>
        </p:txBody>
      </p:sp>
      <p:sp>
        <p:nvSpPr>
          <p:cNvPr id="9" name="Text 6">
            <a:extLst xmlns:a="http://schemas.openxmlformats.org/drawingml/2006/main">
              <a:ext uri="{FF2B5EF4-FFF2-40B4-BE49-F238E27FC236}">
                <a16:creationId xmlns:a16="http://schemas.microsoft.com/office/drawing/2014/main" id="{B63429C5-F1EA-4669-945A-A0986E767EEF}"/>
              </a:ext>
            </a:extLst>
          </p:cNvPr>
          <p:cNvSpPr>
            <a:spLocks xmlns:a="http://schemas.openxmlformats.org/drawingml/2006/main" noGrp="1"/>
          </p:cNvSpPr>
          <p:nvPr/>
        </p:nvSpPr>
        <p:spPr>
          <a:xfrm xmlns:a="http://schemas.openxmlformats.org/drawingml/2006/main">
            <a:off x="508000" y="1663700"/>
            <a:ext cx="11176000"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1400">
                <a:solidFill>
                  <a:srgbClr val="6B6B6B"/>
                </a:solidFill>
                <a:latin typeface="Arial"/>
                <a:ea typeface="Arial"/>
                <a:cs typeface="Arial"/>
              </a:rPr>
              <a:t>Three sections, one running application. Every example is real HTTP, GraphQL and gRPC traffic, with no mocks.</a:t>
            </a:r>
            <a:endParaRPr sz="1400"/>
          </a:p>
        </p:txBody>
      </p:sp>
      <p:sp>
        <p:nvSpPr>
          <p:cNvPr id="11" name="Shape 7">
            <a:extLst xmlns:a="http://schemas.openxmlformats.org/drawingml/2006/main">
              <a:ext uri="{FF2B5EF4-FFF2-40B4-BE49-F238E27FC236}">
                <a16:creationId xmlns:a16="http://schemas.microsoft.com/office/drawing/2014/main" id="{3AC658A7-33AF-428E-AD51-E47B6D786B0E}"/>
              </a:ext>
            </a:extLst>
          </p:cNvPr>
          <p:cNvSpPr>
            <a:spLocks xmlns:a="http://schemas.openxmlformats.org/drawingml/2006/main" noGrp="1"/>
          </p:cNvSpPr>
          <p:nvPr/>
        </p:nvSpPr>
        <p:spPr>
          <a:xfrm xmlns:a="http://schemas.openxmlformats.org/drawingml/2006/main">
            <a:off x="508000" y="2159000"/>
            <a:ext cx="11176000" cy="736600"/>
          </a:xfrm>
          <a:prstGeom xmlns:a="http://schemas.openxmlformats.org/drawingml/2006/main" prst="rect">
            <a:avLst/>
          </a:prstGeom>
          <a:solidFill xmlns:a="http://schemas.openxmlformats.org/drawingml/2006/main">
            <a:srgbClr val="F4F4F4"/>
          </a:solidFill>
          <a:effectLst xmlns:a="http://schemas.openxmlformats.org/drawingml/2006/main">
            <a:outerShdw blurRad="50800" dist="25400" dir="5400000" algn="bl" rotWithShape="0">
              <a:srgbClr val="000000">
                <a:alpha val="18000"/>
              </a:srgbClr>
            </a:outerShdw>
          </a:effectLst>
        </p:spPr>
        <p:txBody>
          <a:bodyPr xmlns:a="http://schemas.openxmlformats.org/drawingml/2006/main"/>
          <a:lstStyle xmlns:a="http://schemas.openxmlformats.org/drawingml/2006/main"/>
          <a:p xmlns:a="http://schemas.openxmlformats.org/drawingml/2006/main">
            <a:endParaRPr/>
          </a:p>
        </p:txBody>
      </p:sp>
      <p:sp>
        <p:nvSpPr>
          <p:cNvPr id="12" name="Shape 8">
            <a:extLst xmlns:a="http://schemas.openxmlformats.org/drawingml/2006/main">
              <a:ext uri="{FF2B5EF4-FFF2-40B4-BE49-F238E27FC236}">
                <a16:creationId xmlns:a16="http://schemas.microsoft.com/office/drawing/2014/main" id="{D29BA815-36B1-41F8-8345-847D9D46358F}"/>
              </a:ext>
            </a:extLst>
          </p:cNvPr>
          <p:cNvSpPr>
            <a:spLocks xmlns:a="http://schemas.openxmlformats.org/drawingml/2006/main" noGrp="1"/>
          </p:cNvSpPr>
          <p:nvPr/>
        </p:nvSpPr>
        <p:spPr>
          <a:xfrm xmlns:a="http://schemas.openxmlformats.org/drawingml/2006/main">
            <a:off x="508000" y="2159000"/>
            <a:ext cx="63500" cy="736600"/>
          </a:xfrm>
          <a:prstGeom xmlns:a="http://schemas.openxmlformats.org/drawingml/2006/main" prst="rect">
            <a:avLst/>
          </a:prstGeom>
          <a:solidFill xmlns:a="http://schemas.openxmlformats.org/drawingml/2006/main">
            <a:srgbClr val="DA1884"/>
          </a:solidFill>
        </p:spPr>
        <p:txBody>
          <a:bodyPr xmlns:a="http://schemas.openxmlformats.org/drawingml/2006/main"/>
          <a:lstStyle xmlns:a="http://schemas.openxmlformats.org/drawingml/2006/main"/>
          <a:p xmlns:a="http://schemas.openxmlformats.org/drawingml/2006/main">
            <a:endParaRPr/>
          </a:p>
        </p:txBody>
      </p:sp>
      <p:sp>
        <p:nvSpPr>
          <p:cNvPr id="13" name="Text 9">
            <a:extLst xmlns:a="http://schemas.openxmlformats.org/drawingml/2006/main">
              <a:ext uri="{FF2B5EF4-FFF2-40B4-BE49-F238E27FC236}">
                <a16:creationId xmlns:a16="http://schemas.microsoft.com/office/drawing/2014/main" id="{DA7F8174-1BA6-449F-B70A-947F9F60BCA0}"/>
              </a:ext>
            </a:extLst>
          </p:cNvPr>
          <p:cNvSpPr>
            <a:spLocks xmlns:a="http://schemas.openxmlformats.org/drawingml/2006/main" noGrp="1"/>
          </p:cNvSpPr>
          <p:nvPr/>
        </p:nvSpPr>
        <p:spPr>
          <a:xfrm xmlns:a="http://schemas.openxmlformats.org/drawingml/2006/main">
            <a:off x="787400" y="2159000"/>
            <a:ext cx="482600" cy="736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800" b="1">
                <a:solidFill>
                  <a:srgbClr val="DA1884"/>
                </a:solidFill>
                <a:latin typeface="Arial"/>
                <a:ea typeface="Arial"/>
                <a:cs typeface="Arial"/>
              </a:rPr>
              <a:t>01</a:t>
            </a:r>
            <a:endParaRPr sz="1800"/>
          </a:p>
        </p:txBody>
      </p:sp>
      <p:sp>
        <p:nvSpPr>
          <p:cNvPr id="14" name="Text 10">
            <a:extLst xmlns:a="http://schemas.openxmlformats.org/drawingml/2006/main">
              <a:ext uri="{FF2B5EF4-FFF2-40B4-BE49-F238E27FC236}">
                <a16:creationId xmlns:a16="http://schemas.microsoft.com/office/drawing/2014/main" id="{148053D3-E5CF-43C1-8D99-C347256443AF}"/>
              </a:ext>
            </a:extLst>
          </p:cNvPr>
          <p:cNvSpPr>
            <a:spLocks xmlns:a="http://schemas.openxmlformats.org/drawingml/2006/main" noGrp="1"/>
          </p:cNvSpPr>
          <p:nvPr/>
        </p:nvSpPr>
        <p:spPr>
          <a:xfrm xmlns:a="http://schemas.openxmlformats.org/drawingml/2006/main">
            <a:off x="1397000" y="2159000"/>
            <a:ext cx="2540000" cy="736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300" b="1">
                <a:solidFill>
                  <a:srgbClr val="141414"/>
                </a:solidFill>
                <a:latin typeface="Arial"/>
                <a:ea typeface="Arial"/>
                <a:cs typeface="Arial"/>
              </a:rPr>
              <a:t>The Landscape</a:t>
            </a:r>
            <a:endParaRPr sz="1300"/>
          </a:p>
        </p:txBody>
      </p:sp>
      <p:sp>
        <p:nvSpPr>
          <p:cNvPr id="15" name="Text 11">
            <a:extLst xmlns:a="http://schemas.openxmlformats.org/drawingml/2006/main">
              <a:ext uri="{FF2B5EF4-FFF2-40B4-BE49-F238E27FC236}">
                <a16:creationId xmlns:a16="http://schemas.microsoft.com/office/drawing/2014/main" id="{7386E4D0-0B01-4D59-A361-95030D9CEA8E}"/>
              </a:ext>
            </a:extLst>
          </p:cNvPr>
          <p:cNvSpPr>
            <a:spLocks xmlns:a="http://schemas.openxmlformats.org/drawingml/2006/main" noGrp="1"/>
          </p:cNvSpPr>
          <p:nvPr/>
        </p:nvSpPr>
        <p:spPr>
          <a:xfrm xmlns:a="http://schemas.openxmlformats.org/drawingml/2006/main">
            <a:off x="4140200" y="2159000"/>
            <a:ext cx="4470400" cy="736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200">
                <a:solidFill>
                  <a:srgbClr val="333333"/>
                </a:solidFill>
                <a:latin typeface="Arial"/>
                <a:ea typeface="Arial"/>
                <a:cs typeface="Arial"/>
              </a:rPr>
              <a:t>Why protocol choice is still contentious, the key comparisons, and the demo data set.</a:t>
            </a:r>
            <a:endParaRPr sz="1200"/>
          </a:p>
        </p:txBody>
      </p:sp>
      <p:sp>
        <p:nvSpPr>
          <p:cNvPr id="16" name="Text 12">
            <a:extLst xmlns:a="http://schemas.openxmlformats.org/drawingml/2006/main">
              <a:ext uri="{FF2B5EF4-FFF2-40B4-BE49-F238E27FC236}">
                <a16:creationId xmlns:a16="http://schemas.microsoft.com/office/drawing/2014/main" id="{3E235E1C-1758-4BCD-9AFB-1785E8453DBC}"/>
              </a:ext>
            </a:extLst>
          </p:cNvPr>
          <p:cNvSpPr>
            <a:spLocks xmlns:a="http://schemas.openxmlformats.org/drawingml/2006/main" noGrp="1"/>
          </p:cNvSpPr>
          <p:nvPr/>
        </p:nvSpPr>
        <p:spPr>
          <a:xfrm xmlns:a="http://schemas.openxmlformats.org/drawingml/2006/main">
            <a:off x="8763000" y="2159000"/>
            <a:ext cx="2667000" cy="736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200" i="1">
                <a:solidFill>
                  <a:srgbClr val="6B6B6B"/>
                </a:solidFill>
                <a:latin typeface="Arial"/>
                <a:ea typeface="Arial"/>
                <a:cs typeface="Arial"/>
              </a:rPr>
              <a:t>Context</a:t>
            </a:r>
            <a:endParaRPr sz="1200"/>
          </a:p>
        </p:txBody>
      </p:sp>
      <p:sp>
        <p:nvSpPr>
          <p:cNvPr id="17" name="Shape 13">
            <a:extLst xmlns:a="http://schemas.openxmlformats.org/drawingml/2006/main">
              <a:ext uri="{FF2B5EF4-FFF2-40B4-BE49-F238E27FC236}">
                <a16:creationId xmlns:a16="http://schemas.microsoft.com/office/drawing/2014/main" id="{9F009889-4F46-4EC2-9602-AAEE97143085}"/>
              </a:ext>
            </a:extLst>
          </p:cNvPr>
          <p:cNvSpPr>
            <a:spLocks xmlns:a="http://schemas.openxmlformats.org/drawingml/2006/main" noGrp="1"/>
          </p:cNvSpPr>
          <p:nvPr/>
        </p:nvSpPr>
        <p:spPr>
          <a:xfrm xmlns:a="http://schemas.openxmlformats.org/drawingml/2006/main">
            <a:off x="508000" y="2997200"/>
            <a:ext cx="11176000" cy="736600"/>
          </a:xfrm>
          <a:prstGeom xmlns:a="http://schemas.openxmlformats.org/drawingml/2006/main" prst="rect">
            <a:avLst/>
          </a:prstGeom>
          <a:solidFill xmlns:a="http://schemas.openxmlformats.org/drawingml/2006/main">
            <a:srgbClr val="FFFFFF"/>
          </a:solidFill>
          <a:effectLst xmlns:a="http://schemas.openxmlformats.org/drawingml/2006/main">
            <a:outerShdw blurRad="50800" dist="25400" dir="5400000" algn="bl" rotWithShape="0">
              <a:srgbClr val="000000">
                <a:alpha val="18000"/>
              </a:srgbClr>
            </a:outerShdw>
          </a:effectLst>
        </p:spPr>
        <p:txBody>
          <a:bodyPr xmlns:a="http://schemas.openxmlformats.org/drawingml/2006/main"/>
          <a:lstStyle xmlns:a="http://schemas.openxmlformats.org/drawingml/2006/main"/>
          <a:p xmlns:a="http://schemas.openxmlformats.org/drawingml/2006/main">
            <a:endParaRPr/>
          </a:p>
        </p:txBody>
      </p:sp>
      <p:sp>
        <p:nvSpPr>
          <p:cNvPr id="18" name="Shape 14">
            <a:extLst xmlns:a="http://schemas.openxmlformats.org/drawingml/2006/main">
              <a:ext uri="{FF2B5EF4-FFF2-40B4-BE49-F238E27FC236}">
                <a16:creationId xmlns:a16="http://schemas.microsoft.com/office/drawing/2014/main" id="{014EB141-EF17-4538-B192-03306E08D47E}"/>
              </a:ext>
            </a:extLst>
          </p:cNvPr>
          <p:cNvSpPr>
            <a:spLocks xmlns:a="http://schemas.openxmlformats.org/drawingml/2006/main" noGrp="1"/>
          </p:cNvSpPr>
          <p:nvPr/>
        </p:nvSpPr>
        <p:spPr>
          <a:xfrm xmlns:a="http://schemas.openxmlformats.org/drawingml/2006/main">
            <a:off x="508000" y="2997200"/>
            <a:ext cx="63500" cy="736600"/>
          </a:xfrm>
          <a:prstGeom xmlns:a="http://schemas.openxmlformats.org/drawingml/2006/main" prst="rect">
            <a:avLst/>
          </a:prstGeom>
          <a:solidFill xmlns:a="http://schemas.openxmlformats.org/drawingml/2006/main">
            <a:srgbClr val="DA1884"/>
          </a:solidFill>
        </p:spPr>
        <p:txBody>
          <a:bodyPr xmlns:a="http://schemas.openxmlformats.org/drawingml/2006/main"/>
          <a:lstStyle xmlns:a="http://schemas.openxmlformats.org/drawingml/2006/main"/>
          <a:p xmlns:a="http://schemas.openxmlformats.org/drawingml/2006/main">
            <a:endParaRPr/>
          </a:p>
        </p:txBody>
      </p:sp>
      <p:sp>
        <p:nvSpPr>
          <p:cNvPr id="19" name="Text 15">
            <a:extLst xmlns:a="http://schemas.openxmlformats.org/drawingml/2006/main">
              <a:ext uri="{FF2B5EF4-FFF2-40B4-BE49-F238E27FC236}">
                <a16:creationId xmlns:a16="http://schemas.microsoft.com/office/drawing/2014/main" id="{2CF61A0A-8ED3-4D50-A7F0-B2E4E4EF27B5}"/>
              </a:ext>
            </a:extLst>
          </p:cNvPr>
          <p:cNvSpPr>
            <a:spLocks xmlns:a="http://schemas.openxmlformats.org/drawingml/2006/main" noGrp="1"/>
          </p:cNvSpPr>
          <p:nvPr/>
        </p:nvSpPr>
        <p:spPr>
          <a:xfrm xmlns:a="http://schemas.openxmlformats.org/drawingml/2006/main">
            <a:off x="787400" y="2997200"/>
            <a:ext cx="482600" cy="736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800" b="1">
                <a:solidFill>
                  <a:srgbClr val="DA1884"/>
                </a:solidFill>
                <a:latin typeface="Arial"/>
                <a:ea typeface="Arial"/>
                <a:cs typeface="Arial"/>
              </a:rPr>
              <a:t>02</a:t>
            </a:r>
            <a:endParaRPr sz="1800"/>
          </a:p>
        </p:txBody>
      </p:sp>
      <p:sp>
        <p:nvSpPr>
          <p:cNvPr id="20" name="Text 16">
            <a:extLst xmlns:a="http://schemas.openxmlformats.org/drawingml/2006/main">
              <a:ext uri="{FF2B5EF4-FFF2-40B4-BE49-F238E27FC236}">
                <a16:creationId xmlns:a16="http://schemas.microsoft.com/office/drawing/2014/main" id="{269BC118-17D6-46DB-BCE9-F1C1DC6C2709}"/>
              </a:ext>
            </a:extLst>
          </p:cNvPr>
          <p:cNvSpPr>
            <a:spLocks xmlns:a="http://schemas.openxmlformats.org/drawingml/2006/main" noGrp="1"/>
          </p:cNvSpPr>
          <p:nvPr/>
        </p:nvSpPr>
        <p:spPr>
          <a:xfrm xmlns:a="http://schemas.openxmlformats.org/drawingml/2006/main">
            <a:off x="1397000" y="2997200"/>
            <a:ext cx="2540000" cy="736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300" b="1">
                <a:solidFill>
                  <a:srgbClr val="141414"/>
                </a:solidFill>
                <a:latin typeface="Arial"/>
                <a:ea typeface="Arial"/>
                <a:cs typeface="Arial"/>
              </a:rPr>
              <a:t>The Protocols</a:t>
            </a:r>
            <a:endParaRPr sz="1300"/>
          </a:p>
        </p:txBody>
      </p:sp>
      <p:sp>
        <p:nvSpPr>
          <p:cNvPr id="21" name="Text 17">
            <a:extLst xmlns:a="http://schemas.openxmlformats.org/drawingml/2006/main">
              <a:ext uri="{FF2B5EF4-FFF2-40B4-BE49-F238E27FC236}">
                <a16:creationId xmlns:a16="http://schemas.microsoft.com/office/drawing/2014/main" id="{64D82257-AF72-4A06-AD54-C4E79092F35B}"/>
              </a:ext>
            </a:extLst>
          </p:cNvPr>
          <p:cNvSpPr>
            <a:spLocks xmlns:a="http://schemas.openxmlformats.org/drawingml/2006/main" noGrp="1"/>
          </p:cNvSpPr>
          <p:nvPr/>
        </p:nvSpPr>
        <p:spPr>
          <a:xfrm xmlns:a="http://schemas.openxmlformats.org/drawingml/2006/main">
            <a:off x="4140200" y="2997200"/>
            <a:ext cx="4470400" cy="736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200">
                <a:solidFill>
                  <a:srgbClr val="333333"/>
                </a:solidFill>
                <a:latin typeface="Arial"/>
                <a:ea typeface="Arial"/>
                <a:cs typeface="Arial"/>
              </a:rPr>
              <a:t>REST, GraphQL and gRPC, each covered twice: first the concept, then the working code.</a:t>
            </a:r>
            <a:endParaRPr sz="1200"/>
          </a:p>
        </p:txBody>
      </p:sp>
      <p:sp>
        <p:nvSpPr>
          <p:cNvPr id="22" name="Text 18">
            <a:extLst xmlns:a="http://schemas.openxmlformats.org/drawingml/2006/main">
              <a:ext uri="{FF2B5EF4-FFF2-40B4-BE49-F238E27FC236}">
                <a16:creationId xmlns:a16="http://schemas.microsoft.com/office/drawing/2014/main" id="{C95E529E-526B-4813-9FCC-0D716D98EDDF}"/>
              </a:ext>
            </a:extLst>
          </p:cNvPr>
          <p:cNvSpPr>
            <a:spLocks xmlns:a="http://schemas.openxmlformats.org/drawingml/2006/main" noGrp="1"/>
          </p:cNvSpPr>
          <p:nvPr/>
        </p:nvSpPr>
        <p:spPr>
          <a:xfrm xmlns:a="http://schemas.openxmlformats.org/drawingml/2006/main">
            <a:off x="8763000" y="2997200"/>
            <a:ext cx="2667000" cy="736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200" i="1">
                <a:solidFill>
                  <a:srgbClr val="6B6B6B"/>
                </a:solidFill>
                <a:latin typeface="Arial"/>
                <a:ea typeface="Arial"/>
                <a:cs typeface="Arial"/>
              </a:rPr>
              <a:t>Two slides per protocol</a:t>
            </a:r>
            <a:endParaRPr sz="1200"/>
          </a:p>
        </p:txBody>
      </p:sp>
      <p:sp>
        <p:nvSpPr>
          <p:cNvPr id="23" name="Shape 19">
            <a:extLst xmlns:a="http://schemas.openxmlformats.org/drawingml/2006/main">
              <a:ext uri="{FF2B5EF4-FFF2-40B4-BE49-F238E27FC236}">
                <a16:creationId xmlns:a16="http://schemas.microsoft.com/office/drawing/2014/main" id="{283AF658-8B03-4730-8DA6-D6489388794B}"/>
              </a:ext>
            </a:extLst>
          </p:cNvPr>
          <p:cNvSpPr>
            <a:spLocks xmlns:a="http://schemas.openxmlformats.org/drawingml/2006/main" noGrp="1"/>
          </p:cNvSpPr>
          <p:nvPr/>
        </p:nvSpPr>
        <p:spPr>
          <a:xfrm xmlns:a="http://schemas.openxmlformats.org/drawingml/2006/main">
            <a:off x="508000" y="3835400"/>
            <a:ext cx="11176000" cy="736600"/>
          </a:xfrm>
          <a:prstGeom xmlns:a="http://schemas.openxmlformats.org/drawingml/2006/main" prst="rect">
            <a:avLst/>
          </a:prstGeom>
          <a:solidFill xmlns:a="http://schemas.openxmlformats.org/drawingml/2006/main">
            <a:srgbClr val="F4F4F4"/>
          </a:solidFill>
          <a:effectLst xmlns:a="http://schemas.openxmlformats.org/drawingml/2006/main">
            <a:outerShdw blurRad="50800" dist="25400" dir="5400000" algn="bl" rotWithShape="0">
              <a:srgbClr val="000000">
                <a:alpha val="18000"/>
              </a:srgbClr>
            </a:outerShdw>
          </a:effectLst>
        </p:spPr>
        <p:txBody>
          <a:bodyPr xmlns:a="http://schemas.openxmlformats.org/drawingml/2006/main"/>
          <a:lstStyle xmlns:a="http://schemas.openxmlformats.org/drawingml/2006/main"/>
          <a:p xmlns:a="http://schemas.openxmlformats.org/drawingml/2006/main">
            <a:endParaRPr/>
          </a:p>
        </p:txBody>
      </p:sp>
      <p:sp>
        <p:nvSpPr>
          <p:cNvPr id="24" name="Shape 20">
            <a:extLst xmlns:a="http://schemas.openxmlformats.org/drawingml/2006/main">
              <a:ext uri="{FF2B5EF4-FFF2-40B4-BE49-F238E27FC236}">
                <a16:creationId xmlns:a16="http://schemas.microsoft.com/office/drawing/2014/main" id="{BFDB6502-E4BE-4EE9-8506-DEDC7756567C}"/>
              </a:ext>
            </a:extLst>
          </p:cNvPr>
          <p:cNvSpPr>
            <a:spLocks xmlns:a="http://schemas.openxmlformats.org/drawingml/2006/main" noGrp="1"/>
          </p:cNvSpPr>
          <p:nvPr/>
        </p:nvSpPr>
        <p:spPr>
          <a:xfrm xmlns:a="http://schemas.openxmlformats.org/drawingml/2006/main">
            <a:off x="508000" y="3835400"/>
            <a:ext cx="63500" cy="736600"/>
          </a:xfrm>
          <a:prstGeom xmlns:a="http://schemas.openxmlformats.org/drawingml/2006/main" prst="rect">
            <a:avLst/>
          </a:prstGeom>
          <a:solidFill xmlns:a="http://schemas.openxmlformats.org/drawingml/2006/main">
            <a:srgbClr val="DA1884"/>
          </a:solidFill>
        </p:spPr>
        <p:txBody>
          <a:bodyPr xmlns:a="http://schemas.openxmlformats.org/drawingml/2006/main"/>
          <a:lstStyle xmlns:a="http://schemas.openxmlformats.org/drawingml/2006/main"/>
          <a:p xmlns:a="http://schemas.openxmlformats.org/drawingml/2006/main">
            <a:endParaRPr/>
          </a:p>
        </p:txBody>
      </p:sp>
      <p:sp>
        <p:nvSpPr>
          <p:cNvPr id="25" name="Text 21">
            <a:extLst xmlns:a="http://schemas.openxmlformats.org/drawingml/2006/main">
              <a:ext uri="{FF2B5EF4-FFF2-40B4-BE49-F238E27FC236}">
                <a16:creationId xmlns:a16="http://schemas.microsoft.com/office/drawing/2014/main" id="{CECF3DB4-6C52-4B3C-B596-EC745CCE50AA}"/>
              </a:ext>
            </a:extLst>
          </p:cNvPr>
          <p:cNvSpPr>
            <a:spLocks xmlns:a="http://schemas.openxmlformats.org/drawingml/2006/main" noGrp="1"/>
          </p:cNvSpPr>
          <p:nvPr/>
        </p:nvSpPr>
        <p:spPr>
          <a:xfrm xmlns:a="http://schemas.openxmlformats.org/drawingml/2006/main">
            <a:off x="787400" y="3835400"/>
            <a:ext cx="482600" cy="736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800" b="1">
                <a:solidFill>
                  <a:srgbClr val="DA1884"/>
                </a:solidFill>
                <a:latin typeface="Arial"/>
                <a:ea typeface="Arial"/>
                <a:cs typeface="Arial"/>
              </a:rPr>
              <a:t>03</a:t>
            </a:r>
            <a:endParaRPr sz="1800"/>
          </a:p>
        </p:txBody>
      </p:sp>
      <p:sp>
        <p:nvSpPr>
          <p:cNvPr id="26" name="Text 22">
            <a:extLst xmlns:a="http://schemas.openxmlformats.org/drawingml/2006/main">
              <a:ext uri="{FF2B5EF4-FFF2-40B4-BE49-F238E27FC236}">
                <a16:creationId xmlns:a16="http://schemas.microsoft.com/office/drawing/2014/main" id="{D0F2484C-3ACC-44C1-A4F6-57D933736368}"/>
              </a:ext>
            </a:extLst>
          </p:cNvPr>
          <p:cNvSpPr>
            <a:spLocks xmlns:a="http://schemas.openxmlformats.org/drawingml/2006/main" noGrp="1"/>
          </p:cNvSpPr>
          <p:nvPr/>
        </p:nvSpPr>
        <p:spPr>
          <a:xfrm xmlns:a="http://schemas.openxmlformats.org/drawingml/2006/main">
            <a:off x="1397000" y="3835400"/>
            <a:ext cx="2540000" cy="736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300" b="1">
                <a:solidFill>
                  <a:srgbClr val="141414"/>
                </a:solidFill>
                <a:latin typeface="Arial"/>
                <a:ea typeface="Arial"/>
                <a:cs typeface="Arial"/>
              </a:rPr>
              <a:t>Demo &amp; Field Stories</a:t>
            </a:r>
            <a:endParaRPr sz="1300"/>
          </a:p>
        </p:txBody>
      </p:sp>
      <p:sp>
        <p:nvSpPr>
          <p:cNvPr id="27" name="Text 23">
            <a:extLst xmlns:a="http://schemas.openxmlformats.org/drawingml/2006/main">
              <a:ext uri="{FF2B5EF4-FFF2-40B4-BE49-F238E27FC236}">
                <a16:creationId xmlns:a16="http://schemas.microsoft.com/office/drawing/2014/main" id="{DF257529-8AF7-4197-A98A-21EC1F5DB165}"/>
              </a:ext>
            </a:extLst>
          </p:cNvPr>
          <p:cNvSpPr>
            <a:spLocks xmlns:a="http://schemas.openxmlformats.org/drawingml/2006/main" noGrp="1"/>
          </p:cNvSpPr>
          <p:nvPr/>
        </p:nvSpPr>
        <p:spPr>
          <a:xfrm xmlns:a="http://schemas.openxmlformats.org/drawingml/2006/main">
            <a:off x="4140200" y="3835400"/>
            <a:ext cx="4470400" cy="736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200">
                <a:solidFill>
                  <a:srgbClr val="333333"/>
                </a:solidFill>
                <a:latin typeface="Arial"/>
                <a:ea typeface="Arial"/>
                <a:cs typeface="Arial"/>
              </a:rPr>
              <a:t>Protocol Studio live, then client stories where the choice mattered.</a:t>
            </a:r>
            <a:endParaRPr sz="1200"/>
          </a:p>
        </p:txBody>
      </p:sp>
      <p:sp>
        <p:nvSpPr>
          <p:cNvPr id="28" name="Text 24">
            <a:extLst xmlns:a="http://schemas.openxmlformats.org/drawingml/2006/main">
              <a:ext uri="{FF2B5EF4-FFF2-40B4-BE49-F238E27FC236}">
                <a16:creationId xmlns:a16="http://schemas.microsoft.com/office/drawing/2014/main" id="{1F7D1E9A-CE58-4318-A393-61B36EB58A1B}"/>
              </a:ext>
            </a:extLst>
          </p:cNvPr>
          <p:cNvSpPr>
            <a:spLocks xmlns:a="http://schemas.openxmlformats.org/drawingml/2006/main" noGrp="1"/>
          </p:cNvSpPr>
          <p:nvPr/>
        </p:nvSpPr>
        <p:spPr>
          <a:xfrm xmlns:a="http://schemas.openxmlformats.org/drawingml/2006/main">
            <a:off x="8763000" y="3835400"/>
            <a:ext cx="2667000" cy="736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200" i="1">
                <a:solidFill>
                  <a:srgbClr val="6B6B6B"/>
                </a:solidFill>
                <a:latin typeface="Arial"/>
                <a:ea typeface="Arial"/>
                <a:cs typeface="Arial"/>
              </a:rPr>
              <a:t>Success from the field</a:t>
            </a:r>
            <a:endParaRPr sz="1200"/>
          </a:p>
        </p:txBody>
      </p:sp>
      <p:sp>
        <p:nvSpPr>
          <p:cNvPr id="29" name="Shape 25">
            <a:extLst xmlns:a="http://schemas.openxmlformats.org/drawingml/2006/main">
              <a:ext uri="{FF2B5EF4-FFF2-40B4-BE49-F238E27FC236}">
                <a16:creationId xmlns:a16="http://schemas.microsoft.com/office/drawing/2014/main" id="{6B802AB1-95AF-483D-ACE3-62478E752AF5}"/>
              </a:ext>
            </a:extLst>
          </p:cNvPr>
          <p:cNvSpPr>
            <a:spLocks xmlns:a="http://schemas.openxmlformats.org/drawingml/2006/main" noGrp="1"/>
          </p:cNvSpPr>
          <p:nvPr/>
        </p:nvSpPr>
        <p:spPr>
          <a:xfrm xmlns:a="http://schemas.openxmlformats.org/drawingml/2006/main">
            <a:off x="508000" y="4673600"/>
            <a:ext cx="11176000" cy="736600"/>
          </a:xfrm>
          <a:prstGeom xmlns:a="http://schemas.openxmlformats.org/drawingml/2006/main" prst="rect">
            <a:avLst/>
          </a:prstGeom>
          <a:solidFill xmlns:a="http://schemas.openxmlformats.org/drawingml/2006/main">
            <a:srgbClr val="FFFFFF"/>
          </a:solidFill>
          <a:effectLst xmlns:a="http://schemas.openxmlformats.org/drawingml/2006/main">
            <a:outerShdw blurRad="50800" dist="25400" dir="5400000" algn="bl" rotWithShape="0">
              <a:srgbClr val="000000">
                <a:alpha val="18000"/>
              </a:srgbClr>
            </a:outerShdw>
          </a:effectLst>
        </p:spPr>
        <p:txBody>
          <a:bodyPr xmlns:a="http://schemas.openxmlformats.org/drawingml/2006/main"/>
          <a:lstStyle xmlns:a="http://schemas.openxmlformats.org/drawingml/2006/main"/>
          <a:p xmlns:a="http://schemas.openxmlformats.org/drawingml/2006/main">
            <a:endParaRPr/>
          </a:p>
        </p:txBody>
      </p:sp>
      <p:sp>
        <p:nvSpPr>
          <p:cNvPr id="30" name="Shape 26">
            <a:extLst xmlns:a="http://schemas.openxmlformats.org/drawingml/2006/main">
              <a:ext uri="{FF2B5EF4-FFF2-40B4-BE49-F238E27FC236}">
                <a16:creationId xmlns:a16="http://schemas.microsoft.com/office/drawing/2014/main" id="{C3B78E99-88F6-4D2B-975D-12437FDCEB40}"/>
              </a:ext>
            </a:extLst>
          </p:cNvPr>
          <p:cNvSpPr>
            <a:spLocks xmlns:a="http://schemas.openxmlformats.org/drawingml/2006/main" noGrp="1"/>
          </p:cNvSpPr>
          <p:nvPr/>
        </p:nvSpPr>
        <p:spPr>
          <a:xfrm xmlns:a="http://schemas.openxmlformats.org/drawingml/2006/main">
            <a:off x="508000" y="4673600"/>
            <a:ext cx="63500" cy="736600"/>
          </a:xfrm>
          <a:prstGeom xmlns:a="http://schemas.openxmlformats.org/drawingml/2006/main" prst="rect">
            <a:avLst/>
          </a:prstGeom>
          <a:solidFill xmlns:a="http://schemas.openxmlformats.org/drawingml/2006/main">
            <a:srgbClr val="DA1884"/>
          </a:solidFill>
        </p:spPr>
        <p:txBody>
          <a:bodyPr xmlns:a="http://schemas.openxmlformats.org/drawingml/2006/main"/>
          <a:lstStyle xmlns:a="http://schemas.openxmlformats.org/drawingml/2006/main"/>
          <a:p xmlns:a="http://schemas.openxmlformats.org/drawingml/2006/main">
            <a:endParaRPr/>
          </a:p>
        </p:txBody>
      </p:sp>
      <p:sp>
        <p:nvSpPr>
          <p:cNvPr id="31" name="Text 27">
            <a:extLst xmlns:a="http://schemas.openxmlformats.org/drawingml/2006/main">
              <a:ext uri="{FF2B5EF4-FFF2-40B4-BE49-F238E27FC236}">
                <a16:creationId xmlns:a16="http://schemas.microsoft.com/office/drawing/2014/main" id="{4ED27002-2C89-422C-AB70-3206F00F9657}"/>
              </a:ext>
            </a:extLst>
          </p:cNvPr>
          <p:cNvSpPr>
            <a:spLocks xmlns:a="http://schemas.openxmlformats.org/drawingml/2006/main" noGrp="1"/>
          </p:cNvSpPr>
          <p:nvPr/>
        </p:nvSpPr>
        <p:spPr>
          <a:xfrm xmlns:a="http://schemas.openxmlformats.org/drawingml/2006/main">
            <a:off x="787400" y="4673600"/>
            <a:ext cx="482600" cy="736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800" b="1">
                <a:solidFill>
                  <a:srgbClr val="DA1884"/>
                </a:solidFill>
                <a:latin typeface="Arial"/>
                <a:ea typeface="Arial"/>
                <a:cs typeface="Arial"/>
              </a:rPr>
              <a:t>A</a:t>
            </a:r>
            <a:endParaRPr sz="1800"/>
          </a:p>
        </p:txBody>
      </p:sp>
      <p:sp>
        <p:nvSpPr>
          <p:cNvPr id="32" name="Text 28">
            <a:extLst xmlns:a="http://schemas.openxmlformats.org/drawingml/2006/main">
              <a:ext uri="{FF2B5EF4-FFF2-40B4-BE49-F238E27FC236}">
                <a16:creationId xmlns:a16="http://schemas.microsoft.com/office/drawing/2014/main" id="{321B2C53-B370-449F-B12F-20C6254DD0D5}"/>
              </a:ext>
            </a:extLst>
          </p:cNvPr>
          <p:cNvSpPr>
            <a:spLocks xmlns:a="http://schemas.openxmlformats.org/drawingml/2006/main" noGrp="1"/>
          </p:cNvSpPr>
          <p:nvPr/>
        </p:nvSpPr>
        <p:spPr>
          <a:xfrm xmlns:a="http://schemas.openxmlformats.org/drawingml/2006/main">
            <a:off x="1397000" y="4673600"/>
            <a:ext cx="2540000" cy="736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300" b="1">
                <a:solidFill>
                  <a:srgbClr val="141414"/>
                </a:solidFill>
                <a:latin typeface="Arial"/>
                <a:ea typeface="Arial"/>
                <a:cs typeface="Arial"/>
              </a:rPr>
              <a:t>Appendix: AI Routing</a:t>
            </a:r>
            <a:endParaRPr sz="1300"/>
          </a:p>
        </p:txBody>
      </p:sp>
      <p:sp>
        <p:nvSpPr>
          <p:cNvPr id="33" name="Text 29">
            <a:extLst xmlns:a="http://schemas.openxmlformats.org/drawingml/2006/main">
              <a:ext uri="{FF2B5EF4-FFF2-40B4-BE49-F238E27FC236}">
                <a16:creationId xmlns:a16="http://schemas.microsoft.com/office/drawing/2014/main" id="{A155085A-669F-4500-AE04-830DCEEFC6D2}"/>
              </a:ext>
            </a:extLst>
          </p:cNvPr>
          <p:cNvSpPr>
            <a:spLocks xmlns:a="http://schemas.openxmlformats.org/drawingml/2006/main" noGrp="1"/>
          </p:cNvSpPr>
          <p:nvPr/>
        </p:nvSpPr>
        <p:spPr>
          <a:xfrm xmlns:a="http://schemas.openxmlformats.org/drawingml/2006/main">
            <a:off x="4140200" y="4673600"/>
            <a:ext cx="4470400" cy="736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200">
                <a:solidFill>
                  <a:srgbClr val="333333"/>
                </a:solidFill>
                <a:latin typeface="Arial"/>
                <a:ea typeface="Arial"/>
                <a:cs typeface="Arial"/>
              </a:rPr>
              <a:t>How the demo lets Ollama or Jev choose the protocol, with guardrails and latency.</a:t>
            </a:r>
            <a:endParaRPr sz="1200"/>
          </a:p>
        </p:txBody>
      </p:sp>
      <p:sp>
        <p:nvSpPr>
          <p:cNvPr id="34" name="Text 30">
            <a:extLst xmlns:a="http://schemas.openxmlformats.org/drawingml/2006/main">
              <a:ext uri="{FF2B5EF4-FFF2-40B4-BE49-F238E27FC236}">
                <a16:creationId xmlns:a16="http://schemas.microsoft.com/office/drawing/2014/main" id="{DBA5586C-3811-40CC-9549-2B749934C801}"/>
              </a:ext>
            </a:extLst>
          </p:cNvPr>
          <p:cNvSpPr>
            <a:spLocks xmlns:a="http://schemas.openxmlformats.org/drawingml/2006/main" noGrp="1"/>
          </p:cNvSpPr>
          <p:nvPr/>
        </p:nvSpPr>
        <p:spPr>
          <a:xfrm xmlns:a="http://schemas.openxmlformats.org/drawingml/2006/main">
            <a:off x="8763000" y="4673600"/>
            <a:ext cx="2667000" cy="736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200" i="1">
                <a:solidFill>
                  <a:srgbClr val="6B6B6B"/>
                </a:solidFill>
                <a:latin typeface="Arial"/>
                <a:ea typeface="Arial"/>
                <a:cs typeface="Arial"/>
              </a:rPr>
              <a:t>Time permitting</a:t>
            </a:r>
            <a:endParaRPr sz="1200"/>
          </a:p>
        </p:txBody>
      </p:sp>
      <p:sp>
        <p:nvSpPr>
          <p:cNvPr id="35" name="Shape 31">
            <a:extLst xmlns:a="http://schemas.openxmlformats.org/drawingml/2006/main">
              <a:ext uri="{FF2B5EF4-FFF2-40B4-BE49-F238E27FC236}">
                <a16:creationId xmlns:a16="http://schemas.microsoft.com/office/drawing/2014/main" id="{1B2C37F4-99CB-44ED-9E15-4D530806C085}"/>
              </a:ext>
            </a:extLst>
          </p:cNvPr>
          <p:cNvSpPr>
            <a:spLocks xmlns:a="http://schemas.openxmlformats.org/drawingml/2006/main" noGrp="1"/>
          </p:cNvSpPr>
          <p:nvPr/>
        </p:nvSpPr>
        <p:spPr>
          <a:xfrm xmlns:a="http://schemas.openxmlformats.org/drawingml/2006/main">
            <a:off x="508000" y="5588000"/>
            <a:ext cx="11176000" cy="609600"/>
          </a:xfrm>
          <a:prstGeom xmlns:a="http://schemas.openxmlformats.org/drawingml/2006/main" prst="rect">
            <a:avLst/>
          </a:prstGeom>
          <a:solidFill xmlns:a="http://schemas.openxmlformats.org/drawingml/2006/main">
            <a:srgbClr val="F4F4F4"/>
          </a:solidFill>
          <a:effectLst xmlns:a="http://schemas.openxmlformats.org/drawingml/2006/main">
            <a:outerShdw blurRad="50800" dist="25400" dir="5400000" algn="bl" rotWithShape="0">
              <a:srgbClr val="000000">
                <a:alpha val="18000"/>
              </a:srgbClr>
            </a:outerShdw>
          </a:effectLst>
        </p:spPr>
        <p:txBody>
          <a:bodyPr xmlns:a="http://schemas.openxmlformats.org/drawingml/2006/main"/>
          <a:lstStyle xmlns:a="http://schemas.openxmlformats.org/drawingml/2006/main"/>
          <a:p xmlns:a="http://schemas.openxmlformats.org/drawingml/2006/main">
            <a:endParaRPr/>
          </a:p>
        </p:txBody>
      </p:sp>
      <p:sp>
        <p:nvSpPr>
          <p:cNvPr id="36" name="Shape 32">
            <a:extLst xmlns:a="http://schemas.openxmlformats.org/drawingml/2006/main">
              <a:ext uri="{FF2B5EF4-FFF2-40B4-BE49-F238E27FC236}">
                <a16:creationId xmlns:a16="http://schemas.microsoft.com/office/drawing/2014/main" id="{D01887B4-2BB6-483D-90AA-9313A15ECDA1}"/>
              </a:ext>
            </a:extLst>
          </p:cNvPr>
          <p:cNvSpPr>
            <a:spLocks xmlns:a="http://schemas.openxmlformats.org/drawingml/2006/main" noGrp="1"/>
          </p:cNvSpPr>
          <p:nvPr/>
        </p:nvSpPr>
        <p:spPr>
          <a:xfrm xmlns:a="http://schemas.openxmlformats.org/drawingml/2006/main">
            <a:off x="508000" y="5588000"/>
            <a:ext cx="76200" cy="609600"/>
          </a:xfrm>
          <a:prstGeom xmlns:a="http://schemas.openxmlformats.org/drawingml/2006/main" prst="rect">
            <a:avLst/>
          </a:prstGeom>
          <a:solidFill xmlns:a="http://schemas.openxmlformats.org/drawingml/2006/main">
            <a:srgbClr val="DA1884"/>
          </a:solidFill>
        </p:spPr>
        <p:txBody>
          <a:bodyPr xmlns:a="http://schemas.openxmlformats.org/drawingml/2006/main"/>
          <a:lstStyle xmlns:a="http://schemas.openxmlformats.org/drawingml/2006/main"/>
          <a:p xmlns:a="http://schemas.openxmlformats.org/drawingml/2006/main">
            <a:endParaRPr/>
          </a:p>
        </p:txBody>
      </p:sp>
      <p:sp>
        <p:nvSpPr>
          <p:cNvPr id="37" name="Text 33">
            <a:extLst xmlns:a="http://schemas.openxmlformats.org/drawingml/2006/main">
              <a:ext uri="{FF2B5EF4-FFF2-40B4-BE49-F238E27FC236}">
                <a16:creationId xmlns:a16="http://schemas.microsoft.com/office/drawing/2014/main" id="{EF6BCF56-F7D4-4E80-A1F0-177490680375}"/>
              </a:ext>
            </a:extLst>
          </p:cNvPr>
          <p:cNvSpPr>
            <a:spLocks xmlns:a="http://schemas.openxmlformats.org/drawingml/2006/main" noGrp="1"/>
          </p:cNvSpPr>
          <p:nvPr/>
        </p:nvSpPr>
        <p:spPr>
          <a:xfrm xmlns:a="http://schemas.openxmlformats.org/drawingml/2006/main">
            <a:off x="787400" y="5588000"/>
            <a:ext cx="10668000" cy="609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200" b="1">
                <a:solidFill>
                  <a:srgbClr val="141414"/>
                </a:solidFill>
                <a:latin typeface="Arial"/>
                <a:ea typeface="Arial"/>
                <a:cs typeface="Arial"/>
              </a:rPr>
              <a:t>300-level.  </a:t>
            </a:r>
            <a:r>
              <a:rPr sz="1200">
                <a:solidFill>
                  <a:srgbClr val="141414"/>
                </a:solidFill>
                <a:latin typeface="Arial"/>
                <a:ea typeface="Arial"/>
                <a:cs typeface="Arial"/>
              </a:rPr>
              <a:t>We assume you have built an API before. The focus is trade-offs you can apply on Monday.</a:t>
            </a:r>
            <a:endParaRPr sz="1200"/>
          </a:p>
        </p:txBody>
      </p:sp>
    </p:spTree>
    <p:extLst>
      <p:ext uri="{BB962C8B-B14F-4D97-AF65-F5344CB8AC3E}">
        <p14:creationId xmlns:p14="http://schemas.microsoft.com/office/powerpoint/2010/main" val="124653555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0F5665F2-C085-4AF5-A82D-C7AEE6C16E85}"/>
              </a:ext>
            </a:extLst>
          </p:cNvPr>
          <p:cNvPicPr>
            <a:picLocks xmlns:a="http://schemas.openxmlformats.org/drawingml/2006/main" noChangeAspect="1"/>
          </p:cNvPicPr>
          <p:nvPr/>
        </p:nvPicPr>
        <p:blipFill>
          <a:blip xmlns:r="http://schemas.openxmlformats.org/officeDocument/2006/relationships" xmlns:a="http://schemas.openxmlformats.org/drawingml/2006/main" r:embed="R7b7ec8448ef642d3"/>
          <a:stretch xmlns:a="http://schemas.openxmlformats.org/drawingml/2006/main">
            <a:fillRect l="0" t="0" r="0" b="0"/>
          </a:stretch>
        </p:blipFill>
        <p:spPr>
          <a:xfrm xmlns:a="http://schemas.openxmlformats.org/drawingml/2006/main">
            <a:off x="508000" y="152400"/>
            <a:ext cx="990600" cy="40640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D23390D8-0037-4BC4-9A8D-C2DAD2403D55}"/>
              </a:ext>
            </a:extLst>
          </p:cNvPr>
          <p:cNvSpPr>
            <a:spLocks xmlns:a="http://schemas.openxmlformats.org/drawingml/2006/main" noGrp="1"/>
          </p:cNvSpPr>
          <p:nvPr/>
        </p:nvSpPr>
        <p:spPr>
          <a:xfrm xmlns:a="http://schemas.openxmlformats.org/drawingml/2006/main">
            <a:off x="3556000" y="406400"/>
            <a:ext cx="5080000" cy="190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110000"/>
              </a:lnSpc>
              <a:buNone/>
            </a:pPr>
            <a:r>
              <a:rPr sz="1000">
                <a:solidFill>
                  <a:srgbClr val="6B6B6B"/>
                </a:solidFill>
                <a:latin typeface="Arial"/>
                <a:ea typeface="Arial"/>
                <a:cs typeface="Arial"/>
              </a:rPr>
              <a:t>Protocol Studio  —  REST · GraphQL · gRPC</a:t>
            </a:r>
            <a:endParaRPr sz="1000"/>
          </a:p>
        </p:txBody>
      </p:sp>
      <p:sp>
        <p:nvSpPr>
          <p:cNvPr id="4" name="Text 1">
            <a:extLst xmlns:a="http://schemas.openxmlformats.org/drawingml/2006/main">
              <a:ext uri="{FF2B5EF4-FFF2-40B4-BE49-F238E27FC236}">
                <a16:creationId xmlns:a16="http://schemas.microsoft.com/office/drawing/2014/main" id="{DB22EC9F-27C1-412B-B211-AB1766E0BD9D}"/>
              </a:ext>
            </a:extLst>
          </p:cNvPr>
          <p:cNvSpPr>
            <a:spLocks xmlns:a="http://schemas.openxmlformats.org/drawingml/2006/main" noGrp="1"/>
          </p:cNvSpPr>
          <p:nvPr/>
        </p:nvSpPr>
        <p:spPr>
          <a:xfrm xmlns:a="http://schemas.openxmlformats.org/drawingml/2006/main">
            <a:off x="6350000" y="406400"/>
            <a:ext cx="5334000" cy="190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ct val="110000"/>
              </a:lnSpc>
              <a:buNone/>
            </a:pPr>
            <a:r>
              <a:rPr sz="1000" b="1">
                <a:solidFill>
                  <a:srgbClr val="DA1884"/>
                </a:solidFill>
                <a:latin typeface="Arial"/>
                <a:ea typeface="Arial"/>
                <a:cs typeface="Arial"/>
              </a:rPr>
              <a:t>SECTION 01</a:t>
            </a:r>
            <a:endParaRPr sz="1000"/>
          </a:p>
        </p:txBody>
      </p:sp>
      <p:sp>
        <p:nvSpPr>
          <p:cNvPr id="5" name="Text 2">
            <a:extLst xmlns:a="http://schemas.openxmlformats.org/drawingml/2006/main">
              <a:ext uri="{FF2B5EF4-FFF2-40B4-BE49-F238E27FC236}">
                <a16:creationId xmlns:a16="http://schemas.microsoft.com/office/drawing/2014/main" id="{CDC8745A-45AF-472A-89EA-938E6046E14C}"/>
              </a:ext>
            </a:extLst>
          </p:cNvPr>
          <p:cNvSpPr>
            <a:spLocks xmlns:a="http://schemas.openxmlformats.org/drawingml/2006/main" noGrp="1"/>
          </p:cNvSpPr>
          <p:nvPr/>
        </p:nvSpPr>
        <p:spPr>
          <a:xfrm xmlns:a="http://schemas.openxmlformats.org/drawingml/2006/main">
            <a:off x="508000" y="6578600"/>
            <a:ext cx="8890000" cy="177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900">
                <a:solidFill>
                  <a:srgbClr val="9E9E9E"/>
                </a:solidFill>
                <a:latin typeface="Arial"/>
                <a:ea typeface="Arial"/>
                <a:cs typeface="Arial"/>
              </a:rPr>
              <a:t>Insight Proprietary &amp; Confidential.  Do Not Copy or Distribute.  © 2026 Insight.  All Rights Reserved.</a:t>
            </a:r>
            <a:endParaRPr sz="900"/>
          </a:p>
        </p:txBody>
      </p:sp>
      <p:sp>
        <p:nvSpPr>
          <p:cNvPr id="6" name="Text 3">
            <a:extLst xmlns:a="http://schemas.openxmlformats.org/drawingml/2006/main">
              <a:ext uri="{FF2B5EF4-FFF2-40B4-BE49-F238E27FC236}">
                <a16:creationId xmlns:a16="http://schemas.microsoft.com/office/drawing/2014/main" id="{6225EEA3-535C-45D2-96AE-48B3998A6DAD}"/>
              </a:ext>
            </a:extLst>
          </p:cNvPr>
          <p:cNvSpPr>
            <a:spLocks xmlns:a="http://schemas.openxmlformats.org/drawingml/2006/main" noGrp="1"/>
          </p:cNvSpPr>
          <p:nvPr/>
        </p:nvSpPr>
        <p:spPr>
          <a:xfrm xmlns:a="http://schemas.openxmlformats.org/drawingml/2006/main">
            <a:off x="10922000" y="6578600"/>
            <a:ext cx="762000" cy="177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ct val="110000"/>
              </a:lnSpc>
              <a:buNone/>
            </a:pPr>
            <a:r>
              <a:rPr sz="900">
                <a:solidFill>
                  <a:srgbClr val="9E9E9E"/>
                </a:solidFill>
                <a:latin typeface="Arial"/>
                <a:ea typeface="Arial"/>
                <a:cs typeface="Arial"/>
              </a:rPr>
              <a:t>3</a:t>
            </a:r>
            <a:endParaRPr sz="900"/>
          </a:p>
        </p:txBody>
      </p:sp>
      <p:sp>
        <p:nvSpPr>
          <p:cNvPr id="7" name="Text 4">
            <a:extLst xmlns:a="http://schemas.openxmlformats.org/drawingml/2006/main">
              <a:ext uri="{FF2B5EF4-FFF2-40B4-BE49-F238E27FC236}">
                <a16:creationId xmlns:a16="http://schemas.microsoft.com/office/drawing/2014/main" id="{D8E35FD0-26D0-4562-AACD-3DFA562A473C}"/>
              </a:ext>
            </a:extLst>
          </p:cNvPr>
          <p:cNvSpPr>
            <a:spLocks xmlns:a="http://schemas.openxmlformats.org/drawingml/2006/main" noGrp="1"/>
          </p:cNvSpPr>
          <p:nvPr/>
        </p:nvSpPr>
        <p:spPr>
          <a:xfrm xmlns:a="http://schemas.openxmlformats.org/drawingml/2006/main">
            <a:off x="457200" y="1587500"/>
            <a:ext cx="5080000" cy="1651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90000"/>
              </a:lnSpc>
              <a:buNone/>
            </a:pPr>
            <a:r>
              <a:rPr sz="12000" b="1">
                <a:solidFill>
                  <a:srgbClr val="DA1884"/>
                </a:solidFill>
                <a:latin typeface="Arial"/>
                <a:ea typeface="Arial"/>
                <a:cs typeface="Arial"/>
              </a:rPr>
              <a:t>01</a:t>
            </a:r>
            <a:endParaRPr sz="12000"/>
          </a:p>
        </p:txBody>
      </p:sp>
      <p:sp>
        <p:nvSpPr>
          <p:cNvPr id="8" name="Text 5">
            <a:extLst xmlns:a="http://schemas.openxmlformats.org/drawingml/2006/main">
              <a:ext uri="{FF2B5EF4-FFF2-40B4-BE49-F238E27FC236}">
                <a16:creationId xmlns:a16="http://schemas.microsoft.com/office/drawing/2014/main" id="{83EEB346-35AA-480A-BB7C-43E9965B2994}"/>
              </a:ext>
            </a:extLst>
          </p:cNvPr>
          <p:cNvSpPr>
            <a:spLocks xmlns:a="http://schemas.openxmlformats.org/drawingml/2006/main" noGrp="1"/>
          </p:cNvSpPr>
          <p:nvPr/>
        </p:nvSpPr>
        <p:spPr>
          <a:xfrm xmlns:a="http://schemas.openxmlformats.org/drawingml/2006/main">
            <a:off x="508000" y="3302000"/>
            <a:ext cx="5207000" cy="660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0000"/>
              </a:lnSpc>
              <a:buNone/>
            </a:pPr>
            <a:r>
              <a:rPr sz="4400" b="1">
                <a:solidFill>
                  <a:srgbClr val="141414"/>
                </a:solidFill>
                <a:latin typeface="Arial"/>
                <a:ea typeface="Arial"/>
                <a:cs typeface="Arial"/>
              </a:rPr>
              <a:t>The Landscape</a:t>
            </a:r>
            <a:endParaRPr sz="4400"/>
          </a:p>
        </p:txBody>
      </p:sp>
      <p:sp>
        <p:nvSpPr>
          <p:cNvPr id="9" name="Shape 6">
            <a:extLst xmlns:a="http://schemas.openxmlformats.org/drawingml/2006/main">
              <a:ext uri="{FF2B5EF4-FFF2-40B4-BE49-F238E27FC236}">
                <a16:creationId xmlns:a16="http://schemas.microsoft.com/office/drawing/2014/main" id="{435C3565-B7F3-4F9F-8F0A-58A327A05269}"/>
              </a:ext>
            </a:extLst>
          </p:cNvPr>
          <p:cNvSpPr>
            <a:spLocks xmlns:a="http://schemas.openxmlformats.org/drawingml/2006/main" noGrp="1"/>
          </p:cNvSpPr>
          <p:nvPr/>
        </p:nvSpPr>
        <p:spPr>
          <a:xfrm xmlns:a="http://schemas.openxmlformats.org/drawingml/2006/main">
            <a:off x="508000" y="4140200"/>
            <a:ext cx="1016000" cy="50800"/>
          </a:xfrm>
          <a:prstGeom xmlns:a="http://schemas.openxmlformats.org/drawingml/2006/main" prst="rect">
            <a:avLst/>
          </a:prstGeom>
          <a:solidFill xmlns:a="http://schemas.openxmlformats.org/drawingml/2006/main">
            <a:srgbClr val="DA1884"/>
          </a:solidFill>
        </p:spPr>
        <p:txBody>
          <a:bodyPr xmlns:a="http://schemas.openxmlformats.org/drawingml/2006/main"/>
          <a:lstStyle xmlns:a="http://schemas.openxmlformats.org/drawingml/2006/main"/>
          <a:p xmlns:a="http://schemas.openxmlformats.org/drawingml/2006/main">
            <a:endParaRPr/>
          </a:p>
        </p:txBody>
      </p:sp>
      <p:sp>
        <p:nvSpPr>
          <p:cNvPr id="10" name="Text 7">
            <a:extLst xmlns:a="http://schemas.openxmlformats.org/drawingml/2006/main">
              <a:ext uri="{FF2B5EF4-FFF2-40B4-BE49-F238E27FC236}">
                <a16:creationId xmlns:a16="http://schemas.microsoft.com/office/drawing/2014/main" id="{2FB4B1D7-B921-4EB6-B3D4-9DB8CE305B95}"/>
              </a:ext>
            </a:extLst>
          </p:cNvPr>
          <p:cNvSpPr>
            <a:spLocks xmlns:a="http://schemas.openxmlformats.org/drawingml/2006/main" noGrp="1"/>
          </p:cNvSpPr>
          <p:nvPr/>
        </p:nvSpPr>
        <p:spPr>
          <a:xfrm xmlns:a="http://schemas.openxmlformats.org/drawingml/2006/main">
            <a:off x="508000" y="4368800"/>
            <a:ext cx="5207000" cy="635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5000"/>
              </a:lnSpc>
              <a:buNone/>
            </a:pPr>
            <a:r>
              <a:rPr sz="1500">
                <a:solidFill>
                  <a:srgbClr val="6B6B6B"/>
                </a:solidFill>
                <a:latin typeface="Arial"/>
                <a:ea typeface="Arial"/>
                <a:cs typeface="Arial"/>
              </a:rPr>
              <a:t>Why protocol choice is still contentious, and how the three compare.</a:t>
            </a:r>
            <a:endParaRPr sz="1500"/>
          </a:p>
        </p:txBody>
      </p:sp>
      <p:sp>
        <p:nvSpPr>
          <p:cNvPr id="11" name="Shape 8">
            <a:extLst xmlns:a="http://schemas.openxmlformats.org/drawingml/2006/main">
              <a:ext uri="{FF2B5EF4-FFF2-40B4-BE49-F238E27FC236}">
                <a16:creationId xmlns:a16="http://schemas.microsoft.com/office/drawing/2014/main" id="{DEBD03F1-15B9-4963-9DC6-EB96F4CDAA5E}"/>
              </a:ext>
            </a:extLst>
          </p:cNvPr>
          <p:cNvSpPr>
            <a:spLocks xmlns:a="http://schemas.openxmlformats.org/drawingml/2006/main" noGrp="1"/>
          </p:cNvSpPr>
          <p:nvPr/>
        </p:nvSpPr>
        <p:spPr>
          <a:xfrm xmlns:a="http://schemas.openxmlformats.org/drawingml/2006/main">
            <a:off x="6223000" y="2654300"/>
            <a:ext cx="5461000" cy="2057400"/>
          </a:xfrm>
          <a:prstGeom xmlns:a="http://schemas.openxmlformats.org/drawingml/2006/main" prst="rect">
            <a:avLst/>
          </a:prstGeom>
          <a:solidFill xmlns:a="http://schemas.openxmlformats.org/drawingml/2006/main">
            <a:srgbClr val="F4F4F4"/>
          </a:solidFill>
          <a:effectLst xmlns:a="http://schemas.openxmlformats.org/drawingml/2006/main">
            <a:outerShdw blurRad="50800" dist="25400" dir="5400000" algn="bl" rotWithShape="0">
              <a:srgbClr val="000000">
                <a:alpha val="18000"/>
              </a:srgbClr>
            </a:outerShdw>
          </a:effectLst>
        </p:spPr>
        <p:txBody>
          <a:bodyPr xmlns:a="http://schemas.openxmlformats.org/drawingml/2006/main"/>
          <a:lstStyle xmlns:a="http://schemas.openxmlformats.org/drawingml/2006/main"/>
          <a:p xmlns:a="http://schemas.openxmlformats.org/drawingml/2006/main">
            <a:endParaRPr/>
          </a:p>
        </p:txBody>
      </p:sp>
      <p:sp>
        <p:nvSpPr>
          <p:cNvPr id="12" name="Shape 9">
            <a:extLst xmlns:a="http://schemas.openxmlformats.org/drawingml/2006/main">
              <a:ext uri="{FF2B5EF4-FFF2-40B4-BE49-F238E27FC236}">
                <a16:creationId xmlns:a16="http://schemas.microsoft.com/office/drawing/2014/main" id="{CB3453AE-AC5B-49AE-9FDE-75FDECE61138}"/>
              </a:ext>
            </a:extLst>
          </p:cNvPr>
          <p:cNvSpPr>
            <a:spLocks xmlns:a="http://schemas.openxmlformats.org/drawingml/2006/main" noGrp="1"/>
          </p:cNvSpPr>
          <p:nvPr/>
        </p:nvSpPr>
        <p:spPr>
          <a:xfrm xmlns:a="http://schemas.openxmlformats.org/drawingml/2006/main">
            <a:off x="6223000" y="2654300"/>
            <a:ext cx="5461000" cy="50800"/>
          </a:xfrm>
          <a:prstGeom xmlns:a="http://schemas.openxmlformats.org/drawingml/2006/main" prst="rect">
            <a:avLst/>
          </a:prstGeom>
          <a:solidFill xmlns:a="http://schemas.openxmlformats.org/drawingml/2006/main">
            <a:srgbClr val="DA1884"/>
          </a:solidFill>
        </p:spPr>
        <p:txBody>
          <a:bodyPr xmlns:a="http://schemas.openxmlformats.org/drawingml/2006/main"/>
          <a:lstStyle xmlns:a="http://schemas.openxmlformats.org/drawingml/2006/main"/>
          <a:p xmlns:a="http://schemas.openxmlformats.org/drawingml/2006/main">
            <a:endParaRPr/>
          </a:p>
        </p:txBody>
      </p:sp>
      <p:sp>
        <p:nvSpPr>
          <p:cNvPr id="13" name="Text 10">
            <a:extLst xmlns:a="http://schemas.openxmlformats.org/drawingml/2006/main">
              <a:ext uri="{FF2B5EF4-FFF2-40B4-BE49-F238E27FC236}">
                <a16:creationId xmlns:a16="http://schemas.microsoft.com/office/drawing/2014/main" id="{478D815C-AC49-46E1-8BD1-54051575B894}"/>
              </a:ext>
            </a:extLst>
          </p:cNvPr>
          <p:cNvSpPr>
            <a:spLocks xmlns:a="http://schemas.openxmlformats.org/drawingml/2006/main" noGrp="1"/>
          </p:cNvSpPr>
          <p:nvPr/>
        </p:nvSpPr>
        <p:spPr>
          <a:xfrm xmlns:a="http://schemas.openxmlformats.org/drawingml/2006/main">
            <a:off x="6477000" y="2882900"/>
            <a:ext cx="4953000" cy="2159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1200" b="1">
                <a:solidFill>
                  <a:srgbClr val="DA1884"/>
                </a:solidFill>
                <a:latin typeface="Arial"/>
                <a:ea typeface="Arial"/>
                <a:cs typeface="Arial"/>
              </a:rPr>
              <a:t>IN THIS SECTION</a:t>
            </a:r>
            <a:endParaRPr sz="1200"/>
          </a:p>
        </p:txBody>
      </p:sp>
      <p:sp>
        <p:nvSpPr>
          <p:cNvPr id="14" name="Text 11">
            <a:extLst xmlns:a="http://schemas.openxmlformats.org/drawingml/2006/main">
              <a:ext uri="{FF2B5EF4-FFF2-40B4-BE49-F238E27FC236}">
                <a16:creationId xmlns:a16="http://schemas.microsoft.com/office/drawing/2014/main" id="{9AC013AF-9FA2-4DA5-861F-3CB8128D8810}"/>
              </a:ext>
            </a:extLst>
          </p:cNvPr>
          <p:cNvSpPr>
            <a:spLocks xmlns:a="http://schemas.openxmlformats.org/drawingml/2006/main" noGrp="1"/>
          </p:cNvSpPr>
          <p:nvPr/>
        </p:nvSpPr>
        <p:spPr>
          <a:xfrm xmlns:a="http://schemas.openxmlformats.org/drawingml/2006/main">
            <a:off x="6477000" y="3238500"/>
            <a:ext cx="4953000" cy="406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333333"/>
                </a:solidFill>
                <a:latin typeface="Arial"/>
                <a:ea typeface="Arial"/>
                <a:cs typeface="Arial"/>
              </a:rPr>
              <a:t>Defining the Frontier: the problem every integration team hits</a:t>
            </a:r>
            <a:endParaRPr sz="1300"/>
          </a:p>
        </p:txBody>
      </p:sp>
      <p:sp>
        <p:nvSpPr>
          <p:cNvPr id="15" name="Text 12">
            <a:extLst xmlns:a="http://schemas.openxmlformats.org/drawingml/2006/main">
              <a:ext uri="{FF2B5EF4-FFF2-40B4-BE49-F238E27FC236}">
                <a16:creationId xmlns:a16="http://schemas.microsoft.com/office/drawing/2014/main" id="{25DD5902-2232-4A53-831E-DB32B826B0DE}"/>
              </a:ext>
            </a:extLst>
          </p:cNvPr>
          <p:cNvSpPr>
            <a:spLocks xmlns:a="http://schemas.openxmlformats.org/drawingml/2006/main" noGrp="1"/>
          </p:cNvSpPr>
          <p:nvPr/>
        </p:nvSpPr>
        <p:spPr>
          <a:xfrm xmlns:a="http://schemas.openxmlformats.org/drawingml/2006/main">
            <a:off x="6477000" y="3721100"/>
            <a:ext cx="4953000" cy="406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333333"/>
                </a:solidFill>
                <a:latin typeface="Arial"/>
                <a:ea typeface="Arial"/>
                <a:cs typeface="Arial"/>
              </a:rPr>
              <a:t>Key Comparisons: transport, contract, caching and streaming</a:t>
            </a:r>
            <a:endParaRPr sz="1300"/>
          </a:p>
        </p:txBody>
      </p:sp>
      <p:sp>
        <p:nvSpPr>
          <p:cNvPr id="16" name="Text 13">
            <a:extLst xmlns:a="http://schemas.openxmlformats.org/drawingml/2006/main">
              <a:ext uri="{FF2B5EF4-FFF2-40B4-BE49-F238E27FC236}">
                <a16:creationId xmlns:a16="http://schemas.microsoft.com/office/drawing/2014/main" id="{910CEADD-27B0-437E-AEA3-9520ED23D8A2}"/>
              </a:ext>
            </a:extLst>
          </p:cNvPr>
          <p:cNvSpPr>
            <a:spLocks xmlns:a="http://schemas.openxmlformats.org/drawingml/2006/main" noGrp="1"/>
          </p:cNvSpPr>
          <p:nvPr/>
        </p:nvSpPr>
        <p:spPr>
          <a:xfrm xmlns:a="http://schemas.openxmlformats.org/drawingml/2006/main">
            <a:off x="6477000" y="4203700"/>
            <a:ext cx="4953000" cy="406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333333"/>
                </a:solidFill>
                <a:latin typeface="Arial"/>
                <a:ea typeface="Arial"/>
                <a:cs typeface="Arial"/>
              </a:rPr>
              <a:t>Demo Data Set: one catalog behind all three protocols</a:t>
            </a:r>
            <a:endParaRPr sz="1300"/>
          </a:p>
        </p:txBody>
      </p:sp>
    </p:spTree>
    <p:extLst>
      <p:ext uri="{BB962C8B-B14F-4D97-AF65-F5344CB8AC3E}">
        <p14:creationId xmlns:p14="http://schemas.microsoft.com/office/powerpoint/2010/main" val="23331413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32CA946D-85B9-45D0-9D94-552C9F9C631F}"/>
              </a:ext>
            </a:extLst>
          </p:cNvPr>
          <p:cNvPicPr>
            <a:picLocks xmlns:a="http://schemas.openxmlformats.org/drawingml/2006/main" noChangeAspect="1"/>
          </p:cNvPicPr>
          <p:nvPr/>
        </p:nvPicPr>
        <p:blipFill>
          <a:blip xmlns:r="http://schemas.openxmlformats.org/officeDocument/2006/relationships" xmlns:a="http://schemas.openxmlformats.org/drawingml/2006/main" r:embed="Rd8212867ba884a60"/>
          <a:stretch xmlns:a="http://schemas.openxmlformats.org/drawingml/2006/main">
            <a:fillRect l="0" t="0" r="0" b="0"/>
          </a:stretch>
        </p:blipFill>
        <p:spPr>
          <a:xfrm xmlns:a="http://schemas.openxmlformats.org/drawingml/2006/main">
            <a:off x="508000" y="152400"/>
            <a:ext cx="990600" cy="40640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358DD456-A00B-423D-AB10-C58448EBF7D2}"/>
              </a:ext>
            </a:extLst>
          </p:cNvPr>
          <p:cNvSpPr>
            <a:spLocks xmlns:a="http://schemas.openxmlformats.org/drawingml/2006/main" noGrp="1"/>
          </p:cNvSpPr>
          <p:nvPr/>
        </p:nvSpPr>
        <p:spPr>
          <a:xfrm xmlns:a="http://schemas.openxmlformats.org/drawingml/2006/main">
            <a:off x="3556000" y="406400"/>
            <a:ext cx="5080000" cy="190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110000"/>
              </a:lnSpc>
              <a:buNone/>
            </a:pPr>
            <a:r>
              <a:rPr sz="1000">
                <a:solidFill>
                  <a:srgbClr val="6B6B6B"/>
                </a:solidFill>
                <a:latin typeface="Arial"/>
                <a:ea typeface="Arial"/>
                <a:cs typeface="Arial"/>
              </a:rPr>
              <a:t>Protocol Studio  —  REST · GraphQL · gRPC</a:t>
            </a:r>
            <a:endParaRPr sz="1000"/>
          </a:p>
        </p:txBody>
      </p:sp>
      <p:sp>
        <p:nvSpPr>
          <p:cNvPr id="4" name="Text 1">
            <a:extLst xmlns:a="http://schemas.openxmlformats.org/drawingml/2006/main">
              <a:ext uri="{FF2B5EF4-FFF2-40B4-BE49-F238E27FC236}">
                <a16:creationId xmlns:a16="http://schemas.microsoft.com/office/drawing/2014/main" id="{963F1FF0-9423-4C62-B920-CD53AC6BB4CE}"/>
              </a:ext>
            </a:extLst>
          </p:cNvPr>
          <p:cNvSpPr>
            <a:spLocks xmlns:a="http://schemas.openxmlformats.org/drawingml/2006/main" noGrp="1"/>
          </p:cNvSpPr>
          <p:nvPr/>
        </p:nvSpPr>
        <p:spPr>
          <a:xfrm xmlns:a="http://schemas.openxmlformats.org/drawingml/2006/main">
            <a:off x="6350000" y="406400"/>
            <a:ext cx="5334000" cy="190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ct val="110000"/>
              </a:lnSpc>
              <a:buNone/>
            </a:pPr>
            <a:r>
              <a:rPr sz="1000" b="1">
                <a:solidFill>
                  <a:srgbClr val="DA1884"/>
                </a:solidFill>
                <a:latin typeface="Arial"/>
                <a:ea typeface="Arial"/>
                <a:cs typeface="Arial"/>
              </a:rPr>
              <a:t>THE LANDSCAPE</a:t>
            </a:r>
            <a:endParaRPr sz="1000"/>
          </a:p>
        </p:txBody>
      </p:sp>
      <p:sp>
        <p:nvSpPr>
          <p:cNvPr id="5" name="Text 2">
            <a:extLst xmlns:a="http://schemas.openxmlformats.org/drawingml/2006/main">
              <a:ext uri="{FF2B5EF4-FFF2-40B4-BE49-F238E27FC236}">
                <a16:creationId xmlns:a16="http://schemas.microsoft.com/office/drawing/2014/main" id="{B2494544-2D8C-41E5-A739-E80D2D899C39}"/>
              </a:ext>
            </a:extLst>
          </p:cNvPr>
          <p:cNvSpPr>
            <a:spLocks xmlns:a="http://schemas.openxmlformats.org/drawingml/2006/main" noGrp="1"/>
          </p:cNvSpPr>
          <p:nvPr/>
        </p:nvSpPr>
        <p:spPr>
          <a:xfrm xmlns:a="http://schemas.openxmlformats.org/drawingml/2006/main">
            <a:off x="508000" y="6578600"/>
            <a:ext cx="8890000" cy="177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900">
                <a:solidFill>
                  <a:srgbClr val="9E9E9E"/>
                </a:solidFill>
                <a:latin typeface="Arial"/>
                <a:ea typeface="Arial"/>
                <a:cs typeface="Arial"/>
              </a:rPr>
              <a:t>Insight Proprietary &amp; Confidential.  Do Not Copy or Distribute.  © 2026 Insight.  All Rights Reserved.</a:t>
            </a:r>
            <a:endParaRPr sz="900"/>
          </a:p>
        </p:txBody>
      </p:sp>
      <p:sp>
        <p:nvSpPr>
          <p:cNvPr id="6" name="Text 3">
            <a:extLst xmlns:a="http://schemas.openxmlformats.org/drawingml/2006/main">
              <a:ext uri="{FF2B5EF4-FFF2-40B4-BE49-F238E27FC236}">
                <a16:creationId xmlns:a16="http://schemas.microsoft.com/office/drawing/2014/main" id="{F808845A-8024-4683-8449-F69C3DCA8C51}"/>
              </a:ext>
            </a:extLst>
          </p:cNvPr>
          <p:cNvSpPr>
            <a:spLocks xmlns:a="http://schemas.openxmlformats.org/drawingml/2006/main" noGrp="1"/>
          </p:cNvSpPr>
          <p:nvPr/>
        </p:nvSpPr>
        <p:spPr>
          <a:xfrm xmlns:a="http://schemas.openxmlformats.org/drawingml/2006/main">
            <a:off x="10922000" y="6578600"/>
            <a:ext cx="762000" cy="177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ct val="110000"/>
              </a:lnSpc>
              <a:buNone/>
            </a:pPr>
            <a:r>
              <a:rPr sz="900">
                <a:solidFill>
                  <a:srgbClr val="9E9E9E"/>
                </a:solidFill>
                <a:latin typeface="Arial"/>
                <a:ea typeface="Arial"/>
                <a:cs typeface="Arial"/>
              </a:rPr>
              <a:t>4</a:t>
            </a:r>
            <a:endParaRPr sz="900"/>
          </a:p>
        </p:txBody>
      </p:sp>
      <p:sp>
        <p:nvSpPr>
          <p:cNvPr id="7" name="Text 4">
            <a:extLst xmlns:a="http://schemas.openxmlformats.org/drawingml/2006/main">
              <a:ext uri="{FF2B5EF4-FFF2-40B4-BE49-F238E27FC236}">
                <a16:creationId xmlns:a16="http://schemas.microsoft.com/office/drawing/2014/main" id="{26193AFE-C423-4F5E-8B43-0B1335CA2420}"/>
              </a:ext>
            </a:extLst>
          </p:cNvPr>
          <p:cNvSpPr>
            <a:spLocks xmlns:a="http://schemas.openxmlformats.org/drawingml/2006/main" noGrp="1"/>
          </p:cNvSpPr>
          <p:nvPr/>
        </p:nvSpPr>
        <p:spPr>
          <a:xfrm xmlns:a="http://schemas.openxmlformats.org/drawingml/2006/main">
            <a:off x="508000" y="889000"/>
            <a:ext cx="11176000" cy="2159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1200" b="1">
                <a:solidFill>
                  <a:srgbClr val="DA1884"/>
                </a:solidFill>
                <a:latin typeface="Arial"/>
                <a:ea typeface="Arial"/>
                <a:cs typeface="Arial"/>
              </a:rPr>
              <a:t>WHY THIS MATTERS</a:t>
            </a:r>
            <a:endParaRPr sz="1200"/>
          </a:p>
        </p:txBody>
      </p:sp>
      <p:sp>
        <p:nvSpPr>
          <p:cNvPr id="8" name="Text 5">
            <a:extLst xmlns:a="http://schemas.openxmlformats.org/drawingml/2006/main">
              <a:ext uri="{FF2B5EF4-FFF2-40B4-BE49-F238E27FC236}">
                <a16:creationId xmlns:a16="http://schemas.microsoft.com/office/drawing/2014/main" id="{836CAC94-2462-40E3-BED4-E8686D3D5133}"/>
              </a:ext>
            </a:extLst>
          </p:cNvPr>
          <p:cNvSpPr>
            <a:spLocks xmlns:a="http://schemas.openxmlformats.org/drawingml/2006/main" noGrp="1"/>
          </p:cNvSpPr>
          <p:nvPr/>
        </p:nvSpPr>
        <p:spPr>
          <a:xfrm xmlns:a="http://schemas.openxmlformats.org/drawingml/2006/main">
            <a:off x="508000" y="1130300"/>
            <a:ext cx="11176000" cy="482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3000" b="1">
                <a:solidFill>
                  <a:srgbClr val="141414"/>
                </a:solidFill>
                <a:latin typeface="Arial"/>
                <a:ea typeface="Arial"/>
                <a:cs typeface="Arial"/>
              </a:rPr>
              <a:t>Defining the Frontier for Integration</a:t>
            </a:r>
            <a:endParaRPr sz="3000"/>
          </a:p>
        </p:txBody>
      </p:sp>
      <p:sp>
        <p:nvSpPr>
          <p:cNvPr id="9" name="Text 6">
            <a:extLst xmlns:a="http://schemas.openxmlformats.org/drawingml/2006/main">
              <a:ext uri="{FF2B5EF4-FFF2-40B4-BE49-F238E27FC236}">
                <a16:creationId xmlns:a16="http://schemas.microsoft.com/office/drawing/2014/main" id="{805CB2B2-DFC9-4399-A30F-3EBB38C9C088}"/>
              </a:ext>
            </a:extLst>
          </p:cNvPr>
          <p:cNvSpPr>
            <a:spLocks xmlns:a="http://schemas.openxmlformats.org/drawingml/2006/main" noGrp="1"/>
          </p:cNvSpPr>
          <p:nvPr/>
        </p:nvSpPr>
        <p:spPr>
          <a:xfrm xmlns:a="http://schemas.openxmlformats.org/drawingml/2006/main">
            <a:off x="508000" y="1663700"/>
            <a:ext cx="11176000"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1400">
                <a:solidFill>
                  <a:srgbClr val="6B6B6B"/>
                </a:solidFill>
                <a:latin typeface="Arial"/>
                <a:ea typeface="Arial"/>
                <a:cs typeface="Arial"/>
              </a:rPr>
              <a:t>There are many ways to move data between clients, services and partners. Choosing one is rarely obvious.</a:t>
            </a:r>
            <a:endParaRPr sz="1400"/>
          </a:p>
        </p:txBody>
      </p:sp>
      <p:sp>
        <p:nvSpPr>
          <p:cNvPr id="11" name="Shape 7">
            <a:extLst xmlns:a="http://schemas.openxmlformats.org/drawingml/2006/main">
              <a:ext uri="{FF2B5EF4-FFF2-40B4-BE49-F238E27FC236}">
                <a16:creationId xmlns:a16="http://schemas.microsoft.com/office/drawing/2014/main" id="{2A705329-ECDF-46EF-9E13-94A9208C9C58}"/>
              </a:ext>
            </a:extLst>
          </p:cNvPr>
          <p:cNvSpPr>
            <a:spLocks xmlns:a="http://schemas.openxmlformats.org/drawingml/2006/main" noGrp="1"/>
          </p:cNvSpPr>
          <p:nvPr/>
        </p:nvSpPr>
        <p:spPr>
          <a:xfrm xmlns:a="http://schemas.openxmlformats.org/drawingml/2006/main">
            <a:off x="508000" y="2159000"/>
            <a:ext cx="3587750" cy="2159000"/>
          </a:xfrm>
          <a:prstGeom xmlns:a="http://schemas.openxmlformats.org/drawingml/2006/main" prst="rect">
            <a:avLst/>
          </a:prstGeom>
          <a:solidFill xmlns:a="http://schemas.openxmlformats.org/drawingml/2006/main">
            <a:srgbClr val="F4F4F4"/>
          </a:solidFill>
          <a:effectLst xmlns:a="http://schemas.openxmlformats.org/drawingml/2006/main">
            <a:outerShdw blurRad="50800" dist="25400" dir="5400000" algn="bl" rotWithShape="0">
              <a:srgbClr val="000000">
                <a:alpha val="18000"/>
              </a:srgbClr>
            </a:outerShdw>
          </a:effectLst>
        </p:spPr>
        <p:txBody>
          <a:bodyPr xmlns:a="http://schemas.openxmlformats.org/drawingml/2006/main"/>
          <a:lstStyle xmlns:a="http://schemas.openxmlformats.org/drawingml/2006/main"/>
          <a:p xmlns:a="http://schemas.openxmlformats.org/drawingml/2006/main">
            <a:endParaRPr/>
          </a:p>
        </p:txBody>
      </p:sp>
      <p:sp>
        <p:nvSpPr>
          <p:cNvPr id="12" name="Shape 8">
            <a:extLst xmlns:a="http://schemas.openxmlformats.org/drawingml/2006/main">
              <a:ext uri="{FF2B5EF4-FFF2-40B4-BE49-F238E27FC236}">
                <a16:creationId xmlns:a16="http://schemas.microsoft.com/office/drawing/2014/main" id="{80C23126-8FFB-4E3F-8EDF-4157A7A682EA}"/>
              </a:ext>
            </a:extLst>
          </p:cNvPr>
          <p:cNvSpPr>
            <a:spLocks xmlns:a="http://schemas.openxmlformats.org/drawingml/2006/main" noGrp="1"/>
          </p:cNvSpPr>
          <p:nvPr/>
        </p:nvSpPr>
        <p:spPr>
          <a:xfrm xmlns:a="http://schemas.openxmlformats.org/drawingml/2006/main">
            <a:off x="508000" y="2159000"/>
            <a:ext cx="3587750" cy="50800"/>
          </a:xfrm>
          <a:prstGeom xmlns:a="http://schemas.openxmlformats.org/drawingml/2006/main" prst="rect">
            <a:avLst/>
          </a:prstGeom>
          <a:solidFill xmlns:a="http://schemas.openxmlformats.org/drawingml/2006/main">
            <a:srgbClr val="DA1884"/>
          </a:solidFill>
        </p:spPr>
        <p:txBody>
          <a:bodyPr xmlns:a="http://schemas.openxmlformats.org/drawingml/2006/main"/>
          <a:lstStyle xmlns:a="http://schemas.openxmlformats.org/drawingml/2006/main"/>
          <a:p xmlns:a="http://schemas.openxmlformats.org/drawingml/2006/main">
            <a:endParaRPr/>
          </a:p>
        </p:txBody>
      </p:sp>
      <p:sp>
        <p:nvSpPr>
          <p:cNvPr id="13" name="Text 9">
            <a:extLst xmlns:a="http://schemas.openxmlformats.org/drawingml/2006/main">
              <a:ext uri="{FF2B5EF4-FFF2-40B4-BE49-F238E27FC236}">
                <a16:creationId xmlns:a16="http://schemas.microsoft.com/office/drawing/2014/main" id="{06372457-C0A0-4ACD-8AA9-8A67BB3B551B}"/>
              </a:ext>
            </a:extLst>
          </p:cNvPr>
          <p:cNvSpPr>
            <a:spLocks xmlns:a="http://schemas.openxmlformats.org/drawingml/2006/main" noGrp="1"/>
          </p:cNvSpPr>
          <p:nvPr/>
        </p:nvSpPr>
        <p:spPr>
          <a:xfrm xmlns:a="http://schemas.openxmlformats.org/drawingml/2006/main">
            <a:off x="736600" y="2387600"/>
            <a:ext cx="3130550" cy="1752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15000"/>
              </a:lnSpc>
              <a:spcAft>
                <a:spcPts val="800"/>
              </a:spcAft>
              <a:buNone/>
            </a:pPr>
            <a:r>
              <a:rPr sz="1200" b="1">
                <a:solidFill>
                  <a:srgbClr val="DA1884"/>
                </a:solidFill>
                <a:latin typeface="Arial"/>
                <a:ea typeface="Arial"/>
                <a:cs typeface="Arial"/>
              </a:rPr>
              <a:t>01 · THE PROBLEM</a:t>
            </a:r>
            <a:endParaRPr sz="1200"/>
          </a:p>
          <a:p xmlns:a="http://schemas.openxmlformats.org/drawingml/2006/main">
            <a:pPr marL="0" indent="0">
              <a:lnSpc>
                <a:spcPct val="115000"/>
              </a:lnSpc>
              <a:spcAft>
                <a:spcPts val="800"/>
              </a:spcAft>
              <a:buNone/>
            </a:pPr>
            <a:r>
              <a:rPr sz="1500" b="1">
                <a:solidFill>
                  <a:srgbClr val="141414"/>
                </a:solidFill>
                <a:latin typeface="Arial"/>
                <a:ea typeface="Arial"/>
                <a:cs typeface="Arial"/>
              </a:rPr>
              <a:t>Every team has a default</a:t>
            </a:r>
            <a:endParaRPr sz="1200"/>
          </a:p>
          <a:p xmlns:a="http://schemas.openxmlformats.org/drawingml/2006/main">
            <a:pPr marL="0" indent="0">
              <a:lnSpc>
                <a:spcPct val="115000"/>
              </a:lnSpc>
              <a:buNone/>
            </a:pPr>
            <a:r>
              <a:rPr sz="1200">
                <a:solidFill>
                  <a:srgbClr val="333333"/>
                </a:solidFill>
                <a:latin typeface="Arial"/>
                <a:ea typeface="Arial"/>
                <a:cs typeface="Arial"/>
              </a:rPr>
              <a:t>Frontend, backend and integration teams each reach for what they know, so the data contract becomes a negotiation.</a:t>
            </a:r>
            <a:endParaRPr sz="1200"/>
          </a:p>
        </p:txBody>
      </p:sp>
      <p:sp>
        <p:nvSpPr>
          <p:cNvPr id="14" name="Shape 10">
            <a:extLst xmlns:a="http://schemas.openxmlformats.org/drawingml/2006/main">
              <a:ext uri="{FF2B5EF4-FFF2-40B4-BE49-F238E27FC236}">
                <a16:creationId xmlns:a16="http://schemas.microsoft.com/office/drawing/2014/main" id="{06F2C8DC-A1B8-437A-952E-3296244BF783}"/>
              </a:ext>
            </a:extLst>
          </p:cNvPr>
          <p:cNvSpPr>
            <a:spLocks xmlns:a="http://schemas.openxmlformats.org/drawingml/2006/main" noGrp="1"/>
          </p:cNvSpPr>
          <p:nvPr/>
        </p:nvSpPr>
        <p:spPr>
          <a:xfrm xmlns:a="http://schemas.openxmlformats.org/drawingml/2006/main">
            <a:off x="4298950" y="2159000"/>
            <a:ext cx="3587750" cy="2159000"/>
          </a:xfrm>
          <a:prstGeom xmlns:a="http://schemas.openxmlformats.org/drawingml/2006/main" prst="rect">
            <a:avLst/>
          </a:prstGeom>
          <a:solidFill xmlns:a="http://schemas.openxmlformats.org/drawingml/2006/main">
            <a:srgbClr val="F4F4F4"/>
          </a:solidFill>
          <a:effectLst xmlns:a="http://schemas.openxmlformats.org/drawingml/2006/main">
            <a:outerShdw blurRad="50800" dist="25400" dir="5400000" algn="bl" rotWithShape="0">
              <a:srgbClr val="000000">
                <a:alpha val="18000"/>
              </a:srgbClr>
            </a:outerShdw>
          </a:effectLst>
        </p:spPr>
        <p:txBody>
          <a:bodyPr xmlns:a="http://schemas.openxmlformats.org/drawingml/2006/main"/>
          <a:lstStyle xmlns:a="http://schemas.openxmlformats.org/drawingml/2006/main"/>
          <a:p xmlns:a="http://schemas.openxmlformats.org/drawingml/2006/main">
            <a:endParaRPr/>
          </a:p>
        </p:txBody>
      </p:sp>
      <p:sp>
        <p:nvSpPr>
          <p:cNvPr id="15" name="Shape 11">
            <a:extLst xmlns:a="http://schemas.openxmlformats.org/drawingml/2006/main">
              <a:ext uri="{FF2B5EF4-FFF2-40B4-BE49-F238E27FC236}">
                <a16:creationId xmlns:a16="http://schemas.microsoft.com/office/drawing/2014/main" id="{FC8AA14E-2492-4B16-A310-3CFF074D9266}"/>
              </a:ext>
            </a:extLst>
          </p:cNvPr>
          <p:cNvSpPr>
            <a:spLocks xmlns:a="http://schemas.openxmlformats.org/drawingml/2006/main" noGrp="1"/>
          </p:cNvSpPr>
          <p:nvPr/>
        </p:nvSpPr>
        <p:spPr>
          <a:xfrm xmlns:a="http://schemas.openxmlformats.org/drawingml/2006/main">
            <a:off x="4298950" y="2159000"/>
            <a:ext cx="3587750" cy="50800"/>
          </a:xfrm>
          <a:prstGeom xmlns:a="http://schemas.openxmlformats.org/drawingml/2006/main" prst="rect">
            <a:avLst/>
          </a:prstGeom>
          <a:solidFill xmlns:a="http://schemas.openxmlformats.org/drawingml/2006/main">
            <a:srgbClr val="DA1884"/>
          </a:solidFill>
        </p:spPr>
        <p:txBody>
          <a:bodyPr xmlns:a="http://schemas.openxmlformats.org/drawingml/2006/main"/>
          <a:lstStyle xmlns:a="http://schemas.openxmlformats.org/drawingml/2006/main"/>
          <a:p xmlns:a="http://schemas.openxmlformats.org/drawingml/2006/main">
            <a:endParaRPr/>
          </a:p>
        </p:txBody>
      </p:sp>
      <p:sp>
        <p:nvSpPr>
          <p:cNvPr id="16" name="Text 12">
            <a:extLst xmlns:a="http://schemas.openxmlformats.org/drawingml/2006/main">
              <a:ext uri="{FF2B5EF4-FFF2-40B4-BE49-F238E27FC236}">
                <a16:creationId xmlns:a16="http://schemas.microsoft.com/office/drawing/2014/main" id="{F9029B56-C0F2-40C8-BA1F-5BC23567BE71}"/>
              </a:ext>
            </a:extLst>
          </p:cNvPr>
          <p:cNvSpPr>
            <a:spLocks xmlns:a="http://schemas.openxmlformats.org/drawingml/2006/main" noGrp="1"/>
          </p:cNvSpPr>
          <p:nvPr/>
        </p:nvSpPr>
        <p:spPr>
          <a:xfrm xmlns:a="http://schemas.openxmlformats.org/drawingml/2006/main">
            <a:off x="4527550" y="2387600"/>
            <a:ext cx="3130550" cy="1752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15000"/>
              </a:lnSpc>
              <a:spcAft>
                <a:spcPts val="800"/>
              </a:spcAft>
              <a:buNone/>
            </a:pPr>
            <a:r>
              <a:rPr sz="1200" b="1">
                <a:solidFill>
                  <a:srgbClr val="DA1884"/>
                </a:solidFill>
                <a:latin typeface="Arial"/>
                <a:ea typeface="Arial"/>
                <a:cs typeface="Arial"/>
              </a:rPr>
              <a:t>02 · THE REALITY</a:t>
            </a:r>
            <a:endParaRPr sz="1200"/>
          </a:p>
          <a:p xmlns:a="http://schemas.openxmlformats.org/drawingml/2006/main">
            <a:pPr marL="0" indent="0">
              <a:lnSpc>
                <a:spcPct val="115000"/>
              </a:lnSpc>
              <a:spcAft>
                <a:spcPts val="800"/>
              </a:spcAft>
              <a:buNone/>
            </a:pPr>
            <a:r>
              <a:rPr sz="1500" b="1">
                <a:solidFill>
                  <a:srgbClr val="141414"/>
                </a:solidFill>
                <a:latin typeface="Arial"/>
                <a:ea typeface="Arial"/>
                <a:cs typeface="Arial"/>
              </a:rPr>
              <a:t>Each protocol has a sweet spot</a:t>
            </a:r>
            <a:endParaRPr sz="1200"/>
          </a:p>
          <a:p xmlns:a="http://schemas.openxmlformats.org/drawingml/2006/main">
            <a:pPr marL="0" indent="0">
              <a:lnSpc>
                <a:spcPct val="115000"/>
              </a:lnSpc>
              <a:buNone/>
            </a:pPr>
            <a:r>
              <a:rPr sz="1200">
                <a:solidFill>
                  <a:srgbClr val="333333"/>
                </a:solidFill>
                <a:latin typeface="Arial"/>
                <a:ea typeface="Arial"/>
                <a:cs typeface="Arial"/>
              </a:rPr>
              <a:t>Cacheable resources, client-shaped graphs and low-latency streams are different problems with different best answers.</a:t>
            </a:r>
            <a:endParaRPr sz="1200"/>
          </a:p>
        </p:txBody>
      </p:sp>
      <p:sp>
        <p:nvSpPr>
          <p:cNvPr id="17" name="Shape 13">
            <a:extLst xmlns:a="http://schemas.openxmlformats.org/drawingml/2006/main">
              <a:ext uri="{FF2B5EF4-FFF2-40B4-BE49-F238E27FC236}">
                <a16:creationId xmlns:a16="http://schemas.microsoft.com/office/drawing/2014/main" id="{78478343-ADC9-40F9-A55E-7637172396B1}"/>
              </a:ext>
            </a:extLst>
          </p:cNvPr>
          <p:cNvSpPr>
            <a:spLocks xmlns:a="http://schemas.openxmlformats.org/drawingml/2006/main" noGrp="1"/>
          </p:cNvSpPr>
          <p:nvPr/>
        </p:nvSpPr>
        <p:spPr>
          <a:xfrm xmlns:a="http://schemas.openxmlformats.org/drawingml/2006/main">
            <a:off x="8089900" y="2159000"/>
            <a:ext cx="3587750" cy="2159000"/>
          </a:xfrm>
          <a:prstGeom xmlns:a="http://schemas.openxmlformats.org/drawingml/2006/main" prst="rect">
            <a:avLst/>
          </a:prstGeom>
          <a:solidFill xmlns:a="http://schemas.openxmlformats.org/drawingml/2006/main">
            <a:srgbClr val="F4F4F4"/>
          </a:solidFill>
          <a:effectLst xmlns:a="http://schemas.openxmlformats.org/drawingml/2006/main">
            <a:outerShdw blurRad="50800" dist="25400" dir="5400000" algn="bl" rotWithShape="0">
              <a:srgbClr val="000000">
                <a:alpha val="18000"/>
              </a:srgbClr>
            </a:outerShdw>
          </a:effectLst>
        </p:spPr>
        <p:txBody>
          <a:bodyPr xmlns:a="http://schemas.openxmlformats.org/drawingml/2006/main"/>
          <a:lstStyle xmlns:a="http://schemas.openxmlformats.org/drawingml/2006/main"/>
          <a:p xmlns:a="http://schemas.openxmlformats.org/drawingml/2006/main">
            <a:endParaRPr/>
          </a:p>
        </p:txBody>
      </p:sp>
      <p:sp>
        <p:nvSpPr>
          <p:cNvPr id="18" name="Shape 14">
            <a:extLst xmlns:a="http://schemas.openxmlformats.org/drawingml/2006/main">
              <a:ext uri="{FF2B5EF4-FFF2-40B4-BE49-F238E27FC236}">
                <a16:creationId xmlns:a16="http://schemas.microsoft.com/office/drawing/2014/main" id="{83F1CDD0-52F5-4DCC-86A2-37C858659C42}"/>
              </a:ext>
            </a:extLst>
          </p:cNvPr>
          <p:cNvSpPr>
            <a:spLocks xmlns:a="http://schemas.openxmlformats.org/drawingml/2006/main" noGrp="1"/>
          </p:cNvSpPr>
          <p:nvPr/>
        </p:nvSpPr>
        <p:spPr>
          <a:xfrm xmlns:a="http://schemas.openxmlformats.org/drawingml/2006/main">
            <a:off x="8089900" y="2159000"/>
            <a:ext cx="3587750" cy="50800"/>
          </a:xfrm>
          <a:prstGeom xmlns:a="http://schemas.openxmlformats.org/drawingml/2006/main" prst="rect">
            <a:avLst/>
          </a:prstGeom>
          <a:solidFill xmlns:a="http://schemas.openxmlformats.org/drawingml/2006/main">
            <a:srgbClr val="DA1884"/>
          </a:solidFill>
        </p:spPr>
        <p:txBody>
          <a:bodyPr xmlns:a="http://schemas.openxmlformats.org/drawingml/2006/main"/>
          <a:lstStyle xmlns:a="http://schemas.openxmlformats.org/drawingml/2006/main"/>
          <a:p xmlns:a="http://schemas.openxmlformats.org/drawingml/2006/main">
            <a:endParaRPr/>
          </a:p>
        </p:txBody>
      </p:sp>
      <p:sp>
        <p:nvSpPr>
          <p:cNvPr id="19" name="Text 15">
            <a:extLst xmlns:a="http://schemas.openxmlformats.org/drawingml/2006/main">
              <a:ext uri="{FF2B5EF4-FFF2-40B4-BE49-F238E27FC236}">
                <a16:creationId xmlns:a16="http://schemas.microsoft.com/office/drawing/2014/main" id="{112DFBC1-EF82-4D25-8B59-30656E16BEC0}"/>
              </a:ext>
            </a:extLst>
          </p:cNvPr>
          <p:cNvSpPr>
            <a:spLocks xmlns:a="http://schemas.openxmlformats.org/drawingml/2006/main" noGrp="1"/>
          </p:cNvSpPr>
          <p:nvPr/>
        </p:nvSpPr>
        <p:spPr>
          <a:xfrm xmlns:a="http://schemas.openxmlformats.org/drawingml/2006/main">
            <a:off x="8318500" y="2387600"/>
            <a:ext cx="3130550" cy="1752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15000"/>
              </a:lnSpc>
              <a:spcAft>
                <a:spcPts val="800"/>
              </a:spcAft>
              <a:buNone/>
            </a:pPr>
            <a:r>
              <a:rPr sz="1200" b="1">
                <a:solidFill>
                  <a:srgbClr val="DA1884"/>
                </a:solidFill>
                <a:latin typeface="Arial"/>
                <a:ea typeface="Arial"/>
                <a:cs typeface="Arial"/>
              </a:rPr>
              <a:t>03 · THE APPROACH</a:t>
            </a:r>
            <a:endParaRPr sz="1200"/>
          </a:p>
          <a:p xmlns:a="http://schemas.openxmlformats.org/drawingml/2006/main">
            <a:pPr marL="0" indent="0">
              <a:lnSpc>
                <a:spcPct val="115000"/>
              </a:lnSpc>
              <a:spcAft>
                <a:spcPts val="800"/>
              </a:spcAft>
              <a:buNone/>
            </a:pPr>
            <a:r>
              <a:rPr sz="1500" b="1">
                <a:solidFill>
                  <a:srgbClr val="141414"/>
                </a:solidFill>
                <a:latin typeface="Arial"/>
                <a:ea typeface="Arial"/>
                <a:cs typeface="Arial"/>
              </a:rPr>
              <a:t>Choose per operation</a:t>
            </a:r>
            <a:endParaRPr sz="1200"/>
          </a:p>
          <a:p xmlns:a="http://schemas.openxmlformats.org/drawingml/2006/main">
            <a:pPr marL="0" indent="0">
              <a:lnSpc>
                <a:spcPct val="115000"/>
              </a:lnSpc>
              <a:buNone/>
            </a:pPr>
            <a:r>
              <a:rPr sz="1200">
                <a:solidFill>
                  <a:srgbClr val="333333"/>
                </a:solidFill>
                <a:latin typeface="Arial"/>
                <a:ea typeface="Arial"/>
                <a:cs typeface="Arial"/>
              </a:rPr>
              <a:t>Most systems benefit from more than one protocol, as long as each contract stays typed, versioned and visible.</a:t>
            </a:r>
            <a:endParaRPr sz="1200"/>
          </a:p>
        </p:txBody>
      </p:sp>
      <p:sp>
        <p:nvSpPr>
          <p:cNvPr id="20" name="Shape 16">
            <a:extLst xmlns:a="http://schemas.openxmlformats.org/drawingml/2006/main">
              <a:ext uri="{FF2B5EF4-FFF2-40B4-BE49-F238E27FC236}">
                <a16:creationId xmlns:a16="http://schemas.microsoft.com/office/drawing/2014/main" id="{208FFAEB-3E8B-4D66-BDC1-1ECBA8BD1D64}"/>
              </a:ext>
            </a:extLst>
          </p:cNvPr>
          <p:cNvSpPr>
            <a:spLocks xmlns:a="http://schemas.openxmlformats.org/drawingml/2006/main" noGrp="1"/>
          </p:cNvSpPr>
          <p:nvPr/>
        </p:nvSpPr>
        <p:spPr>
          <a:xfrm xmlns:a="http://schemas.openxmlformats.org/drawingml/2006/main">
            <a:off x="508000" y="4572000"/>
            <a:ext cx="11176000" cy="635000"/>
          </a:xfrm>
          <a:prstGeom xmlns:a="http://schemas.openxmlformats.org/drawingml/2006/main" prst="rect">
            <a:avLst/>
          </a:prstGeom>
          <a:solidFill xmlns:a="http://schemas.openxmlformats.org/drawingml/2006/main">
            <a:srgbClr val="F4F4F4"/>
          </a:solidFill>
          <a:effectLst xmlns:a="http://schemas.openxmlformats.org/drawingml/2006/main">
            <a:outerShdw blurRad="50800" dist="25400" dir="5400000" algn="bl" rotWithShape="0">
              <a:srgbClr val="000000">
                <a:alpha val="18000"/>
              </a:srgbClr>
            </a:outerShdw>
          </a:effectLst>
        </p:spPr>
        <p:txBody>
          <a:bodyPr xmlns:a="http://schemas.openxmlformats.org/drawingml/2006/main"/>
          <a:lstStyle xmlns:a="http://schemas.openxmlformats.org/drawingml/2006/main"/>
          <a:p xmlns:a="http://schemas.openxmlformats.org/drawingml/2006/main">
            <a:endParaRPr/>
          </a:p>
        </p:txBody>
      </p:sp>
      <p:sp>
        <p:nvSpPr>
          <p:cNvPr id="21" name="Shape 17">
            <a:extLst xmlns:a="http://schemas.openxmlformats.org/drawingml/2006/main">
              <a:ext uri="{FF2B5EF4-FFF2-40B4-BE49-F238E27FC236}">
                <a16:creationId xmlns:a16="http://schemas.microsoft.com/office/drawing/2014/main" id="{ADC9B779-F5A7-4924-84E3-AF420E12D810}"/>
              </a:ext>
            </a:extLst>
          </p:cNvPr>
          <p:cNvSpPr>
            <a:spLocks xmlns:a="http://schemas.openxmlformats.org/drawingml/2006/main" noGrp="1"/>
          </p:cNvSpPr>
          <p:nvPr/>
        </p:nvSpPr>
        <p:spPr>
          <a:xfrm xmlns:a="http://schemas.openxmlformats.org/drawingml/2006/main">
            <a:off x="508000" y="4572000"/>
            <a:ext cx="76200" cy="635000"/>
          </a:xfrm>
          <a:prstGeom xmlns:a="http://schemas.openxmlformats.org/drawingml/2006/main" prst="rect">
            <a:avLst/>
          </a:prstGeom>
          <a:solidFill xmlns:a="http://schemas.openxmlformats.org/drawingml/2006/main">
            <a:srgbClr val="DA1884"/>
          </a:solidFill>
        </p:spPr>
        <p:txBody>
          <a:bodyPr xmlns:a="http://schemas.openxmlformats.org/drawingml/2006/main"/>
          <a:lstStyle xmlns:a="http://schemas.openxmlformats.org/drawingml/2006/main"/>
          <a:p xmlns:a="http://schemas.openxmlformats.org/drawingml/2006/main">
            <a:endParaRPr/>
          </a:p>
        </p:txBody>
      </p:sp>
      <p:sp>
        <p:nvSpPr>
          <p:cNvPr id="22" name="Text 18">
            <a:extLst xmlns:a="http://schemas.openxmlformats.org/drawingml/2006/main">
              <a:ext uri="{FF2B5EF4-FFF2-40B4-BE49-F238E27FC236}">
                <a16:creationId xmlns:a16="http://schemas.microsoft.com/office/drawing/2014/main" id="{E4137315-9DEA-47AC-AA88-762474CBCEA4}"/>
              </a:ext>
            </a:extLst>
          </p:cNvPr>
          <p:cNvSpPr>
            <a:spLocks xmlns:a="http://schemas.openxmlformats.org/drawingml/2006/main" noGrp="1"/>
          </p:cNvSpPr>
          <p:nvPr/>
        </p:nvSpPr>
        <p:spPr>
          <a:xfrm xmlns:a="http://schemas.openxmlformats.org/drawingml/2006/main">
            <a:off x="787400" y="4572000"/>
            <a:ext cx="10668000" cy="635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200" b="1">
                <a:solidFill>
                  <a:srgbClr val="141414"/>
                </a:solidFill>
                <a:latin typeface="Arial"/>
                <a:ea typeface="Arial"/>
                <a:cs typeface="Arial"/>
              </a:rPr>
              <a:t>The question is not which protocol wins.  </a:t>
            </a:r>
            <a:r>
              <a:rPr sz="1200">
                <a:solidFill>
                  <a:srgbClr val="141414"/>
                </a:solidFill>
                <a:latin typeface="Arial"/>
                <a:ea typeface="Arial"/>
                <a:cs typeface="Arial"/>
              </a:rPr>
              <a:t>It is which one fits the operation in front of you. Most production systems run more than one.</a:t>
            </a:r>
            <a:endParaRPr sz="1200"/>
          </a:p>
        </p:txBody>
      </p:sp>
    </p:spTree>
    <p:extLst>
      <p:ext uri="{BB962C8B-B14F-4D97-AF65-F5344CB8AC3E}">
        <p14:creationId xmlns:p14="http://schemas.microsoft.com/office/powerpoint/2010/main" val="143730384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CE40AB11-53CB-4AD7-AB74-A33E655230C1}"/>
              </a:ext>
            </a:extLst>
          </p:cNvPr>
          <p:cNvPicPr>
            <a:picLocks xmlns:a="http://schemas.openxmlformats.org/drawingml/2006/main" noChangeAspect="1"/>
          </p:cNvPicPr>
          <p:nvPr/>
        </p:nvPicPr>
        <p:blipFill>
          <a:blip xmlns:r="http://schemas.openxmlformats.org/officeDocument/2006/relationships" xmlns:a="http://schemas.openxmlformats.org/drawingml/2006/main" r:embed="R92baab7da73b4244"/>
          <a:stretch xmlns:a="http://schemas.openxmlformats.org/drawingml/2006/main">
            <a:fillRect l="0" t="0" r="0" b="0"/>
          </a:stretch>
        </p:blipFill>
        <p:spPr>
          <a:xfrm xmlns:a="http://schemas.openxmlformats.org/drawingml/2006/main">
            <a:off x="508000" y="152400"/>
            <a:ext cx="990600" cy="40640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F7CD0D3F-6127-4D36-822D-57B710B86517}"/>
              </a:ext>
            </a:extLst>
          </p:cNvPr>
          <p:cNvSpPr>
            <a:spLocks xmlns:a="http://schemas.openxmlformats.org/drawingml/2006/main" noGrp="1"/>
          </p:cNvSpPr>
          <p:nvPr/>
        </p:nvSpPr>
        <p:spPr>
          <a:xfrm xmlns:a="http://schemas.openxmlformats.org/drawingml/2006/main">
            <a:off x="3556000" y="406400"/>
            <a:ext cx="5080000" cy="190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110000"/>
              </a:lnSpc>
              <a:buNone/>
            </a:pPr>
            <a:r>
              <a:rPr sz="1000">
                <a:solidFill>
                  <a:srgbClr val="6B6B6B"/>
                </a:solidFill>
                <a:latin typeface="Arial"/>
                <a:ea typeface="Arial"/>
                <a:cs typeface="Arial"/>
              </a:rPr>
              <a:t>Protocol Studio  —  REST · GraphQL · gRPC</a:t>
            </a:r>
            <a:endParaRPr sz="1000"/>
          </a:p>
        </p:txBody>
      </p:sp>
      <p:sp>
        <p:nvSpPr>
          <p:cNvPr id="4" name="Text 1">
            <a:extLst xmlns:a="http://schemas.openxmlformats.org/drawingml/2006/main">
              <a:ext uri="{FF2B5EF4-FFF2-40B4-BE49-F238E27FC236}">
                <a16:creationId xmlns:a16="http://schemas.microsoft.com/office/drawing/2014/main" id="{287B3773-7F6E-4AF5-BAB8-C5CEDB0671B8}"/>
              </a:ext>
            </a:extLst>
          </p:cNvPr>
          <p:cNvSpPr>
            <a:spLocks xmlns:a="http://schemas.openxmlformats.org/drawingml/2006/main" noGrp="1"/>
          </p:cNvSpPr>
          <p:nvPr/>
        </p:nvSpPr>
        <p:spPr>
          <a:xfrm xmlns:a="http://schemas.openxmlformats.org/drawingml/2006/main">
            <a:off x="6350000" y="406400"/>
            <a:ext cx="5334000" cy="190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ct val="110000"/>
              </a:lnSpc>
              <a:buNone/>
            </a:pPr>
            <a:r>
              <a:rPr sz="1000" b="1">
                <a:solidFill>
                  <a:srgbClr val="DA1884"/>
                </a:solidFill>
                <a:latin typeface="Arial"/>
                <a:ea typeface="Arial"/>
                <a:cs typeface="Arial"/>
              </a:rPr>
              <a:t>THE LANDSCAPE</a:t>
            </a:r>
            <a:endParaRPr sz="1000"/>
          </a:p>
        </p:txBody>
      </p:sp>
      <p:sp>
        <p:nvSpPr>
          <p:cNvPr id="5" name="Text 2">
            <a:extLst xmlns:a="http://schemas.openxmlformats.org/drawingml/2006/main">
              <a:ext uri="{FF2B5EF4-FFF2-40B4-BE49-F238E27FC236}">
                <a16:creationId xmlns:a16="http://schemas.microsoft.com/office/drawing/2014/main" id="{CBA2E848-DDB6-403E-8018-D3E8083237C5}"/>
              </a:ext>
            </a:extLst>
          </p:cNvPr>
          <p:cNvSpPr>
            <a:spLocks xmlns:a="http://schemas.openxmlformats.org/drawingml/2006/main" noGrp="1"/>
          </p:cNvSpPr>
          <p:nvPr/>
        </p:nvSpPr>
        <p:spPr>
          <a:xfrm xmlns:a="http://schemas.openxmlformats.org/drawingml/2006/main">
            <a:off x="508000" y="6578600"/>
            <a:ext cx="8890000" cy="177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900">
                <a:solidFill>
                  <a:srgbClr val="9E9E9E"/>
                </a:solidFill>
                <a:latin typeface="Arial"/>
                <a:ea typeface="Arial"/>
                <a:cs typeface="Arial"/>
              </a:rPr>
              <a:t>Insight Proprietary &amp; Confidential.  Do Not Copy or Distribute.  © 2026 Insight.  All Rights Reserved.</a:t>
            </a:r>
            <a:endParaRPr sz="900"/>
          </a:p>
        </p:txBody>
      </p:sp>
      <p:sp>
        <p:nvSpPr>
          <p:cNvPr id="6" name="Text 3">
            <a:extLst xmlns:a="http://schemas.openxmlformats.org/drawingml/2006/main">
              <a:ext uri="{FF2B5EF4-FFF2-40B4-BE49-F238E27FC236}">
                <a16:creationId xmlns:a16="http://schemas.microsoft.com/office/drawing/2014/main" id="{E415ED70-0F5C-4206-8486-93FD939563F6}"/>
              </a:ext>
            </a:extLst>
          </p:cNvPr>
          <p:cNvSpPr>
            <a:spLocks xmlns:a="http://schemas.openxmlformats.org/drawingml/2006/main" noGrp="1"/>
          </p:cNvSpPr>
          <p:nvPr/>
        </p:nvSpPr>
        <p:spPr>
          <a:xfrm xmlns:a="http://schemas.openxmlformats.org/drawingml/2006/main">
            <a:off x="10922000" y="6578600"/>
            <a:ext cx="762000" cy="177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ct val="110000"/>
              </a:lnSpc>
              <a:buNone/>
            </a:pPr>
            <a:r>
              <a:rPr sz="900">
                <a:solidFill>
                  <a:srgbClr val="9E9E9E"/>
                </a:solidFill>
                <a:latin typeface="Arial"/>
                <a:ea typeface="Arial"/>
                <a:cs typeface="Arial"/>
              </a:rPr>
              <a:t>5</a:t>
            </a:r>
            <a:endParaRPr sz="900"/>
          </a:p>
        </p:txBody>
      </p:sp>
      <p:sp>
        <p:nvSpPr>
          <p:cNvPr id="7" name="Text 4">
            <a:extLst xmlns:a="http://schemas.openxmlformats.org/drawingml/2006/main">
              <a:ext uri="{FF2B5EF4-FFF2-40B4-BE49-F238E27FC236}">
                <a16:creationId xmlns:a16="http://schemas.microsoft.com/office/drawing/2014/main" id="{06BD48DB-ECEF-4DCE-B971-9E0E5B46A8BB}"/>
              </a:ext>
            </a:extLst>
          </p:cNvPr>
          <p:cNvSpPr>
            <a:spLocks xmlns:a="http://schemas.openxmlformats.org/drawingml/2006/main" noGrp="1"/>
          </p:cNvSpPr>
          <p:nvPr/>
        </p:nvSpPr>
        <p:spPr>
          <a:xfrm xmlns:a="http://schemas.openxmlformats.org/drawingml/2006/main">
            <a:off x="508000" y="889000"/>
            <a:ext cx="11176000" cy="2159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1200" b="1">
                <a:solidFill>
                  <a:srgbClr val="DA1884"/>
                </a:solidFill>
                <a:latin typeface="Arial"/>
                <a:ea typeface="Arial"/>
                <a:cs typeface="Arial"/>
              </a:rPr>
              <a:t>SIDE BY SIDE</a:t>
            </a:r>
            <a:endParaRPr sz="1200"/>
          </a:p>
        </p:txBody>
      </p:sp>
      <p:sp>
        <p:nvSpPr>
          <p:cNvPr id="8" name="Text 5">
            <a:extLst xmlns:a="http://schemas.openxmlformats.org/drawingml/2006/main">
              <a:ext uri="{FF2B5EF4-FFF2-40B4-BE49-F238E27FC236}">
                <a16:creationId xmlns:a16="http://schemas.microsoft.com/office/drawing/2014/main" id="{54B3DC02-01AA-4875-BF93-421F0D7BAA05}"/>
              </a:ext>
            </a:extLst>
          </p:cNvPr>
          <p:cNvSpPr>
            <a:spLocks xmlns:a="http://schemas.openxmlformats.org/drawingml/2006/main" noGrp="1"/>
          </p:cNvSpPr>
          <p:nvPr/>
        </p:nvSpPr>
        <p:spPr>
          <a:xfrm xmlns:a="http://schemas.openxmlformats.org/drawingml/2006/main">
            <a:off x="508000" y="1130300"/>
            <a:ext cx="11176000" cy="482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3000" b="1">
                <a:solidFill>
                  <a:srgbClr val="141414"/>
                </a:solidFill>
                <a:latin typeface="Arial"/>
                <a:ea typeface="Arial"/>
                <a:cs typeface="Arial"/>
              </a:rPr>
              <a:t>Key Comparisons</a:t>
            </a:r>
            <a:endParaRPr sz="3000"/>
          </a:p>
        </p:txBody>
      </p:sp>
      <p:sp>
        <p:nvSpPr>
          <p:cNvPr id="9" name="Text 6">
            <a:extLst xmlns:a="http://schemas.openxmlformats.org/drawingml/2006/main">
              <a:ext uri="{FF2B5EF4-FFF2-40B4-BE49-F238E27FC236}">
                <a16:creationId xmlns:a16="http://schemas.microsoft.com/office/drawing/2014/main" id="{F015BDBF-22FD-47DD-8E5F-1F2A69FB0B0E}"/>
              </a:ext>
            </a:extLst>
          </p:cNvPr>
          <p:cNvSpPr>
            <a:spLocks xmlns:a="http://schemas.openxmlformats.org/drawingml/2006/main" noGrp="1"/>
          </p:cNvSpPr>
          <p:nvPr/>
        </p:nvSpPr>
        <p:spPr>
          <a:xfrm xmlns:a="http://schemas.openxmlformats.org/drawingml/2006/main">
            <a:off x="508000" y="1663700"/>
            <a:ext cx="11176000"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1400">
                <a:solidFill>
                  <a:srgbClr val="6B6B6B"/>
                </a:solidFill>
                <a:latin typeface="Arial"/>
                <a:ea typeface="Arial"/>
                <a:cs typeface="Arial"/>
              </a:rPr>
              <a:t>The same questions asked of each protocol. There are no bad answers, only different fits.</a:t>
            </a:r>
            <a:endParaRPr sz="1400"/>
          </a:p>
        </p:txBody>
      </p:sp>
      <p:graphicFrame>
        <p:nvGraphicFramePr>
          <p:cNvPr id="10" name="Table 0">
            <a:extLst xmlns:a="http://schemas.openxmlformats.org/drawingml/2006/main">
              <a:ext uri="{FF2B5EF4-FFF2-40B4-BE49-F238E27FC236}">
                <a16:creationId xmlns:a16="http://schemas.microsoft.com/office/drawing/2014/main" id="{6F002C75-CFFD-4F61-94DF-E5B7454FA9D4}"/>
              </a:ext>
            </a:extLst>
          </p:cNvPr>
          <p:cNvGraphicFramePr/>
          <p:nvPr/>
        </p:nvGraphicFramePr>
        <p:xfrm>
          <a:off xmlns:a="http://schemas.openxmlformats.org/drawingml/2006/main" x="508000" y="2159000"/>
          <a:ext xmlns:a="http://schemas.openxmlformats.org/drawingml/2006/main" cx="11176000" cy="3429000"/>
        </p:xfrm>
        <a:graphic xmlns:a="http://schemas.openxmlformats.org/drawingml/2006/main">
          <a:graphicData uri="http://schemas.openxmlformats.org/drawingml/2006/table">
            <a:tbl>
              <a:tblPr/>
              <a:tblGrid>
                <a:gridCol w="2123440"/>
                <a:gridCol w="3017520"/>
                <a:gridCol w="3017520"/>
                <a:gridCol w="3017520"/>
              </a:tblGrid>
              <a:tr h="381000">
                <a:tc>
                  <a:txBody>
                    <a:bodyPr/>
                    <a:lstStyle/>
                    <a:p>
                      <a:pPr marL="0" indent="0">
                        <a:buNone/>
                      </a:pPr>
                      <a:r>
                        <a:rPr sz="1200" b="1">
                          <a:solidFill>
                            <a:srgbClr val="FFFFFF"/>
                          </a:solidFill>
                          <a:latin typeface="Arial"/>
                          <a:ea typeface="Arial"/>
                          <a:cs typeface="Arial"/>
                        </a:rPr>
                        <a:t>Feature</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DA1884"/>
                    </a:solidFill>
                  </a:tcPr>
                </a:tc>
                <a:tc>
                  <a:txBody>
                    <a:bodyPr/>
                    <a:lstStyle/>
                    <a:p>
                      <a:pPr marL="0" indent="0">
                        <a:buNone/>
                      </a:pPr>
                      <a:r>
                        <a:rPr sz="1200" b="1">
                          <a:solidFill>
                            <a:srgbClr val="FFFFFF"/>
                          </a:solidFill>
                          <a:latin typeface="Arial"/>
                          <a:ea typeface="Arial"/>
                          <a:cs typeface="Arial"/>
                        </a:rPr>
                        <a:t>REST</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DA1884"/>
                    </a:solidFill>
                  </a:tcPr>
                </a:tc>
                <a:tc>
                  <a:txBody>
                    <a:bodyPr/>
                    <a:lstStyle/>
                    <a:p>
                      <a:pPr marL="0" indent="0">
                        <a:buNone/>
                      </a:pPr>
                      <a:r>
                        <a:rPr sz="1200" b="1">
                          <a:solidFill>
                            <a:srgbClr val="FFFFFF"/>
                          </a:solidFill>
                          <a:latin typeface="Arial"/>
                          <a:ea typeface="Arial"/>
                          <a:cs typeface="Arial"/>
                        </a:rPr>
                        <a:t>GraphQL</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DA1884"/>
                    </a:solidFill>
                  </a:tcPr>
                </a:tc>
                <a:tc>
                  <a:txBody>
                    <a:bodyPr/>
                    <a:lstStyle/>
                    <a:p>
                      <a:pPr marL="0" indent="0">
                        <a:buNone/>
                      </a:pPr>
                      <a:r>
                        <a:rPr sz="1200" b="1">
                          <a:solidFill>
                            <a:srgbClr val="FFFFFF"/>
                          </a:solidFill>
                          <a:latin typeface="Arial"/>
                          <a:ea typeface="Arial"/>
                          <a:cs typeface="Arial"/>
                        </a:rPr>
                        <a:t>gRPC</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DA1884"/>
                    </a:solidFill>
                  </a:tcPr>
                </a:tc>
              </a:tr>
              <a:tr h="381000">
                <a:tc>
                  <a:txBody>
                    <a:bodyPr/>
                    <a:lstStyle/>
                    <a:p>
                      <a:pPr marL="0" indent="0">
                        <a:buNone/>
                      </a:pPr>
                      <a:r>
                        <a:rPr sz="1200" b="1">
                          <a:solidFill>
                            <a:srgbClr val="141414"/>
                          </a:solidFill>
                          <a:latin typeface="Arial"/>
                          <a:ea typeface="Arial"/>
                          <a:cs typeface="Arial"/>
                        </a:rPr>
                        <a:t>Transport</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4F4F4"/>
                    </a:solidFill>
                  </a:tcPr>
                </a:tc>
                <a:tc>
                  <a:txBody>
                    <a:bodyPr/>
                    <a:lstStyle/>
                    <a:p>
                      <a:pPr marL="0" indent="0">
                        <a:buNone/>
                      </a:pPr>
                      <a:r>
                        <a:rPr sz="1200">
                          <a:solidFill>
                            <a:srgbClr val="333333"/>
                          </a:solidFill>
                          <a:latin typeface="Arial"/>
                          <a:ea typeface="Arial"/>
                          <a:cs typeface="Arial"/>
                        </a:rPr>
                        <a:t>HTTP/1.1, HTTP/2 or HTTP/3</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4F4F4"/>
                    </a:solidFill>
                  </a:tcPr>
                </a:tc>
                <a:tc>
                  <a:txBody>
                    <a:bodyPr/>
                    <a:lstStyle/>
                    <a:p>
                      <a:pPr marL="0" indent="0">
                        <a:buNone/>
                      </a:pPr>
                      <a:r>
                        <a:rPr sz="1200">
                          <a:solidFill>
                            <a:srgbClr val="333333"/>
                          </a:solidFill>
                          <a:latin typeface="Arial"/>
                          <a:ea typeface="Arial"/>
                          <a:cs typeface="Arial"/>
                        </a:rPr>
                        <a:t>HTTP, usually one POST endpoint</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4F4F4"/>
                    </a:solidFill>
                  </a:tcPr>
                </a:tc>
                <a:tc>
                  <a:txBody>
                    <a:bodyPr/>
                    <a:lstStyle/>
                    <a:p>
                      <a:pPr marL="0" indent="0">
                        <a:buNone/>
                      </a:pPr>
                      <a:r>
                        <a:rPr sz="1200">
                          <a:solidFill>
                            <a:srgbClr val="333333"/>
                          </a:solidFill>
                          <a:latin typeface="Arial"/>
                          <a:ea typeface="Arial"/>
                          <a:cs typeface="Arial"/>
                        </a:rPr>
                        <a:t>HTTP/2 (required)</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4F4F4"/>
                    </a:solidFill>
                  </a:tcPr>
                </a:tc>
              </a:tr>
              <a:tr h="381000">
                <a:tc>
                  <a:txBody>
                    <a:bodyPr/>
                    <a:lstStyle/>
                    <a:p>
                      <a:pPr marL="0" indent="0">
                        <a:buNone/>
                      </a:pPr>
                      <a:r>
                        <a:rPr sz="1200" b="1">
                          <a:solidFill>
                            <a:srgbClr val="141414"/>
                          </a:solidFill>
                          <a:latin typeface="Arial"/>
                          <a:ea typeface="Arial"/>
                          <a:cs typeface="Arial"/>
                        </a:rPr>
                        <a:t>Payload</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FFFFF"/>
                    </a:solidFill>
                  </a:tcPr>
                </a:tc>
                <a:tc>
                  <a:txBody>
                    <a:bodyPr/>
                    <a:lstStyle/>
                    <a:p>
                      <a:pPr marL="0" indent="0">
                        <a:buNone/>
                      </a:pPr>
                      <a:r>
                        <a:rPr sz="1200">
                          <a:solidFill>
                            <a:srgbClr val="333333"/>
                          </a:solidFill>
                          <a:latin typeface="Arial"/>
                          <a:ea typeface="Arial"/>
                          <a:cs typeface="Arial"/>
                        </a:rPr>
                        <a:t>JSON (any media type)</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FFFFF"/>
                    </a:solidFill>
                  </a:tcPr>
                </a:tc>
                <a:tc>
                  <a:txBody>
                    <a:bodyPr/>
                    <a:lstStyle/>
                    <a:p>
                      <a:pPr marL="0" indent="0">
                        <a:buNone/>
                      </a:pPr>
                      <a:r>
                        <a:rPr sz="1200">
                          <a:solidFill>
                            <a:srgbClr val="333333"/>
                          </a:solidFill>
                          <a:latin typeface="Arial"/>
                          <a:ea typeface="Arial"/>
                          <a:cs typeface="Arial"/>
                        </a:rPr>
                        <a:t>JSON</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FFFFF"/>
                    </a:solidFill>
                  </a:tcPr>
                </a:tc>
                <a:tc>
                  <a:txBody>
                    <a:bodyPr/>
                    <a:lstStyle/>
                    <a:p>
                      <a:pPr marL="0" indent="0">
                        <a:buNone/>
                      </a:pPr>
                      <a:r>
                        <a:rPr sz="1200">
                          <a:solidFill>
                            <a:srgbClr val="333333"/>
                          </a:solidFill>
                          <a:latin typeface="Arial"/>
                          <a:ea typeface="Arial"/>
                          <a:cs typeface="Arial"/>
                        </a:rPr>
                        <a:t>Protobuf, binary</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FFFFF"/>
                    </a:solidFill>
                  </a:tcPr>
                </a:tc>
              </a:tr>
              <a:tr h="381000">
                <a:tc>
                  <a:txBody>
                    <a:bodyPr/>
                    <a:lstStyle/>
                    <a:p>
                      <a:pPr marL="0" indent="0">
                        <a:buNone/>
                      </a:pPr>
                      <a:r>
                        <a:rPr sz="1200" b="1">
                          <a:solidFill>
                            <a:srgbClr val="141414"/>
                          </a:solidFill>
                          <a:latin typeface="Arial"/>
                          <a:ea typeface="Arial"/>
                          <a:cs typeface="Arial"/>
                        </a:rPr>
                        <a:t>Contract</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4F4F4"/>
                    </a:solidFill>
                  </a:tcPr>
                </a:tc>
                <a:tc>
                  <a:txBody>
                    <a:bodyPr/>
                    <a:lstStyle/>
                    <a:p>
                      <a:pPr marL="0" indent="0">
                        <a:buNone/>
                      </a:pPr>
                      <a:r>
                        <a:rPr sz="1200">
                          <a:solidFill>
                            <a:srgbClr val="333333"/>
                          </a:solidFill>
                          <a:latin typeface="Arial"/>
                          <a:ea typeface="Arial"/>
                          <a:cs typeface="Arial"/>
                        </a:rPr>
                        <a:t>OpenAPI (optional)</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4F4F4"/>
                    </a:solidFill>
                  </a:tcPr>
                </a:tc>
                <a:tc>
                  <a:txBody>
                    <a:bodyPr/>
                    <a:lstStyle/>
                    <a:p>
                      <a:pPr marL="0" indent="0">
                        <a:buNone/>
                      </a:pPr>
                      <a:r>
                        <a:rPr sz="1200">
                          <a:solidFill>
                            <a:srgbClr val="333333"/>
                          </a:solidFill>
                          <a:latin typeface="Arial"/>
                          <a:ea typeface="Arial"/>
                          <a:cs typeface="Arial"/>
                        </a:rPr>
                        <a:t>SDL schema (required)</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4F4F4"/>
                    </a:solidFill>
                  </a:tcPr>
                </a:tc>
                <a:tc>
                  <a:txBody>
                    <a:bodyPr/>
                    <a:lstStyle/>
                    <a:p>
                      <a:pPr marL="0" indent="0">
                        <a:buNone/>
                      </a:pPr>
                      <a:r>
                        <a:rPr sz="1200">
                          <a:solidFill>
                            <a:srgbClr val="333333"/>
                          </a:solidFill>
                          <a:latin typeface="Arial"/>
                          <a:ea typeface="Arial"/>
                          <a:cs typeface="Arial"/>
                        </a:rPr>
                        <a:t>.proto file (required)</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4F4F4"/>
                    </a:solidFill>
                  </a:tcPr>
                </a:tc>
              </a:tr>
              <a:tr h="381000">
                <a:tc>
                  <a:txBody>
                    <a:bodyPr/>
                    <a:lstStyle/>
                    <a:p>
                      <a:pPr marL="0" indent="0">
                        <a:buNone/>
                      </a:pPr>
                      <a:r>
                        <a:rPr sz="1200" b="1">
                          <a:solidFill>
                            <a:srgbClr val="141414"/>
                          </a:solidFill>
                          <a:latin typeface="Arial"/>
                          <a:ea typeface="Arial"/>
                          <a:cs typeface="Arial"/>
                        </a:rPr>
                        <a:t>Data shape</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FFFFF"/>
                    </a:solidFill>
                  </a:tcPr>
                </a:tc>
                <a:tc>
                  <a:txBody>
                    <a:bodyPr/>
                    <a:lstStyle/>
                    <a:p>
                      <a:pPr marL="0" indent="0">
                        <a:buNone/>
                      </a:pPr>
                      <a:r>
                        <a:rPr sz="1200">
                          <a:solidFill>
                            <a:srgbClr val="333333"/>
                          </a:solidFill>
                          <a:latin typeface="Arial"/>
                          <a:ea typeface="Arial"/>
                          <a:cs typeface="Arial"/>
                        </a:rPr>
                        <a:t>Fixed per endpoint</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FFFFF"/>
                    </a:solidFill>
                  </a:tcPr>
                </a:tc>
                <a:tc>
                  <a:txBody>
                    <a:bodyPr/>
                    <a:lstStyle/>
                    <a:p>
                      <a:pPr marL="0" indent="0">
                        <a:buNone/>
                      </a:pPr>
                      <a:r>
                        <a:rPr sz="1200">
                          <a:solidFill>
                            <a:srgbClr val="333333"/>
                          </a:solidFill>
                          <a:latin typeface="Arial"/>
                          <a:ea typeface="Arial"/>
                          <a:cs typeface="Arial"/>
                        </a:rPr>
                        <a:t>Client selects fields</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FFFFF"/>
                    </a:solidFill>
                  </a:tcPr>
                </a:tc>
                <a:tc>
                  <a:txBody>
                    <a:bodyPr/>
                    <a:lstStyle/>
                    <a:p>
                      <a:pPr marL="0" indent="0">
                        <a:buNone/>
                      </a:pPr>
                      <a:r>
                        <a:rPr sz="1200">
                          <a:solidFill>
                            <a:srgbClr val="333333"/>
                          </a:solidFill>
                          <a:latin typeface="Arial"/>
                          <a:ea typeface="Arial"/>
                          <a:cs typeface="Arial"/>
                        </a:rPr>
                        <a:t>Fixed per RPC, strongly typed</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FFFFF"/>
                    </a:solidFill>
                  </a:tcPr>
                </a:tc>
              </a:tr>
              <a:tr h="381000">
                <a:tc>
                  <a:txBody>
                    <a:bodyPr/>
                    <a:lstStyle/>
                    <a:p>
                      <a:pPr marL="0" indent="0">
                        <a:buNone/>
                      </a:pPr>
                      <a:r>
                        <a:rPr sz="1200" b="1">
                          <a:solidFill>
                            <a:srgbClr val="141414"/>
                          </a:solidFill>
                          <a:latin typeface="Arial"/>
                          <a:ea typeface="Arial"/>
                          <a:cs typeface="Arial"/>
                        </a:rPr>
                        <a:t>Caching</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4F4F4"/>
                    </a:solidFill>
                  </a:tcPr>
                </a:tc>
                <a:tc>
                  <a:txBody>
                    <a:bodyPr/>
                    <a:lstStyle/>
                    <a:p>
                      <a:pPr marL="0" indent="0">
                        <a:buNone/>
                      </a:pPr>
                      <a:r>
                        <a:rPr sz="1200">
                          <a:solidFill>
                            <a:srgbClr val="333333"/>
                          </a:solidFill>
                          <a:latin typeface="Arial"/>
                          <a:ea typeface="Arial"/>
                          <a:cs typeface="Arial"/>
                        </a:rPr>
                        <a:t>Native HTTP and CDN caching</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4F4F4"/>
                    </a:solidFill>
                  </a:tcPr>
                </a:tc>
                <a:tc>
                  <a:txBody>
                    <a:bodyPr/>
                    <a:lstStyle/>
                    <a:p>
                      <a:pPr marL="0" indent="0">
                        <a:buNone/>
                      </a:pPr>
                      <a:r>
                        <a:rPr sz="1200">
                          <a:solidFill>
                            <a:srgbClr val="333333"/>
                          </a:solidFill>
                          <a:latin typeface="Arial"/>
                          <a:ea typeface="Arial"/>
                          <a:cs typeface="Arial"/>
                        </a:rPr>
                        <a:t>Client-side or persisted queries</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4F4F4"/>
                    </a:solidFill>
                  </a:tcPr>
                </a:tc>
                <a:tc>
                  <a:txBody>
                    <a:bodyPr/>
                    <a:lstStyle/>
                    <a:p>
                      <a:pPr marL="0" indent="0">
                        <a:buNone/>
                      </a:pPr>
                      <a:r>
                        <a:rPr sz="1200">
                          <a:solidFill>
                            <a:srgbClr val="333333"/>
                          </a:solidFill>
                          <a:latin typeface="Arial"/>
                          <a:ea typeface="Arial"/>
                          <a:cs typeface="Arial"/>
                        </a:rPr>
                        <a:t>Application-level</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4F4F4"/>
                    </a:solidFill>
                  </a:tcPr>
                </a:tc>
              </a:tr>
              <a:tr h="381000">
                <a:tc>
                  <a:txBody>
                    <a:bodyPr/>
                    <a:lstStyle/>
                    <a:p>
                      <a:pPr marL="0" indent="0">
                        <a:buNone/>
                      </a:pPr>
                      <a:r>
                        <a:rPr sz="1200" b="1">
                          <a:solidFill>
                            <a:srgbClr val="141414"/>
                          </a:solidFill>
                          <a:latin typeface="Arial"/>
                          <a:ea typeface="Arial"/>
                          <a:cs typeface="Arial"/>
                        </a:rPr>
                        <a:t>Streaming</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FFFFF"/>
                    </a:solidFill>
                  </a:tcPr>
                </a:tc>
                <a:tc>
                  <a:txBody>
                    <a:bodyPr/>
                    <a:lstStyle/>
                    <a:p>
                      <a:pPr marL="0" indent="0">
                        <a:buNone/>
                      </a:pPr>
                      <a:r>
                        <a:rPr sz="1200">
                          <a:solidFill>
                            <a:srgbClr val="333333"/>
                          </a:solidFill>
                          <a:latin typeface="Arial"/>
                          <a:ea typeface="Arial"/>
                          <a:cs typeface="Arial"/>
                        </a:rPr>
                        <a:t>SSE or chunked responses</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FFFFF"/>
                    </a:solidFill>
                  </a:tcPr>
                </a:tc>
                <a:tc>
                  <a:txBody>
                    <a:bodyPr/>
                    <a:lstStyle/>
                    <a:p>
                      <a:pPr marL="0" indent="0">
                        <a:buNone/>
                      </a:pPr>
                      <a:r>
                        <a:rPr sz="1200">
                          <a:solidFill>
                            <a:srgbClr val="333333"/>
                          </a:solidFill>
                          <a:latin typeface="Arial"/>
                          <a:ea typeface="Arial"/>
                          <a:cs typeface="Arial"/>
                        </a:rPr>
                        <a:t>Subscriptions</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FFFFF"/>
                    </a:solidFill>
                  </a:tcPr>
                </a:tc>
                <a:tc>
                  <a:txBody>
                    <a:bodyPr/>
                    <a:lstStyle/>
                    <a:p>
                      <a:pPr marL="0" indent="0">
                        <a:buNone/>
                      </a:pPr>
                      <a:r>
                        <a:rPr sz="1200">
                          <a:solidFill>
                            <a:srgbClr val="333333"/>
                          </a:solidFill>
                          <a:latin typeface="Arial"/>
                          <a:ea typeface="Arial"/>
                          <a:cs typeface="Arial"/>
                        </a:rPr>
                        <a:t>Server, client and bidirectional</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FFFFF"/>
                    </a:solidFill>
                  </a:tcPr>
                </a:tc>
              </a:tr>
              <a:tr h="381000">
                <a:tc>
                  <a:txBody>
                    <a:bodyPr/>
                    <a:lstStyle/>
                    <a:p>
                      <a:pPr marL="0" indent="0">
                        <a:buNone/>
                      </a:pPr>
                      <a:r>
                        <a:rPr sz="1200" b="1">
                          <a:solidFill>
                            <a:srgbClr val="141414"/>
                          </a:solidFill>
                          <a:latin typeface="Arial"/>
                          <a:ea typeface="Arial"/>
                          <a:cs typeface="Arial"/>
                        </a:rPr>
                        <a:t>Browser support</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4F4F4"/>
                    </a:solidFill>
                  </a:tcPr>
                </a:tc>
                <a:tc>
                  <a:txBody>
                    <a:bodyPr/>
                    <a:lstStyle/>
                    <a:p>
                      <a:pPr marL="0" indent="0">
                        <a:buNone/>
                      </a:pPr>
                      <a:r>
                        <a:rPr sz="1200">
                          <a:solidFill>
                            <a:srgbClr val="333333"/>
                          </a:solidFill>
                          <a:latin typeface="Arial"/>
                          <a:ea typeface="Arial"/>
                          <a:cs typeface="Arial"/>
                        </a:rPr>
                        <a:t>Native</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4F4F4"/>
                    </a:solidFill>
                  </a:tcPr>
                </a:tc>
                <a:tc>
                  <a:txBody>
                    <a:bodyPr/>
                    <a:lstStyle/>
                    <a:p>
                      <a:pPr marL="0" indent="0">
                        <a:buNone/>
                      </a:pPr>
                      <a:r>
                        <a:rPr sz="1200">
                          <a:solidFill>
                            <a:srgbClr val="333333"/>
                          </a:solidFill>
                          <a:latin typeface="Arial"/>
                          <a:ea typeface="Arial"/>
                          <a:cs typeface="Arial"/>
                        </a:rPr>
                        <a:t>Native</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4F4F4"/>
                    </a:solidFill>
                  </a:tcPr>
                </a:tc>
                <a:tc>
                  <a:txBody>
                    <a:bodyPr/>
                    <a:lstStyle/>
                    <a:p>
                      <a:pPr marL="0" indent="0">
                        <a:buNone/>
                      </a:pPr>
                      <a:r>
                        <a:rPr sz="1200">
                          <a:solidFill>
                            <a:srgbClr val="333333"/>
                          </a:solidFill>
                          <a:latin typeface="Arial"/>
                          <a:ea typeface="Arial"/>
                          <a:cs typeface="Arial"/>
                        </a:rPr>
                        <a:t>Needs gRPC-Web or a bridge</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4F4F4"/>
                    </a:solidFill>
                  </a:tcPr>
                </a:tc>
              </a:tr>
              <a:tr h="381000">
                <a:tc>
                  <a:txBody>
                    <a:bodyPr/>
                    <a:lstStyle/>
                    <a:p>
                      <a:pPr marL="0" indent="0">
                        <a:buNone/>
                      </a:pPr>
                      <a:r>
                        <a:rPr sz="1200" b="1">
                          <a:solidFill>
                            <a:srgbClr val="141414"/>
                          </a:solidFill>
                          <a:latin typeface="Arial"/>
                          <a:ea typeface="Arial"/>
                          <a:cs typeface="Arial"/>
                        </a:rPr>
                        <a:t>Best fit</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FFFFF"/>
                    </a:solidFill>
                  </a:tcPr>
                </a:tc>
                <a:tc>
                  <a:txBody>
                    <a:bodyPr/>
                    <a:lstStyle/>
                    <a:p>
                      <a:pPr marL="0" indent="0">
                        <a:buNone/>
                      </a:pPr>
                      <a:r>
                        <a:rPr sz="1200">
                          <a:solidFill>
                            <a:srgbClr val="333333"/>
                          </a:solidFill>
                          <a:latin typeface="Arial"/>
                          <a:ea typeface="Arial"/>
                          <a:cs typeface="Arial"/>
                        </a:rPr>
                        <a:t>Public and resource APIs</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FFFFF"/>
                    </a:solidFill>
                  </a:tcPr>
                </a:tc>
                <a:tc>
                  <a:txBody>
                    <a:bodyPr/>
                    <a:lstStyle/>
                    <a:p>
                      <a:pPr marL="0" indent="0">
                        <a:buNone/>
                      </a:pPr>
                      <a:r>
                        <a:rPr sz="1200">
                          <a:solidFill>
                            <a:srgbClr val="333333"/>
                          </a:solidFill>
                          <a:latin typeface="Arial"/>
                          <a:ea typeface="Arial"/>
                          <a:cs typeface="Arial"/>
                        </a:rPr>
                        <a:t>Client-driven nested data</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FFFFF"/>
                    </a:solidFill>
                  </a:tcPr>
                </a:tc>
                <a:tc>
                  <a:txBody>
                    <a:bodyPr/>
                    <a:lstStyle/>
                    <a:p>
                      <a:pPr marL="0" indent="0">
                        <a:buNone/>
                      </a:pPr>
                      <a:r>
                        <a:rPr sz="1200">
                          <a:solidFill>
                            <a:srgbClr val="333333"/>
                          </a:solidFill>
                          <a:latin typeface="Arial"/>
                          <a:ea typeface="Arial"/>
                          <a:cs typeface="Arial"/>
                        </a:rPr>
                        <a:t>Service-to-service, low latency</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FFFFF"/>
                    </a:solidFill>
                  </a:tcPr>
                </a:tc>
              </a:tr>
            </a:tbl>
          </a:graphicData>
        </a:graphic>
      </p:graphicFrame>
    </p:spTree>
    <p:extLst>
      <p:ext uri="{BB962C8B-B14F-4D97-AF65-F5344CB8AC3E}">
        <p14:creationId xmlns:p14="http://schemas.microsoft.com/office/powerpoint/2010/main" val="65590860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534E0358-DEDF-4CF5-AC63-BB0FBB4AB30A}"/>
              </a:ext>
            </a:extLst>
          </p:cNvPr>
          <p:cNvPicPr>
            <a:picLocks xmlns:a="http://schemas.openxmlformats.org/drawingml/2006/main" noChangeAspect="1"/>
          </p:cNvPicPr>
          <p:nvPr/>
        </p:nvPicPr>
        <p:blipFill>
          <a:blip xmlns:r="http://schemas.openxmlformats.org/officeDocument/2006/relationships" xmlns:a="http://schemas.openxmlformats.org/drawingml/2006/main" r:embed="R2a2db898ba134601"/>
          <a:stretch xmlns:a="http://schemas.openxmlformats.org/drawingml/2006/main">
            <a:fillRect l="0" t="0" r="0" b="0"/>
          </a:stretch>
        </p:blipFill>
        <p:spPr>
          <a:xfrm xmlns:a="http://schemas.openxmlformats.org/drawingml/2006/main">
            <a:off x="508000" y="152400"/>
            <a:ext cx="990600" cy="40640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CAE118FA-AF1F-411C-BD24-9082DF1594F4}"/>
              </a:ext>
            </a:extLst>
          </p:cNvPr>
          <p:cNvSpPr>
            <a:spLocks xmlns:a="http://schemas.openxmlformats.org/drawingml/2006/main" noGrp="1"/>
          </p:cNvSpPr>
          <p:nvPr/>
        </p:nvSpPr>
        <p:spPr>
          <a:xfrm xmlns:a="http://schemas.openxmlformats.org/drawingml/2006/main">
            <a:off x="3556000" y="406400"/>
            <a:ext cx="5080000" cy="190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110000"/>
              </a:lnSpc>
              <a:buNone/>
            </a:pPr>
            <a:r>
              <a:rPr sz="1000">
                <a:solidFill>
                  <a:srgbClr val="6B6B6B"/>
                </a:solidFill>
                <a:latin typeface="Arial"/>
                <a:ea typeface="Arial"/>
                <a:cs typeface="Arial"/>
              </a:rPr>
              <a:t>Protocol Studio  —  REST · GraphQL · gRPC</a:t>
            </a:r>
            <a:endParaRPr sz="1000"/>
          </a:p>
        </p:txBody>
      </p:sp>
      <p:sp>
        <p:nvSpPr>
          <p:cNvPr id="4" name="Text 1">
            <a:extLst xmlns:a="http://schemas.openxmlformats.org/drawingml/2006/main">
              <a:ext uri="{FF2B5EF4-FFF2-40B4-BE49-F238E27FC236}">
                <a16:creationId xmlns:a16="http://schemas.microsoft.com/office/drawing/2014/main" id="{E661F94F-2FEE-4EE4-8CAF-2DE8BD02B75C}"/>
              </a:ext>
            </a:extLst>
          </p:cNvPr>
          <p:cNvSpPr>
            <a:spLocks xmlns:a="http://schemas.openxmlformats.org/drawingml/2006/main" noGrp="1"/>
          </p:cNvSpPr>
          <p:nvPr/>
        </p:nvSpPr>
        <p:spPr>
          <a:xfrm xmlns:a="http://schemas.openxmlformats.org/drawingml/2006/main">
            <a:off x="6350000" y="406400"/>
            <a:ext cx="5334000" cy="190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ct val="110000"/>
              </a:lnSpc>
              <a:buNone/>
            </a:pPr>
            <a:r>
              <a:rPr sz="1000" b="1">
                <a:solidFill>
                  <a:srgbClr val="DA1884"/>
                </a:solidFill>
                <a:latin typeface="Arial"/>
                <a:ea typeface="Arial"/>
                <a:cs typeface="Arial"/>
              </a:rPr>
              <a:t>THE LANDSCAPE</a:t>
            </a:r>
            <a:endParaRPr sz="1000"/>
          </a:p>
        </p:txBody>
      </p:sp>
      <p:sp>
        <p:nvSpPr>
          <p:cNvPr id="5" name="Text 2">
            <a:extLst xmlns:a="http://schemas.openxmlformats.org/drawingml/2006/main">
              <a:ext uri="{FF2B5EF4-FFF2-40B4-BE49-F238E27FC236}">
                <a16:creationId xmlns:a16="http://schemas.microsoft.com/office/drawing/2014/main" id="{77F2A769-FC53-4741-AE6A-EAE7845D8F52}"/>
              </a:ext>
            </a:extLst>
          </p:cNvPr>
          <p:cNvSpPr>
            <a:spLocks xmlns:a="http://schemas.openxmlformats.org/drawingml/2006/main" noGrp="1"/>
          </p:cNvSpPr>
          <p:nvPr/>
        </p:nvSpPr>
        <p:spPr>
          <a:xfrm xmlns:a="http://schemas.openxmlformats.org/drawingml/2006/main">
            <a:off x="508000" y="6578600"/>
            <a:ext cx="8890000" cy="177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900">
                <a:solidFill>
                  <a:srgbClr val="9E9E9E"/>
                </a:solidFill>
                <a:latin typeface="Arial"/>
                <a:ea typeface="Arial"/>
                <a:cs typeface="Arial"/>
              </a:rPr>
              <a:t>Insight Proprietary &amp; Confidential.  Do Not Copy or Distribute.  © 2026 Insight.  All Rights Reserved.</a:t>
            </a:r>
            <a:endParaRPr sz="900"/>
          </a:p>
        </p:txBody>
      </p:sp>
      <p:sp>
        <p:nvSpPr>
          <p:cNvPr id="6" name="Text 3">
            <a:extLst xmlns:a="http://schemas.openxmlformats.org/drawingml/2006/main">
              <a:ext uri="{FF2B5EF4-FFF2-40B4-BE49-F238E27FC236}">
                <a16:creationId xmlns:a16="http://schemas.microsoft.com/office/drawing/2014/main" id="{FDB8BDF8-704A-437E-9719-4C67D5948F55}"/>
              </a:ext>
            </a:extLst>
          </p:cNvPr>
          <p:cNvSpPr>
            <a:spLocks xmlns:a="http://schemas.openxmlformats.org/drawingml/2006/main" noGrp="1"/>
          </p:cNvSpPr>
          <p:nvPr/>
        </p:nvSpPr>
        <p:spPr>
          <a:xfrm xmlns:a="http://schemas.openxmlformats.org/drawingml/2006/main">
            <a:off x="10922000" y="6578600"/>
            <a:ext cx="762000" cy="177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ct val="110000"/>
              </a:lnSpc>
              <a:buNone/>
            </a:pPr>
            <a:r>
              <a:rPr sz="900">
                <a:solidFill>
                  <a:srgbClr val="9E9E9E"/>
                </a:solidFill>
                <a:latin typeface="Arial"/>
                <a:ea typeface="Arial"/>
                <a:cs typeface="Arial"/>
              </a:rPr>
              <a:t>6</a:t>
            </a:r>
            <a:endParaRPr sz="900"/>
          </a:p>
        </p:txBody>
      </p:sp>
      <p:sp>
        <p:nvSpPr>
          <p:cNvPr id="7" name="Text 4">
            <a:extLst xmlns:a="http://schemas.openxmlformats.org/drawingml/2006/main">
              <a:ext uri="{FF2B5EF4-FFF2-40B4-BE49-F238E27FC236}">
                <a16:creationId xmlns:a16="http://schemas.microsoft.com/office/drawing/2014/main" id="{F2CD3CED-8727-4C2A-B6BB-C9488F61D7DB}"/>
              </a:ext>
            </a:extLst>
          </p:cNvPr>
          <p:cNvSpPr>
            <a:spLocks xmlns:a="http://schemas.openxmlformats.org/drawingml/2006/main" noGrp="1"/>
          </p:cNvSpPr>
          <p:nvPr/>
        </p:nvSpPr>
        <p:spPr>
          <a:xfrm xmlns:a="http://schemas.openxmlformats.org/drawingml/2006/main">
            <a:off x="508000" y="889000"/>
            <a:ext cx="11176000" cy="2159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1200" b="1">
                <a:solidFill>
                  <a:srgbClr val="DA1884"/>
                </a:solidFill>
                <a:latin typeface="Arial"/>
                <a:ea typeface="Arial"/>
                <a:cs typeface="Arial"/>
              </a:rPr>
              <a:t>DEMO DATA SET</a:t>
            </a:r>
            <a:endParaRPr sz="1200"/>
          </a:p>
        </p:txBody>
      </p:sp>
      <p:sp>
        <p:nvSpPr>
          <p:cNvPr id="8" name="Text 5">
            <a:extLst xmlns:a="http://schemas.openxmlformats.org/drawingml/2006/main">
              <a:ext uri="{FF2B5EF4-FFF2-40B4-BE49-F238E27FC236}">
                <a16:creationId xmlns:a16="http://schemas.microsoft.com/office/drawing/2014/main" id="{5396423D-425B-4B9C-A0CE-D5CC7EDFF6F4}"/>
              </a:ext>
            </a:extLst>
          </p:cNvPr>
          <p:cNvSpPr>
            <a:spLocks xmlns:a="http://schemas.openxmlformats.org/drawingml/2006/main" noGrp="1"/>
          </p:cNvSpPr>
          <p:nvPr/>
        </p:nvSpPr>
        <p:spPr>
          <a:xfrm xmlns:a="http://schemas.openxmlformats.org/drawingml/2006/main">
            <a:off x="508000" y="1130300"/>
            <a:ext cx="11176000" cy="482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3000" b="1">
                <a:solidFill>
                  <a:srgbClr val="141414"/>
                </a:solidFill>
                <a:latin typeface="Arial"/>
                <a:ea typeface="Arial"/>
                <a:cs typeface="Arial"/>
              </a:rPr>
              <a:t>One Catalog Behind All Three Protocols</a:t>
            </a:r>
            <a:endParaRPr sz="3000"/>
          </a:p>
        </p:txBody>
      </p:sp>
      <p:sp>
        <p:nvSpPr>
          <p:cNvPr id="9" name="Text 6">
            <a:extLst xmlns:a="http://schemas.openxmlformats.org/drawingml/2006/main">
              <a:ext uri="{FF2B5EF4-FFF2-40B4-BE49-F238E27FC236}">
                <a16:creationId xmlns:a16="http://schemas.microsoft.com/office/drawing/2014/main" id="{6A9732A1-67CF-4458-A23D-D87ACDBCBC41}"/>
              </a:ext>
            </a:extLst>
          </p:cNvPr>
          <p:cNvSpPr>
            <a:spLocks xmlns:a="http://schemas.openxmlformats.org/drawingml/2006/main" noGrp="1"/>
          </p:cNvSpPr>
          <p:nvPr/>
        </p:nvSpPr>
        <p:spPr>
          <a:xfrm xmlns:a="http://schemas.openxmlformats.org/drawingml/2006/main">
            <a:off x="508000" y="1663700"/>
            <a:ext cx="11176000"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1400">
                <a:solidFill>
                  <a:srgbClr val="6B6B6B"/>
                </a:solidFill>
                <a:latin typeface="Arial"/>
                <a:ea typeface="Arial"/>
                <a:cs typeface="Arial"/>
              </a:rPr>
              <a:t>Original ship data and film links, enriched with selected character appearances and verified flight crew.</a:t>
            </a:r>
            <a:endParaRPr sz="1400"/>
          </a:p>
        </p:txBody>
      </p:sp>
      <p:sp>
        <p:nvSpPr>
          <p:cNvPr id="11" name="Shape 7">
            <a:extLst xmlns:a="http://schemas.openxmlformats.org/drawingml/2006/main">
              <a:ext uri="{FF2B5EF4-FFF2-40B4-BE49-F238E27FC236}">
                <a16:creationId xmlns:a16="http://schemas.microsoft.com/office/drawing/2014/main" id="{0A663169-F88A-4873-ACD3-DD5FB02863DC}"/>
              </a:ext>
            </a:extLst>
          </p:cNvPr>
          <p:cNvSpPr>
            <a:spLocks xmlns:a="http://schemas.openxmlformats.org/drawingml/2006/main" noGrp="1"/>
          </p:cNvSpPr>
          <p:nvPr/>
        </p:nvSpPr>
        <p:spPr>
          <a:xfrm xmlns:a="http://schemas.openxmlformats.org/drawingml/2006/main">
            <a:off x="508000" y="2222500"/>
            <a:ext cx="2984500" cy="2476500"/>
          </a:xfrm>
          <a:prstGeom xmlns:a="http://schemas.openxmlformats.org/drawingml/2006/main" prst="rect">
            <a:avLst/>
          </a:prstGeom>
          <a:solidFill xmlns:a="http://schemas.openxmlformats.org/drawingml/2006/main">
            <a:srgbClr val="F4F4F4"/>
          </a:solidFill>
          <a:effectLst xmlns:a="http://schemas.openxmlformats.org/drawingml/2006/main">
            <a:outerShdw blurRad="50800" dist="25400" dir="5400000" algn="bl" rotWithShape="0">
              <a:srgbClr val="000000">
                <a:alpha val="18000"/>
              </a:srgbClr>
            </a:outerShdw>
          </a:effectLst>
        </p:spPr>
        <p:txBody>
          <a:bodyPr xmlns:a="http://schemas.openxmlformats.org/drawingml/2006/main"/>
          <a:lstStyle xmlns:a="http://schemas.openxmlformats.org/drawingml/2006/main"/>
          <a:p xmlns:a="http://schemas.openxmlformats.org/drawingml/2006/main">
            <a:endParaRPr/>
          </a:p>
        </p:txBody>
      </p:sp>
      <p:sp>
        <p:nvSpPr>
          <p:cNvPr id="12" name="Shape 8">
            <a:extLst xmlns:a="http://schemas.openxmlformats.org/drawingml/2006/main">
              <a:ext uri="{FF2B5EF4-FFF2-40B4-BE49-F238E27FC236}">
                <a16:creationId xmlns:a16="http://schemas.microsoft.com/office/drawing/2014/main" id="{B424A755-0DF0-4038-A172-99382A5A8BFD}"/>
              </a:ext>
            </a:extLst>
          </p:cNvPr>
          <p:cNvSpPr>
            <a:spLocks xmlns:a="http://schemas.openxmlformats.org/drawingml/2006/main" noGrp="1"/>
          </p:cNvSpPr>
          <p:nvPr/>
        </p:nvSpPr>
        <p:spPr>
          <a:xfrm xmlns:a="http://schemas.openxmlformats.org/drawingml/2006/main">
            <a:off x="508000" y="2222500"/>
            <a:ext cx="2984500" cy="50800"/>
          </a:xfrm>
          <a:prstGeom xmlns:a="http://schemas.openxmlformats.org/drawingml/2006/main" prst="rect">
            <a:avLst/>
          </a:prstGeom>
          <a:solidFill xmlns:a="http://schemas.openxmlformats.org/drawingml/2006/main">
            <a:srgbClr val="DA1884"/>
          </a:solidFill>
        </p:spPr>
        <p:txBody>
          <a:bodyPr xmlns:a="http://schemas.openxmlformats.org/drawingml/2006/main"/>
          <a:lstStyle xmlns:a="http://schemas.openxmlformats.org/drawingml/2006/main"/>
          <a:p xmlns:a="http://schemas.openxmlformats.org/drawingml/2006/main">
            <a:endParaRPr/>
          </a:p>
        </p:txBody>
      </p:sp>
      <p:sp>
        <p:nvSpPr>
          <p:cNvPr id="13" name="Text 9">
            <a:extLst xmlns:a="http://schemas.openxmlformats.org/drawingml/2006/main">
              <a:ext uri="{FF2B5EF4-FFF2-40B4-BE49-F238E27FC236}">
                <a16:creationId xmlns:a16="http://schemas.microsoft.com/office/drawing/2014/main" id="{1312E6BC-4BB6-4D5C-A489-A9642B4B16E1}"/>
              </a:ext>
            </a:extLst>
          </p:cNvPr>
          <p:cNvSpPr>
            <a:spLocks xmlns:a="http://schemas.openxmlformats.org/drawingml/2006/main" noGrp="1"/>
          </p:cNvSpPr>
          <p:nvPr/>
        </p:nvSpPr>
        <p:spPr>
          <a:xfrm xmlns:a="http://schemas.openxmlformats.org/drawingml/2006/main">
            <a:off x="736600" y="2451100"/>
            <a:ext cx="2540000" cy="2159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1200" b="1">
                <a:solidFill>
                  <a:srgbClr val="DA1884"/>
                </a:solidFill>
                <a:latin typeface="Arial"/>
                <a:ea typeface="Arial"/>
                <a:cs typeface="Arial"/>
              </a:rPr>
              <a:t>STARSHIPS</a:t>
            </a:r>
            <a:endParaRPr sz="1200"/>
          </a:p>
        </p:txBody>
      </p:sp>
      <p:sp>
        <p:nvSpPr>
          <p:cNvPr id="14" name="Text 10">
            <a:extLst xmlns:a="http://schemas.openxmlformats.org/drawingml/2006/main">
              <a:ext uri="{FF2B5EF4-FFF2-40B4-BE49-F238E27FC236}">
                <a16:creationId xmlns:a16="http://schemas.microsoft.com/office/drawing/2014/main" id="{FC6DB5CB-1CDF-4601-A350-F33C06D9A36D}"/>
              </a:ext>
            </a:extLst>
          </p:cNvPr>
          <p:cNvSpPr>
            <a:spLocks xmlns:a="http://schemas.openxmlformats.org/drawingml/2006/main" noGrp="1"/>
          </p:cNvSpPr>
          <p:nvPr/>
        </p:nvSpPr>
        <p:spPr>
          <a:xfrm xmlns:a="http://schemas.openxmlformats.org/drawingml/2006/main">
            <a:off x="736600" y="2730500"/>
            <a:ext cx="2540000" cy="825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6000" b="1">
                <a:solidFill>
                  <a:srgbClr val="141414"/>
                </a:solidFill>
                <a:latin typeface="Arial"/>
                <a:ea typeface="Arial"/>
                <a:cs typeface="Arial"/>
              </a:rPr>
              <a:t>19</a:t>
            </a:r>
            <a:endParaRPr sz="6000"/>
          </a:p>
        </p:txBody>
      </p:sp>
      <p:sp>
        <p:nvSpPr>
          <p:cNvPr id="15" name="Text 11">
            <a:extLst xmlns:a="http://schemas.openxmlformats.org/drawingml/2006/main">
              <a:ext uri="{FF2B5EF4-FFF2-40B4-BE49-F238E27FC236}">
                <a16:creationId xmlns:a16="http://schemas.microsoft.com/office/drawing/2014/main" id="{F276F32E-90F4-4C0C-B5F7-90D471DA951D}"/>
              </a:ext>
            </a:extLst>
          </p:cNvPr>
          <p:cNvSpPr>
            <a:spLocks xmlns:a="http://schemas.openxmlformats.org/drawingml/2006/main" noGrp="1"/>
          </p:cNvSpPr>
          <p:nvPr/>
        </p:nvSpPr>
        <p:spPr>
          <a:xfrm xmlns:a="http://schemas.openxmlformats.org/drawingml/2006/main">
            <a:off x="736600" y="3746500"/>
            <a:ext cx="2540000" cy="762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0000"/>
              </a:lnSpc>
              <a:buNone/>
            </a:pPr>
            <a:r>
              <a:rPr sz="1200">
                <a:solidFill>
                  <a:srgbClr val="333333"/>
                </a:solidFill>
                <a:latin typeface="Arial"/>
                <a:ea typeface="Arial"/>
                <a:cs typeface="Arial"/>
              </a:rPr>
              <a:t>Name, max speed and length, from the CR90 corvette to the Millennium Falcon.</a:t>
            </a:r>
            <a:endParaRPr sz="1200"/>
          </a:p>
        </p:txBody>
      </p:sp>
      <p:sp>
        <p:nvSpPr>
          <p:cNvPr id="16" name="Shape 12">
            <a:extLst xmlns:a="http://schemas.openxmlformats.org/drawingml/2006/main">
              <a:ext uri="{FF2B5EF4-FFF2-40B4-BE49-F238E27FC236}">
                <a16:creationId xmlns:a16="http://schemas.microsoft.com/office/drawing/2014/main" id="{74295D02-A49C-47EA-971E-C9617DE2E4E8}"/>
              </a:ext>
            </a:extLst>
          </p:cNvPr>
          <p:cNvSpPr>
            <a:spLocks xmlns:a="http://schemas.openxmlformats.org/drawingml/2006/main" noGrp="1"/>
          </p:cNvSpPr>
          <p:nvPr/>
        </p:nvSpPr>
        <p:spPr>
          <a:xfrm xmlns:a="http://schemas.openxmlformats.org/drawingml/2006/main">
            <a:off x="4603750" y="2222500"/>
            <a:ext cx="2984500" cy="2476500"/>
          </a:xfrm>
          <a:prstGeom xmlns:a="http://schemas.openxmlformats.org/drawingml/2006/main" prst="rect">
            <a:avLst/>
          </a:prstGeom>
          <a:solidFill xmlns:a="http://schemas.openxmlformats.org/drawingml/2006/main">
            <a:srgbClr val="F4F4F4"/>
          </a:solidFill>
          <a:effectLst xmlns:a="http://schemas.openxmlformats.org/drawingml/2006/main">
            <a:outerShdw blurRad="50800" dist="25400" dir="5400000" algn="bl" rotWithShape="0">
              <a:srgbClr val="000000">
                <a:alpha val="18000"/>
              </a:srgbClr>
            </a:outerShdw>
          </a:effectLst>
        </p:spPr>
        <p:txBody>
          <a:bodyPr xmlns:a="http://schemas.openxmlformats.org/drawingml/2006/main"/>
          <a:lstStyle xmlns:a="http://schemas.openxmlformats.org/drawingml/2006/main"/>
          <a:p xmlns:a="http://schemas.openxmlformats.org/drawingml/2006/main">
            <a:endParaRPr/>
          </a:p>
        </p:txBody>
      </p:sp>
      <p:sp>
        <p:nvSpPr>
          <p:cNvPr id="17" name="Shape 13">
            <a:extLst xmlns:a="http://schemas.openxmlformats.org/drawingml/2006/main">
              <a:ext uri="{FF2B5EF4-FFF2-40B4-BE49-F238E27FC236}">
                <a16:creationId xmlns:a16="http://schemas.microsoft.com/office/drawing/2014/main" id="{F0BB2038-CEFE-4CB7-BC01-1FF92637A7C1}"/>
              </a:ext>
            </a:extLst>
          </p:cNvPr>
          <p:cNvSpPr>
            <a:spLocks xmlns:a="http://schemas.openxmlformats.org/drawingml/2006/main" noGrp="1"/>
          </p:cNvSpPr>
          <p:nvPr/>
        </p:nvSpPr>
        <p:spPr>
          <a:xfrm xmlns:a="http://schemas.openxmlformats.org/drawingml/2006/main">
            <a:off x="4603750" y="2222500"/>
            <a:ext cx="2984500" cy="50800"/>
          </a:xfrm>
          <a:prstGeom xmlns:a="http://schemas.openxmlformats.org/drawingml/2006/main" prst="rect">
            <a:avLst/>
          </a:prstGeom>
          <a:solidFill xmlns:a="http://schemas.openxmlformats.org/drawingml/2006/main">
            <a:srgbClr val="DA1884"/>
          </a:solidFill>
        </p:spPr>
        <p:txBody>
          <a:bodyPr xmlns:a="http://schemas.openxmlformats.org/drawingml/2006/main"/>
          <a:lstStyle xmlns:a="http://schemas.openxmlformats.org/drawingml/2006/main"/>
          <a:p xmlns:a="http://schemas.openxmlformats.org/drawingml/2006/main">
            <a:endParaRPr/>
          </a:p>
        </p:txBody>
      </p:sp>
      <p:sp>
        <p:nvSpPr>
          <p:cNvPr id="18" name="Text 14">
            <a:extLst xmlns:a="http://schemas.openxmlformats.org/drawingml/2006/main">
              <a:ext uri="{FF2B5EF4-FFF2-40B4-BE49-F238E27FC236}">
                <a16:creationId xmlns:a16="http://schemas.microsoft.com/office/drawing/2014/main" id="{E2F0A529-7534-4DE6-850E-B57348F1C6F4}"/>
              </a:ext>
            </a:extLst>
          </p:cNvPr>
          <p:cNvSpPr>
            <a:spLocks xmlns:a="http://schemas.openxmlformats.org/drawingml/2006/main" noGrp="1"/>
          </p:cNvSpPr>
          <p:nvPr/>
        </p:nvSpPr>
        <p:spPr>
          <a:xfrm xmlns:a="http://schemas.openxmlformats.org/drawingml/2006/main">
            <a:off x="4832350" y="2451100"/>
            <a:ext cx="2540000" cy="2159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1200" b="1">
                <a:solidFill>
                  <a:srgbClr val="DA1884"/>
                </a:solidFill>
                <a:latin typeface="Arial"/>
                <a:ea typeface="Arial"/>
                <a:cs typeface="Arial"/>
              </a:rPr>
              <a:t>FILMS</a:t>
            </a:r>
            <a:endParaRPr sz="1200"/>
          </a:p>
        </p:txBody>
      </p:sp>
      <p:sp>
        <p:nvSpPr>
          <p:cNvPr id="19" name="Text 15">
            <a:extLst xmlns:a="http://schemas.openxmlformats.org/drawingml/2006/main">
              <a:ext uri="{FF2B5EF4-FFF2-40B4-BE49-F238E27FC236}">
                <a16:creationId xmlns:a16="http://schemas.microsoft.com/office/drawing/2014/main" id="{9BC84640-9AF7-4250-9240-84CCF8F10D5A}"/>
              </a:ext>
            </a:extLst>
          </p:cNvPr>
          <p:cNvSpPr>
            <a:spLocks xmlns:a="http://schemas.openxmlformats.org/drawingml/2006/main" noGrp="1"/>
          </p:cNvSpPr>
          <p:nvPr/>
        </p:nvSpPr>
        <p:spPr>
          <a:xfrm xmlns:a="http://schemas.openxmlformats.org/drawingml/2006/main">
            <a:off x="4832350" y="2730500"/>
            <a:ext cx="2540000" cy="825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6000" b="1">
                <a:solidFill>
                  <a:srgbClr val="141414"/>
                </a:solidFill>
                <a:latin typeface="Arial"/>
                <a:ea typeface="Arial"/>
                <a:cs typeface="Arial"/>
              </a:rPr>
              <a:t>6</a:t>
            </a:r>
            <a:endParaRPr sz="6000"/>
          </a:p>
        </p:txBody>
      </p:sp>
      <p:sp>
        <p:nvSpPr>
          <p:cNvPr id="20" name="Text 16">
            <a:extLst xmlns:a="http://schemas.openxmlformats.org/drawingml/2006/main">
              <a:ext uri="{FF2B5EF4-FFF2-40B4-BE49-F238E27FC236}">
                <a16:creationId xmlns:a16="http://schemas.microsoft.com/office/drawing/2014/main" id="{4E466ABB-9C09-4A37-9321-279565E2D0B5}"/>
              </a:ext>
            </a:extLst>
          </p:cNvPr>
          <p:cNvSpPr>
            <a:spLocks xmlns:a="http://schemas.openxmlformats.org/drawingml/2006/main" noGrp="1"/>
          </p:cNvSpPr>
          <p:nvPr/>
        </p:nvSpPr>
        <p:spPr>
          <a:xfrm xmlns:a="http://schemas.openxmlformats.org/drawingml/2006/main">
            <a:off x="4832350" y="3746500"/>
            <a:ext cx="2540000" cy="762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0000"/>
              </a:lnSpc>
              <a:buNone/>
            </a:pPr>
            <a:r>
              <a:rPr sz="1200">
                <a:solidFill>
                  <a:srgbClr val="333333"/>
                </a:solidFill>
                <a:latin typeface="Arial"/>
                <a:ea typeface="Arial"/>
                <a:cs typeface="Arial"/>
              </a:rPr>
              <a:t>A New Hope through Revenge of the Sith.</a:t>
            </a:r>
            <a:endParaRPr sz="1200"/>
          </a:p>
        </p:txBody>
      </p:sp>
      <p:sp>
        <p:nvSpPr>
          <p:cNvPr id="21" name="Shape 17">
            <a:extLst xmlns:a="http://schemas.openxmlformats.org/drawingml/2006/main">
              <a:ext uri="{FF2B5EF4-FFF2-40B4-BE49-F238E27FC236}">
                <a16:creationId xmlns:a16="http://schemas.microsoft.com/office/drawing/2014/main" id="{FBC5A470-C9D6-457C-8D4F-A21E08B8638C}"/>
              </a:ext>
            </a:extLst>
          </p:cNvPr>
          <p:cNvSpPr>
            <a:spLocks xmlns:a="http://schemas.openxmlformats.org/drawingml/2006/main" noGrp="1"/>
          </p:cNvSpPr>
          <p:nvPr/>
        </p:nvSpPr>
        <p:spPr>
          <a:xfrm xmlns:a="http://schemas.openxmlformats.org/drawingml/2006/main">
            <a:off x="8699500" y="2222500"/>
            <a:ext cx="2984500" cy="2476500"/>
          </a:xfrm>
          <a:prstGeom xmlns:a="http://schemas.openxmlformats.org/drawingml/2006/main" prst="rect">
            <a:avLst/>
          </a:prstGeom>
          <a:solidFill xmlns:a="http://schemas.openxmlformats.org/drawingml/2006/main">
            <a:srgbClr val="F4F4F4"/>
          </a:solidFill>
          <a:effectLst xmlns:a="http://schemas.openxmlformats.org/drawingml/2006/main">
            <a:outerShdw blurRad="50800" dist="25400" dir="5400000" algn="bl" rotWithShape="0">
              <a:srgbClr val="000000">
                <a:alpha val="18000"/>
              </a:srgbClr>
            </a:outerShdw>
          </a:effectLst>
        </p:spPr>
        <p:txBody>
          <a:bodyPr xmlns:a="http://schemas.openxmlformats.org/drawingml/2006/main"/>
          <a:lstStyle xmlns:a="http://schemas.openxmlformats.org/drawingml/2006/main"/>
          <a:p xmlns:a="http://schemas.openxmlformats.org/drawingml/2006/main">
            <a:endParaRPr/>
          </a:p>
        </p:txBody>
      </p:sp>
      <p:sp>
        <p:nvSpPr>
          <p:cNvPr id="22" name="Shape 18">
            <a:extLst xmlns:a="http://schemas.openxmlformats.org/drawingml/2006/main">
              <a:ext uri="{FF2B5EF4-FFF2-40B4-BE49-F238E27FC236}">
                <a16:creationId xmlns:a16="http://schemas.microsoft.com/office/drawing/2014/main" id="{C95635AB-7F21-42A2-B8D1-B63DC396988E}"/>
              </a:ext>
            </a:extLst>
          </p:cNvPr>
          <p:cNvSpPr>
            <a:spLocks xmlns:a="http://schemas.openxmlformats.org/drawingml/2006/main" noGrp="1"/>
          </p:cNvSpPr>
          <p:nvPr/>
        </p:nvSpPr>
        <p:spPr>
          <a:xfrm xmlns:a="http://schemas.openxmlformats.org/drawingml/2006/main">
            <a:off x="8699500" y="2222500"/>
            <a:ext cx="2984500" cy="50800"/>
          </a:xfrm>
          <a:prstGeom xmlns:a="http://schemas.openxmlformats.org/drawingml/2006/main" prst="rect">
            <a:avLst/>
          </a:prstGeom>
          <a:solidFill xmlns:a="http://schemas.openxmlformats.org/drawingml/2006/main">
            <a:srgbClr val="DA1884"/>
          </a:solidFill>
        </p:spPr>
        <p:txBody>
          <a:bodyPr xmlns:a="http://schemas.openxmlformats.org/drawingml/2006/main"/>
          <a:lstStyle xmlns:a="http://schemas.openxmlformats.org/drawingml/2006/main"/>
          <a:p xmlns:a="http://schemas.openxmlformats.org/drawingml/2006/main">
            <a:endParaRPr/>
          </a:p>
        </p:txBody>
      </p:sp>
      <p:sp>
        <p:nvSpPr>
          <p:cNvPr id="23" name="Text 19">
            <a:extLst xmlns:a="http://schemas.openxmlformats.org/drawingml/2006/main">
              <a:ext uri="{FF2B5EF4-FFF2-40B4-BE49-F238E27FC236}">
                <a16:creationId xmlns:a16="http://schemas.microsoft.com/office/drawing/2014/main" id="{7734A06F-0D46-4579-9CA7-2DA109824354}"/>
              </a:ext>
            </a:extLst>
          </p:cNvPr>
          <p:cNvSpPr>
            <a:spLocks xmlns:a="http://schemas.openxmlformats.org/drawingml/2006/main" noGrp="1"/>
          </p:cNvSpPr>
          <p:nvPr/>
        </p:nvSpPr>
        <p:spPr>
          <a:xfrm xmlns:a="http://schemas.openxmlformats.org/drawingml/2006/main">
            <a:off x="8928100" y="2451100"/>
            <a:ext cx="2540000" cy="2159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1200" b="1">
                <a:solidFill>
                  <a:srgbClr val="DA1884"/>
                </a:solidFill>
                <a:latin typeface="Arial"/>
                <a:ea typeface="Arial"/>
                <a:cs typeface="Arial"/>
              </a:rPr>
              <a:t>CHARACTERS</a:t>
            </a:r>
            <a:endParaRPr sz="1200"/>
          </a:p>
        </p:txBody>
      </p:sp>
      <p:sp>
        <p:nvSpPr>
          <p:cNvPr id="24" name="Text 20">
            <a:extLst xmlns:a="http://schemas.openxmlformats.org/drawingml/2006/main">
              <a:ext uri="{FF2B5EF4-FFF2-40B4-BE49-F238E27FC236}">
                <a16:creationId xmlns:a16="http://schemas.microsoft.com/office/drawing/2014/main" id="{5A050C50-252F-40CA-8046-E696159F4AA6}"/>
              </a:ext>
            </a:extLst>
          </p:cNvPr>
          <p:cNvSpPr>
            <a:spLocks xmlns:a="http://schemas.openxmlformats.org/drawingml/2006/main" noGrp="1"/>
          </p:cNvSpPr>
          <p:nvPr/>
        </p:nvSpPr>
        <p:spPr>
          <a:xfrm xmlns:a="http://schemas.openxmlformats.org/drawingml/2006/main">
            <a:off x="8928100" y="2730500"/>
            <a:ext cx="2540000" cy="825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6000" b="1">
                <a:solidFill>
                  <a:srgbClr val="141414"/>
                </a:solidFill>
                <a:latin typeface="Arial"/>
                <a:ea typeface="Arial"/>
                <a:cs typeface="Arial"/>
              </a:rPr>
              <a:t>18</a:t>
            </a:r>
            <a:endParaRPr sz="6000"/>
          </a:p>
        </p:txBody>
      </p:sp>
      <p:sp>
        <p:nvSpPr>
          <p:cNvPr id="25" name="Text 21">
            <a:extLst xmlns:a="http://schemas.openxmlformats.org/drawingml/2006/main">
              <a:ext uri="{FF2B5EF4-FFF2-40B4-BE49-F238E27FC236}">
                <a16:creationId xmlns:a16="http://schemas.microsoft.com/office/drawing/2014/main" id="{6C48B48B-58CA-43BE-A002-6BE923DB93BF}"/>
              </a:ext>
            </a:extLst>
          </p:cNvPr>
          <p:cNvSpPr>
            <a:spLocks xmlns:a="http://schemas.openxmlformats.org/drawingml/2006/main" noGrp="1"/>
          </p:cNvSpPr>
          <p:nvPr/>
        </p:nvSpPr>
        <p:spPr>
          <a:xfrm xmlns:a="http://schemas.openxmlformats.org/drawingml/2006/main">
            <a:off x="8928100" y="3746500"/>
            <a:ext cx="2540000" cy="762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0000"/>
              </a:lnSpc>
              <a:buNone/>
            </a:pPr>
            <a:r>
              <a:rPr sz="1200">
                <a:solidFill>
                  <a:srgbClr val="333333"/>
                </a:solidFill>
                <a:latin typeface="Arial"/>
                <a:ea typeface="Arial"/>
                <a:cs typeface="Arial"/>
              </a:rPr>
              <a:t>Luke Skywalker, Han Solo, Leia Organa and Chewbacca. A curated selection.</a:t>
            </a:r>
            <a:endParaRPr sz="1200"/>
          </a:p>
        </p:txBody>
      </p:sp>
      <p:sp>
        <p:nvSpPr>
          <p:cNvPr id="26" name="Text 22">
            <a:extLst xmlns:a="http://schemas.openxmlformats.org/drawingml/2006/main">
              <a:ext uri="{FF2B5EF4-FFF2-40B4-BE49-F238E27FC236}">
                <a16:creationId xmlns:a16="http://schemas.microsoft.com/office/drawing/2014/main" id="{3707F1BD-322E-44EC-8C33-BD61B5AA21CD}"/>
              </a:ext>
            </a:extLst>
          </p:cNvPr>
          <p:cNvSpPr>
            <a:spLocks xmlns:a="http://schemas.openxmlformats.org/drawingml/2006/main" noGrp="1"/>
          </p:cNvSpPr>
          <p:nvPr/>
        </p:nvSpPr>
        <p:spPr>
          <a:xfrm xmlns:a="http://schemas.openxmlformats.org/drawingml/2006/main">
            <a:off x="3492500" y="3111500"/>
            <a:ext cx="1111250" cy="2159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110000"/>
              </a:lnSpc>
              <a:buNone/>
            </a:pPr>
            <a:r>
              <a:rPr sz="1100" b="1">
                <a:solidFill>
                  <a:srgbClr val="6B6B6B"/>
                </a:solidFill>
                <a:latin typeface="Arial"/>
                <a:ea typeface="Arial"/>
                <a:cs typeface="Arial"/>
              </a:rPr>
              <a:t>many-to-many</a:t>
            </a:r>
            <a:endParaRPr sz="1100"/>
          </a:p>
        </p:txBody>
      </p:sp>
      <p:sp>
        <p:nvSpPr>
          <p:cNvPr id="27" name="Shape 23">
            <a:extLst xmlns:a="http://schemas.openxmlformats.org/drawingml/2006/main">
              <a:ext uri="{FF2B5EF4-FFF2-40B4-BE49-F238E27FC236}">
                <a16:creationId xmlns:a16="http://schemas.microsoft.com/office/drawing/2014/main" id="{C8782F7B-0DA8-4A3D-B65E-FF423AA3EC3C}"/>
              </a:ext>
            </a:extLst>
          </p:cNvPr>
          <p:cNvSpPr>
            <a:spLocks xmlns:a="http://schemas.openxmlformats.org/drawingml/2006/main" noGrp="1"/>
          </p:cNvSpPr>
          <p:nvPr/>
        </p:nvSpPr>
        <p:spPr>
          <a:xfrm xmlns:a="http://schemas.openxmlformats.org/drawingml/2006/main">
            <a:off x="3568700" y="3403600"/>
            <a:ext cx="457200" cy="203200"/>
          </a:xfrm>
          <a:prstGeom xmlns:a="http://schemas.openxmlformats.org/drawingml/2006/main" prst="leftArrow">
            <a:avLst/>
          </a:prstGeom>
          <a:solidFill xmlns:a="http://schemas.openxmlformats.org/drawingml/2006/main">
            <a:srgbClr val="DA1884"/>
          </a:solidFill>
        </p:spPr>
        <p:txBody>
          <a:bodyPr xmlns:a="http://schemas.openxmlformats.org/drawingml/2006/main"/>
          <a:lstStyle xmlns:a="http://schemas.openxmlformats.org/drawingml/2006/main"/>
          <a:p xmlns:a="http://schemas.openxmlformats.org/drawingml/2006/main">
            <a:endParaRPr/>
          </a:p>
        </p:txBody>
      </p:sp>
      <p:sp>
        <p:nvSpPr>
          <p:cNvPr id="28" name="Shape 24">
            <a:extLst xmlns:a="http://schemas.openxmlformats.org/drawingml/2006/main">
              <a:ext uri="{FF2B5EF4-FFF2-40B4-BE49-F238E27FC236}">
                <a16:creationId xmlns:a16="http://schemas.microsoft.com/office/drawing/2014/main" id="{402E3D21-253D-43F2-B756-E854E3999CEA}"/>
              </a:ext>
            </a:extLst>
          </p:cNvPr>
          <p:cNvSpPr>
            <a:spLocks xmlns:a="http://schemas.openxmlformats.org/drawingml/2006/main" noGrp="1"/>
          </p:cNvSpPr>
          <p:nvPr/>
        </p:nvSpPr>
        <p:spPr>
          <a:xfrm xmlns:a="http://schemas.openxmlformats.org/drawingml/2006/main">
            <a:off x="4064000" y="3403600"/>
            <a:ext cx="457200" cy="203200"/>
          </a:xfrm>
          <a:prstGeom xmlns:a="http://schemas.openxmlformats.org/drawingml/2006/main" prst="rightArrow">
            <a:avLst/>
          </a:prstGeom>
          <a:solidFill xmlns:a="http://schemas.openxmlformats.org/drawingml/2006/main">
            <a:srgbClr val="DA1884"/>
          </a:solidFill>
        </p:spPr>
        <p:txBody>
          <a:bodyPr xmlns:a="http://schemas.openxmlformats.org/drawingml/2006/main"/>
          <a:lstStyle xmlns:a="http://schemas.openxmlformats.org/drawingml/2006/main"/>
          <a:p xmlns:a="http://schemas.openxmlformats.org/drawingml/2006/main">
            <a:endParaRPr/>
          </a:p>
        </p:txBody>
      </p:sp>
      <p:sp>
        <p:nvSpPr>
          <p:cNvPr id="29" name="Text 25">
            <a:extLst xmlns:a="http://schemas.openxmlformats.org/drawingml/2006/main">
              <a:ext uri="{FF2B5EF4-FFF2-40B4-BE49-F238E27FC236}">
                <a16:creationId xmlns:a16="http://schemas.microsoft.com/office/drawing/2014/main" id="{8B16A9E8-6957-4709-885C-882E6D0A6382}"/>
              </a:ext>
            </a:extLst>
          </p:cNvPr>
          <p:cNvSpPr>
            <a:spLocks xmlns:a="http://schemas.openxmlformats.org/drawingml/2006/main" noGrp="1"/>
          </p:cNvSpPr>
          <p:nvPr/>
        </p:nvSpPr>
        <p:spPr>
          <a:xfrm xmlns:a="http://schemas.openxmlformats.org/drawingml/2006/main">
            <a:off x="7588250" y="3111500"/>
            <a:ext cx="1111250" cy="2159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110000"/>
              </a:lnSpc>
              <a:buNone/>
            </a:pPr>
            <a:r>
              <a:rPr sz="1100" b="1">
                <a:solidFill>
                  <a:srgbClr val="6B6B6B"/>
                </a:solidFill>
                <a:latin typeface="Arial"/>
                <a:ea typeface="Arial"/>
                <a:cs typeface="Arial"/>
              </a:rPr>
              <a:t>many-to-many</a:t>
            </a:r>
            <a:endParaRPr sz="1100"/>
          </a:p>
        </p:txBody>
      </p:sp>
      <p:sp>
        <p:nvSpPr>
          <p:cNvPr id="30" name="Shape 26">
            <a:extLst xmlns:a="http://schemas.openxmlformats.org/drawingml/2006/main">
              <a:ext uri="{FF2B5EF4-FFF2-40B4-BE49-F238E27FC236}">
                <a16:creationId xmlns:a16="http://schemas.microsoft.com/office/drawing/2014/main" id="{BAEA76F1-59AE-4937-BBC3-07F998FA439D}"/>
              </a:ext>
            </a:extLst>
          </p:cNvPr>
          <p:cNvSpPr>
            <a:spLocks xmlns:a="http://schemas.openxmlformats.org/drawingml/2006/main" noGrp="1"/>
          </p:cNvSpPr>
          <p:nvPr/>
        </p:nvSpPr>
        <p:spPr>
          <a:xfrm xmlns:a="http://schemas.openxmlformats.org/drawingml/2006/main">
            <a:off x="7664450" y="3403600"/>
            <a:ext cx="457200" cy="203200"/>
          </a:xfrm>
          <a:prstGeom xmlns:a="http://schemas.openxmlformats.org/drawingml/2006/main" prst="leftArrow">
            <a:avLst/>
          </a:prstGeom>
          <a:solidFill xmlns:a="http://schemas.openxmlformats.org/drawingml/2006/main">
            <a:srgbClr val="DA1884"/>
          </a:solidFill>
        </p:spPr>
        <p:txBody>
          <a:bodyPr xmlns:a="http://schemas.openxmlformats.org/drawingml/2006/main"/>
          <a:lstStyle xmlns:a="http://schemas.openxmlformats.org/drawingml/2006/main"/>
          <a:p xmlns:a="http://schemas.openxmlformats.org/drawingml/2006/main">
            <a:endParaRPr/>
          </a:p>
        </p:txBody>
      </p:sp>
      <p:sp>
        <p:nvSpPr>
          <p:cNvPr id="31" name="Shape 27">
            <a:extLst xmlns:a="http://schemas.openxmlformats.org/drawingml/2006/main">
              <a:ext uri="{FF2B5EF4-FFF2-40B4-BE49-F238E27FC236}">
                <a16:creationId xmlns:a16="http://schemas.microsoft.com/office/drawing/2014/main" id="{F8140335-9A57-47D9-8E0A-A23E3C4673FE}"/>
              </a:ext>
            </a:extLst>
          </p:cNvPr>
          <p:cNvSpPr>
            <a:spLocks xmlns:a="http://schemas.openxmlformats.org/drawingml/2006/main" noGrp="1"/>
          </p:cNvSpPr>
          <p:nvPr/>
        </p:nvSpPr>
        <p:spPr>
          <a:xfrm xmlns:a="http://schemas.openxmlformats.org/drawingml/2006/main">
            <a:off x="8159750" y="3403600"/>
            <a:ext cx="457200" cy="203200"/>
          </a:xfrm>
          <a:prstGeom xmlns:a="http://schemas.openxmlformats.org/drawingml/2006/main" prst="rightArrow">
            <a:avLst/>
          </a:prstGeom>
          <a:solidFill xmlns:a="http://schemas.openxmlformats.org/drawingml/2006/main">
            <a:srgbClr val="DA1884"/>
          </a:solidFill>
        </p:spPr>
        <p:txBody>
          <a:bodyPr xmlns:a="http://schemas.openxmlformats.org/drawingml/2006/main"/>
          <a:lstStyle xmlns:a="http://schemas.openxmlformats.org/drawingml/2006/main"/>
          <a:p xmlns:a="http://schemas.openxmlformats.org/drawingml/2006/main">
            <a:endParaRPr/>
          </a:p>
        </p:txBody>
      </p:sp>
      <p:sp>
        <p:nvSpPr>
          <p:cNvPr id="32" name="Shape 28">
            <a:extLst xmlns:a="http://schemas.openxmlformats.org/drawingml/2006/main">
              <a:ext uri="{FF2B5EF4-FFF2-40B4-BE49-F238E27FC236}">
                <a16:creationId xmlns:a16="http://schemas.microsoft.com/office/drawing/2014/main" id="{EBF85EEB-BADA-42D9-B7DA-E3F527CF5F81}"/>
              </a:ext>
            </a:extLst>
          </p:cNvPr>
          <p:cNvSpPr>
            <a:spLocks xmlns:a="http://schemas.openxmlformats.org/drawingml/2006/main" noGrp="1"/>
          </p:cNvSpPr>
          <p:nvPr/>
        </p:nvSpPr>
        <p:spPr>
          <a:xfrm xmlns:a="http://schemas.openxmlformats.org/drawingml/2006/main">
            <a:off x="508000" y="5016500"/>
            <a:ext cx="11176000" cy="635000"/>
          </a:xfrm>
          <a:prstGeom xmlns:a="http://schemas.openxmlformats.org/drawingml/2006/main" prst="rect">
            <a:avLst/>
          </a:prstGeom>
          <a:solidFill xmlns:a="http://schemas.openxmlformats.org/drawingml/2006/main">
            <a:srgbClr val="F4F4F4"/>
          </a:solidFill>
          <a:effectLst xmlns:a="http://schemas.openxmlformats.org/drawingml/2006/main">
            <a:outerShdw blurRad="50800" dist="25400" dir="5400000" algn="bl" rotWithShape="0">
              <a:srgbClr val="000000">
                <a:alpha val="18000"/>
              </a:srgbClr>
            </a:outerShdw>
          </a:effectLst>
        </p:spPr>
        <p:txBody>
          <a:bodyPr xmlns:a="http://schemas.openxmlformats.org/drawingml/2006/main"/>
          <a:lstStyle xmlns:a="http://schemas.openxmlformats.org/drawingml/2006/main"/>
          <a:p xmlns:a="http://schemas.openxmlformats.org/drawingml/2006/main">
            <a:endParaRPr/>
          </a:p>
        </p:txBody>
      </p:sp>
      <p:sp>
        <p:nvSpPr>
          <p:cNvPr id="33" name="Shape 29">
            <a:extLst xmlns:a="http://schemas.openxmlformats.org/drawingml/2006/main">
              <a:ext uri="{FF2B5EF4-FFF2-40B4-BE49-F238E27FC236}">
                <a16:creationId xmlns:a16="http://schemas.microsoft.com/office/drawing/2014/main" id="{B7F92C77-1972-443B-8A2C-E37E128CA30D}"/>
              </a:ext>
            </a:extLst>
          </p:cNvPr>
          <p:cNvSpPr>
            <a:spLocks xmlns:a="http://schemas.openxmlformats.org/drawingml/2006/main" noGrp="1"/>
          </p:cNvSpPr>
          <p:nvPr/>
        </p:nvSpPr>
        <p:spPr>
          <a:xfrm xmlns:a="http://schemas.openxmlformats.org/drawingml/2006/main">
            <a:off x="508000" y="5016500"/>
            <a:ext cx="76200" cy="635000"/>
          </a:xfrm>
          <a:prstGeom xmlns:a="http://schemas.openxmlformats.org/drawingml/2006/main" prst="rect">
            <a:avLst/>
          </a:prstGeom>
          <a:solidFill xmlns:a="http://schemas.openxmlformats.org/drawingml/2006/main">
            <a:srgbClr val="DA1884"/>
          </a:solidFill>
        </p:spPr>
        <p:txBody>
          <a:bodyPr xmlns:a="http://schemas.openxmlformats.org/drawingml/2006/main"/>
          <a:lstStyle xmlns:a="http://schemas.openxmlformats.org/drawingml/2006/main"/>
          <a:p xmlns:a="http://schemas.openxmlformats.org/drawingml/2006/main">
            <a:endParaRPr/>
          </a:p>
        </p:txBody>
      </p:sp>
      <p:sp>
        <p:nvSpPr>
          <p:cNvPr id="34" name="Text 30">
            <a:extLst xmlns:a="http://schemas.openxmlformats.org/drawingml/2006/main">
              <a:ext uri="{FF2B5EF4-FFF2-40B4-BE49-F238E27FC236}">
                <a16:creationId xmlns:a16="http://schemas.microsoft.com/office/drawing/2014/main" id="{965D368E-467A-42BF-AE9F-3AD9F860C097}"/>
              </a:ext>
            </a:extLst>
          </p:cNvPr>
          <p:cNvSpPr>
            <a:spLocks xmlns:a="http://schemas.openxmlformats.org/drawingml/2006/main" noGrp="1"/>
          </p:cNvSpPr>
          <p:nvPr/>
        </p:nvSpPr>
        <p:spPr>
          <a:xfrm xmlns:a="http://schemas.openxmlformats.org/drawingml/2006/main">
            <a:off x="787400" y="5016500"/>
            <a:ext cx="10668000" cy="635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200" b="1">
                <a:solidFill>
                  <a:srgbClr val="141414"/>
                </a:solidFill>
                <a:latin typeface="Arial"/>
                <a:ea typeface="Arial"/>
                <a:cs typeface="Arial"/>
              </a:rPr>
              <a:t>One immutable, in-memory catalog.  </a:t>
            </a:r>
            <a:r>
              <a:rPr sz="1200">
                <a:solidFill>
                  <a:srgbClr val="141414"/>
                </a:solidFill>
                <a:latin typeface="Arial"/>
                <a:ea typeface="Arial"/>
                <a:cs typeface="Arial"/>
              </a:rPr>
              <a:t>REST, GraphQL and gRPC all read the same seeded source. There is no database to configure, and all three protocols see identical data.</a:t>
            </a:r>
            <a:endParaRPr sz="1200"/>
          </a:p>
        </p:txBody>
      </p:sp>
    </p:spTree>
    <p:extLst>
      <p:ext uri="{BB962C8B-B14F-4D97-AF65-F5344CB8AC3E}">
        <p14:creationId xmlns:p14="http://schemas.microsoft.com/office/powerpoint/2010/main" val="119278090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B04F48EB-092C-40C3-AC6D-D94219CED30A}"/>
              </a:ext>
            </a:extLst>
          </p:cNvPr>
          <p:cNvPicPr>
            <a:picLocks xmlns:a="http://schemas.openxmlformats.org/drawingml/2006/main" noChangeAspect="1"/>
          </p:cNvPicPr>
          <p:nvPr/>
        </p:nvPicPr>
        <p:blipFill>
          <a:blip xmlns:r="http://schemas.openxmlformats.org/officeDocument/2006/relationships" xmlns:a="http://schemas.openxmlformats.org/drawingml/2006/main" r:embed="Rcbcdfc3ccd444fba"/>
          <a:stretch xmlns:a="http://schemas.openxmlformats.org/drawingml/2006/main">
            <a:fillRect l="0" t="0" r="0" b="0"/>
          </a:stretch>
        </p:blipFill>
        <p:spPr>
          <a:xfrm xmlns:a="http://schemas.openxmlformats.org/drawingml/2006/main">
            <a:off x="508000" y="152400"/>
            <a:ext cx="990600" cy="40640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DD58D0A6-301E-4897-8F0E-7C5A831A987A}"/>
              </a:ext>
            </a:extLst>
          </p:cNvPr>
          <p:cNvSpPr>
            <a:spLocks xmlns:a="http://schemas.openxmlformats.org/drawingml/2006/main" noGrp="1"/>
          </p:cNvSpPr>
          <p:nvPr/>
        </p:nvSpPr>
        <p:spPr>
          <a:xfrm xmlns:a="http://schemas.openxmlformats.org/drawingml/2006/main">
            <a:off x="3556000" y="406400"/>
            <a:ext cx="5080000" cy="190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110000"/>
              </a:lnSpc>
              <a:buNone/>
            </a:pPr>
            <a:r>
              <a:rPr sz="1000">
                <a:solidFill>
                  <a:srgbClr val="6B6B6B"/>
                </a:solidFill>
                <a:latin typeface="Arial"/>
                <a:ea typeface="Arial"/>
                <a:cs typeface="Arial"/>
              </a:rPr>
              <a:t>Protocol Studio  —  REST · GraphQL · gRPC</a:t>
            </a:r>
            <a:endParaRPr sz="1000"/>
          </a:p>
        </p:txBody>
      </p:sp>
      <p:sp>
        <p:nvSpPr>
          <p:cNvPr id="4" name="Text 1">
            <a:extLst xmlns:a="http://schemas.openxmlformats.org/drawingml/2006/main">
              <a:ext uri="{FF2B5EF4-FFF2-40B4-BE49-F238E27FC236}">
                <a16:creationId xmlns:a16="http://schemas.microsoft.com/office/drawing/2014/main" id="{5CD1FD78-A4A3-45EE-926B-40EFFBC29D98}"/>
              </a:ext>
            </a:extLst>
          </p:cNvPr>
          <p:cNvSpPr>
            <a:spLocks xmlns:a="http://schemas.openxmlformats.org/drawingml/2006/main" noGrp="1"/>
          </p:cNvSpPr>
          <p:nvPr/>
        </p:nvSpPr>
        <p:spPr>
          <a:xfrm xmlns:a="http://schemas.openxmlformats.org/drawingml/2006/main">
            <a:off x="6350000" y="406400"/>
            <a:ext cx="5334000" cy="190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ct val="110000"/>
              </a:lnSpc>
              <a:buNone/>
            </a:pPr>
            <a:r>
              <a:rPr sz="1000" b="1">
                <a:solidFill>
                  <a:srgbClr val="DA1884"/>
                </a:solidFill>
                <a:latin typeface="Arial"/>
                <a:ea typeface="Arial"/>
                <a:cs typeface="Arial"/>
              </a:rPr>
              <a:t>SECTION 02</a:t>
            </a:r>
            <a:endParaRPr sz="1000"/>
          </a:p>
        </p:txBody>
      </p:sp>
      <p:sp>
        <p:nvSpPr>
          <p:cNvPr id="5" name="Text 2">
            <a:extLst xmlns:a="http://schemas.openxmlformats.org/drawingml/2006/main">
              <a:ext uri="{FF2B5EF4-FFF2-40B4-BE49-F238E27FC236}">
                <a16:creationId xmlns:a16="http://schemas.microsoft.com/office/drawing/2014/main" id="{1AF4AC3E-502F-486A-AE2A-4A07A7D496C8}"/>
              </a:ext>
            </a:extLst>
          </p:cNvPr>
          <p:cNvSpPr>
            <a:spLocks xmlns:a="http://schemas.openxmlformats.org/drawingml/2006/main" noGrp="1"/>
          </p:cNvSpPr>
          <p:nvPr/>
        </p:nvSpPr>
        <p:spPr>
          <a:xfrm xmlns:a="http://schemas.openxmlformats.org/drawingml/2006/main">
            <a:off x="508000" y="6578600"/>
            <a:ext cx="8890000" cy="177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900">
                <a:solidFill>
                  <a:srgbClr val="9E9E9E"/>
                </a:solidFill>
                <a:latin typeface="Arial"/>
                <a:ea typeface="Arial"/>
                <a:cs typeface="Arial"/>
              </a:rPr>
              <a:t>Insight Proprietary &amp; Confidential.  Do Not Copy or Distribute.  © 2026 Insight.  All Rights Reserved.</a:t>
            </a:r>
            <a:endParaRPr sz="900"/>
          </a:p>
        </p:txBody>
      </p:sp>
      <p:sp>
        <p:nvSpPr>
          <p:cNvPr id="6" name="Text 3">
            <a:extLst xmlns:a="http://schemas.openxmlformats.org/drawingml/2006/main">
              <a:ext uri="{FF2B5EF4-FFF2-40B4-BE49-F238E27FC236}">
                <a16:creationId xmlns:a16="http://schemas.microsoft.com/office/drawing/2014/main" id="{5E331B93-4B91-472D-BC04-0D4E0E364568}"/>
              </a:ext>
            </a:extLst>
          </p:cNvPr>
          <p:cNvSpPr>
            <a:spLocks xmlns:a="http://schemas.openxmlformats.org/drawingml/2006/main" noGrp="1"/>
          </p:cNvSpPr>
          <p:nvPr/>
        </p:nvSpPr>
        <p:spPr>
          <a:xfrm xmlns:a="http://schemas.openxmlformats.org/drawingml/2006/main">
            <a:off x="10922000" y="6578600"/>
            <a:ext cx="762000" cy="177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ct val="110000"/>
              </a:lnSpc>
              <a:buNone/>
            </a:pPr>
            <a:r>
              <a:rPr sz="900">
                <a:solidFill>
                  <a:srgbClr val="9E9E9E"/>
                </a:solidFill>
                <a:latin typeface="Arial"/>
                <a:ea typeface="Arial"/>
                <a:cs typeface="Arial"/>
              </a:rPr>
              <a:t>7</a:t>
            </a:r>
            <a:endParaRPr sz="900"/>
          </a:p>
        </p:txBody>
      </p:sp>
      <p:sp>
        <p:nvSpPr>
          <p:cNvPr id="7" name="Text 4">
            <a:extLst xmlns:a="http://schemas.openxmlformats.org/drawingml/2006/main">
              <a:ext uri="{FF2B5EF4-FFF2-40B4-BE49-F238E27FC236}">
                <a16:creationId xmlns:a16="http://schemas.microsoft.com/office/drawing/2014/main" id="{C5C08A61-5B11-4251-B07B-684C43853827}"/>
              </a:ext>
            </a:extLst>
          </p:cNvPr>
          <p:cNvSpPr>
            <a:spLocks xmlns:a="http://schemas.openxmlformats.org/drawingml/2006/main" noGrp="1"/>
          </p:cNvSpPr>
          <p:nvPr/>
        </p:nvSpPr>
        <p:spPr>
          <a:xfrm xmlns:a="http://schemas.openxmlformats.org/drawingml/2006/main">
            <a:off x="457200" y="1587500"/>
            <a:ext cx="5080000" cy="1651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90000"/>
              </a:lnSpc>
              <a:buNone/>
            </a:pPr>
            <a:r>
              <a:rPr sz="12000" b="1">
                <a:solidFill>
                  <a:srgbClr val="DA1884"/>
                </a:solidFill>
                <a:latin typeface="Arial"/>
                <a:ea typeface="Arial"/>
                <a:cs typeface="Arial"/>
              </a:rPr>
              <a:t>02</a:t>
            </a:r>
            <a:endParaRPr sz="12000"/>
          </a:p>
        </p:txBody>
      </p:sp>
      <p:sp>
        <p:nvSpPr>
          <p:cNvPr id="8" name="Text 5">
            <a:extLst xmlns:a="http://schemas.openxmlformats.org/drawingml/2006/main">
              <a:ext uri="{FF2B5EF4-FFF2-40B4-BE49-F238E27FC236}">
                <a16:creationId xmlns:a16="http://schemas.microsoft.com/office/drawing/2014/main" id="{AFAF0C3C-EDE0-4473-9E26-6F54A4EFCDE1}"/>
              </a:ext>
            </a:extLst>
          </p:cNvPr>
          <p:cNvSpPr>
            <a:spLocks xmlns:a="http://schemas.openxmlformats.org/drawingml/2006/main" noGrp="1"/>
          </p:cNvSpPr>
          <p:nvPr/>
        </p:nvSpPr>
        <p:spPr>
          <a:xfrm xmlns:a="http://schemas.openxmlformats.org/drawingml/2006/main">
            <a:off x="508000" y="3302000"/>
            <a:ext cx="5207000" cy="660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0000"/>
              </a:lnSpc>
              <a:buNone/>
            </a:pPr>
            <a:r>
              <a:rPr sz="4400" b="1">
                <a:solidFill>
                  <a:srgbClr val="141414"/>
                </a:solidFill>
                <a:latin typeface="Arial"/>
                <a:ea typeface="Arial"/>
                <a:cs typeface="Arial"/>
              </a:rPr>
              <a:t>The Protocols</a:t>
            </a:r>
            <a:endParaRPr sz="4400"/>
          </a:p>
        </p:txBody>
      </p:sp>
      <p:sp>
        <p:nvSpPr>
          <p:cNvPr id="9" name="Shape 6">
            <a:extLst xmlns:a="http://schemas.openxmlformats.org/drawingml/2006/main">
              <a:ext uri="{FF2B5EF4-FFF2-40B4-BE49-F238E27FC236}">
                <a16:creationId xmlns:a16="http://schemas.microsoft.com/office/drawing/2014/main" id="{687F03A7-858F-4C5C-892C-02757B03DA2D}"/>
              </a:ext>
            </a:extLst>
          </p:cNvPr>
          <p:cNvSpPr>
            <a:spLocks xmlns:a="http://schemas.openxmlformats.org/drawingml/2006/main" noGrp="1"/>
          </p:cNvSpPr>
          <p:nvPr/>
        </p:nvSpPr>
        <p:spPr>
          <a:xfrm xmlns:a="http://schemas.openxmlformats.org/drawingml/2006/main">
            <a:off x="508000" y="4140200"/>
            <a:ext cx="1016000" cy="50800"/>
          </a:xfrm>
          <a:prstGeom xmlns:a="http://schemas.openxmlformats.org/drawingml/2006/main" prst="rect">
            <a:avLst/>
          </a:prstGeom>
          <a:solidFill xmlns:a="http://schemas.openxmlformats.org/drawingml/2006/main">
            <a:srgbClr val="DA1884"/>
          </a:solidFill>
        </p:spPr>
        <p:txBody>
          <a:bodyPr xmlns:a="http://schemas.openxmlformats.org/drawingml/2006/main"/>
          <a:lstStyle xmlns:a="http://schemas.openxmlformats.org/drawingml/2006/main"/>
          <a:p xmlns:a="http://schemas.openxmlformats.org/drawingml/2006/main">
            <a:endParaRPr/>
          </a:p>
        </p:txBody>
      </p:sp>
      <p:sp>
        <p:nvSpPr>
          <p:cNvPr id="10" name="Text 7">
            <a:extLst xmlns:a="http://schemas.openxmlformats.org/drawingml/2006/main">
              <a:ext uri="{FF2B5EF4-FFF2-40B4-BE49-F238E27FC236}">
                <a16:creationId xmlns:a16="http://schemas.microsoft.com/office/drawing/2014/main" id="{F7004E4A-9B66-45DB-B2A0-1D27DEA2DDA2}"/>
              </a:ext>
            </a:extLst>
          </p:cNvPr>
          <p:cNvSpPr>
            <a:spLocks xmlns:a="http://schemas.openxmlformats.org/drawingml/2006/main" noGrp="1"/>
          </p:cNvSpPr>
          <p:nvPr/>
        </p:nvSpPr>
        <p:spPr>
          <a:xfrm xmlns:a="http://schemas.openxmlformats.org/drawingml/2006/main">
            <a:off x="508000" y="4368800"/>
            <a:ext cx="5207000" cy="635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5000"/>
              </a:lnSpc>
              <a:buNone/>
            </a:pPr>
            <a:r>
              <a:rPr sz="1500">
                <a:solidFill>
                  <a:srgbClr val="6B6B6B"/>
                </a:solidFill>
                <a:latin typeface="Arial"/>
                <a:ea typeface="Arial"/>
                <a:cs typeface="Arial"/>
              </a:rPr>
              <a:t>REST, GraphQL and gRPC: each in concept, then in working code.</a:t>
            </a:r>
            <a:endParaRPr sz="1500"/>
          </a:p>
        </p:txBody>
      </p:sp>
      <p:sp>
        <p:nvSpPr>
          <p:cNvPr id="11" name="Shape 8">
            <a:extLst xmlns:a="http://schemas.openxmlformats.org/drawingml/2006/main">
              <a:ext uri="{FF2B5EF4-FFF2-40B4-BE49-F238E27FC236}">
                <a16:creationId xmlns:a16="http://schemas.microsoft.com/office/drawing/2014/main" id="{BFF16670-9E34-46ED-9FEA-CBC3657CA1AC}"/>
              </a:ext>
            </a:extLst>
          </p:cNvPr>
          <p:cNvSpPr>
            <a:spLocks xmlns:a="http://schemas.openxmlformats.org/drawingml/2006/main" noGrp="1"/>
          </p:cNvSpPr>
          <p:nvPr/>
        </p:nvSpPr>
        <p:spPr>
          <a:xfrm xmlns:a="http://schemas.openxmlformats.org/drawingml/2006/main">
            <a:off x="6223000" y="2413000"/>
            <a:ext cx="5461000" cy="2540000"/>
          </a:xfrm>
          <a:prstGeom xmlns:a="http://schemas.openxmlformats.org/drawingml/2006/main" prst="rect">
            <a:avLst/>
          </a:prstGeom>
          <a:solidFill xmlns:a="http://schemas.openxmlformats.org/drawingml/2006/main">
            <a:srgbClr val="F4F4F4"/>
          </a:solidFill>
          <a:effectLst xmlns:a="http://schemas.openxmlformats.org/drawingml/2006/main">
            <a:outerShdw blurRad="50800" dist="25400" dir="5400000" algn="bl" rotWithShape="0">
              <a:srgbClr val="000000">
                <a:alpha val="18000"/>
              </a:srgbClr>
            </a:outerShdw>
          </a:effectLst>
        </p:spPr>
        <p:txBody>
          <a:bodyPr xmlns:a="http://schemas.openxmlformats.org/drawingml/2006/main"/>
          <a:lstStyle xmlns:a="http://schemas.openxmlformats.org/drawingml/2006/main"/>
          <a:p xmlns:a="http://schemas.openxmlformats.org/drawingml/2006/main">
            <a:endParaRPr/>
          </a:p>
        </p:txBody>
      </p:sp>
      <p:sp>
        <p:nvSpPr>
          <p:cNvPr id="12" name="Shape 9">
            <a:extLst xmlns:a="http://schemas.openxmlformats.org/drawingml/2006/main">
              <a:ext uri="{FF2B5EF4-FFF2-40B4-BE49-F238E27FC236}">
                <a16:creationId xmlns:a16="http://schemas.microsoft.com/office/drawing/2014/main" id="{12E826B0-2A48-436B-BF35-548BBBD06267}"/>
              </a:ext>
            </a:extLst>
          </p:cNvPr>
          <p:cNvSpPr>
            <a:spLocks xmlns:a="http://schemas.openxmlformats.org/drawingml/2006/main" noGrp="1"/>
          </p:cNvSpPr>
          <p:nvPr/>
        </p:nvSpPr>
        <p:spPr>
          <a:xfrm xmlns:a="http://schemas.openxmlformats.org/drawingml/2006/main">
            <a:off x="6223000" y="2413000"/>
            <a:ext cx="5461000" cy="50800"/>
          </a:xfrm>
          <a:prstGeom xmlns:a="http://schemas.openxmlformats.org/drawingml/2006/main" prst="rect">
            <a:avLst/>
          </a:prstGeom>
          <a:solidFill xmlns:a="http://schemas.openxmlformats.org/drawingml/2006/main">
            <a:srgbClr val="DA1884"/>
          </a:solidFill>
        </p:spPr>
        <p:txBody>
          <a:bodyPr xmlns:a="http://schemas.openxmlformats.org/drawingml/2006/main"/>
          <a:lstStyle xmlns:a="http://schemas.openxmlformats.org/drawingml/2006/main"/>
          <a:p xmlns:a="http://schemas.openxmlformats.org/drawingml/2006/main">
            <a:endParaRPr/>
          </a:p>
        </p:txBody>
      </p:sp>
      <p:sp>
        <p:nvSpPr>
          <p:cNvPr id="13" name="Text 10">
            <a:extLst xmlns:a="http://schemas.openxmlformats.org/drawingml/2006/main">
              <a:ext uri="{FF2B5EF4-FFF2-40B4-BE49-F238E27FC236}">
                <a16:creationId xmlns:a16="http://schemas.microsoft.com/office/drawing/2014/main" id="{9E2A8ADB-5A08-4861-8C7F-11CB75E238E2}"/>
              </a:ext>
            </a:extLst>
          </p:cNvPr>
          <p:cNvSpPr>
            <a:spLocks xmlns:a="http://schemas.openxmlformats.org/drawingml/2006/main" noGrp="1"/>
          </p:cNvSpPr>
          <p:nvPr/>
        </p:nvSpPr>
        <p:spPr>
          <a:xfrm xmlns:a="http://schemas.openxmlformats.org/drawingml/2006/main">
            <a:off x="6477000" y="2641600"/>
            <a:ext cx="4953000" cy="2159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1200" b="1">
                <a:solidFill>
                  <a:srgbClr val="DA1884"/>
                </a:solidFill>
                <a:latin typeface="Arial"/>
                <a:ea typeface="Arial"/>
                <a:cs typeface="Arial"/>
              </a:rPr>
              <a:t>IN THIS SECTION</a:t>
            </a:r>
            <a:endParaRPr sz="1200"/>
          </a:p>
        </p:txBody>
      </p:sp>
      <p:sp>
        <p:nvSpPr>
          <p:cNvPr id="14" name="Text 11">
            <a:extLst xmlns:a="http://schemas.openxmlformats.org/drawingml/2006/main">
              <a:ext uri="{FF2B5EF4-FFF2-40B4-BE49-F238E27FC236}">
                <a16:creationId xmlns:a16="http://schemas.microsoft.com/office/drawing/2014/main" id="{B179B292-715D-4A43-9562-D56DA21244A0}"/>
              </a:ext>
            </a:extLst>
          </p:cNvPr>
          <p:cNvSpPr>
            <a:spLocks xmlns:a="http://schemas.openxmlformats.org/drawingml/2006/main" noGrp="1"/>
          </p:cNvSpPr>
          <p:nvPr/>
        </p:nvSpPr>
        <p:spPr>
          <a:xfrm xmlns:a="http://schemas.openxmlformats.org/drawingml/2006/main">
            <a:off x="6477000" y="2997200"/>
            <a:ext cx="4953000" cy="406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333333"/>
                </a:solidFill>
                <a:latin typeface="Arial"/>
                <a:ea typeface="Arial"/>
                <a:cs typeface="Arial"/>
              </a:rPr>
              <a:t>REST: resources over HTTP</a:t>
            </a:r>
            <a:endParaRPr sz="1300"/>
          </a:p>
        </p:txBody>
      </p:sp>
      <p:sp>
        <p:nvSpPr>
          <p:cNvPr id="15" name="Text 12">
            <a:extLst xmlns:a="http://schemas.openxmlformats.org/drawingml/2006/main">
              <a:ext uri="{FF2B5EF4-FFF2-40B4-BE49-F238E27FC236}">
                <a16:creationId xmlns:a16="http://schemas.microsoft.com/office/drawing/2014/main" id="{E897190F-BD99-4090-9A4F-3AE86653237F}"/>
              </a:ext>
            </a:extLst>
          </p:cNvPr>
          <p:cNvSpPr>
            <a:spLocks xmlns:a="http://schemas.openxmlformats.org/drawingml/2006/main" noGrp="1"/>
          </p:cNvSpPr>
          <p:nvPr/>
        </p:nvSpPr>
        <p:spPr>
          <a:xfrm xmlns:a="http://schemas.openxmlformats.org/drawingml/2006/main">
            <a:off x="6477000" y="3479800"/>
            <a:ext cx="4953000" cy="406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333333"/>
                </a:solidFill>
                <a:latin typeface="Arial"/>
                <a:ea typeface="Arial"/>
                <a:cs typeface="Arial"/>
              </a:rPr>
              <a:t>GraphQL: client-shaped queries over one schema</a:t>
            </a:r>
            <a:endParaRPr sz="1300"/>
          </a:p>
        </p:txBody>
      </p:sp>
      <p:sp>
        <p:nvSpPr>
          <p:cNvPr id="16" name="Text 13">
            <a:extLst xmlns:a="http://schemas.openxmlformats.org/drawingml/2006/main">
              <a:ext uri="{FF2B5EF4-FFF2-40B4-BE49-F238E27FC236}">
                <a16:creationId xmlns:a16="http://schemas.microsoft.com/office/drawing/2014/main" id="{1724E4AE-238E-4F27-A8E1-21418DA43FE0}"/>
              </a:ext>
            </a:extLst>
          </p:cNvPr>
          <p:cNvSpPr>
            <a:spLocks xmlns:a="http://schemas.openxmlformats.org/drawingml/2006/main" noGrp="1"/>
          </p:cNvSpPr>
          <p:nvPr/>
        </p:nvSpPr>
        <p:spPr>
          <a:xfrm xmlns:a="http://schemas.openxmlformats.org/drawingml/2006/main">
            <a:off x="6477000" y="3962400"/>
            <a:ext cx="4953000" cy="406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333333"/>
                </a:solidFill>
                <a:latin typeface="Arial"/>
                <a:ea typeface="Arial"/>
                <a:cs typeface="Arial"/>
              </a:rPr>
              <a:t>gRPC: typed contracts and streaming over HTTP/2</a:t>
            </a:r>
            <a:endParaRPr sz="1300"/>
          </a:p>
        </p:txBody>
      </p:sp>
      <p:sp>
        <p:nvSpPr>
          <p:cNvPr id="17" name="Text 14">
            <a:extLst xmlns:a="http://schemas.openxmlformats.org/drawingml/2006/main">
              <a:ext uri="{FF2B5EF4-FFF2-40B4-BE49-F238E27FC236}">
                <a16:creationId xmlns:a16="http://schemas.microsoft.com/office/drawing/2014/main" id="{B37BEFD1-B6D4-4B13-9192-8FD0950FBC63}"/>
              </a:ext>
            </a:extLst>
          </p:cNvPr>
          <p:cNvSpPr>
            <a:spLocks xmlns:a="http://schemas.openxmlformats.org/drawingml/2006/main" noGrp="1"/>
          </p:cNvSpPr>
          <p:nvPr/>
        </p:nvSpPr>
        <p:spPr>
          <a:xfrm xmlns:a="http://schemas.openxmlformats.org/drawingml/2006/main">
            <a:off x="6477000" y="4445000"/>
            <a:ext cx="4953000" cy="406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333333"/>
                </a:solidFill>
                <a:latin typeface="Arial"/>
                <a:ea typeface="Arial"/>
                <a:cs typeface="Arial"/>
              </a:rPr>
              <a:t>Usage Comparison: history, learning curve and use cases</a:t>
            </a:r>
            <a:endParaRPr sz="1300"/>
          </a:p>
        </p:txBody>
      </p:sp>
    </p:spTree>
    <p:extLst>
      <p:ext uri="{BB962C8B-B14F-4D97-AF65-F5344CB8AC3E}">
        <p14:creationId xmlns:p14="http://schemas.microsoft.com/office/powerpoint/2010/main" val="128125372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CD0EB050-46CC-4C1A-B1B9-C9AA5B1977F2}"/>
              </a:ext>
            </a:extLst>
          </p:cNvPr>
          <p:cNvPicPr>
            <a:picLocks xmlns:a="http://schemas.openxmlformats.org/drawingml/2006/main" noChangeAspect="1"/>
          </p:cNvPicPr>
          <p:nvPr/>
        </p:nvPicPr>
        <p:blipFill>
          <a:blip xmlns:r="http://schemas.openxmlformats.org/officeDocument/2006/relationships" xmlns:a="http://schemas.openxmlformats.org/drawingml/2006/main" r:embed="R7bb1093423de405e"/>
          <a:stretch xmlns:a="http://schemas.openxmlformats.org/drawingml/2006/main">
            <a:fillRect l="0" t="0" r="0" b="0"/>
          </a:stretch>
        </p:blipFill>
        <p:spPr>
          <a:xfrm xmlns:a="http://schemas.openxmlformats.org/drawingml/2006/main">
            <a:off x="508000" y="152400"/>
            <a:ext cx="990600" cy="40640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B9F75789-1103-45A4-A8C1-3D2760C6B49B}"/>
              </a:ext>
            </a:extLst>
          </p:cNvPr>
          <p:cNvSpPr>
            <a:spLocks xmlns:a="http://schemas.openxmlformats.org/drawingml/2006/main" noGrp="1"/>
          </p:cNvSpPr>
          <p:nvPr/>
        </p:nvSpPr>
        <p:spPr>
          <a:xfrm xmlns:a="http://schemas.openxmlformats.org/drawingml/2006/main">
            <a:off x="3556000" y="406400"/>
            <a:ext cx="5080000" cy="190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110000"/>
              </a:lnSpc>
              <a:buNone/>
            </a:pPr>
            <a:r>
              <a:rPr sz="1000">
                <a:solidFill>
                  <a:srgbClr val="6B6B6B"/>
                </a:solidFill>
                <a:latin typeface="Arial"/>
                <a:ea typeface="Arial"/>
                <a:cs typeface="Arial"/>
              </a:rPr>
              <a:t>Protocol Studio  —  REST · GraphQL · gRPC</a:t>
            </a:r>
            <a:endParaRPr sz="1000"/>
          </a:p>
        </p:txBody>
      </p:sp>
      <p:sp>
        <p:nvSpPr>
          <p:cNvPr id="4" name="Text 1">
            <a:extLst xmlns:a="http://schemas.openxmlformats.org/drawingml/2006/main">
              <a:ext uri="{FF2B5EF4-FFF2-40B4-BE49-F238E27FC236}">
                <a16:creationId xmlns:a16="http://schemas.microsoft.com/office/drawing/2014/main" id="{385970F4-753C-47AA-B12D-A53751F51AD4}"/>
              </a:ext>
            </a:extLst>
          </p:cNvPr>
          <p:cNvSpPr>
            <a:spLocks xmlns:a="http://schemas.openxmlformats.org/drawingml/2006/main" noGrp="1"/>
          </p:cNvSpPr>
          <p:nvPr/>
        </p:nvSpPr>
        <p:spPr>
          <a:xfrm xmlns:a="http://schemas.openxmlformats.org/drawingml/2006/main">
            <a:off x="6350000" y="406400"/>
            <a:ext cx="5334000" cy="190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ct val="110000"/>
              </a:lnSpc>
              <a:buNone/>
            </a:pPr>
            <a:r>
              <a:rPr sz="1000" b="1">
                <a:solidFill>
                  <a:srgbClr val="DA1884"/>
                </a:solidFill>
                <a:latin typeface="Arial"/>
                <a:ea typeface="Arial"/>
                <a:cs typeface="Arial"/>
              </a:rPr>
              <a:t>REST</a:t>
            </a:r>
            <a:endParaRPr sz="1000"/>
          </a:p>
        </p:txBody>
      </p:sp>
      <p:sp>
        <p:nvSpPr>
          <p:cNvPr id="5" name="Text 2">
            <a:extLst xmlns:a="http://schemas.openxmlformats.org/drawingml/2006/main">
              <a:ext uri="{FF2B5EF4-FFF2-40B4-BE49-F238E27FC236}">
                <a16:creationId xmlns:a16="http://schemas.microsoft.com/office/drawing/2014/main" id="{043BC039-3288-471B-9BD1-E9D862AF947F}"/>
              </a:ext>
            </a:extLst>
          </p:cNvPr>
          <p:cNvSpPr>
            <a:spLocks xmlns:a="http://schemas.openxmlformats.org/drawingml/2006/main" noGrp="1"/>
          </p:cNvSpPr>
          <p:nvPr/>
        </p:nvSpPr>
        <p:spPr>
          <a:xfrm xmlns:a="http://schemas.openxmlformats.org/drawingml/2006/main">
            <a:off x="508000" y="6578600"/>
            <a:ext cx="8890000" cy="177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900">
                <a:solidFill>
                  <a:srgbClr val="9E9E9E"/>
                </a:solidFill>
                <a:latin typeface="Arial"/>
                <a:ea typeface="Arial"/>
                <a:cs typeface="Arial"/>
              </a:rPr>
              <a:t>Insight Proprietary &amp; Confidential.  Do Not Copy or Distribute.  © 2026 Insight.  All Rights Reserved.</a:t>
            </a:r>
            <a:endParaRPr sz="900"/>
          </a:p>
        </p:txBody>
      </p:sp>
      <p:sp>
        <p:nvSpPr>
          <p:cNvPr id="6" name="Text 3">
            <a:extLst xmlns:a="http://schemas.openxmlformats.org/drawingml/2006/main">
              <a:ext uri="{FF2B5EF4-FFF2-40B4-BE49-F238E27FC236}">
                <a16:creationId xmlns:a16="http://schemas.microsoft.com/office/drawing/2014/main" id="{705B0A31-73F4-4394-A07A-1FD6C8B1B729}"/>
              </a:ext>
            </a:extLst>
          </p:cNvPr>
          <p:cNvSpPr>
            <a:spLocks xmlns:a="http://schemas.openxmlformats.org/drawingml/2006/main" noGrp="1"/>
          </p:cNvSpPr>
          <p:nvPr/>
        </p:nvSpPr>
        <p:spPr>
          <a:xfrm xmlns:a="http://schemas.openxmlformats.org/drawingml/2006/main">
            <a:off x="10922000" y="6578600"/>
            <a:ext cx="762000" cy="177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ct val="110000"/>
              </a:lnSpc>
              <a:buNone/>
            </a:pPr>
            <a:r>
              <a:rPr sz="900">
                <a:solidFill>
                  <a:srgbClr val="9E9E9E"/>
                </a:solidFill>
                <a:latin typeface="Arial"/>
                <a:ea typeface="Arial"/>
                <a:cs typeface="Arial"/>
              </a:rPr>
              <a:t>8</a:t>
            </a:r>
            <a:endParaRPr sz="900"/>
          </a:p>
        </p:txBody>
      </p:sp>
      <p:sp>
        <p:nvSpPr>
          <p:cNvPr id="7" name="Text 4">
            <a:extLst xmlns:a="http://schemas.openxmlformats.org/drawingml/2006/main">
              <a:ext uri="{FF2B5EF4-FFF2-40B4-BE49-F238E27FC236}">
                <a16:creationId xmlns:a16="http://schemas.microsoft.com/office/drawing/2014/main" id="{4CA8BFD4-CEE6-4B3F-BE0B-7B436E5301EA}"/>
              </a:ext>
            </a:extLst>
          </p:cNvPr>
          <p:cNvSpPr>
            <a:spLocks xmlns:a="http://schemas.openxmlformats.org/drawingml/2006/main" noGrp="1"/>
          </p:cNvSpPr>
          <p:nvPr/>
        </p:nvSpPr>
        <p:spPr>
          <a:xfrm xmlns:a="http://schemas.openxmlformats.org/drawingml/2006/main">
            <a:off x="508000" y="889000"/>
            <a:ext cx="11176000" cy="2159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1200" b="1">
                <a:solidFill>
                  <a:srgbClr val="DA1884"/>
                </a:solidFill>
                <a:latin typeface="Arial"/>
                <a:ea typeface="Arial"/>
                <a:cs typeface="Arial"/>
              </a:rPr>
              <a:t>REST · HOW IT WORKS</a:t>
            </a:r>
            <a:endParaRPr sz="1200"/>
          </a:p>
        </p:txBody>
      </p:sp>
      <p:sp>
        <p:nvSpPr>
          <p:cNvPr id="8" name="Text 5">
            <a:extLst xmlns:a="http://schemas.openxmlformats.org/drawingml/2006/main">
              <a:ext uri="{FF2B5EF4-FFF2-40B4-BE49-F238E27FC236}">
                <a16:creationId xmlns:a16="http://schemas.microsoft.com/office/drawing/2014/main" id="{4896A61E-A83A-4784-9B19-0663C8A18671}"/>
              </a:ext>
            </a:extLst>
          </p:cNvPr>
          <p:cNvSpPr>
            <a:spLocks xmlns:a="http://schemas.openxmlformats.org/drawingml/2006/main" noGrp="1"/>
          </p:cNvSpPr>
          <p:nvPr/>
        </p:nvSpPr>
        <p:spPr>
          <a:xfrm xmlns:a="http://schemas.openxmlformats.org/drawingml/2006/main">
            <a:off x="508000" y="1130300"/>
            <a:ext cx="11176000" cy="482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3000" b="1">
                <a:solidFill>
                  <a:srgbClr val="141414"/>
                </a:solidFill>
                <a:latin typeface="Arial"/>
                <a:ea typeface="Arial"/>
                <a:cs typeface="Arial"/>
              </a:rPr>
              <a:t>REST: Resources Over HTTP</a:t>
            </a:r>
            <a:endParaRPr sz="3000"/>
          </a:p>
        </p:txBody>
      </p:sp>
      <p:sp>
        <p:nvSpPr>
          <p:cNvPr id="9" name="Text 6">
            <a:extLst xmlns:a="http://schemas.openxmlformats.org/drawingml/2006/main">
              <a:ext uri="{FF2B5EF4-FFF2-40B4-BE49-F238E27FC236}">
                <a16:creationId xmlns:a16="http://schemas.microsoft.com/office/drawing/2014/main" id="{06FEA5B1-7EBA-48FF-A212-B206203B5D86}"/>
              </a:ext>
            </a:extLst>
          </p:cNvPr>
          <p:cNvSpPr>
            <a:spLocks xmlns:a="http://schemas.openxmlformats.org/drawingml/2006/main" noGrp="1"/>
          </p:cNvSpPr>
          <p:nvPr/>
        </p:nvSpPr>
        <p:spPr>
          <a:xfrm xmlns:a="http://schemas.openxmlformats.org/drawingml/2006/main">
            <a:off x="508000" y="1663700"/>
            <a:ext cx="11176000"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1400">
                <a:solidFill>
                  <a:srgbClr val="6B6B6B"/>
                </a:solidFill>
                <a:latin typeface="Arial"/>
                <a:ea typeface="Arial"/>
                <a:cs typeface="Arial"/>
              </a:rPr>
              <a:t>Every resource gets a URL and HTTP verbs carry the intent. Its simplicity is both the strength and the ceiling.</a:t>
            </a:r>
            <a:endParaRPr sz="1400"/>
          </a:p>
        </p:txBody>
      </p:sp>
      <p:sp>
        <p:nvSpPr>
          <p:cNvPr id="11" name="Shape 7">
            <a:extLst xmlns:a="http://schemas.openxmlformats.org/drawingml/2006/main">
              <a:ext uri="{FF2B5EF4-FFF2-40B4-BE49-F238E27FC236}">
                <a16:creationId xmlns:a16="http://schemas.microsoft.com/office/drawing/2014/main" id="{528555B6-801A-47CE-9014-17CAC61A0478}"/>
              </a:ext>
            </a:extLst>
          </p:cNvPr>
          <p:cNvSpPr>
            <a:spLocks xmlns:a="http://schemas.openxmlformats.org/drawingml/2006/main" noGrp="1"/>
          </p:cNvSpPr>
          <p:nvPr/>
        </p:nvSpPr>
        <p:spPr>
          <a:xfrm xmlns:a="http://schemas.openxmlformats.org/drawingml/2006/main">
            <a:off x="508000" y="2159000"/>
            <a:ext cx="5486400" cy="2794000"/>
          </a:xfrm>
          <a:prstGeom xmlns:a="http://schemas.openxmlformats.org/drawingml/2006/main" prst="rect">
            <a:avLst/>
          </a:prstGeom>
          <a:solidFill xmlns:a="http://schemas.openxmlformats.org/drawingml/2006/main">
            <a:srgbClr val="F4F4F4"/>
          </a:solidFill>
          <a:effectLst xmlns:a="http://schemas.openxmlformats.org/drawingml/2006/main">
            <a:outerShdw blurRad="50800" dist="25400" dir="5400000" algn="bl" rotWithShape="0">
              <a:srgbClr val="000000">
                <a:alpha val="18000"/>
              </a:srgbClr>
            </a:outerShdw>
          </a:effectLst>
        </p:spPr>
        <p:txBody>
          <a:bodyPr xmlns:a="http://schemas.openxmlformats.org/drawingml/2006/main"/>
          <a:lstStyle xmlns:a="http://schemas.openxmlformats.org/drawingml/2006/main"/>
          <a:p xmlns:a="http://schemas.openxmlformats.org/drawingml/2006/main">
            <a:endParaRPr/>
          </a:p>
        </p:txBody>
      </p:sp>
      <p:sp>
        <p:nvSpPr>
          <p:cNvPr id="12" name="Shape 8">
            <a:extLst xmlns:a="http://schemas.openxmlformats.org/drawingml/2006/main">
              <a:ext uri="{FF2B5EF4-FFF2-40B4-BE49-F238E27FC236}">
                <a16:creationId xmlns:a16="http://schemas.microsoft.com/office/drawing/2014/main" id="{04F3321B-D1AB-4ABD-93D2-15BC5DB4B7C5}"/>
              </a:ext>
            </a:extLst>
          </p:cNvPr>
          <p:cNvSpPr>
            <a:spLocks xmlns:a="http://schemas.openxmlformats.org/drawingml/2006/main" noGrp="1"/>
          </p:cNvSpPr>
          <p:nvPr/>
        </p:nvSpPr>
        <p:spPr>
          <a:xfrm xmlns:a="http://schemas.openxmlformats.org/drawingml/2006/main">
            <a:off x="508000" y="2159000"/>
            <a:ext cx="5486400" cy="406400"/>
          </a:xfrm>
          <a:prstGeom xmlns:a="http://schemas.openxmlformats.org/drawingml/2006/main" prst="rect">
            <a:avLst/>
          </a:prstGeom>
          <a:solidFill xmlns:a="http://schemas.openxmlformats.org/drawingml/2006/main">
            <a:srgbClr val="DA1884"/>
          </a:solidFill>
        </p:spPr>
        <p:txBody>
          <a:bodyPr xmlns:a="http://schemas.openxmlformats.org/drawingml/2006/main"/>
          <a:lstStyle xmlns:a="http://schemas.openxmlformats.org/drawingml/2006/main"/>
          <a:p xmlns:a="http://schemas.openxmlformats.org/drawingml/2006/main">
            <a:endParaRPr/>
          </a:p>
        </p:txBody>
      </p:sp>
      <p:sp>
        <p:nvSpPr>
          <p:cNvPr id="13" name="Text 9">
            <a:extLst xmlns:a="http://schemas.openxmlformats.org/drawingml/2006/main">
              <a:ext uri="{FF2B5EF4-FFF2-40B4-BE49-F238E27FC236}">
                <a16:creationId xmlns:a16="http://schemas.microsoft.com/office/drawing/2014/main" id="{261DDA72-0BB6-4EE0-BD8B-35370D011E15}"/>
              </a:ext>
            </a:extLst>
          </p:cNvPr>
          <p:cNvSpPr>
            <a:spLocks xmlns:a="http://schemas.openxmlformats.org/drawingml/2006/main" noGrp="1"/>
          </p:cNvSpPr>
          <p:nvPr/>
        </p:nvSpPr>
        <p:spPr>
          <a:xfrm xmlns:a="http://schemas.openxmlformats.org/drawingml/2006/main">
            <a:off x="736600" y="2159000"/>
            <a:ext cx="5029200" cy="406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300" b="1">
                <a:solidFill>
                  <a:srgbClr val="FFFFFF"/>
                </a:solidFill>
                <a:latin typeface="Arial"/>
                <a:ea typeface="Arial"/>
                <a:cs typeface="Arial"/>
              </a:rPr>
              <a:t>Where REST shines</a:t>
            </a:r>
            <a:endParaRPr sz="1300"/>
          </a:p>
        </p:txBody>
      </p:sp>
      <p:sp>
        <p:nvSpPr>
          <p:cNvPr id="14" name="Text 10">
            <a:extLst xmlns:a="http://schemas.openxmlformats.org/drawingml/2006/main">
              <a:ext uri="{FF2B5EF4-FFF2-40B4-BE49-F238E27FC236}">
                <a16:creationId xmlns:a16="http://schemas.microsoft.com/office/drawing/2014/main" id="{891E898A-EB22-487A-80FB-3678098BB658}"/>
              </a:ext>
            </a:extLst>
          </p:cNvPr>
          <p:cNvSpPr>
            <a:spLocks xmlns:a="http://schemas.openxmlformats.org/drawingml/2006/main" noGrp="1"/>
          </p:cNvSpPr>
          <p:nvPr/>
        </p:nvSpPr>
        <p:spPr>
          <a:xfrm xmlns:a="http://schemas.openxmlformats.org/drawingml/2006/main">
            <a:off x="736600" y="2743200"/>
            <a:ext cx="5029200" cy="2057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lnSpc>
                <a:spcPct val="115000"/>
              </a:lnSpc>
              <a:spcAft>
                <a:spcPts val="1000"/>
              </a:spcAft>
              <a:buSzPct val="100000"/>
              <a:buChar char="•"/>
            </a:pPr>
            <a:r>
              <a:rPr sz="1200">
                <a:solidFill>
                  <a:srgbClr val="333333"/>
                </a:solidFill>
                <a:latin typeface="Arial"/>
                <a:ea typeface="Arial"/>
                <a:cs typeface="Arial"/>
              </a:rPr>
              <a:t>Addressable resources with standard verbs and status codes</a:t>
            </a:r>
            <a:endParaRPr sz="1200"/>
          </a:p>
          <a:p xmlns:a="http://schemas.openxmlformats.org/drawingml/2006/main">
            <a:pPr marL="342900" indent="-342900">
              <a:lnSpc>
                <a:spcPct val="115000"/>
              </a:lnSpc>
              <a:spcAft>
                <a:spcPts val="1000"/>
              </a:spcAft>
              <a:buSzPct val="100000"/>
              <a:buChar char="•"/>
            </a:pPr>
            <a:r>
              <a:rPr sz="1200">
                <a:solidFill>
                  <a:srgbClr val="333333"/>
                </a:solidFill>
                <a:latin typeface="Arial"/>
                <a:ea typeface="Arial"/>
                <a:cs typeface="Arial"/>
              </a:rPr>
              <a:t>Native HTTP caching through browsers, CDNs and proxies</a:t>
            </a:r>
            <a:endParaRPr sz="1200"/>
          </a:p>
          <a:p xmlns:a="http://schemas.openxmlformats.org/drawingml/2006/main">
            <a:pPr marL="342900" indent="-342900">
              <a:lnSpc>
                <a:spcPct val="115000"/>
              </a:lnSpc>
              <a:spcAft>
                <a:spcPts val="1000"/>
              </a:spcAft>
              <a:buSzPct val="100000"/>
              <a:buChar char="•"/>
            </a:pPr>
            <a:r>
              <a:rPr sz="1200">
                <a:solidFill>
                  <a:srgbClr val="333333"/>
                </a:solidFill>
                <a:latin typeface="Arial"/>
                <a:ea typeface="Arial"/>
                <a:cs typeface="Arial"/>
              </a:rPr>
              <a:t>Universal tooling: curl, OpenAPI, gateways and API management</a:t>
            </a:r>
            <a:endParaRPr sz="1200"/>
          </a:p>
          <a:p xmlns:a="http://schemas.openxmlformats.org/drawingml/2006/main">
            <a:pPr marL="342900" indent="-342900">
              <a:lnSpc>
                <a:spcPct val="115000"/>
              </a:lnSpc>
              <a:spcAft>
                <a:spcPts val="1000"/>
              </a:spcAft>
              <a:buSzPct val="100000"/>
              <a:buChar char="•"/>
            </a:pPr>
            <a:r>
              <a:rPr sz="1200">
                <a:solidFill>
                  <a:srgbClr val="333333"/>
                </a:solidFill>
                <a:latin typeface="Arial"/>
                <a:ea typeface="Arial"/>
                <a:cs typeface="Arial"/>
              </a:rPr>
              <a:t>The lowest barrier for partners and public consumers</a:t>
            </a:r>
            <a:endParaRPr sz="1200"/>
          </a:p>
        </p:txBody>
      </p:sp>
      <p:sp>
        <p:nvSpPr>
          <p:cNvPr id="15" name="Shape 11">
            <a:extLst xmlns:a="http://schemas.openxmlformats.org/drawingml/2006/main">
              <a:ext uri="{FF2B5EF4-FFF2-40B4-BE49-F238E27FC236}">
                <a16:creationId xmlns:a16="http://schemas.microsoft.com/office/drawing/2014/main" id="{CD35B93E-EDF4-41F0-9ABF-7E354B351A83}"/>
              </a:ext>
            </a:extLst>
          </p:cNvPr>
          <p:cNvSpPr>
            <a:spLocks xmlns:a="http://schemas.openxmlformats.org/drawingml/2006/main" noGrp="1"/>
          </p:cNvSpPr>
          <p:nvPr/>
        </p:nvSpPr>
        <p:spPr>
          <a:xfrm xmlns:a="http://schemas.openxmlformats.org/drawingml/2006/main">
            <a:off x="6197600" y="2159000"/>
            <a:ext cx="5486400" cy="2794000"/>
          </a:xfrm>
          <a:prstGeom xmlns:a="http://schemas.openxmlformats.org/drawingml/2006/main" prst="rect">
            <a:avLst/>
          </a:prstGeom>
          <a:solidFill xmlns:a="http://schemas.openxmlformats.org/drawingml/2006/main">
            <a:srgbClr val="F4F4F4"/>
          </a:solidFill>
          <a:effectLst xmlns:a="http://schemas.openxmlformats.org/drawingml/2006/main">
            <a:outerShdw blurRad="50800" dist="25400" dir="5400000" algn="bl" rotWithShape="0">
              <a:srgbClr val="000000">
                <a:alpha val="18000"/>
              </a:srgbClr>
            </a:outerShdw>
          </a:effectLst>
        </p:spPr>
        <p:txBody>
          <a:bodyPr xmlns:a="http://schemas.openxmlformats.org/drawingml/2006/main"/>
          <a:lstStyle xmlns:a="http://schemas.openxmlformats.org/drawingml/2006/main"/>
          <a:p xmlns:a="http://schemas.openxmlformats.org/drawingml/2006/main">
            <a:endParaRPr/>
          </a:p>
        </p:txBody>
      </p:sp>
      <p:sp>
        <p:nvSpPr>
          <p:cNvPr id="16" name="Shape 12">
            <a:extLst xmlns:a="http://schemas.openxmlformats.org/drawingml/2006/main">
              <a:ext uri="{FF2B5EF4-FFF2-40B4-BE49-F238E27FC236}">
                <a16:creationId xmlns:a16="http://schemas.microsoft.com/office/drawing/2014/main" id="{64C6D88A-A3AF-405B-B926-1AEFA8F0F5A4}"/>
              </a:ext>
            </a:extLst>
          </p:cNvPr>
          <p:cNvSpPr>
            <a:spLocks xmlns:a="http://schemas.openxmlformats.org/drawingml/2006/main" noGrp="1"/>
          </p:cNvSpPr>
          <p:nvPr/>
        </p:nvSpPr>
        <p:spPr>
          <a:xfrm xmlns:a="http://schemas.openxmlformats.org/drawingml/2006/main">
            <a:off x="6197600" y="2159000"/>
            <a:ext cx="5486400" cy="406400"/>
          </a:xfrm>
          <a:prstGeom xmlns:a="http://schemas.openxmlformats.org/drawingml/2006/main" prst="rect">
            <a:avLst/>
          </a:prstGeom>
          <a:solidFill xmlns:a="http://schemas.openxmlformats.org/drawingml/2006/main">
            <a:srgbClr val="A1005D"/>
          </a:solidFill>
        </p:spPr>
        <p:txBody>
          <a:bodyPr xmlns:a="http://schemas.openxmlformats.org/drawingml/2006/main"/>
          <a:lstStyle xmlns:a="http://schemas.openxmlformats.org/drawingml/2006/main"/>
          <a:p xmlns:a="http://schemas.openxmlformats.org/drawingml/2006/main">
            <a:endParaRPr/>
          </a:p>
        </p:txBody>
      </p:sp>
      <p:sp>
        <p:nvSpPr>
          <p:cNvPr id="17" name="Text 13">
            <a:extLst xmlns:a="http://schemas.openxmlformats.org/drawingml/2006/main">
              <a:ext uri="{FF2B5EF4-FFF2-40B4-BE49-F238E27FC236}">
                <a16:creationId xmlns:a16="http://schemas.microsoft.com/office/drawing/2014/main" id="{E7FA65B2-DE89-4F88-A45D-4C05A8788171}"/>
              </a:ext>
            </a:extLst>
          </p:cNvPr>
          <p:cNvSpPr>
            <a:spLocks xmlns:a="http://schemas.openxmlformats.org/drawingml/2006/main" noGrp="1"/>
          </p:cNvSpPr>
          <p:nvPr/>
        </p:nvSpPr>
        <p:spPr>
          <a:xfrm xmlns:a="http://schemas.openxmlformats.org/drawingml/2006/main">
            <a:off x="6426200" y="2159000"/>
            <a:ext cx="5029200" cy="406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300" b="1">
                <a:solidFill>
                  <a:srgbClr val="FFFFFF"/>
                </a:solidFill>
                <a:latin typeface="Arial"/>
                <a:ea typeface="Arial"/>
                <a:cs typeface="Arial"/>
              </a:rPr>
              <a:t>Where it strains</a:t>
            </a:r>
            <a:endParaRPr sz="1300"/>
          </a:p>
        </p:txBody>
      </p:sp>
      <p:sp>
        <p:nvSpPr>
          <p:cNvPr id="18" name="Text 14">
            <a:extLst xmlns:a="http://schemas.openxmlformats.org/drawingml/2006/main">
              <a:ext uri="{FF2B5EF4-FFF2-40B4-BE49-F238E27FC236}">
                <a16:creationId xmlns:a16="http://schemas.microsoft.com/office/drawing/2014/main" id="{60009AE9-5DC4-4B94-8ADD-F66F77523B43}"/>
              </a:ext>
            </a:extLst>
          </p:cNvPr>
          <p:cNvSpPr>
            <a:spLocks xmlns:a="http://schemas.openxmlformats.org/drawingml/2006/main" noGrp="1"/>
          </p:cNvSpPr>
          <p:nvPr/>
        </p:nvSpPr>
        <p:spPr>
          <a:xfrm xmlns:a="http://schemas.openxmlformats.org/drawingml/2006/main">
            <a:off x="6426200" y="2743200"/>
            <a:ext cx="5029200" cy="2057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lnSpc>
                <a:spcPct val="115000"/>
              </a:lnSpc>
              <a:spcAft>
                <a:spcPts val="1000"/>
              </a:spcAft>
              <a:buSzPct val="100000"/>
              <a:buChar char="•"/>
            </a:pPr>
            <a:r>
              <a:rPr sz="1200">
                <a:solidFill>
                  <a:srgbClr val="333333"/>
                </a:solidFill>
                <a:latin typeface="Arial"/>
                <a:ea typeface="Arial"/>
                <a:cs typeface="Arial"/>
              </a:rPr>
              <a:t>Over-fetching: fixed payloads return fields you do not need</a:t>
            </a:r>
            <a:endParaRPr sz="1200"/>
          </a:p>
          <a:p xmlns:a="http://schemas.openxmlformats.org/drawingml/2006/main">
            <a:pPr marL="342900" indent="-342900">
              <a:lnSpc>
                <a:spcPct val="115000"/>
              </a:lnSpc>
              <a:spcAft>
                <a:spcPts val="1000"/>
              </a:spcAft>
              <a:buSzPct val="100000"/>
              <a:buChar char="•"/>
            </a:pPr>
            <a:r>
              <a:rPr sz="1200">
                <a:solidFill>
                  <a:srgbClr val="333333"/>
                </a:solidFill>
                <a:latin typeface="Arial"/>
                <a:ea typeface="Arial"/>
                <a:cs typeface="Arial"/>
              </a:rPr>
              <a:t>Under-fetching: related data means extra round trips</a:t>
            </a:r>
            <a:endParaRPr sz="1200"/>
          </a:p>
          <a:p xmlns:a="http://schemas.openxmlformats.org/drawingml/2006/main">
            <a:pPr marL="342900" indent="-342900">
              <a:lnSpc>
                <a:spcPct val="115000"/>
              </a:lnSpc>
              <a:spcAft>
                <a:spcPts val="1000"/>
              </a:spcAft>
              <a:buSzPct val="100000"/>
              <a:buChar char="•"/>
            </a:pPr>
            <a:r>
              <a:rPr sz="1200">
                <a:solidFill>
                  <a:srgbClr val="333333"/>
                </a:solidFill>
                <a:latin typeface="Arial"/>
                <a:ea typeface="Arial"/>
                <a:cs typeface="Arial"/>
              </a:rPr>
              <a:t>Versioning pressure as client needs diverge</a:t>
            </a:r>
            <a:endParaRPr sz="1200"/>
          </a:p>
          <a:p xmlns:a="http://schemas.openxmlformats.org/drawingml/2006/main">
            <a:pPr marL="342900" indent="-342900">
              <a:lnSpc>
                <a:spcPct val="115000"/>
              </a:lnSpc>
              <a:spcAft>
                <a:spcPts val="1000"/>
              </a:spcAft>
              <a:buSzPct val="100000"/>
              <a:buChar char="•"/>
            </a:pPr>
            <a:r>
              <a:rPr sz="1200">
                <a:solidFill>
                  <a:srgbClr val="333333"/>
                </a:solidFill>
                <a:latin typeface="Arial"/>
                <a:ea typeface="Arial"/>
                <a:cs typeface="Arial"/>
              </a:rPr>
              <a:t>No first-class streaming (SSE or polling instead)</a:t>
            </a:r>
            <a:endParaRPr sz="1200"/>
          </a:p>
        </p:txBody>
      </p:sp>
      <p:sp>
        <p:nvSpPr>
          <p:cNvPr id="19" name="Shape 15">
            <a:extLst xmlns:a="http://schemas.openxmlformats.org/drawingml/2006/main">
              <a:ext uri="{FF2B5EF4-FFF2-40B4-BE49-F238E27FC236}">
                <a16:creationId xmlns:a16="http://schemas.microsoft.com/office/drawing/2014/main" id="{1C14B748-9D57-4E71-99D2-D299A130D33F}"/>
              </a:ext>
            </a:extLst>
          </p:cNvPr>
          <p:cNvSpPr>
            <a:spLocks xmlns:a="http://schemas.openxmlformats.org/drawingml/2006/main" noGrp="1"/>
          </p:cNvSpPr>
          <p:nvPr/>
        </p:nvSpPr>
        <p:spPr>
          <a:xfrm xmlns:a="http://schemas.openxmlformats.org/drawingml/2006/main">
            <a:off x="508000" y="5207000"/>
            <a:ext cx="11176000" cy="635000"/>
          </a:xfrm>
          <a:prstGeom xmlns:a="http://schemas.openxmlformats.org/drawingml/2006/main" prst="rect">
            <a:avLst/>
          </a:prstGeom>
          <a:solidFill xmlns:a="http://schemas.openxmlformats.org/drawingml/2006/main">
            <a:srgbClr val="F4F4F4"/>
          </a:solidFill>
          <a:effectLst xmlns:a="http://schemas.openxmlformats.org/drawingml/2006/main">
            <a:outerShdw blurRad="50800" dist="25400" dir="5400000" algn="bl" rotWithShape="0">
              <a:srgbClr val="000000">
                <a:alpha val="18000"/>
              </a:srgbClr>
            </a:outerShdw>
          </a:effectLst>
        </p:spPr>
        <p:txBody>
          <a:bodyPr xmlns:a="http://schemas.openxmlformats.org/drawingml/2006/main"/>
          <a:lstStyle xmlns:a="http://schemas.openxmlformats.org/drawingml/2006/main"/>
          <a:p xmlns:a="http://schemas.openxmlformats.org/drawingml/2006/main">
            <a:endParaRPr/>
          </a:p>
        </p:txBody>
      </p:sp>
      <p:sp>
        <p:nvSpPr>
          <p:cNvPr id="20" name="Shape 16">
            <a:extLst xmlns:a="http://schemas.openxmlformats.org/drawingml/2006/main">
              <a:ext uri="{FF2B5EF4-FFF2-40B4-BE49-F238E27FC236}">
                <a16:creationId xmlns:a16="http://schemas.microsoft.com/office/drawing/2014/main" id="{F6E2F620-7648-4CCF-B5A5-B2E4DC49DBE2}"/>
              </a:ext>
            </a:extLst>
          </p:cNvPr>
          <p:cNvSpPr>
            <a:spLocks xmlns:a="http://schemas.openxmlformats.org/drawingml/2006/main" noGrp="1"/>
          </p:cNvSpPr>
          <p:nvPr/>
        </p:nvSpPr>
        <p:spPr>
          <a:xfrm xmlns:a="http://schemas.openxmlformats.org/drawingml/2006/main">
            <a:off x="508000" y="5207000"/>
            <a:ext cx="76200" cy="635000"/>
          </a:xfrm>
          <a:prstGeom xmlns:a="http://schemas.openxmlformats.org/drawingml/2006/main" prst="rect">
            <a:avLst/>
          </a:prstGeom>
          <a:solidFill xmlns:a="http://schemas.openxmlformats.org/drawingml/2006/main">
            <a:srgbClr val="DA1884"/>
          </a:solidFill>
        </p:spPr>
        <p:txBody>
          <a:bodyPr xmlns:a="http://schemas.openxmlformats.org/drawingml/2006/main"/>
          <a:lstStyle xmlns:a="http://schemas.openxmlformats.org/drawingml/2006/main"/>
          <a:p xmlns:a="http://schemas.openxmlformats.org/drawingml/2006/main">
            <a:endParaRPr/>
          </a:p>
        </p:txBody>
      </p:sp>
      <p:sp>
        <p:nvSpPr>
          <p:cNvPr id="21" name="Text 17">
            <a:extLst xmlns:a="http://schemas.openxmlformats.org/drawingml/2006/main">
              <a:ext uri="{FF2B5EF4-FFF2-40B4-BE49-F238E27FC236}">
                <a16:creationId xmlns:a16="http://schemas.microsoft.com/office/drawing/2014/main" id="{4EC1EA47-50B2-446A-BDD8-005D535DF12F}"/>
              </a:ext>
            </a:extLst>
          </p:cNvPr>
          <p:cNvSpPr>
            <a:spLocks xmlns:a="http://schemas.openxmlformats.org/drawingml/2006/main" noGrp="1"/>
          </p:cNvSpPr>
          <p:nvPr/>
        </p:nvSpPr>
        <p:spPr>
          <a:xfrm xmlns:a="http://schemas.openxmlformats.org/drawingml/2006/main">
            <a:off x="787400" y="5207000"/>
            <a:ext cx="10668000" cy="635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200" b="1">
                <a:solidFill>
                  <a:srgbClr val="141414"/>
                </a:solidFill>
                <a:latin typeface="Arial"/>
                <a:ea typeface="Arial"/>
                <a:cs typeface="Arial"/>
              </a:rPr>
              <a:t>Use REST for  </a:t>
            </a:r>
            <a:r>
              <a:rPr sz="1200">
                <a:solidFill>
                  <a:srgbClr val="141414"/>
                </a:solidFill>
                <a:latin typeface="Arial"/>
                <a:ea typeface="Arial"/>
                <a:cs typeface="Arial"/>
              </a:rPr>
              <a:t>simple, cacheable, stateless resource APIs, especially ones you publish to others.</a:t>
            </a:r>
            <a:endParaRPr sz="1200"/>
          </a:p>
        </p:txBody>
      </p:sp>
    </p:spTree>
    <p:extLst>
      <p:ext uri="{BB962C8B-B14F-4D97-AF65-F5344CB8AC3E}">
        <p14:creationId xmlns:p14="http://schemas.microsoft.com/office/powerpoint/2010/main" val="104181770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011A4A8F-4630-4B62-BB6B-614F1D5D8B8C}"/>
              </a:ext>
            </a:extLst>
          </p:cNvPr>
          <p:cNvPicPr>
            <a:picLocks xmlns:a="http://schemas.openxmlformats.org/drawingml/2006/main" noChangeAspect="1"/>
          </p:cNvPicPr>
          <p:nvPr/>
        </p:nvPicPr>
        <p:blipFill>
          <a:blip xmlns:r="http://schemas.openxmlformats.org/officeDocument/2006/relationships" xmlns:a="http://schemas.openxmlformats.org/drawingml/2006/main" r:embed="Rdfe41acd60264d2e"/>
          <a:stretch xmlns:a="http://schemas.openxmlformats.org/drawingml/2006/main">
            <a:fillRect l="0" t="0" r="0" b="0"/>
          </a:stretch>
        </p:blipFill>
        <p:spPr>
          <a:xfrm xmlns:a="http://schemas.openxmlformats.org/drawingml/2006/main">
            <a:off x="508000" y="152400"/>
            <a:ext cx="990600" cy="40640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5C3825F0-069D-4D41-8C16-AE6DEDA4FA70}"/>
              </a:ext>
            </a:extLst>
          </p:cNvPr>
          <p:cNvSpPr>
            <a:spLocks xmlns:a="http://schemas.openxmlformats.org/drawingml/2006/main" noGrp="1"/>
          </p:cNvSpPr>
          <p:nvPr/>
        </p:nvSpPr>
        <p:spPr>
          <a:xfrm xmlns:a="http://schemas.openxmlformats.org/drawingml/2006/main">
            <a:off x="3556000" y="406400"/>
            <a:ext cx="5080000" cy="190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110000"/>
              </a:lnSpc>
              <a:buNone/>
            </a:pPr>
            <a:r>
              <a:rPr sz="1000">
                <a:solidFill>
                  <a:srgbClr val="6B6B6B"/>
                </a:solidFill>
                <a:latin typeface="Arial"/>
                <a:ea typeface="Arial"/>
                <a:cs typeface="Arial"/>
              </a:rPr>
              <a:t>Protocol Studio  —  REST · GraphQL · gRPC</a:t>
            </a:r>
            <a:endParaRPr sz="1000"/>
          </a:p>
        </p:txBody>
      </p:sp>
      <p:sp>
        <p:nvSpPr>
          <p:cNvPr id="4" name="Text 1">
            <a:extLst xmlns:a="http://schemas.openxmlformats.org/drawingml/2006/main">
              <a:ext uri="{FF2B5EF4-FFF2-40B4-BE49-F238E27FC236}">
                <a16:creationId xmlns:a16="http://schemas.microsoft.com/office/drawing/2014/main" id="{9DA18C09-8139-4EF5-98DF-4E85C3A3C16F}"/>
              </a:ext>
            </a:extLst>
          </p:cNvPr>
          <p:cNvSpPr>
            <a:spLocks xmlns:a="http://schemas.openxmlformats.org/drawingml/2006/main" noGrp="1"/>
          </p:cNvSpPr>
          <p:nvPr/>
        </p:nvSpPr>
        <p:spPr>
          <a:xfrm xmlns:a="http://schemas.openxmlformats.org/drawingml/2006/main">
            <a:off x="6350000" y="406400"/>
            <a:ext cx="5334000" cy="190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ct val="110000"/>
              </a:lnSpc>
              <a:buNone/>
            </a:pPr>
            <a:r>
              <a:rPr sz="1000" b="1">
                <a:solidFill>
                  <a:srgbClr val="DA1884"/>
                </a:solidFill>
                <a:latin typeface="Arial"/>
                <a:ea typeface="Arial"/>
                <a:cs typeface="Arial"/>
              </a:rPr>
              <a:t>REST</a:t>
            </a:r>
            <a:endParaRPr sz="1000"/>
          </a:p>
        </p:txBody>
      </p:sp>
      <p:sp>
        <p:nvSpPr>
          <p:cNvPr id="5" name="Text 2">
            <a:extLst xmlns:a="http://schemas.openxmlformats.org/drawingml/2006/main">
              <a:ext uri="{FF2B5EF4-FFF2-40B4-BE49-F238E27FC236}">
                <a16:creationId xmlns:a16="http://schemas.microsoft.com/office/drawing/2014/main" id="{712A11FA-5928-4C54-A31E-CEA18CAD6901}"/>
              </a:ext>
            </a:extLst>
          </p:cNvPr>
          <p:cNvSpPr>
            <a:spLocks xmlns:a="http://schemas.openxmlformats.org/drawingml/2006/main" noGrp="1"/>
          </p:cNvSpPr>
          <p:nvPr/>
        </p:nvSpPr>
        <p:spPr>
          <a:xfrm xmlns:a="http://schemas.openxmlformats.org/drawingml/2006/main">
            <a:off x="508000" y="6578600"/>
            <a:ext cx="8890000" cy="177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900">
                <a:solidFill>
                  <a:srgbClr val="9E9E9E"/>
                </a:solidFill>
                <a:latin typeface="Arial"/>
                <a:ea typeface="Arial"/>
                <a:cs typeface="Arial"/>
              </a:rPr>
              <a:t>Insight Proprietary &amp; Confidential.  Do Not Copy or Distribute.  © 2026 Insight.  All Rights Reserved.</a:t>
            </a:r>
            <a:endParaRPr sz="900"/>
          </a:p>
        </p:txBody>
      </p:sp>
      <p:sp>
        <p:nvSpPr>
          <p:cNvPr id="6" name="Text 3">
            <a:extLst xmlns:a="http://schemas.openxmlformats.org/drawingml/2006/main">
              <a:ext uri="{FF2B5EF4-FFF2-40B4-BE49-F238E27FC236}">
                <a16:creationId xmlns:a16="http://schemas.microsoft.com/office/drawing/2014/main" id="{581E265B-B9EF-46A3-AA37-D792786B3B83}"/>
              </a:ext>
            </a:extLst>
          </p:cNvPr>
          <p:cNvSpPr>
            <a:spLocks xmlns:a="http://schemas.openxmlformats.org/drawingml/2006/main" noGrp="1"/>
          </p:cNvSpPr>
          <p:nvPr/>
        </p:nvSpPr>
        <p:spPr>
          <a:xfrm xmlns:a="http://schemas.openxmlformats.org/drawingml/2006/main">
            <a:off x="10922000" y="6578600"/>
            <a:ext cx="762000" cy="177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ct val="110000"/>
              </a:lnSpc>
              <a:buNone/>
            </a:pPr>
            <a:r>
              <a:rPr sz="900">
                <a:solidFill>
                  <a:srgbClr val="9E9E9E"/>
                </a:solidFill>
                <a:latin typeface="Arial"/>
                <a:ea typeface="Arial"/>
                <a:cs typeface="Arial"/>
              </a:rPr>
              <a:t>9</a:t>
            </a:r>
            <a:endParaRPr sz="900"/>
          </a:p>
        </p:txBody>
      </p:sp>
      <p:sp>
        <p:nvSpPr>
          <p:cNvPr id="7" name="Text 4">
            <a:extLst xmlns:a="http://schemas.openxmlformats.org/drawingml/2006/main">
              <a:ext uri="{FF2B5EF4-FFF2-40B4-BE49-F238E27FC236}">
                <a16:creationId xmlns:a16="http://schemas.microsoft.com/office/drawing/2014/main" id="{485F7D32-92FF-4F87-9D4B-BFC7B9AB7D94}"/>
              </a:ext>
            </a:extLst>
          </p:cNvPr>
          <p:cNvSpPr>
            <a:spLocks xmlns:a="http://schemas.openxmlformats.org/drawingml/2006/main" noGrp="1"/>
          </p:cNvSpPr>
          <p:nvPr/>
        </p:nvSpPr>
        <p:spPr>
          <a:xfrm xmlns:a="http://schemas.openxmlformats.org/drawingml/2006/main">
            <a:off x="508000" y="889000"/>
            <a:ext cx="11176000" cy="2159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1200" b="1">
                <a:solidFill>
                  <a:srgbClr val="DA1884"/>
                </a:solidFill>
                <a:latin typeface="Arial"/>
                <a:ea typeface="Arial"/>
                <a:cs typeface="Arial"/>
              </a:rPr>
              <a:t>REST · IN THE DEMO</a:t>
            </a:r>
            <a:endParaRPr sz="1200"/>
          </a:p>
        </p:txBody>
      </p:sp>
      <p:sp>
        <p:nvSpPr>
          <p:cNvPr id="8" name="Text 5">
            <a:extLst xmlns:a="http://schemas.openxmlformats.org/drawingml/2006/main">
              <a:ext uri="{FF2B5EF4-FFF2-40B4-BE49-F238E27FC236}">
                <a16:creationId xmlns:a16="http://schemas.microsoft.com/office/drawing/2014/main" id="{9F9F6078-6716-4641-8A34-7653AEAD9C61}"/>
              </a:ext>
            </a:extLst>
          </p:cNvPr>
          <p:cNvSpPr>
            <a:spLocks xmlns:a="http://schemas.openxmlformats.org/drawingml/2006/main" noGrp="1"/>
          </p:cNvSpPr>
          <p:nvPr/>
        </p:nvSpPr>
        <p:spPr>
          <a:xfrm xmlns:a="http://schemas.openxmlformats.org/drawingml/2006/main">
            <a:off x="508000" y="1130300"/>
            <a:ext cx="11176000" cy="482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3000" b="1">
                <a:solidFill>
                  <a:srgbClr val="141414"/>
                </a:solidFill>
                <a:latin typeface="Arial"/>
                <a:ea typeface="Arial"/>
                <a:cs typeface="Arial"/>
              </a:rPr>
              <a:t>REST in Protocol Studio</a:t>
            </a:r>
            <a:endParaRPr sz="3000"/>
          </a:p>
        </p:txBody>
      </p:sp>
      <p:sp>
        <p:nvSpPr>
          <p:cNvPr id="9" name="Text 6">
            <a:extLst xmlns:a="http://schemas.openxmlformats.org/drawingml/2006/main">
              <a:ext uri="{FF2B5EF4-FFF2-40B4-BE49-F238E27FC236}">
                <a16:creationId xmlns:a16="http://schemas.microsoft.com/office/drawing/2014/main" id="{B5BA9816-70C8-41CC-BEC0-2528EAFF1320}"/>
              </a:ext>
            </a:extLst>
          </p:cNvPr>
          <p:cNvSpPr>
            <a:spLocks xmlns:a="http://schemas.openxmlformats.org/drawingml/2006/main" noGrp="1"/>
          </p:cNvSpPr>
          <p:nvPr/>
        </p:nvSpPr>
        <p:spPr>
          <a:xfrm xmlns:a="http://schemas.openxmlformats.org/drawingml/2006/main">
            <a:off x="508000" y="1663700"/>
            <a:ext cx="11176000"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1400">
                <a:solidFill>
                  <a:srgbClr val="6B6B6B"/>
                </a:solidFill>
                <a:latin typeface="Arial"/>
                <a:ea typeface="Arial"/>
                <a:cs typeface="Arial"/>
              </a:rPr>
              <a:t>Single-resource lookups route here: one URL per resource and a cacheable JSON response.</a:t>
            </a:r>
            <a:endParaRPr sz="1400"/>
          </a:p>
        </p:txBody>
      </p:sp>
      <p:sp>
        <p:nvSpPr>
          <p:cNvPr id="11" name="Shape 7">
            <a:extLst xmlns:a="http://schemas.openxmlformats.org/drawingml/2006/main">
              <a:ext uri="{FF2B5EF4-FFF2-40B4-BE49-F238E27FC236}">
                <a16:creationId xmlns:a16="http://schemas.microsoft.com/office/drawing/2014/main" id="{64C849D8-C4EC-4C36-B533-19C93ECAE2BB}"/>
              </a:ext>
            </a:extLst>
          </p:cNvPr>
          <p:cNvSpPr>
            <a:spLocks xmlns:a="http://schemas.openxmlformats.org/drawingml/2006/main" noGrp="1"/>
          </p:cNvSpPr>
          <p:nvPr/>
        </p:nvSpPr>
        <p:spPr>
          <a:xfrm xmlns:a="http://schemas.openxmlformats.org/drawingml/2006/main">
            <a:off x="508000" y="2159000"/>
            <a:ext cx="5588000" cy="3937000"/>
          </a:xfrm>
          <a:prstGeom xmlns:a="http://schemas.openxmlformats.org/drawingml/2006/main" prst="rect">
            <a:avLst/>
          </a:prstGeom>
          <a:solidFill xmlns:a="http://schemas.openxmlformats.org/drawingml/2006/main">
            <a:srgbClr val="1B1B1F"/>
          </a:solidFill>
          <a:effectLst xmlns:a="http://schemas.openxmlformats.org/drawingml/2006/main">
            <a:outerShdw blurRad="50800" dist="25400" dir="5400000" algn="bl" rotWithShape="0">
              <a:srgbClr val="000000">
                <a:alpha val="18000"/>
              </a:srgbClr>
            </a:outerShdw>
          </a:effectLst>
        </p:spPr>
        <p:txBody>
          <a:bodyPr xmlns:a="http://schemas.openxmlformats.org/drawingml/2006/main"/>
          <a:lstStyle xmlns:a="http://schemas.openxmlformats.org/drawingml/2006/main"/>
          <a:p xmlns:a="http://schemas.openxmlformats.org/drawingml/2006/main">
            <a:endParaRPr/>
          </a:p>
        </p:txBody>
      </p:sp>
      <p:sp>
        <p:nvSpPr>
          <p:cNvPr id="12" name="Shape 8">
            <a:extLst xmlns:a="http://schemas.openxmlformats.org/drawingml/2006/main">
              <a:ext uri="{FF2B5EF4-FFF2-40B4-BE49-F238E27FC236}">
                <a16:creationId xmlns:a16="http://schemas.microsoft.com/office/drawing/2014/main" id="{932CD2DB-C323-4B28-9C24-46D9AC5E7E04}"/>
              </a:ext>
            </a:extLst>
          </p:cNvPr>
          <p:cNvSpPr>
            <a:spLocks xmlns:a="http://schemas.openxmlformats.org/drawingml/2006/main" noGrp="1"/>
          </p:cNvSpPr>
          <p:nvPr/>
        </p:nvSpPr>
        <p:spPr>
          <a:xfrm xmlns:a="http://schemas.openxmlformats.org/drawingml/2006/main">
            <a:off x="508000" y="2159000"/>
            <a:ext cx="5588000" cy="355600"/>
          </a:xfrm>
          <a:prstGeom xmlns:a="http://schemas.openxmlformats.org/drawingml/2006/main" prst="rect">
            <a:avLst/>
          </a:prstGeom>
          <a:solidFill xmlns:a="http://schemas.openxmlformats.org/drawingml/2006/main">
            <a:srgbClr val="DA1884"/>
          </a:solidFill>
        </p:spPr>
        <p:txBody>
          <a:bodyPr xmlns:a="http://schemas.openxmlformats.org/drawingml/2006/main"/>
          <a:lstStyle xmlns:a="http://schemas.openxmlformats.org/drawingml/2006/main"/>
          <a:p xmlns:a="http://schemas.openxmlformats.org/drawingml/2006/main">
            <a:endParaRPr/>
          </a:p>
        </p:txBody>
      </p:sp>
      <p:sp>
        <p:nvSpPr>
          <p:cNvPr id="13" name="Text 9">
            <a:extLst xmlns:a="http://schemas.openxmlformats.org/drawingml/2006/main">
              <a:ext uri="{FF2B5EF4-FFF2-40B4-BE49-F238E27FC236}">
                <a16:creationId xmlns:a16="http://schemas.microsoft.com/office/drawing/2014/main" id="{A77ECBC8-E502-47AD-9504-31DB3BFF310F}"/>
              </a:ext>
            </a:extLst>
          </p:cNvPr>
          <p:cNvSpPr>
            <a:spLocks xmlns:a="http://schemas.openxmlformats.org/drawingml/2006/main" noGrp="1"/>
          </p:cNvSpPr>
          <p:nvPr/>
        </p:nvSpPr>
        <p:spPr>
          <a:xfrm xmlns:a="http://schemas.openxmlformats.org/drawingml/2006/main">
            <a:off x="711200" y="2159000"/>
            <a:ext cx="5181600" cy="355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200" b="1">
                <a:solidFill>
                  <a:srgbClr val="FFFFFF"/>
                </a:solidFill>
                <a:latin typeface="Arial"/>
                <a:ea typeface="Arial"/>
                <a:cs typeface="Arial"/>
              </a:rPr>
              <a:t>REQUEST · RESPONSE</a:t>
            </a:r>
            <a:endParaRPr sz="1200"/>
          </a:p>
        </p:txBody>
      </p:sp>
      <p:sp>
        <p:nvSpPr>
          <p:cNvPr id="14" name="Text 10">
            <a:extLst xmlns:a="http://schemas.openxmlformats.org/drawingml/2006/main">
              <a:ext uri="{FF2B5EF4-FFF2-40B4-BE49-F238E27FC236}">
                <a16:creationId xmlns:a16="http://schemas.microsoft.com/office/drawing/2014/main" id="{4D1E09D7-5654-4313-9C7F-B549B12F5200}"/>
              </a:ext>
            </a:extLst>
          </p:cNvPr>
          <p:cNvSpPr>
            <a:spLocks xmlns:a="http://schemas.openxmlformats.org/drawingml/2006/main" noGrp="1"/>
          </p:cNvSpPr>
          <p:nvPr/>
        </p:nvSpPr>
        <p:spPr>
          <a:xfrm xmlns:a="http://schemas.openxmlformats.org/drawingml/2006/main">
            <a:off x="711200" y="2667000"/>
            <a:ext cx="5181600" cy="3276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20000"/>
              </a:lnSpc>
              <a:buNone/>
            </a:pPr>
            <a:r>
              <a:rPr sz="1200">
                <a:solidFill>
                  <a:srgbClr val="EDEDED"/>
                </a:solidFill>
                <a:latin typeface="Consolas"/>
                <a:ea typeface="Consolas"/>
                <a:cs typeface="Consolas"/>
              </a:rPr>
              <a:t>GET /api/catalog/starships/ship:5</a:t>
            </a:r>
            <a:endParaRPr sz="1200"/>
          </a:p>
          <a:p xmlns:a="http://schemas.openxmlformats.org/drawingml/2006/main">
            <a:pPr marL="0" indent="0">
              <a:lnSpc>
                <a:spcPct val="120000"/>
              </a:lnSpc>
              <a:buNone/>
            </a:pPr>
            <a:r>
              <a:rPr sz="1200">
                <a:solidFill>
                  <a:srgbClr val="EDEDED"/>
                </a:solidFill>
                <a:latin typeface="Consolas"/>
                <a:ea typeface="Consolas"/>
                <a:cs typeface="Consolas"/>
              </a:rPr>
              <a:t> </a:t>
            </a:r>
            <a:endParaRPr sz="1200"/>
          </a:p>
          <a:p xmlns:a="http://schemas.openxmlformats.org/drawingml/2006/main">
            <a:pPr marL="0" indent="0">
              <a:lnSpc>
                <a:spcPct val="120000"/>
              </a:lnSpc>
              <a:buNone/>
            </a:pPr>
            <a:r>
              <a:rPr sz="1200">
                <a:solidFill>
                  <a:srgbClr val="EDEDED"/>
                </a:solidFill>
                <a:latin typeface="Consolas"/>
                <a:ea typeface="Consolas"/>
                <a:cs typeface="Consolas"/>
              </a:rPr>
              <a:t>200 OK</a:t>
            </a:r>
            <a:endParaRPr sz="1200"/>
          </a:p>
          <a:p xmlns:a="http://schemas.openxmlformats.org/drawingml/2006/main">
            <a:pPr marL="0" indent="0">
              <a:lnSpc>
                <a:spcPct val="120000"/>
              </a:lnSpc>
              <a:buNone/>
            </a:pPr>
            <a:r>
              <a:rPr sz="1200">
                <a:solidFill>
                  <a:srgbClr val="EDEDED"/>
                </a:solidFill>
                <a:latin typeface="Consolas"/>
                <a:ea typeface="Consolas"/>
                <a:cs typeface="Consolas"/>
              </a:rPr>
              <a:t>Cache-Control: max-age=300</a:t>
            </a:r>
            <a:endParaRPr sz="1200"/>
          </a:p>
          <a:p xmlns:a="http://schemas.openxmlformats.org/drawingml/2006/main">
            <a:pPr marL="0" indent="0">
              <a:lnSpc>
                <a:spcPct val="120000"/>
              </a:lnSpc>
              <a:buNone/>
            </a:pPr>
            <a:r>
              <a:rPr sz="1200">
                <a:solidFill>
                  <a:srgbClr val="EDEDED"/>
                </a:solidFill>
                <a:latin typeface="Consolas"/>
                <a:ea typeface="Consolas"/>
                <a:cs typeface="Consolas"/>
              </a:rPr>
              <a:t>[</a:t>
            </a:r>
            <a:endParaRPr sz="1200"/>
          </a:p>
          <a:p xmlns:a="http://schemas.openxmlformats.org/drawingml/2006/main">
            <a:pPr marL="0" indent="0">
              <a:lnSpc>
                <a:spcPct val="120000"/>
              </a:lnSpc>
              <a:buNone/>
            </a:pPr>
            <a:r>
              <a:rPr sz="1200">
                <a:solidFill>
                  <a:srgbClr val="EDEDED"/>
                </a:solidFill>
                <a:latin typeface="Consolas"/>
                <a:ea typeface="Consolas"/>
                <a:cs typeface="Consolas"/>
              </a:rPr>
              <a:t>  {</a:t>
            </a:r>
            <a:endParaRPr sz="1200"/>
          </a:p>
          <a:p xmlns:a="http://schemas.openxmlformats.org/drawingml/2006/main">
            <a:pPr marL="0" indent="0">
              <a:lnSpc>
                <a:spcPct val="120000"/>
              </a:lnSpc>
              <a:buNone/>
            </a:pPr>
            <a:r>
              <a:rPr sz="1200">
                <a:solidFill>
                  <a:srgbClr val="EDEDED"/>
                </a:solidFill>
                <a:latin typeface="Consolas"/>
                <a:ea typeface="Consolas"/>
                <a:cs typeface="Consolas"/>
              </a:rPr>
              <a:t>    "id": "5",</a:t>
            </a:r>
            <a:endParaRPr sz="1200"/>
          </a:p>
          <a:p xmlns:a="http://schemas.openxmlformats.org/drawingml/2006/main">
            <a:pPr marL="0" indent="0">
              <a:lnSpc>
                <a:spcPct val="120000"/>
              </a:lnSpc>
              <a:buNone/>
            </a:pPr>
            <a:r>
              <a:rPr sz="1200">
                <a:solidFill>
                  <a:srgbClr val="EDEDED"/>
                </a:solidFill>
                <a:latin typeface="Consolas"/>
                <a:ea typeface="Consolas"/>
                <a:cs typeface="Consolas"/>
              </a:rPr>
              <a:t>    "name": "Millennium Falcon",</a:t>
            </a:r>
            <a:endParaRPr sz="1200"/>
          </a:p>
          <a:p xmlns:a="http://schemas.openxmlformats.org/drawingml/2006/main">
            <a:pPr marL="0" indent="0">
              <a:lnSpc>
                <a:spcPct val="120000"/>
              </a:lnSpc>
              <a:buNone/>
            </a:pPr>
            <a:r>
              <a:rPr sz="1200">
                <a:solidFill>
                  <a:srgbClr val="EDEDED"/>
                </a:solidFill>
                <a:latin typeface="Consolas"/>
                <a:ea typeface="Consolas"/>
                <a:cs typeface="Consolas"/>
              </a:rPr>
              <a:t>    "maxSpeed": 1050,</a:t>
            </a:r>
            <a:endParaRPr sz="1200"/>
          </a:p>
          <a:p xmlns:a="http://schemas.openxmlformats.org/drawingml/2006/main">
            <a:pPr marL="0" indent="0">
              <a:lnSpc>
                <a:spcPct val="120000"/>
              </a:lnSpc>
              <a:buNone/>
            </a:pPr>
            <a:r>
              <a:rPr sz="1200">
                <a:solidFill>
                  <a:srgbClr val="EDEDED"/>
                </a:solidFill>
                <a:latin typeface="Consolas"/>
                <a:ea typeface="Consolas"/>
                <a:cs typeface="Consolas"/>
              </a:rPr>
              <a:t>    "length": 34.37,</a:t>
            </a:r>
            <a:endParaRPr sz="1200"/>
          </a:p>
          <a:p xmlns:a="http://schemas.openxmlformats.org/drawingml/2006/main">
            <a:pPr marL="0" indent="0">
              <a:lnSpc>
                <a:spcPct val="120000"/>
              </a:lnSpc>
              <a:buNone/>
            </a:pPr>
            <a:r>
              <a:rPr sz="1200">
                <a:solidFill>
                  <a:srgbClr val="EDEDED"/>
                </a:solidFill>
                <a:latin typeface="Consolas"/>
                <a:ea typeface="Consolas"/>
                <a:cs typeface="Consolas"/>
              </a:rPr>
              <a:t>    </a:t>
            </a:r>
            <a:r>
              <a:rPr sz="1200">
                <a:solidFill>
                  <a:srgbClr val="EDEDED"/>
                </a:solidFill>
                <a:latin typeface="Consolas"/>
                <a:ea typeface="Consolas"/>
                <a:cs typeface="Consolas"/>
              </a:rPr>
              <a:t>"films": [ … ],</a:t>
            </a:r>
            <a:endParaRPr sz="1200"/>
          </a:p>
          <a:p xmlns:a="http://schemas.openxmlformats.org/drawingml/2006/main">
            <a:pPr marL="0" indent="0">
              <a:lnSpc>
                <a:spcPct val="120000"/>
              </a:lnSpc>
              <a:buNone/>
            </a:pPr>
            <a:r>
              <a:rPr sz="1200">
                <a:solidFill>
                  <a:srgbClr val="EDEDED"/>
                </a:solidFill>
                <a:latin typeface="Consolas"/>
                <a:ea typeface="Consolas"/>
                <a:cs typeface="Consolas"/>
              </a:rPr>
              <a:t>    "crew": [ … ]</a:t>
            </a:r>
          </a:p>
          <a:p xmlns:a="http://schemas.openxmlformats.org/drawingml/2006/main">
            <a:pPr marL="0" indent="0">
              <a:lnSpc>
                <a:spcPct val="120000"/>
              </a:lnSpc>
              <a:buNone/>
            </a:pPr>
            <a:r>
              <a:rPr sz="1200">
                <a:solidFill>
                  <a:srgbClr val="EDEDED"/>
                </a:solidFill>
                <a:latin typeface="Consolas"/>
                <a:ea typeface="Consolas"/>
                <a:cs typeface="Consolas"/>
              </a:rPr>
              <a:t>  }</a:t>
            </a:r>
            <a:endParaRPr sz="1200"/>
          </a:p>
          <a:p xmlns:a="http://schemas.openxmlformats.org/drawingml/2006/main">
            <a:pPr marL="0" indent="0">
              <a:lnSpc>
                <a:spcPct val="120000"/>
              </a:lnSpc>
              <a:buNone/>
            </a:pPr>
            <a:r>
              <a:rPr sz="1200">
                <a:solidFill>
                  <a:srgbClr val="EDEDED"/>
                </a:solidFill>
                <a:latin typeface="Consolas"/>
                <a:ea typeface="Consolas"/>
                <a:cs typeface="Consolas"/>
              </a:rPr>
              <a:t>]</a:t>
            </a:r>
            <a:endParaRPr sz="1200"/>
          </a:p>
        </p:txBody>
      </p:sp>
      <p:sp>
        <p:nvSpPr>
          <p:cNvPr id="15" name="Shape 11">
            <a:extLst xmlns:a="http://schemas.openxmlformats.org/drawingml/2006/main">
              <a:ext uri="{FF2B5EF4-FFF2-40B4-BE49-F238E27FC236}">
                <a16:creationId xmlns:a16="http://schemas.microsoft.com/office/drawing/2014/main" id="{ECDE7127-21A8-4F0A-B2CB-6BB367CD22D8}"/>
              </a:ext>
            </a:extLst>
          </p:cNvPr>
          <p:cNvSpPr>
            <a:spLocks xmlns:a="http://schemas.openxmlformats.org/drawingml/2006/main" noGrp="1"/>
          </p:cNvSpPr>
          <p:nvPr/>
        </p:nvSpPr>
        <p:spPr>
          <a:xfrm xmlns:a="http://schemas.openxmlformats.org/drawingml/2006/main">
            <a:off x="6299200" y="2159000"/>
            <a:ext cx="5384800" cy="889000"/>
          </a:xfrm>
          <a:prstGeom xmlns:a="http://schemas.openxmlformats.org/drawingml/2006/main" prst="rect">
            <a:avLst/>
          </a:prstGeom>
          <a:solidFill xmlns:a="http://schemas.openxmlformats.org/drawingml/2006/main">
            <a:srgbClr val="F4F4F4"/>
          </a:solidFill>
          <a:effectLst xmlns:a="http://schemas.openxmlformats.org/drawingml/2006/main">
            <a:outerShdw blurRad="50800" dist="25400" dir="5400000" algn="bl" rotWithShape="0">
              <a:srgbClr val="000000">
                <a:alpha val="18000"/>
              </a:srgbClr>
            </a:outerShdw>
          </a:effectLst>
        </p:spPr>
        <p:txBody>
          <a:bodyPr xmlns:a="http://schemas.openxmlformats.org/drawingml/2006/main"/>
          <a:lstStyle xmlns:a="http://schemas.openxmlformats.org/drawingml/2006/main"/>
          <a:p xmlns:a="http://schemas.openxmlformats.org/drawingml/2006/main">
            <a:endParaRPr/>
          </a:p>
        </p:txBody>
      </p:sp>
      <p:sp>
        <p:nvSpPr>
          <p:cNvPr id="16" name="Shape 12">
            <a:extLst xmlns:a="http://schemas.openxmlformats.org/drawingml/2006/main">
              <a:ext uri="{FF2B5EF4-FFF2-40B4-BE49-F238E27FC236}">
                <a16:creationId xmlns:a16="http://schemas.microsoft.com/office/drawing/2014/main" id="{F359E34B-97E6-4F98-B3CF-10C24406DE7E}"/>
              </a:ext>
            </a:extLst>
          </p:cNvPr>
          <p:cNvSpPr>
            <a:spLocks xmlns:a="http://schemas.openxmlformats.org/drawingml/2006/main" noGrp="1"/>
          </p:cNvSpPr>
          <p:nvPr/>
        </p:nvSpPr>
        <p:spPr>
          <a:xfrm xmlns:a="http://schemas.openxmlformats.org/drawingml/2006/main">
            <a:off x="6299200" y="2159000"/>
            <a:ext cx="63500" cy="889000"/>
          </a:xfrm>
          <a:prstGeom xmlns:a="http://schemas.openxmlformats.org/drawingml/2006/main" prst="rect">
            <a:avLst/>
          </a:prstGeom>
          <a:solidFill xmlns:a="http://schemas.openxmlformats.org/drawingml/2006/main">
            <a:srgbClr val="DA1884"/>
          </a:solidFill>
        </p:spPr>
        <p:txBody>
          <a:bodyPr xmlns:a="http://schemas.openxmlformats.org/drawingml/2006/main"/>
          <a:lstStyle xmlns:a="http://schemas.openxmlformats.org/drawingml/2006/main"/>
          <a:p xmlns:a="http://schemas.openxmlformats.org/drawingml/2006/main">
            <a:endParaRPr/>
          </a:p>
        </p:txBody>
      </p:sp>
      <p:sp>
        <p:nvSpPr>
          <p:cNvPr id="17" name="Text 13">
            <a:extLst xmlns:a="http://schemas.openxmlformats.org/drawingml/2006/main">
              <a:ext uri="{FF2B5EF4-FFF2-40B4-BE49-F238E27FC236}">
                <a16:creationId xmlns:a16="http://schemas.microsoft.com/office/drawing/2014/main" id="{B76415E4-23B6-48E9-B74D-348041A20292}"/>
              </a:ext>
            </a:extLst>
          </p:cNvPr>
          <p:cNvSpPr>
            <a:spLocks xmlns:a="http://schemas.openxmlformats.org/drawingml/2006/main" noGrp="1"/>
          </p:cNvSpPr>
          <p:nvPr/>
        </p:nvSpPr>
        <p:spPr>
          <a:xfrm xmlns:a="http://schemas.openxmlformats.org/drawingml/2006/main">
            <a:off x="6527800" y="2311400"/>
            <a:ext cx="381000" cy="279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1600" b="1">
                <a:solidFill>
                  <a:srgbClr val="DA1884"/>
                </a:solidFill>
                <a:latin typeface="Arial"/>
                <a:ea typeface="Arial"/>
                <a:cs typeface="Arial"/>
              </a:rPr>
              <a:t>01</a:t>
            </a:r>
            <a:endParaRPr sz="1600"/>
          </a:p>
        </p:txBody>
      </p:sp>
      <p:sp>
        <p:nvSpPr>
          <p:cNvPr id="18" name="Text 14">
            <a:extLst xmlns:a="http://schemas.openxmlformats.org/drawingml/2006/main">
              <a:ext uri="{FF2B5EF4-FFF2-40B4-BE49-F238E27FC236}">
                <a16:creationId xmlns:a16="http://schemas.microsoft.com/office/drawing/2014/main" id="{1812F63D-E7F4-4690-9D3B-2A75982D3860}"/>
              </a:ext>
            </a:extLst>
          </p:cNvPr>
          <p:cNvSpPr>
            <a:spLocks xmlns:a="http://schemas.openxmlformats.org/drawingml/2006/main" noGrp="1"/>
          </p:cNvSpPr>
          <p:nvPr/>
        </p:nvSpPr>
        <p:spPr>
          <a:xfrm xmlns:a="http://schemas.openxmlformats.org/drawingml/2006/main">
            <a:off x="7035800" y="2311400"/>
            <a:ext cx="4445000" cy="635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15000"/>
              </a:lnSpc>
              <a:spcAft>
                <a:spcPts val="400"/>
              </a:spcAft>
              <a:buNone/>
            </a:pPr>
            <a:r>
              <a:rPr sz="1300" b="1">
                <a:solidFill>
                  <a:srgbClr val="141414"/>
                </a:solidFill>
                <a:latin typeface="Arial"/>
                <a:ea typeface="Arial"/>
                <a:cs typeface="Arial"/>
              </a:rPr>
              <a:t>One route per resource</a:t>
            </a:r>
            <a:endParaRPr sz="1300"/>
          </a:p>
          <a:p xmlns:a="http://schemas.openxmlformats.org/drawingml/2006/main">
            <a:pPr marL="0" indent="0">
              <a:lnSpc>
                <a:spcPct val="115000"/>
              </a:lnSpc>
              <a:buNone/>
            </a:pPr>
            <a:r>
              <a:rPr sz="1200">
                <a:solidFill>
                  <a:srgbClr val="333333"/>
                </a:solidFill>
                <a:latin typeface="Arial"/>
                <a:ea typeface="Arial"/>
                <a:cs typeface="Arial"/>
              </a:rPr>
              <a:t>/starships/{target}, /films/{id} and </a:t>
            </a:r>
            <a:r>
              <a:rPr sz="1200">
                <a:solidFill>
                  <a:srgbClr val="333333"/>
                </a:solidFill>
                <a:latin typeface="Arial"/>
                <a:ea typeface="Arial"/>
                <a:cs typeface="Arial"/>
              </a:rPr>
              <a:t>/cast/{id}</a:t>
            </a:r>
            <a:r>
              <a:rPr sz="1200">
                <a:solidFill>
                  <a:srgbClr val="333333"/>
                </a:solidFill>
                <a:latin typeface="Arial"/>
                <a:ea typeface="Arial"/>
                <a:cs typeface="Arial"/>
              </a:rPr>
              <a:t> on Spring MVC.</a:t>
            </a:r>
            <a:endParaRPr sz="1300"/>
          </a:p>
        </p:txBody>
      </p:sp>
      <p:sp>
        <p:nvSpPr>
          <p:cNvPr id="19" name="Shape 15">
            <a:extLst xmlns:a="http://schemas.openxmlformats.org/drawingml/2006/main">
              <a:ext uri="{FF2B5EF4-FFF2-40B4-BE49-F238E27FC236}">
                <a16:creationId xmlns:a16="http://schemas.microsoft.com/office/drawing/2014/main" id="{9C04BDE6-61A0-452B-8B0C-A6FC08AB6812}"/>
              </a:ext>
            </a:extLst>
          </p:cNvPr>
          <p:cNvSpPr>
            <a:spLocks xmlns:a="http://schemas.openxmlformats.org/drawingml/2006/main" noGrp="1"/>
          </p:cNvSpPr>
          <p:nvPr/>
        </p:nvSpPr>
        <p:spPr>
          <a:xfrm xmlns:a="http://schemas.openxmlformats.org/drawingml/2006/main">
            <a:off x="6299200" y="3149600"/>
            <a:ext cx="5384800" cy="889000"/>
          </a:xfrm>
          <a:prstGeom xmlns:a="http://schemas.openxmlformats.org/drawingml/2006/main" prst="rect">
            <a:avLst/>
          </a:prstGeom>
          <a:solidFill xmlns:a="http://schemas.openxmlformats.org/drawingml/2006/main">
            <a:srgbClr val="F4F4F4"/>
          </a:solidFill>
          <a:effectLst xmlns:a="http://schemas.openxmlformats.org/drawingml/2006/main">
            <a:outerShdw blurRad="50800" dist="25400" dir="5400000" algn="bl" rotWithShape="0">
              <a:srgbClr val="000000">
                <a:alpha val="18000"/>
              </a:srgbClr>
            </a:outerShdw>
          </a:effectLst>
        </p:spPr>
        <p:txBody>
          <a:bodyPr xmlns:a="http://schemas.openxmlformats.org/drawingml/2006/main"/>
          <a:lstStyle xmlns:a="http://schemas.openxmlformats.org/drawingml/2006/main"/>
          <a:p xmlns:a="http://schemas.openxmlformats.org/drawingml/2006/main">
            <a:endParaRPr/>
          </a:p>
        </p:txBody>
      </p:sp>
      <p:sp>
        <p:nvSpPr>
          <p:cNvPr id="20" name="Shape 16">
            <a:extLst xmlns:a="http://schemas.openxmlformats.org/drawingml/2006/main">
              <a:ext uri="{FF2B5EF4-FFF2-40B4-BE49-F238E27FC236}">
                <a16:creationId xmlns:a16="http://schemas.microsoft.com/office/drawing/2014/main" id="{92FDBF76-8EE5-4D0F-A397-B446ECFA57E2}"/>
              </a:ext>
            </a:extLst>
          </p:cNvPr>
          <p:cNvSpPr>
            <a:spLocks xmlns:a="http://schemas.openxmlformats.org/drawingml/2006/main" noGrp="1"/>
          </p:cNvSpPr>
          <p:nvPr/>
        </p:nvSpPr>
        <p:spPr>
          <a:xfrm xmlns:a="http://schemas.openxmlformats.org/drawingml/2006/main">
            <a:off x="6299200" y="3149600"/>
            <a:ext cx="63500" cy="889000"/>
          </a:xfrm>
          <a:prstGeom xmlns:a="http://schemas.openxmlformats.org/drawingml/2006/main" prst="rect">
            <a:avLst/>
          </a:prstGeom>
          <a:solidFill xmlns:a="http://schemas.openxmlformats.org/drawingml/2006/main">
            <a:srgbClr val="DA1884"/>
          </a:solidFill>
        </p:spPr>
        <p:txBody>
          <a:bodyPr xmlns:a="http://schemas.openxmlformats.org/drawingml/2006/main"/>
          <a:lstStyle xmlns:a="http://schemas.openxmlformats.org/drawingml/2006/main"/>
          <a:p xmlns:a="http://schemas.openxmlformats.org/drawingml/2006/main">
            <a:endParaRPr/>
          </a:p>
        </p:txBody>
      </p:sp>
      <p:sp>
        <p:nvSpPr>
          <p:cNvPr id="21" name="Text 17">
            <a:extLst xmlns:a="http://schemas.openxmlformats.org/drawingml/2006/main">
              <a:ext uri="{FF2B5EF4-FFF2-40B4-BE49-F238E27FC236}">
                <a16:creationId xmlns:a16="http://schemas.microsoft.com/office/drawing/2014/main" id="{026632E0-36FF-4073-B07F-E573A578BF2D}"/>
              </a:ext>
            </a:extLst>
          </p:cNvPr>
          <p:cNvSpPr>
            <a:spLocks xmlns:a="http://schemas.openxmlformats.org/drawingml/2006/main" noGrp="1"/>
          </p:cNvSpPr>
          <p:nvPr/>
        </p:nvSpPr>
        <p:spPr>
          <a:xfrm xmlns:a="http://schemas.openxmlformats.org/drawingml/2006/main">
            <a:off x="6527800" y="3302000"/>
            <a:ext cx="381000" cy="279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1600" b="1">
                <a:solidFill>
                  <a:srgbClr val="DA1884"/>
                </a:solidFill>
                <a:latin typeface="Arial"/>
                <a:ea typeface="Arial"/>
                <a:cs typeface="Arial"/>
              </a:rPr>
              <a:t>02</a:t>
            </a:r>
            <a:endParaRPr sz="1600"/>
          </a:p>
        </p:txBody>
      </p:sp>
      <p:sp>
        <p:nvSpPr>
          <p:cNvPr id="22" name="Text 18">
            <a:extLst xmlns:a="http://schemas.openxmlformats.org/drawingml/2006/main">
              <a:ext uri="{FF2B5EF4-FFF2-40B4-BE49-F238E27FC236}">
                <a16:creationId xmlns:a16="http://schemas.microsoft.com/office/drawing/2014/main" id="{F467DB33-6288-4A05-9243-32F435923F1C}"/>
              </a:ext>
            </a:extLst>
          </p:cNvPr>
          <p:cNvSpPr>
            <a:spLocks xmlns:a="http://schemas.openxmlformats.org/drawingml/2006/main" noGrp="1"/>
          </p:cNvSpPr>
          <p:nvPr/>
        </p:nvSpPr>
        <p:spPr>
          <a:xfrm xmlns:a="http://schemas.openxmlformats.org/drawingml/2006/main">
            <a:off x="7035800" y="3302000"/>
            <a:ext cx="4445000" cy="635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15000"/>
              </a:lnSpc>
              <a:spcAft>
                <a:spcPts val="400"/>
              </a:spcAft>
              <a:buNone/>
            </a:pPr>
            <a:r>
              <a:rPr sz="1300" b="1">
                <a:solidFill>
                  <a:srgbClr val="141414"/>
                </a:solidFill>
                <a:latin typeface="Arial"/>
                <a:ea typeface="Arial"/>
                <a:cs typeface="Arial"/>
              </a:rPr>
              <a:t>Cacheable by default</a:t>
            </a:r>
            <a:endParaRPr sz="1300"/>
          </a:p>
          <a:p xmlns:a="http://schemas.openxmlformats.org/drawingml/2006/main">
            <a:pPr marL="0" indent="0">
              <a:lnSpc>
                <a:spcPct val="115000"/>
              </a:lnSpc>
              <a:buNone/>
            </a:pPr>
            <a:r>
              <a:rPr sz="1200">
                <a:solidFill>
                  <a:srgbClr val="333333"/>
                </a:solidFill>
                <a:latin typeface="Arial"/>
                <a:ea typeface="Arial"/>
                <a:cs typeface="Arial"/>
              </a:rPr>
              <a:t>Starship reads send Cache-Control: max-age=300.</a:t>
            </a:r>
            <a:endParaRPr sz="1300"/>
          </a:p>
        </p:txBody>
      </p:sp>
      <p:sp>
        <p:nvSpPr>
          <p:cNvPr id="23" name="Shape 19">
            <a:extLst xmlns:a="http://schemas.openxmlformats.org/drawingml/2006/main">
              <a:ext uri="{FF2B5EF4-FFF2-40B4-BE49-F238E27FC236}">
                <a16:creationId xmlns:a16="http://schemas.microsoft.com/office/drawing/2014/main" id="{99349EEA-AD1F-426E-9CAE-C41C472A79A0}"/>
              </a:ext>
            </a:extLst>
          </p:cNvPr>
          <p:cNvSpPr>
            <a:spLocks xmlns:a="http://schemas.openxmlformats.org/drawingml/2006/main" noGrp="1"/>
          </p:cNvSpPr>
          <p:nvPr/>
        </p:nvSpPr>
        <p:spPr>
          <a:xfrm xmlns:a="http://schemas.openxmlformats.org/drawingml/2006/main">
            <a:off x="6299200" y="4140200"/>
            <a:ext cx="5384800" cy="889000"/>
          </a:xfrm>
          <a:prstGeom xmlns:a="http://schemas.openxmlformats.org/drawingml/2006/main" prst="rect">
            <a:avLst/>
          </a:prstGeom>
          <a:solidFill xmlns:a="http://schemas.openxmlformats.org/drawingml/2006/main">
            <a:srgbClr val="F4F4F4"/>
          </a:solidFill>
          <a:effectLst xmlns:a="http://schemas.openxmlformats.org/drawingml/2006/main">
            <a:outerShdw blurRad="50800" dist="25400" dir="5400000" algn="bl" rotWithShape="0">
              <a:srgbClr val="000000">
                <a:alpha val="18000"/>
              </a:srgbClr>
            </a:outerShdw>
          </a:effectLst>
        </p:spPr>
        <p:txBody>
          <a:bodyPr xmlns:a="http://schemas.openxmlformats.org/drawingml/2006/main"/>
          <a:lstStyle xmlns:a="http://schemas.openxmlformats.org/drawingml/2006/main"/>
          <a:p xmlns:a="http://schemas.openxmlformats.org/drawingml/2006/main">
            <a:endParaRPr/>
          </a:p>
        </p:txBody>
      </p:sp>
      <p:sp>
        <p:nvSpPr>
          <p:cNvPr id="24" name="Shape 20">
            <a:extLst xmlns:a="http://schemas.openxmlformats.org/drawingml/2006/main">
              <a:ext uri="{FF2B5EF4-FFF2-40B4-BE49-F238E27FC236}">
                <a16:creationId xmlns:a16="http://schemas.microsoft.com/office/drawing/2014/main" id="{693FEACB-C71C-4624-83DA-AFB396E5ACAF}"/>
              </a:ext>
            </a:extLst>
          </p:cNvPr>
          <p:cNvSpPr>
            <a:spLocks xmlns:a="http://schemas.openxmlformats.org/drawingml/2006/main" noGrp="1"/>
          </p:cNvSpPr>
          <p:nvPr/>
        </p:nvSpPr>
        <p:spPr>
          <a:xfrm xmlns:a="http://schemas.openxmlformats.org/drawingml/2006/main">
            <a:off x="6299200" y="4140200"/>
            <a:ext cx="63500" cy="889000"/>
          </a:xfrm>
          <a:prstGeom xmlns:a="http://schemas.openxmlformats.org/drawingml/2006/main" prst="rect">
            <a:avLst/>
          </a:prstGeom>
          <a:solidFill xmlns:a="http://schemas.openxmlformats.org/drawingml/2006/main">
            <a:srgbClr val="DA1884"/>
          </a:solidFill>
        </p:spPr>
        <p:txBody>
          <a:bodyPr xmlns:a="http://schemas.openxmlformats.org/drawingml/2006/main"/>
          <a:lstStyle xmlns:a="http://schemas.openxmlformats.org/drawingml/2006/main"/>
          <a:p xmlns:a="http://schemas.openxmlformats.org/drawingml/2006/main">
            <a:endParaRPr/>
          </a:p>
        </p:txBody>
      </p:sp>
      <p:sp>
        <p:nvSpPr>
          <p:cNvPr id="25" name="Text 21">
            <a:extLst xmlns:a="http://schemas.openxmlformats.org/drawingml/2006/main">
              <a:ext uri="{FF2B5EF4-FFF2-40B4-BE49-F238E27FC236}">
                <a16:creationId xmlns:a16="http://schemas.microsoft.com/office/drawing/2014/main" id="{C6EC2361-3806-4A31-9CA9-6572BA5F834E}"/>
              </a:ext>
            </a:extLst>
          </p:cNvPr>
          <p:cNvSpPr>
            <a:spLocks xmlns:a="http://schemas.openxmlformats.org/drawingml/2006/main" noGrp="1"/>
          </p:cNvSpPr>
          <p:nvPr/>
        </p:nvSpPr>
        <p:spPr>
          <a:xfrm xmlns:a="http://schemas.openxmlformats.org/drawingml/2006/main">
            <a:off x="6527800" y="4292600"/>
            <a:ext cx="381000" cy="279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1600" b="1">
                <a:solidFill>
                  <a:srgbClr val="DA1884"/>
                </a:solidFill>
                <a:latin typeface="Arial"/>
                <a:ea typeface="Arial"/>
                <a:cs typeface="Arial"/>
              </a:rPr>
              <a:t>03</a:t>
            </a:r>
            <a:endParaRPr sz="1600"/>
          </a:p>
        </p:txBody>
      </p:sp>
      <p:sp>
        <p:nvSpPr>
          <p:cNvPr id="26" name="Text 22">
            <a:extLst xmlns:a="http://schemas.openxmlformats.org/drawingml/2006/main">
              <a:ext uri="{FF2B5EF4-FFF2-40B4-BE49-F238E27FC236}">
                <a16:creationId xmlns:a16="http://schemas.microsoft.com/office/drawing/2014/main" id="{CACE3486-CF76-453B-89B6-763E66902924}"/>
              </a:ext>
            </a:extLst>
          </p:cNvPr>
          <p:cNvSpPr>
            <a:spLocks xmlns:a="http://schemas.openxmlformats.org/drawingml/2006/main" noGrp="1"/>
          </p:cNvSpPr>
          <p:nvPr/>
        </p:nvSpPr>
        <p:spPr>
          <a:xfrm xmlns:a="http://schemas.openxmlformats.org/drawingml/2006/main">
            <a:off x="7035800" y="4292600"/>
            <a:ext cx="4445000" cy="635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15000"/>
              </a:lnSpc>
              <a:spcAft>
                <a:spcPts val="400"/>
              </a:spcAft>
              <a:buNone/>
            </a:pPr>
            <a:r>
              <a:rPr sz="1300" b="1">
                <a:solidFill>
                  <a:srgbClr val="141414"/>
                </a:solidFill>
                <a:latin typeface="Arial"/>
                <a:ea typeface="Arial"/>
                <a:cs typeface="Arial"/>
              </a:rPr>
              <a:t>Picked for simple lookups</a:t>
            </a:r>
            <a:endParaRPr sz="1300"/>
          </a:p>
          <a:p xmlns:a="http://schemas.openxmlformats.org/drawingml/2006/main">
            <a:pPr marL="0" indent="0">
              <a:lnSpc>
                <a:spcPct val="115000"/>
              </a:lnSpc>
              <a:buNone/>
            </a:pPr>
            <a:r>
              <a:rPr sz="1200">
                <a:solidFill>
                  <a:srgbClr val="333333"/>
                </a:solidFill>
                <a:latin typeface="Arial"/>
                <a:ea typeface="Arial"/>
                <a:cs typeface="Arial"/>
              </a:rPr>
              <a:t>The router sends speed, length and detail questions here.</a:t>
            </a:r>
            <a:endParaRPr sz="1300"/>
          </a:p>
        </p:txBody>
      </p:sp>
      <p:sp>
        <p:nvSpPr>
          <p:cNvPr id="27" name="Shape 23">
            <a:extLst xmlns:a="http://schemas.openxmlformats.org/drawingml/2006/main">
              <a:ext uri="{FF2B5EF4-FFF2-40B4-BE49-F238E27FC236}">
                <a16:creationId xmlns:a16="http://schemas.microsoft.com/office/drawing/2014/main" id="{9AAE5798-6898-4ED6-9CE8-EAD537F25DF4}"/>
              </a:ext>
            </a:extLst>
          </p:cNvPr>
          <p:cNvSpPr>
            <a:spLocks xmlns:a="http://schemas.openxmlformats.org/drawingml/2006/main" noGrp="1"/>
          </p:cNvSpPr>
          <p:nvPr/>
        </p:nvSpPr>
        <p:spPr>
          <a:xfrm xmlns:a="http://schemas.openxmlformats.org/drawingml/2006/main">
            <a:off x="6299200" y="5130800"/>
            <a:ext cx="5384800" cy="787400"/>
          </a:xfrm>
          <a:prstGeom xmlns:a="http://schemas.openxmlformats.org/drawingml/2006/main" prst="rect">
            <a:avLst/>
          </a:prstGeom>
          <a:solidFill xmlns:a="http://schemas.openxmlformats.org/drawingml/2006/main">
            <a:srgbClr val="F4F4F4"/>
          </a:solidFill>
          <a:effectLst xmlns:a="http://schemas.openxmlformats.org/drawingml/2006/main">
            <a:outerShdw blurRad="50800" dist="25400" dir="5400000" algn="bl" rotWithShape="0">
              <a:srgbClr val="000000">
                <a:alpha val="18000"/>
              </a:srgbClr>
            </a:outerShdw>
          </a:effectLst>
        </p:spPr>
        <p:txBody>
          <a:bodyPr xmlns:a="http://schemas.openxmlformats.org/drawingml/2006/main"/>
          <a:lstStyle xmlns:a="http://schemas.openxmlformats.org/drawingml/2006/main"/>
          <a:p xmlns:a="http://schemas.openxmlformats.org/drawingml/2006/main">
            <a:endParaRPr/>
          </a:p>
        </p:txBody>
      </p:sp>
      <p:sp>
        <p:nvSpPr>
          <p:cNvPr id="28" name="Shape 24">
            <a:extLst xmlns:a="http://schemas.openxmlformats.org/drawingml/2006/main">
              <a:ext uri="{FF2B5EF4-FFF2-40B4-BE49-F238E27FC236}">
                <a16:creationId xmlns:a16="http://schemas.microsoft.com/office/drawing/2014/main" id="{C78A6666-60B4-4B57-B9D0-6A650E235D34}"/>
              </a:ext>
            </a:extLst>
          </p:cNvPr>
          <p:cNvSpPr>
            <a:spLocks xmlns:a="http://schemas.openxmlformats.org/drawingml/2006/main" noGrp="1"/>
          </p:cNvSpPr>
          <p:nvPr/>
        </p:nvSpPr>
        <p:spPr>
          <a:xfrm xmlns:a="http://schemas.openxmlformats.org/drawingml/2006/main">
            <a:off x="6299200" y="5130800"/>
            <a:ext cx="76200" cy="787400"/>
          </a:xfrm>
          <a:prstGeom xmlns:a="http://schemas.openxmlformats.org/drawingml/2006/main" prst="rect">
            <a:avLst/>
          </a:prstGeom>
          <a:solidFill xmlns:a="http://schemas.openxmlformats.org/drawingml/2006/main">
            <a:srgbClr val="DA1884"/>
          </a:solidFill>
        </p:spPr>
        <p:txBody>
          <a:bodyPr xmlns:a="http://schemas.openxmlformats.org/drawingml/2006/main"/>
          <a:lstStyle xmlns:a="http://schemas.openxmlformats.org/drawingml/2006/main"/>
          <a:p xmlns:a="http://schemas.openxmlformats.org/drawingml/2006/main">
            <a:endParaRPr/>
          </a:p>
        </p:txBody>
      </p:sp>
      <p:sp>
        <p:nvSpPr>
          <p:cNvPr id="29" name="Text 25">
            <a:extLst xmlns:a="http://schemas.openxmlformats.org/drawingml/2006/main">
              <a:ext uri="{FF2B5EF4-FFF2-40B4-BE49-F238E27FC236}">
                <a16:creationId xmlns:a16="http://schemas.microsoft.com/office/drawing/2014/main" id="{E13BFD11-E1BE-4C40-AB00-D6A7887AA7EE}"/>
              </a:ext>
            </a:extLst>
          </p:cNvPr>
          <p:cNvSpPr>
            <a:spLocks xmlns:a="http://schemas.openxmlformats.org/drawingml/2006/main" noGrp="1"/>
          </p:cNvSpPr>
          <p:nvPr/>
        </p:nvSpPr>
        <p:spPr>
          <a:xfrm xmlns:a="http://schemas.openxmlformats.org/drawingml/2006/main">
            <a:off x="6578600" y="5130800"/>
            <a:ext cx="4876800" cy="787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200" b="1">
                <a:solidFill>
                  <a:srgbClr val="141414"/>
                </a:solidFill>
                <a:latin typeface="Arial"/>
                <a:ea typeface="Arial"/>
                <a:cs typeface="Arial"/>
              </a:rPr>
              <a:t>Try it:  </a:t>
            </a:r>
            <a:r>
              <a:rPr sz="1200">
                <a:solidFill>
                  <a:srgbClr val="141414"/>
                </a:solidFill>
                <a:latin typeface="Arial"/>
                <a:ea typeface="Arial"/>
                <a:cs typeface="Arial"/>
              </a:rPr>
              <a:t>“Tell me about the Millennium Falcon.”</a:t>
            </a:r>
            <a:endParaRPr sz="1200"/>
          </a:p>
        </p:txBody>
      </p:sp>
    </p:spTree>
    <p:extLst>
      <p:ext uri="{BB962C8B-B14F-4D97-AF65-F5344CB8AC3E}">
        <p14:creationId xmlns:p14="http://schemas.microsoft.com/office/powerpoint/2010/main" val="97383438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2225E67C-86A9-4091-8A26-9328B9273265}"/>
              </a:ext>
            </a:extLst>
          </p:cNvPr>
          <p:cNvPicPr>
            <a:picLocks xmlns:a="http://schemas.openxmlformats.org/drawingml/2006/main" noChangeAspect="1"/>
          </p:cNvPicPr>
          <p:nvPr/>
        </p:nvPicPr>
        <p:blipFill>
          <a:blip xmlns:r="http://schemas.openxmlformats.org/officeDocument/2006/relationships" xmlns:a="http://schemas.openxmlformats.org/drawingml/2006/main" r:embed="R1224d52211474f2a"/>
          <a:stretch xmlns:a="http://schemas.openxmlformats.org/drawingml/2006/main">
            <a:fillRect l="0" t="0" r="0" b="0"/>
          </a:stretch>
        </p:blipFill>
        <p:spPr>
          <a:xfrm xmlns:a="http://schemas.openxmlformats.org/drawingml/2006/main">
            <a:off x="508000" y="152400"/>
            <a:ext cx="990600" cy="40640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1202205A-EC68-458C-AFA9-A6FFE6E5D4A9}"/>
              </a:ext>
            </a:extLst>
          </p:cNvPr>
          <p:cNvSpPr>
            <a:spLocks xmlns:a="http://schemas.openxmlformats.org/drawingml/2006/main" noGrp="1"/>
          </p:cNvSpPr>
          <p:nvPr/>
        </p:nvSpPr>
        <p:spPr>
          <a:xfrm xmlns:a="http://schemas.openxmlformats.org/drawingml/2006/main">
            <a:off x="3556000" y="406400"/>
            <a:ext cx="5080000" cy="190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110000"/>
              </a:lnSpc>
              <a:buNone/>
            </a:pPr>
            <a:r>
              <a:rPr sz="1000">
                <a:solidFill>
                  <a:srgbClr val="6B6B6B"/>
                </a:solidFill>
                <a:latin typeface="Arial"/>
                <a:ea typeface="Arial"/>
                <a:cs typeface="Arial"/>
              </a:rPr>
              <a:t>Protocol Studio  —  REST · GraphQL · gRPC</a:t>
            </a:r>
            <a:endParaRPr sz="1000"/>
          </a:p>
        </p:txBody>
      </p:sp>
      <p:sp>
        <p:nvSpPr>
          <p:cNvPr id="4" name="Text 1">
            <a:extLst xmlns:a="http://schemas.openxmlformats.org/drawingml/2006/main">
              <a:ext uri="{FF2B5EF4-FFF2-40B4-BE49-F238E27FC236}">
                <a16:creationId xmlns:a16="http://schemas.microsoft.com/office/drawing/2014/main" id="{44916043-EB48-4C51-A488-2D64B0645AFA}"/>
              </a:ext>
            </a:extLst>
          </p:cNvPr>
          <p:cNvSpPr>
            <a:spLocks xmlns:a="http://schemas.openxmlformats.org/drawingml/2006/main" noGrp="1"/>
          </p:cNvSpPr>
          <p:nvPr/>
        </p:nvSpPr>
        <p:spPr>
          <a:xfrm xmlns:a="http://schemas.openxmlformats.org/drawingml/2006/main">
            <a:off x="6350000" y="406400"/>
            <a:ext cx="5334000" cy="190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ct val="110000"/>
              </a:lnSpc>
              <a:buNone/>
            </a:pPr>
            <a:r>
              <a:rPr sz="1000" b="1">
                <a:solidFill>
                  <a:srgbClr val="DA1884"/>
                </a:solidFill>
                <a:latin typeface="Arial"/>
                <a:ea typeface="Arial"/>
                <a:cs typeface="Arial"/>
              </a:rPr>
              <a:t>GRAPHQL</a:t>
            </a:r>
            <a:endParaRPr sz="1000"/>
          </a:p>
        </p:txBody>
      </p:sp>
      <p:sp>
        <p:nvSpPr>
          <p:cNvPr id="5" name="Text 2">
            <a:extLst xmlns:a="http://schemas.openxmlformats.org/drawingml/2006/main">
              <a:ext uri="{FF2B5EF4-FFF2-40B4-BE49-F238E27FC236}">
                <a16:creationId xmlns:a16="http://schemas.microsoft.com/office/drawing/2014/main" id="{50395DC2-04BE-49A4-90FE-5206676E7DFF}"/>
              </a:ext>
            </a:extLst>
          </p:cNvPr>
          <p:cNvSpPr>
            <a:spLocks xmlns:a="http://schemas.openxmlformats.org/drawingml/2006/main" noGrp="1"/>
          </p:cNvSpPr>
          <p:nvPr/>
        </p:nvSpPr>
        <p:spPr>
          <a:xfrm xmlns:a="http://schemas.openxmlformats.org/drawingml/2006/main">
            <a:off x="508000" y="6578600"/>
            <a:ext cx="8890000" cy="177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900">
                <a:solidFill>
                  <a:srgbClr val="9E9E9E"/>
                </a:solidFill>
                <a:latin typeface="Arial"/>
                <a:ea typeface="Arial"/>
                <a:cs typeface="Arial"/>
              </a:rPr>
              <a:t>Insight Proprietary &amp; Confidential.  Do Not Copy or Distribute.  © 2026 Insight.  All Rights Reserved.</a:t>
            </a:r>
            <a:endParaRPr sz="900"/>
          </a:p>
        </p:txBody>
      </p:sp>
      <p:sp>
        <p:nvSpPr>
          <p:cNvPr id="6" name="Text 3">
            <a:extLst xmlns:a="http://schemas.openxmlformats.org/drawingml/2006/main">
              <a:ext uri="{FF2B5EF4-FFF2-40B4-BE49-F238E27FC236}">
                <a16:creationId xmlns:a16="http://schemas.microsoft.com/office/drawing/2014/main" id="{C4A191A1-C27A-4A86-9130-BC2300B24DAE}"/>
              </a:ext>
            </a:extLst>
          </p:cNvPr>
          <p:cNvSpPr>
            <a:spLocks xmlns:a="http://schemas.openxmlformats.org/drawingml/2006/main" noGrp="1"/>
          </p:cNvSpPr>
          <p:nvPr/>
        </p:nvSpPr>
        <p:spPr>
          <a:xfrm xmlns:a="http://schemas.openxmlformats.org/drawingml/2006/main">
            <a:off x="10922000" y="6578600"/>
            <a:ext cx="762000" cy="177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ct val="110000"/>
              </a:lnSpc>
              <a:buNone/>
            </a:pPr>
            <a:r>
              <a:rPr sz="900">
                <a:solidFill>
                  <a:srgbClr val="9E9E9E"/>
                </a:solidFill>
                <a:latin typeface="Arial"/>
                <a:ea typeface="Arial"/>
                <a:cs typeface="Arial"/>
              </a:rPr>
              <a:t>10</a:t>
            </a:r>
            <a:endParaRPr sz="900"/>
          </a:p>
        </p:txBody>
      </p:sp>
      <p:sp>
        <p:nvSpPr>
          <p:cNvPr id="7" name="Text 4">
            <a:extLst xmlns:a="http://schemas.openxmlformats.org/drawingml/2006/main">
              <a:ext uri="{FF2B5EF4-FFF2-40B4-BE49-F238E27FC236}">
                <a16:creationId xmlns:a16="http://schemas.microsoft.com/office/drawing/2014/main" id="{4D2CBC25-D6C1-4FFB-83AF-C4608736FA1C}"/>
              </a:ext>
            </a:extLst>
          </p:cNvPr>
          <p:cNvSpPr>
            <a:spLocks xmlns:a="http://schemas.openxmlformats.org/drawingml/2006/main" noGrp="1"/>
          </p:cNvSpPr>
          <p:nvPr/>
        </p:nvSpPr>
        <p:spPr>
          <a:xfrm xmlns:a="http://schemas.openxmlformats.org/drawingml/2006/main">
            <a:off x="508000" y="889000"/>
            <a:ext cx="11176000" cy="2159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1200" b="1">
                <a:solidFill>
                  <a:srgbClr val="DA1884"/>
                </a:solidFill>
                <a:latin typeface="Arial"/>
                <a:ea typeface="Arial"/>
                <a:cs typeface="Arial"/>
              </a:rPr>
              <a:t>GRAPHQL · HOW IT WORKS</a:t>
            </a:r>
            <a:endParaRPr sz="1200"/>
          </a:p>
        </p:txBody>
      </p:sp>
      <p:sp>
        <p:nvSpPr>
          <p:cNvPr id="8" name="Text 5">
            <a:extLst xmlns:a="http://schemas.openxmlformats.org/drawingml/2006/main">
              <a:ext uri="{FF2B5EF4-FFF2-40B4-BE49-F238E27FC236}">
                <a16:creationId xmlns:a16="http://schemas.microsoft.com/office/drawing/2014/main" id="{886670DE-AD11-40FE-806B-BC520C1147F5}"/>
              </a:ext>
            </a:extLst>
          </p:cNvPr>
          <p:cNvSpPr>
            <a:spLocks xmlns:a="http://schemas.openxmlformats.org/drawingml/2006/main" noGrp="1"/>
          </p:cNvSpPr>
          <p:nvPr/>
        </p:nvSpPr>
        <p:spPr>
          <a:xfrm xmlns:a="http://schemas.openxmlformats.org/drawingml/2006/main">
            <a:off x="508000" y="1130300"/>
            <a:ext cx="11176000" cy="482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3000" b="1">
                <a:solidFill>
                  <a:srgbClr val="141414"/>
                </a:solidFill>
                <a:latin typeface="Arial"/>
                <a:ea typeface="Arial"/>
                <a:cs typeface="Arial"/>
              </a:rPr>
              <a:t>GraphQL: Ask for Exactly What You Need</a:t>
            </a:r>
            <a:endParaRPr sz="3000"/>
          </a:p>
        </p:txBody>
      </p:sp>
      <p:sp>
        <p:nvSpPr>
          <p:cNvPr id="9" name="Text 6">
            <a:extLst xmlns:a="http://schemas.openxmlformats.org/drawingml/2006/main">
              <a:ext uri="{FF2B5EF4-FFF2-40B4-BE49-F238E27FC236}">
                <a16:creationId xmlns:a16="http://schemas.microsoft.com/office/drawing/2014/main" id="{D38EF1E0-5A2F-4E0E-A377-7C11B0C720AD}"/>
              </a:ext>
            </a:extLst>
          </p:cNvPr>
          <p:cNvSpPr>
            <a:spLocks xmlns:a="http://schemas.openxmlformats.org/drawingml/2006/main" noGrp="1"/>
          </p:cNvSpPr>
          <p:nvPr/>
        </p:nvSpPr>
        <p:spPr>
          <a:xfrm xmlns:a="http://schemas.openxmlformats.org/drawingml/2006/main">
            <a:off x="508000" y="1663700"/>
            <a:ext cx="11176000"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1400">
                <a:solidFill>
                  <a:srgbClr val="6B6B6B"/>
                </a:solidFill>
                <a:latin typeface="Arial"/>
                <a:ea typeface="Arial"/>
                <a:cs typeface="Arial"/>
              </a:rPr>
              <a:t>One endpoint and one typed schema. The client decides the shape of the response.</a:t>
            </a:r>
            <a:endParaRPr sz="1400"/>
          </a:p>
        </p:txBody>
      </p:sp>
      <p:sp>
        <p:nvSpPr>
          <p:cNvPr id="11" name="Shape 7">
            <a:extLst xmlns:a="http://schemas.openxmlformats.org/drawingml/2006/main">
              <a:ext uri="{FF2B5EF4-FFF2-40B4-BE49-F238E27FC236}">
                <a16:creationId xmlns:a16="http://schemas.microsoft.com/office/drawing/2014/main" id="{26E42B86-1A84-4700-B9F1-92B4E24B0AEC}"/>
              </a:ext>
            </a:extLst>
          </p:cNvPr>
          <p:cNvSpPr>
            <a:spLocks xmlns:a="http://schemas.openxmlformats.org/drawingml/2006/main" noGrp="1"/>
          </p:cNvSpPr>
          <p:nvPr/>
        </p:nvSpPr>
        <p:spPr>
          <a:xfrm xmlns:a="http://schemas.openxmlformats.org/drawingml/2006/main">
            <a:off x="508000" y="2159000"/>
            <a:ext cx="5486400" cy="2794000"/>
          </a:xfrm>
          <a:prstGeom xmlns:a="http://schemas.openxmlformats.org/drawingml/2006/main" prst="rect">
            <a:avLst/>
          </a:prstGeom>
          <a:solidFill xmlns:a="http://schemas.openxmlformats.org/drawingml/2006/main">
            <a:srgbClr val="F4F4F4"/>
          </a:solidFill>
          <a:effectLst xmlns:a="http://schemas.openxmlformats.org/drawingml/2006/main">
            <a:outerShdw blurRad="50800" dist="25400" dir="5400000" algn="bl" rotWithShape="0">
              <a:srgbClr val="000000">
                <a:alpha val="18000"/>
              </a:srgbClr>
            </a:outerShdw>
          </a:effectLst>
        </p:spPr>
        <p:txBody>
          <a:bodyPr xmlns:a="http://schemas.openxmlformats.org/drawingml/2006/main"/>
          <a:lstStyle xmlns:a="http://schemas.openxmlformats.org/drawingml/2006/main"/>
          <a:p xmlns:a="http://schemas.openxmlformats.org/drawingml/2006/main">
            <a:endParaRPr/>
          </a:p>
        </p:txBody>
      </p:sp>
      <p:sp>
        <p:nvSpPr>
          <p:cNvPr id="12" name="Shape 8">
            <a:extLst xmlns:a="http://schemas.openxmlformats.org/drawingml/2006/main">
              <a:ext uri="{FF2B5EF4-FFF2-40B4-BE49-F238E27FC236}">
                <a16:creationId xmlns:a16="http://schemas.microsoft.com/office/drawing/2014/main" id="{6259FCEB-EFDE-442C-BAB7-455CC6651571}"/>
              </a:ext>
            </a:extLst>
          </p:cNvPr>
          <p:cNvSpPr>
            <a:spLocks xmlns:a="http://schemas.openxmlformats.org/drawingml/2006/main" noGrp="1"/>
          </p:cNvSpPr>
          <p:nvPr/>
        </p:nvSpPr>
        <p:spPr>
          <a:xfrm xmlns:a="http://schemas.openxmlformats.org/drawingml/2006/main">
            <a:off x="508000" y="2159000"/>
            <a:ext cx="5486400" cy="406400"/>
          </a:xfrm>
          <a:prstGeom xmlns:a="http://schemas.openxmlformats.org/drawingml/2006/main" prst="rect">
            <a:avLst/>
          </a:prstGeom>
          <a:solidFill xmlns:a="http://schemas.openxmlformats.org/drawingml/2006/main">
            <a:srgbClr val="DA1884"/>
          </a:solidFill>
        </p:spPr>
        <p:txBody>
          <a:bodyPr xmlns:a="http://schemas.openxmlformats.org/drawingml/2006/main"/>
          <a:lstStyle xmlns:a="http://schemas.openxmlformats.org/drawingml/2006/main"/>
          <a:p xmlns:a="http://schemas.openxmlformats.org/drawingml/2006/main">
            <a:endParaRPr/>
          </a:p>
        </p:txBody>
      </p:sp>
      <p:sp>
        <p:nvSpPr>
          <p:cNvPr id="13" name="Text 9">
            <a:extLst xmlns:a="http://schemas.openxmlformats.org/drawingml/2006/main">
              <a:ext uri="{FF2B5EF4-FFF2-40B4-BE49-F238E27FC236}">
                <a16:creationId xmlns:a16="http://schemas.microsoft.com/office/drawing/2014/main" id="{75A5C1CE-F6F6-4AB5-98D7-B9E20D211E1F}"/>
              </a:ext>
            </a:extLst>
          </p:cNvPr>
          <p:cNvSpPr>
            <a:spLocks xmlns:a="http://schemas.openxmlformats.org/drawingml/2006/main" noGrp="1"/>
          </p:cNvSpPr>
          <p:nvPr/>
        </p:nvSpPr>
        <p:spPr>
          <a:xfrm xmlns:a="http://schemas.openxmlformats.org/drawingml/2006/main">
            <a:off x="736600" y="2159000"/>
            <a:ext cx="5029200" cy="406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300" b="1">
                <a:solidFill>
                  <a:srgbClr val="FFFFFF"/>
                </a:solidFill>
                <a:latin typeface="Arial"/>
                <a:ea typeface="Arial"/>
                <a:cs typeface="Arial"/>
              </a:rPr>
              <a:t>Where GraphQL shines</a:t>
            </a:r>
            <a:endParaRPr sz="1300"/>
          </a:p>
        </p:txBody>
      </p:sp>
      <p:sp>
        <p:nvSpPr>
          <p:cNvPr id="14" name="Text 10">
            <a:extLst xmlns:a="http://schemas.openxmlformats.org/drawingml/2006/main">
              <a:ext uri="{FF2B5EF4-FFF2-40B4-BE49-F238E27FC236}">
                <a16:creationId xmlns:a16="http://schemas.microsoft.com/office/drawing/2014/main" id="{00320705-90B6-4447-BDD0-5620AD82A2C7}"/>
              </a:ext>
            </a:extLst>
          </p:cNvPr>
          <p:cNvSpPr>
            <a:spLocks xmlns:a="http://schemas.openxmlformats.org/drawingml/2006/main" noGrp="1"/>
          </p:cNvSpPr>
          <p:nvPr/>
        </p:nvSpPr>
        <p:spPr>
          <a:xfrm xmlns:a="http://schemas.openxmlformats.org/drawingml/2006/main">
            <a:off x="736600" y="2743200"/>
            <a:ext cx="5029200" cy="2057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lnSpc>
                <a:spcPct val="115000"/>
              </a:lnSpc>
              <a:spcAft>
                <a:spcPts val="1000"/>
              </a:spcAft>
              <a:buSzPct val="100000"/>
              <a:buChar char="•"/>
            </a:pPr>
            <a:r>
              <a:rPr sz="1200">
                <a:solidFill>
                  <a:srgbClr val="333333"/>
                </a:solidFill>
                <a:latin typeface="Arial"/>
                <a:ea typeface="Arial"/>
                <a:cs typeface="Arial"/>
              </a:rPr>
              <a:t>A single typed schema (SDL) that describes the whole graph</a:t>
            </a:r>
            <a:endParaRPr sz="1200"/>
          </a:p>
          <a:p xmlns:a="http://schemas.openxmlformats.org/drawingml/2006/main">
            <a:pPr marL="342900" indent="-342900">
              <a:lnSpc>
                <a:spcPct val="115000"/>
              </a:lnSpc>
              <a:spcAft>
                <a:spcPts val="1000"/>
              </a:spcAft>
              <a:buSzPct val="100000"/>
              <a:buChar char="•"/>
            </a:pPr>
            <a:r>
              <a:rPr sz="1200">
                <a:solidFill>
                  <a:srgbClr val="333333"/>
                </a:solidFill>
                <a:latin typeface="Arial"/>
                <a:ea typeface="Arial"/>
                <a:cs typeface="Arial"/>
              </a:rPr>
              <a:t>Clients select exactly the fields a screen needs</a:t>
            </a:r>
            <a:endParaRPr sz="1200"/>
          </a:p>
          <a:p xmlns:a="http://schemas.openxmlformats.org/drawingml/2006/main">
            <a:pPr marL="342900" indent="-342900">
              <a:lnSpc>
                <a:spcPct val="115000"/>
              </a:lnSpc>
              <a:spcAft>
                <a:spcPts val="1000"/>
              </a:spcAft>
              <a:buSzPct val="100000"/>
              <a:buChar char="•"/>
            </a:pPr>
            <a:r>
              <a:rPr sz="1200">
                <a:solidFill>
                  <a:srgbClr val="333333"/>
                </a:solidFill>
                <a:latin typeface="Arial"/>
                <a:ea typeface="Arial"/>
                <a:cs typeface="Arial"/>
              </a:rPr>
              <a:t>Nested relationships resolved in one round trip</a:t>
            </a:r>
            <a:endParaRPr sz="1200"/>
          </a:p>
          <a:p xmlns:a="http://schemas.openxmlformats.org/drawingml/2006/main">
            <a:pPr marL="342900" indent="-342900">
              <a:lnSpc>
                <a:spcPct val="115000"/>
              </a:lnSpc>
              <a:spcAft>
                <a:spcPts val="1000"/>
              </a:spcAft>
              <a:buSzPct val="100000"/>
              <a:buChar char="•"/>
            </a:pPr>
            <a:r>
              <a:rPr sz="1200">
                <a:solidFill>
                  <a:srgbClr val="333333"/>
                </a:solidFill>
                <a:latin typeface="Arial"/>
                <a:ea typeface="Arial"/>
                <a:cs typeface="Arial"/>
              </a:rPr>
              <a:t>Introspection powers tooling, docs and code generation</a:t>
            </a:r>
            <a:endParaRPr sz="1200"/>
          </a:p>
        </p:txBody>
      </p:sp>
      <p:sp>
        <p:nvSpPr>
          <p:cNvPr id="15" name="Shape 11">
            <a:extLst xmlns:a="http://schemas.openxmlformats.org/drawingml/2006/main">
              <a:ext uri="{FF2B5EF4-FFF2-40B4-BE49-F238E27FC236}">
                <a16:creationId xmlns:a16="http://schemas.microsoft.com/office/drawing/2014/main" id="{5630B5A4-A410-44F2-A426-6C7B9FE50C6E}"/>
              </a:ext>
            </a:extLst>
          </p:cNvPr>
          <p:cNvSpPr>
            <a:spLocks xmlns:a="http://schemas.openxmlformats.org/drawingml/2006/main" noGrp="1"/>
          </p:cNvSpPr>
          <p:nvPr/>
        </p:nvSpPr>
        <p:spPr>
          <a:xfrm xmlns:a="http://schemas.openxmlformats.org/drawingml/2006/main">
            <a:off x="6197600" y="2159000"/>
            <a:ext cx="5486400" cy="2794000"/>
          </a:xfrm>
          <a:prstGeom xmlns:a="http://schemas.openxmlformats.org/drawingml/2006/main" prst="rect">
            <a:avLst/>
          </a:prstGeom>
          <a:solidFill xmlns:a="http://schemas.openxmlformats.org/drawingml/2006/main">
            <a:srgbClr val="F4F4F4"/>
          </a:solidFill>
          <a:effectLst xmlns:a="http://schemas.openxmlformats.org/drawingml/2006/main">
            <a:outerShdw blurRad="50800" dist="25400" dir="5400000" algn="bl" rotWithShape="0">
              <a:srgbClr val="000000">
                <a:alpha val="18000"/>
              </a:srgbClr>
            </a:outerShdw>
          </a:effectLst>
        </p:spPr>
        <p:txBody>
          <a:bodyPr xmlns:a="http://schemas.openxmlformats.org/drawingml/2006/main"/>
          <a:lstStyle xmlns:a="http://schemas.openxmlformats.org/drawingml/2006/main"/>
          <a:p xmlns:a="http://schemas.openxmlformats.org/drawingml/2006/main">
            <a:endParaRPr/>
          </a:p>
        </p:txBody>
      </p:sp>
      <p:sp>
        <p:nvSpPr>
          <p:cNvPr id="16" name="Shape 12">
            <a:extLst xmlns:a="http://schemas.openxmlformats.org/drawingml/2006/main">
              <a:ext uri="{FF2B5EF4-FFF2-40B4-BE49-F238E27FC236}">
                <a16:creationId xmlns:a16="http://schemas.microsoft.com/office/drawing/2014/main" id="{03309B05-1867-4057-802C-16D10F1D0EB6}"/>
              </a:ext>
            </a:extLst>
          </p:cNvPr>
          <p:cNvSpPr>
            <a:spLocks xmlns:a="http://schemas.openxmlformats.org/drawingml/2006/main" noGrp="1"/>
          </p:cNvSpPr>
          <p:nvPr/>
        </p:nvSpPr>
        <p:spPr>
          <a:xfrm xmlns:a="http://schemas.openxmlformats.org/drawingml/2006/main">
            <a:off x="6197600" y="2159000"/>
            <a:ext cx="5486400" cy="406400"/>
          </a:xfrm>
          <a:prstGeom xmlns:a="http://schemas.openxmlformats.org/drawingml/2006/main" prst="rect">
            <a:avLst/>
          </a:prstGeom>
          <a:solidFill xmlns:a="http://schemas.openxmlformats.org/drawingml/2006/main">
            <a:srgbClr val="A1005D"/>
          </a:solidFill>
        </p:spPr>
        <p:txBody>
          <a:bodyPr xmlns:a="http://schemas.openxmlformats.org/drawingml/2006/main"/>
          <a:lstStyle xmlns:a="http://schemas.openxmlformats.org/drawingml/2006/main"/>
          <a:p xmlns:a="http://schemas.openxmlformats.org/drawingml/2006/main">
            <a:endParaRPr/>
          </a:p>
        </p:txBody>
      </p:sp>
      <p:sp>
        <p:nvSpPr>
          <p:cNvPr id="17" name="Text 13">
            <a:extLst xmlns:a="http://schemas.openxmlformats.org/drawingml/2006/main">
              <a:ext uri="{FF2B5EF4-FFF2-40B4-BE49-F238E27FC236}">
                <a16:creationId xmlns:a16="http://schemas.microsoft.com/office/drawing/2014/main" id="{C6B84ADC-832C-4A08-8F79-21D510E3B09F}"/>
              </a:ext>
            </a:extLst>
          </p:cNvPr>
          <p:cNvSpPr>
            <a:spLocks xmlns:a="http://schemas.openxmlformats.org/drawingml/2006/main" noGrp="1"/>
          </p:cNvSpPr>
          <p:nvPr/>
        </p:nvSpPr>
        <p:spPr>
          <a:xfrm xmlns:a="http://schemas.openxmlformats.org/drawingml/2006/main">
            <a:off x="6426200" y="2159000"/>
            <a:ext cx="5029200" cy="406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300" b="1">
                <a:solidFill>
                  <a:srgbClr val="FFFFFF"/>
                </a:solidFill>
                <a:latin typeface="Arial"/>
                <a:ea typeface="Arial"/>
                <a:cs typeface="Arial"/>
              </a:rPr>
              <a:t>Where it strains</a:t>
            </a:r>
            <a:endParaRPr sz="1300"/>
          </a:p>
        </p:txBody>
      </p:sp>
      <p:sp>
        <p:nvSpPr>
          <p:cNvPr id="18" name="Text 14">
            <a:extLst xmlns:a="http://schemas.openxmlformats.org/drawingml/2006/main">
              <a:ext uri="{FF2B5EF4-FFF2-40B4-BE49-F238E27FC236}">
                <a16:creationId xmlns:a16="http://schemas.microsoft.com/office/drawing/2014/main" id="{964794EE-26B9-4B98-992F-D22F277970C6}"/>
              </a:ext>
            </a:extLst>
          </p:cNvPr>
          <p:cNvSpPr>
            <a:spLocks xmlns:a="http://schemas.openxmlformats.org/drawingml/2006/main" noGrp="1"/>
          </p:cNvSpPr>
          <p:nvPr/>
        </p:nvSpPr>
        <p:spPr>
          <a:xfrm xmlns:a="http://schemas.openxmlformats.org/drawingml/2006/main">
            <a:off x="6426200" y="2743200"/>
            <a:ext cx="5029200" cy="2057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lnSpc>
                <a:spcPct val="115000"/>
              </a:lnSpc>
              <a:spcAft>
                <a:spcPts val="1000"/>
              </a:spcAft>
              <a:buSzPct val="100000"/>
              <a:buChar char="•"/>
            </a:pPr>
            <a:r>
              <a:rPr sz="1200">
                <a:solidFill>
                  <a:srgbClr val="333333"/>
                </a:solidFill>
                <a:latin typeface="Arial"/>
                <a:ea typeface="Arial"/>
                <a:cs typeface="Arial"/>
              </a:rPr>
              <a:t>HTTP caching is harder: POST to one URL</a:t>
            </a:r>
            <a:endParaRPr sz="1200"/>
          </a:p>
          <a:p xmlns:a="http://schemas.openxmlformats.org/drawingml/2006/main">
            <a:pPr marL="342900" indent="-342900">
              <a:lnSpc>
                <a:spcPct val="115000"/>
              </a:lnSpc>
              <a:spcAft>
                <a:spcPts val="1000"/>
              </a:spcAft>
              <a:buSzPct val="100000"/>
              <a:buChar char="•"/>
            </a:pPr>
            <a:r>
              <a:rPr sz="1200">
                <a:solidFill>
                  <a:srgbClr val="333333"/>
                </a:solidFill>
                <a:latin typeface="Arial"/>
                <a:ea typeface="Arial"/>
                <a:cs typeface="Arial"/>
              </a:rPr>
              <a:t>N+1 resolver load without batching such as DataLoader</a:t>
            </a:r>
            <a:endParaRPr sz="1200"/>
          </a:p>
          <a:p xmlns:a="http://schemas.openxmlformats.org/drawingml/2006/main">
            <a:pPr marL="342900" indent="-342900">
              <a:lnSpc>
                <a:spcPct val="115000"/>
              </a:lnSpc>
              <a:spcAft>
                <a:spcPts val="1000"/>
              </a:spcAft>
              <a:buSzPct val="100000"/>
              <a:buChar char="•"/>
            </a:pPr>
            <a:r>
              <a:rPr sz="1200">
                <a:solidFill>
                  <a:srgbClr val="333333"/>
                </a:solidFill>
                <a:latin typeface="Arial"/>
                <a:ea typeface="Arial"/>
                <a:cs typeface="Arial"/>
              </a:rPr>
              <a:t>Public APIs need query depth and cost limits</a:t>
            </a:r>
            <a:endParaRPr sz="1200"/>
          </a:p>
          <a:p xmlns:a="http://schemas.openxmlformats.org/drawingml/2006/main">
            <a:pPr marL="342900" indent="-342900">
              <a:lnSpc>
                <a:spcPct val="115000"/>
              </a:lnSpc>
              <a:spcAft>
                <a:spcPts val="1000"/>
              </a:spcAft>
              <a:buSzPct val="100000"/>
              <a:buChar char="•"/>
            </a:pPr>
            <a:r>
              <a:rPr sz="1200">
                <a:solidFill>
                  <a:srgbClr val="333333"/>
                </a:solidFill>
                <a:latin typeface="Arial"/>
                <a:ea typeface="Arial"/>
                <a:cs typeface="Arial"/>
              </a:rPr>
              <a:t>More server-side complexity to operate and secure</a:t>
            </a:r>
            <a:endParaRPr sz="1200"/>
          </a:p>
        </p:txBody>
      </p:sp>
      <p:sp>
        <p:nvSpPr>
          <p:cNvPr id="19" name="Shape 15">
            <a:extLst xmlns:a="http://schemas.openxmlformats.org/drawingml/2006/main">
              <a:ext uri="{FF2B5EF4-FFF2-40B4-BE49-F238E27FC236}">
                <a16:creationId xmlns:a16="http://schemas.microsoft.com/office/drawing/2014/main" id="{D764C26E-2620-4749-9C65-339ABD372059}"/>
              </a:ext>
            </a:extLst>
          </p:cNvPr>
          <p:cNvSpPr>
            <a:spLocks xmlns:a="http://schemas.openxmlformats.org/drawingml/2006/main" noGrp="1"/>
          </p:cNvSpPr>
          <p:nvPr/>
        </p:nvSpPr>
        <p:spPr>
          <a:xfrm xmlns:a="http://schemas.openxmlformats.org/drawingml/2006/main">
            <a:off x="508000" y="5207000"/>
            <a:ext cx="11176000" cy="635000"/>
          </a:xfrm>
          <a:prstGeom xmlns:a="http://schemas.openxmlformats.org/drawingml/2006/main" prst="rect">
            <a:avLst/>
          </a:prstGeom>
          <a:solidFill xmlns:a="http://schemas.openxmlformats.org/drawingml/2006/main">
            <a:srgbClr val="F4F4F4"/>
          </a:solidFill>
          <a:effectLst xmlns:a="http://schemas.openxmlformats.org/drawingml/2006/main">
            <a:outerShdw blurRad="50800" dist="25400" dir="5400000" algn="bl" rotWithShape="0">
              <a:srgbClr val="000000">
                <a:alpha val="18000"/>
              </a:srgbClr>
            </a:outerShdw>
          </a:effectLst>
        </p:spPr>
        <p:txBody>
          <a:bodyPr xmlns:a="http://schemas.openxmlformats.org/drawingml/2006/main"/>
          <a:lstStyle xmlns:a="http://schemas.openxmlformats.org/drawingml/2006/main"/>
          <a:p xmlns:a="http://schemas.openxmlformats.org/drawingml/2006/main">
            <a:endParaRPr/>
          </a:p>
        </p:txBody>
      </p:sp>
      <p:sp>
        <p:nvSpPr>
          <p:cNvPr id="20" name="Shape 16">
            <a:extLst xmlns:a="http://schemas.openxmlformats.org/drawingml/2006/main">
              <a:ext uri="{FF2B5EF4-FFF2-40B4-BE49-F238E27FC236}">
                <a16:creationId xmlns:a16="http://schemas.microsoft.com/office/drawing/2014/main" id="{17F2A86D-46C4-4ABB-8161-7472CDCE541F}"/>
              </a:ext>
            </a:extLst>
          </p:cNvPr>
          <p:cNvSpPr>
            <a:spLocks xmlns:a="http://schemas.openxmlformats.org/drawingml/2006/main" noGrp="1"/>
          </p:cNvSpPr>
          <p:nvPr/>
        </p:nvSpPr>
        <p:spPr>
          <a:xfrm xmlns:a="http://schemas.openxmlformats.org/drawingml/2006/main">
            <a:off x="508000" y="5207000"/>
            <a:ext cx="76200" cy="635000"/>
          </a:xfrm>
          <a:prstGeom xmlns:a="http://schemas.openxmlformats.org/drawingml/2006/main" prst="rect">
            <a:avLst/>
          </a:prstGeom>
          <a:solidFill xmlns:a="http://schemas.openxmlformats.org/drawingml/2006/main">
            <a:srgbClr val="DA1884"/>
          </a:solidFill>
        </p:spPr>
        <p:txBody>
          <a:bodyPr xmlns:a="http://schemas.openxmlformats.org/drawingml/2006/main"/>
          <a:lstStyle xmlns:a="http://schemas.openxmlformats.org/drawingml/2006/main"/>
          <a:p xmlns:a="http://schemas.openxmlformats.org/drawingml/2006/main">
            <a:endParaRPr/>
          </a:p>
        </p:txBody>
      </p:sp>
      <p:sp>
        <p:nvSpPr>
          <p:cNvPr id="21" name="Text 17">
            <a:extLst xmlns:a="http://schemas.openxmlformats.org/drawingml/2006/main">
              <a:ext uri="{FF2B5EF4-FFF2-40B4-BE49-F238E27FC236}">
                <a16:creationId xmlns:a16="http://schemas.microsoft.com/office/drawing/2014/main" id="{C54E4F4A-187D-4DE3-A42C-0D271FEB6A53}"/>
              </a:ext>
            </a:extLst>
          </p:cNvPr>
          <p:cNvSpPr>
            <a:spLocks xmlns:a="http://schemas.openxmlformats.org/drawingml/2006/main" noGrp="1"/>
          </p:cNvSpPr>
          <p:nvPr/>
        </p:nvSpPr>
        <p:spPr>
          <a:xfrm xmlns:a="http://schemas.openxmlformats.org/drawingml/2006/main">
            <a:off x="787400" y="5207000"/>
            <a:ext cx="10668000" cy="635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200" b="1">
                <a:solidFill>
                  <a:srgbClr val="141414"/>
                </a:solidFill>
                <a:latin typeface="Arial"/>
                <a:ea typeface="Arial"/>
                <a:cs typeface="Arial"/>
              </a:rPr>
              <a:t>Use GraphQL for  </a:t>
            </a:r>
            <a:r>
              <a:rPr sz="1200">
                <a:solidFill>
                  <a:srgbClr val="141414"/>
                </a:solidFill>
                <a:latin typeface="Arial"/>
                <a:ea typeface="Arial"/>
                <a:cs typeface="Arial"/>
              </a:rPr>
              <a:t>client-driven screens that stitch related data: BFFs, mobile apps and micro-frontends.</a:t>
            </a:r>
            <a:endParaRPr sz="1200"/>
          </a:p>
        </p:txBody>
      </p:sp>
    </p:spTree>
    <p:extLst>
      <p:ext uri="{BB962C8B-B14F-4D97-AF65-F5344CB8AC3E}">
        <p14:creationId xmlns:p14="http://schemas.microsoft.com/office/powerpoint/2010/main" val="164554874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7F15A5F9-E00D-4F22-BFE3-7C7E54C00AE5}"/>
              </a:ext>
            </a:extLst>
          </p:cNvPr>
          <p:cNvPicPr>
            <a:picLocks xmlns:a="http://schemas.openxmlformats.org/drawingml/2006/main" noChangeAspect="1"/>
          </p:cNvPicPr>
          <p:nvPr/>
        </p:nvPicPr>
        <p:blipFill>
          <a:blip xmlns:r="http://schemas.openxmlformats.org/officeDocument/2006/relationships" xmlns:a="http://schemas.openxmlformats.org/drawingml/2006/main" r:embed="R3545f1e2ceb14ad5"/>
          <a:stretch xmlns:a="http://schemas.openxmlformats.org/drawingml/2006/main">
            <a:fillRect l="0" t="0" r="0" b="0"/>
          </a:stretch>
        </p:blipFill>
        <p:spPr>
          <a:xfrm xmlns:a="http://schemas.openxmlformats.org/drawingml/2006/main">
            <a:off x="508000" y="152400"/>
            <a:ext cx="990600" cy="40640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70EC3D4F-237A-4455-A56D-82D0EAD999A2}"/>
              </a:ext>
            </a:extLst>
          </p:cNvPr>
          <p:cNvSpPr>
            <a:spLocks xmlns:a="http://schemas.openxmlformats.org/drawingml/2006/main" noGrp="1"/>
          </p:cNvSpPr>
          <p:nvPr/>
        </p:nvSpPr>
        <p:spPr>
          <a:xfrm xmlns:a="http://schemas.openxmlformats.org/drawingml/2006/main">
            <a:off x="3556000" y="406400"/>
            <a:ext cx="5080000" cy="190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110000"/>
              </a:lnSpc>
              <a:buNone/>
            </a:pPr>
            <a:r>
              <a:rPr sz="1000">
                <a:solidFill>
                  <a:srgbClr val="6B6B6B"/>
                </a:solidFill>
                <a:latin typeface="Arial"/>
                <a:ea typeface="Arial"/>
                <a:cs typeface="Arial"/>
              </a:rPr>
              <a:t>Protocol Studio  —  REST · GraphQL · gRPC</a:t>
            </a:r>
            <a:endParaRPr sz="1000"/>
          </a:p>
        </p:txBody>
      </p:sp>
      <p:sp>
        <p:nvSpPr>
          <p:cNvPr id="4" name="Text 1">
            <a:extLst xmlns:a="http://schemas.openxmlformats.org/drawingml/2006/main">
              <a:ext uri="{FF2B5EF4-FFF2-40B4-BE49-F238E27FC236}">
                <a16:creationId xmlns:a16="http://schemas.microsoft.com/office/drawing/2014/main" id="{2A1EBFBF-FAB3-469B-8267-B4AE64727DDF}"/>
              </a:ext>
            </a:extLst>
          </p:cNvPr>
          <p:cNvSpPr>
            <a:spLocks xmlns:a="http://schemas.openxmlformats.org/drawingml/2006/main" noGrp="1"/>
          </p:cNvSpPr>
          <p:nvPr/>
        </p:nvSpPr>
        <p:spPr>
          <a:xfrm xmlns:a="http://schemas.openxmlformats.org/drawingml/2006/main">
            <a:off x="6350000" y="406400"/>
            <a:ext cx="5334000" cy="190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ct val="110000"/>
              </a:lnSpc>
              <a:buNone/>
            </a:pPr>
            <a:r>
              <a:rPr sz="1000" b="1">
                <a:solidFill>
                  <a:srgbClr val="DA1884"/>
                </a:solidFill>
                <a:latin typeface="Arial"/>
                <a:ea typeface="Arial"/>
                <a:cs typeface="Arial"/>
              </a:rPr>
              <a:t>GRAPHQL</a:t>
            </a:r>
            <a:endParaRPr sz="1000"/>
          </a:p>
        </p:txBody>
      </p:sp>
      <p:sp>
        <p:nvSpPr>
          <p:cNvPr id="5" name="Text 2">
            <a:extLst xmlns:a="http://schemas.openxmlformats.org/drawingml/2006/main">
              <a:ext uri="{FF2B5EF4-FFF2-40B4-BE49-F238E27FC236}">
                <a16:creationId xmlns:a16="http://schemas.microsoft.com/office/drawing/2014/main" id="{158ADDD5-A38C-47E0-B4B3-2AE9D22C418E}"/>
              </a:ext>
            </a:extLst>
          </p:cNvPr>
          <p:cNvSpPr>
            <a:spLocks xmlns:a="http://schemas.openxmlformats.org/drawingml/2006/main" noGrp="1"/>
          </p:cNvSpPr>
          <p:nvPr/>
        </p:nvSpPr>
        <p:spPr>
          <a:xfrm xmlns:a="http://schemas.openxmlformats.org/drawingml/2006/main">
            <a:off x="508000" y="6578600"/>
            <a:ext cx="8890000" cy="177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900">
                <a:solidFill>
                  <a:srgbClr val="9E9E9E"/>
                </a:solidFill>
                <a:latin typeface="Arial"/>
                <a:ea typeface="Arial"/>
                <a:cs typeface="Arial"/>
              </a:rPr>
              <a:t>Insight Proprietary &amp; Confidential.  Do Not Copy or Distribute.  © 2026 Insight.  All Rights Reserved.</a:t>
            </a:r>
            <a:endParaRPr sz="900"/>
          </a:p>
        </p:txBody>
      </p:sp>
      <p:sp>
        <p:nvSpPr>
          <p:cNvPr id="6" name="Text 3">
            <a:extLst xmlns:a="http://schemas.openxmlformats.org/drawingml/2006/main">
              <a:ext uri="{FF2B5EF4-FFF2-40B4-BE49-F238E27FC236}">
                <a16:creationId xmlns:a16="http://schemas.microsoft.com/office/drawing/2014/main" id="{3D76060A-4528-4BC0-A587-2FC787613F09}"/>
              </a:ext>
            </a:extLst>
          </p:cNvPr>
          <p:cNvSpPr>
            <a:spLocks xmlns:a="http://schemas.openxmlformats.org/drawingml/2006/main" noGrp="1"/>
          </p:cNvSpPr>
          <p:nvPr/>
        </p:nvSpPr>
        <p:spPr>
          <a:xfrm xmlns:a="http://schemas.openxmlformats.org/drawingml/2006/main">
            <a:off x="10922000" y="6578600"/>
            <a:ext cx="762000" cy="177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ct val="110000"/>
              </a:lnSpc>
              <a:buNone/>
            </a:pPr>
            <a:r>
              <a:rPr sz="900">
                <a:solidFill>
                  <a:srgbClr val="9E9E9E"/>
                </a:solidFill>
                <a:latin typeface="Arial"/>
                <a:ea typeface="Arial"/>
                <a:cs typeface="Arial"/>
              </a:rPr>
              <a:t>11</a:t>
            </a:r>
            <a:endParaRPr sz="900"/>
          </a:p>
        </p:txBody>
      </p:sp>
      <p:sp>
        <p:nvSpPr>
          <p:cNvPr id="7" name="Text 4">
            <a:extLst xmlns:a="http://schemas.openxmlformats.org/drawingml/2006/main">
              <a:ext uri="{FF2B5EF4-FFF2-40B4-BE49-F238E27FC236}">
                <a16:creationId xmlns:a16="http://schemas.microsoft.com/office/drawing/2014/main" id="{6BC30426-45B8-439D-BCE8-802037E3BA50}"/>
              </a:ext>
            </a:extLst>
          </p:cNvPr>
          <p:cNvSpPr>
            <a:spLocks xmlns:a="http://schemas.openxmlformats.org/drawingml/2006/main" noGrp="1"/>
          </p:cNvSpPr>
          <p:nvPr/>
        </p:nvSpPr>
        <p:spPr>
          <a:xfrm xmlns:a="http://schemas.openxmlformats.org/drawingml/2006/main">
            <a:off x="508000" y="889000"/>
            <a:ext cx="11176000" cy="2159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1200" b="1">
                <a:solidFill>
                  <a:srgbClr val="DA1884"/>
                </a:solidFill>
                <a:latin typeface="Arial"/>
                <a:ea typeface="Arial"/>
                <a:cs typeface="Arial"/>
              </a:rPr>
              <a:t>GRAPHQL · IN THE DEMO</a:t>
            </a:r>
            <a:endParaRPr sz="1200"/>
          </a:p>
        </p:txBody>
      </p:sp>
      <p:sp>
        <p:nvSpPr>
          <p:cNvPr id="8" name="Text 5">
            <a:extLst xmlns:a="http://schemas.openxmlformats.org/drawingml/2006/main">
              <a:ext uri="{FF2B5EF4-FFF2-40B4-BE49-F238E27FC236}">
                <a16:creationId xmlns:a16="http://schemas.microsoft.com/office/drawing/2014/main" id="{224787FF-20CA-4812-93A2-627E8C0C4CE9}"/>
              </a:ext>
            </a:extLst>
          </p:cNvPr>
          <p:cNvSpPr>
            <a:spLocks xmlns:a="http://schemas.openxmlformats.org/drawingml/2006/main" noGrp="1"/>
          </p:cNvSpPr>
          <p:nvPr/>
        </p:nvSpPr>
        <p:spPr>
          <a:xfrm xmlns:a="http://schemas.openxmlformats.org/drawingml/2006/main">
            <a:off x="508000" y="1130300"/>
            <a:ext cx="11176000" cy="482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3000" b="1">
                <a:solidFill>
                  <a:srgbClr val="141414"/>
                </a:solidFill>
                <a:latin typeface="Arial"/>
                <a:ea typeface="Arial"/>
                <a:cs typeface="Arial"/>
              </a:rPr>
              <a:t>GraphQL in Protocol Studio</a:t>
            </a:r>
            <a:endParaRPr sz="3000"/>
          </a:p>
        </p:txBody>
      </p:sp>
      <p:sp>
        <p:nvSpPr>
          <p:cNvPr id="9" name="Text 6">
            <a:extLst xmlns:a="http://schemas.openxmlformats.org/drawingml/2006/main">
              <a:ext uri="{FF2B5EF4-FFF2-40B4-BE49-F238E27FC236}">
                <a16:creationId xmlns:a16="http://schemas.microsoft.com/office/drawing/2014/main" id="{E0972BA2-C688-41D9-A6F7-A22F40D3A0FF}"/>
              </a:ext>
            </a:extLst>
          </p:cNvPr>
          <p:cNvSpPr>
            <a:spLocks xmlns:a="http://schemas.openxmlformats.org/drawingml/2006/main" noGrp="1"/>
          </p:cNvSpPr>
          <p:nvPr/>
        </p:nvSpPr>
        <p:spPr>
          <a:xfrm xmlns:a="http://schemas.openxmlformats.org/drawingml/2006/main">
            <a:off x="508000" y="1663700"/>
            <a:ext cx="11176000"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1400">
                <a:solidFill>
                  <a:srgbClr val="6B6B6B"/>
                </a:solidFill>
                <a:latin typeface="Arial"/>
                <a:ea typeface="Arial"/>
                <a:cs typeface="Arial"/>
              </a:rPr>
              <a:t>Relationship questions connect starships, films and characters, with explicit flight-crew records.</a:t>
            </a:r>
            <a:endParaRPr sz="1400"/>
          </a:p>
        </p:txBody>
      </p:sp>
      <p:sp>
        <p:nvSpPr>
          <p:cNvPr id="11" name="Shape 7">
            <a:extLst xmlns:a="http://schemas.openxmlformats.org/drawingml/2006/main">
              <a:ext uri="{FF2B5EF4-FFF2-40B4-BE49-F238E27FC236}">
                <a16:creationId xmlns:a16="http://schemas.microsoft.com/office/drawing/2014/main" id="{16167697-B23E-47D5-AB30-808E7E49C543}"/>
              </a:ext>
            </a:extLst>
          </p:cNvPr>
          <p:cNvSpPr>
            <a:spLocks xmlns:a="http://schemas.openxmlformats.org/drawingml/2006/main" noGrp="1"/>
          </p:cNvSpPr>
          <p:nvPr/>
        </p:nvSpPr>
        <p:spPr>
          <a:xfrm xmlns:a="http://schemas.openxmlformats.org/drawingml/2006/main">
            <a:off x="508000" y="2159000"/>
            <a:ext cx="5588000" cy="3937000"/>
          </a:xfrm>
          <a:prstGeom xmlns:a="http://schemas.openxmlformats.org/drawingml/2006/main" prst="rect">
            <a:avLst/>
          </a:prstGeom>
          <a:solidFill xmlns:a="http://schemas.openxmlformats.org/drawingml/2006/main">
            <a:srgbClr val="1B1B1F"/>
          </a:solidFill>
          <a:effectLst xmlns:a="http://schemas.openxmlformats.org/drawingml/2006/main">
            <a:outerShdw blurRad="50800" dist="25400" dir="5400000" algn="bl" rotWithShape="0">
              <a:srgbClr val="000000">
                <a:alpha val="18000"/>
              </a:srgbClr>
            </a:outerShdw>
          </a:effectLst>
        </p:spPr>
        <p:txBody>
          <a:bodyPr xmlns:a="http://schemas.openxmlformats.org/drawingml/2006/main"/>
          <a:lstStyle xmlns:a="http://schemas.openxmlformats.org/drawingml/2006/main"/>
          <a:p xmlns:a="http://schemas.openxmlformats.org/drawingml/2006/main">
            <a:endParaRPr/>
          </a:p>
        </p:txBody>
      </p:sp>
      <p:sp>
        <p:nvSpPr>
          <p:cNvPr id="12" name="Shape 8">
            <a:extLst xmlns:a="http://schemas.openxmlformats.org/drawingml/2006/main">
              <a:ext uri="{FF2B5EF4-FFF2-40B4-BE49-F238E27FC236}">
                <a16:creationId xmlns:a16="http://schemas.microsoft.com/office/drawing/2014/main" id="{6FD590DC-0955-411E-A8BA-DF53C9F6D318}"/>
              </a:ext>
            </a:extLst>
          </p:cNvPr>
          <p:cNvSpPr>
            <a:spLocks xmlns:a="http://schemas.openxmlformats.org/drawingml/2006/main" noGrp="1"/>
          </p:cNvSpPr>
          <p:nvPr/>
        </p:nvSpPr>
        <p:spPr>
          <a:xfrm xmlns:a="http://schemas.openxmlformats.org/drawingml/2006/main">
            <a:off x="508000" y="2159000"/>
            <a:ext cx="5588000" cy="355600"/>
          </a:xfrm>
          <a:prstGeom xmlns:a="http://schemas.openxmlformats.org/drawingml/2006/main" prst="rect">
            <a:avLst/>
          </a:prstGeom>
          <a:solidFill xmlns:a="http://schemas.openxmlformats.org/drawingml/2006/main">
            <a:srgbClr val="DA1884"/>
          </a:solidFill>
        </p:spPr>
        <p:txBody>
          <a:bodyPr xmlns:a="http://schemas.openxmlformats.org/drawingml/2006/main"/>
          <a:lstStyle xmlns:a="http://schemas.openxmlformats.org/drawingml/2006/main"/>
          <a:p xmlns:a="http://schemas.openxmlformats.org/drawingml/2006/main">
            <a:endParaRPr/>
          </a:p>
        </p:txBody>
      </p:sp>
      <p:sp>
        <p:nvSpPr>
          <p:cNvPr id="13" name="Text 9">
            <a:extLst xmlns:a="http://schemas.openxmlformats.org/drawingml/2006/main">
              <a:ext uri="{FF2B5EF4-FFF2-40B4-BE49-F238E27FC236}">
                <a16:creationId xmlns:a16="http://schemas.microsoft.com/office/drawing/2014/main" id="{1B634359-5C9E-4827-A703-425CCDFCE093}"/>
              </a:ext>
            </a:extLst>
          </p:cNvPr>
          <p:cNvSpPr>
            <a:spLocks xmlns:a="http://schemas.openxmlformats.org/drawingml/2006/main" noGrp="1"/>
          </p:cNvSpPr>
          <p:nvPr/>
        </p:nvSpPr>
        <p:spPr>
          <a:xfrm xmlns:a="http://schemas.openxmlformats.org/drawingml/2006/main">
            <a:off x="711200" y="2159000"/>
            <a:ext cx="5181600" cy="355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200" b="1">
                <a:solidFill>
                  <a:srgbClr val="FFFFFF"/>
                </a:solidFill>
                <a:latin typeface="Arial"/>
                <a:ea typeface="Arial"/>
                <a:cs typeface="Arial"/>
              </a:rPr>
              <a:t>POST /GRAPHQL</a:t>
            </a:r>
            <a:endParaRPr sz="1200"/>
          </a:p>
        </p:txBody>
      </p:sp>
      <p:sp>
        <p:nvSpPr>
          <p:cNvPr id="14" name="Text 10">
            <a:extLst xmlns:a="http://schemas.openxmlformats.org/drawingml/2006/main">
              <a:ext uri="{FF2B5EF4-FFF2-40B4-BE49-F238E27FC236}">
                <a16:creationId xmlns:a16="http://schemas.microsoft.com/office/drawing/2014/main" id="{7A11F897-2336-4BCD-BA84-24D977F7D032}"/>
              </a:ext>
            </a:extLst>
          </p:cNvPr>
          <p:cNvSpPr>
            <a:spLocks xmlns:a="http://schemas.openxmlformats.org/drawingml/2006/main" noGrp="1"/>
          </p:cNvSpPr>
          <p:nvPr/>
        </p:nvSpPr>
        <p:spPr>
          <a:xfrm xmlns:a="http://schemas.openxmlformats.org/drawingml/2006/main">
            <a:off x="711200" y="2667000"/>
            <a:ext cx="5181600" cy="3276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20000"/>
              </a:lnSpc>
              <a:buNone/>
            </a:pPr>
            <a:r>
              <a:rPr sz="1200">
                <a:solidFill>
                  <a:srgbClr val="EDEDED"/>
                </a:solidFill>
                <a:latin typeface="Consolas"/>
                <a:ea typeface="Consolas"/>
                <a:cs typeface="Consolas"/>
              </a:rPr>
              <a:t>query ExploreStarships($target: String!) {</a:t>
            </a:r>
            <a:endParaRPr sz="1200"/>
          </a:p>
          <a:p xmlns:a="http://schemas.openxmlformats.org/drawingml/2006/main">
            <a:pPr marL="0" indent="0">
              <a:lnSpc>
                <a:spcPct val="120000"/>
              </a:lnSpc>
              <a:buNone/>
            </a:pPr>
            <a:r>
              <a:rPr sz="1200">
                <a:solidFill>
                  <a:srgbClr val="EDEDED"/>
                </a:solidFill>
                <a:latin typeface="Consolas"/>
                <a:ea typeface="Consolas"/>
                <a:cs typeface="Consolas"/>
              </a:rPr>
              <a:t>  starships(target: $target) {</a:t>
            </a:r>
          </a:p>
          <a:p xmlns:a="http://schemas.openxmlformats.org/drawingml/2006/main">
            <a:pPr marL="0" indent="0">
              <a:lnSpc>
                <a:spcPct val="120000"/>
              </a:lnSpc>
              <a:buNone/>
            </a:pPr>
            <a:r>
              <a:rPr sz="1200">
                <a:solidFill>
                  <a:srgbClr val="EDEDED"/>
                </a:solidFill>
                <a:latin typeface="Consolas"/>
                <a:ea typeface="Consolas"/>
                <a:cs typeface="Consolas"/>
              </a:rPr>
              <a:t>    name</a:t>
            </a:r>
          </a:p>
          <a:p xmlns:a="http://schemas.openxmlformats.org/drawingml/2006/main">
            <a:pPr marL="0" indent="0">
              <a:lnSpc>
                <a:spcPct val="120000"/>
              </a:lnSpc>
              <a:buNone/>
            </a:pPr>
            <a:r>
              <a:rPr sz="1200">
                <a:solidFill>
                  <a:srgbClr val="EDEDED"/>
                </a:solidFill>
                <a:latin typeface="Consolas"/>
                <a:ea typeface="Consolas"/>
                <a:cs typeface="Consolas"/>
              </a:rPr>
              <a:t>    films { title cast { name } }</a:t>
            </a:r>
          </a:p>
          <a:p xmlns:a="http://schemas.openxmlformats.org/drawingml/2006/main">
            <a:pPr marL="0" indent="0">
              <a:lnSpc>
                <a:spcPct val="120000"/>
              </a:lnSpc>
              <a:buNone/>
            </a:pPr>
            <a:r>
              <a:rPr sz="1200">
                <a:solidFill>
                  <a:srgbClr val="EDEDED"/>
                </a:solidFill>
                <a:latin typeface="Consolas"/>
                <a:ea typeface="Consolas"/>
                <a:cs typeface="Consolas"/>
              </a:rPr>
              <a:t>    crew {</a:t>
            </a:r>
          </a:p>
          <a:p xmlns:a="http://schemas.openxmlformats.org/drawingml/2006/main">
            <a:pPr marL="0" indent="0">
              <a:lnSpc>
                <a:spcPct val="120000"/>
              </a:lnSpc>
              <a:buNone/>
            </a:pPr>
            <a:r>
              <a:rPr sz="1200">
                <a:solidFill>
                  <a:srgbClr val="EDEDED"/>
                </a:solidFill>
                <a:latin typeface="Consolas"/>
                <a:ea typeface="Consolas"/>
                <a:cs typeface="Consolas"/>
              </a:rPr>
              <a:t>      filmTitle role</a:t>
            </a:r>
          </a:p>
          <a:p xmlns:a="http://schemas.openxmlformats.org/drawingml/2006/main">
            <a:pPr marL="0" indent="0">
              <a:lnSpc>
                <a:spcPct val="120000"/>
              </a:lnSpc>
              <a:buNone/>
            </a:pPr>
            <a:r>
              <a:rPr sz="1200">
                <a:solidFill>
                  <a:srgbClr val="EDEDED"/>
                </a:solidFill>
                <a:latin typeface="Consolas"/>
                <a:ea typeface="Consolas"/>
                <a:cs typeface="Consolas"/>
              </a:rPr>
              <a:t>      member { name }</a:t>
            </a:r>
          </a:p>
          <a:p xmlns:a="http://schemas.openxmlformats.org/drawingml/2006/main">
            <a:pPr marL="0" indent="0">
              <a:lnSpc>
                <a:spcPct val="120000"/>
              </a:lnSpc>
              <a:buNone/>
            </a:pPr>
            <a:r>
              <a:rPr sz="1200">
                <a:solidFill>
                  <a:srgbClr val="EDEDED"/>
                </a:solidFill>
                <a:latin typeface="Consolas"/>
                <a:ea typeface="Consolas"/>
                <a:cs typeface="Consolas"/>
              </a:rPr>
              <a:t>    }</a:t>
            </a:r>
          </a:p>
          <a:p xmlns:a="http://schemas.openxmlformats.org/drawingml/2006/main">
            <a:pPr marL="0" indent="0">
              <a:lnSpc>
                <a:spcPct val="120000"/>
              </a:lnSpc>
              <a:buNone/>
            </a:pPr>
            <a:r>
              <a:rPr sz="1200">
                <a:solidFill>
                  <a:srgbClr val="EDEDED"/>
                </a:solidFill>
                <a:latin typeface="Consolas"/>
                <a:ea typeface="Consolas"/>
                <a:cs typeface="Consolas"/>
              </a:rPr>
              <a:t>  }</a:t>
            </a:r>
          </a:p>
          <a:p xmlns:a="http://schemas.openxmlformats.org/drawingml/2006/main">
            <a:pPr marL="0" indent="0">
              <a:lnSpc>
                <a:spcPct val="120000"/>
              </a:lnSpc>
              <a:buNone/>
            </a:pPr>
            <a:r>
              <a:rPr sz="1200">
                <a:solidFill>
                  <a:srgbClr val="EDEDED"/>
                </a:solidFill>
                <a:latin typeface="Consolas"/>
                <a:ea typeface="Consolas"/>
                <a:cs typeface="Consolas"/>
              </a:rPr>
              <a:t>}</a:t>
            </a:r>
          </a:p>
          <a:p xmlns:a="http://schemas.openxmlformats.org/drawingml/2006/main">
            <a:pPr marL="0" indent="0">
              <a:lnSpc>
                <a:spcPct val="120000"/>
              </a:lnSpc>
              <a:buNone/>
            </a:pPr>
          </a:p>
          <a:p xmlns:a="http://schemas.openxmlformats.org/drawingml/2006/main">
            <a:pPr marL="0" indent="0">
              <a:lnSpc>
                <a:spcPct val="120000"/>
              </a:lnSpc>
              <a:buNone/>
            </a:pPr>
            <a:r>
              <a:rPr sz="1200">
                <a:solidFill>
                  <a:srgbClr val="EDEDED"/>
                </a:solidFill>
                <a:latin typeface="Consolas"/>
                <a:ea typeface="Consolas"/>
                <a:cs typeface="Consolas"/>
              </a:rPr>
              <a:t># variables: { "target": "crew:5:1" }</a:t>
            </a:r>
          </a:p>
        </p:txBody>
      </p:sp>
      <p:sp>
        <p:nvSpPr>
          <p:cNvPr id="15" name="Shape 11">
            <a:extLst xmlns:a="http://schemas.openxmlformats.org/drawingml/2006/main">
              <a:ext uri="{FF2B5EF4-FFF2-40B4-BE49-F238E27FC236}">
                <a16:creationId xmlns:a16="http://schemas.microsoft.com/office/drawing/2014/main" id="{E4C01528-28C3-4849-9535-CEBC61422E71}"/>
              </a:ext>
            </a:extLst>
          </p:cNvPr>
          <p:cNvSpPr>
            <a:spLocks xmlns:a="http://schemas.openxmlformats.org/drawingml/2006/main" noGrp="1"/>
          </p:cNvSpPr>
          <p:nvPr/>
        </p:nvSpPr>
        <p:spPr>
          <a:xfrm xmlns:a="http://schemas.openxmlformats.org/drawingml/2006/main">
            <a:off x="6299200" y="2159000"/>
            <a:ext cx="5384800" cy="889000"/>
          </a:xfrm>
          <a:prstGeom xmlns:a="http://schemas.openxmlformats.org/drawingml/2006/main" prst="rect">
            <a:avLst/>
          </a:prstGeom>
          <a:solidFill xmlns:a="http://schemas.openxmlformats.org/drawingml/2006/main">
            <a:srgbClr val="F4F4F4"/>
          </a:solidFill>
          <a:effectLst xmlns:a="http://schemas.openxmlformats.org/drawingml/2006/main">
            <a:outerShdw blurRad="50800" dist="25400" dir="5400000" algn="bl" rotWithShape="0">
              <a:srgbClr val="000000">
                <a:alpha val="18000"/>
              </a:srgbClr>
            </a:outerShdw>
          </a:effectLst>
        </p:spPr>
        <p:txBody>
          <a:bodyPr xmlns:a="http://schemas.openxmlformats.org/drawingml/2006/main"/>
          <a:lstStyle xmlns:a="http://schemas.openxmlformats.org/drawingml/2006/main"/>
          <a:p xmlns:a="http://schemas.openxmlformats.org/drawingml/2006/main">
            <a:endParaRPr/>
          </a:p>
        </p:txBody>
      </p:sp>
      <p:sp>
        <p:nvSpPr>
          <p:cNvPr id="16" name="Shape 12">
            <a:extLst xmlns:a="http://schemas.openxmlformats.org/drawingml/2006/main">
              <a:ext uri="{FF2B5EF4-FFF2-40B4-BE49-F238E27FC236}">
                <a16:creationId xmlns:a16="http://schemas.microsoft.com/office/drawing/2014/main" id="{B524A78F-F217-4CEA-878B-C4DAD686822C}"/>
              </a:ext>
            </a:extLst>
          </p:cNvPr>
          <p:cNvSpPr>
            <a:spLocks xmlns:a="http://schemas.openxmlformats.org/drawingml/2006/main" noGrp="1"/>
          </p:cNvSpPr>
          <p:nvPr/>
        </p:nvSpPr>
        <p:spPr>
          <a:xfrm xmlns:a="http://schemas.openxmlformats.org/drawingml/2006/main">
            <a:off x="6299200" y="2159000"/>
            <a:ext cx="63500" cy="889000"/>
          </a:xfrm>
          <a:prstGeom xmlns:a="http://schemas.openxmlformats.org/drawingml/2006/main" prst="rect">
            <a:avLst/>
          </a:prstGeom>
          <a:solidFill xmlns:a="http://schemas.openxmlformats.org/drawingml/2006/main">
            <a:srgbClr val="DA1884"/>
          </a:solidFill>
        </p:spPr>
        <p:txBody>
          <a:bodyPr xmlns:a="http://schemas.openxmlformats.org/drawingml/2006/main"/>
          <a:lstStyle xmlns:a="http://schemas.openxmlformats.org/drawingml/2006/main"/>
          <a:p xmlns:a="http://schemas.openxmlformats.org/drawingml/2006/main">
            <a:endParaRPr/>
          </a:p>
        </p:txBody>
      </p:sp>
      <p:sp>
        <p:nvSpPr>
          <p:cNvPr id="17" name="Text 13">
            <a:extLst xmlns:a="http://schemas.openxmlformats.org/drawingml/2006/main">
              <a:ext uri="{FF2B5EF4-FFF2-40B4-BE49-F238E27FC236}">
                <a16:creationId xmlns:a16="http://schemas.microsoft.com/office/drawing/2014/main" id="{0FAE010A-1578-4F6D-A50F-362D8212ED0B}"/>
              </a:ext>
            </a:extLst>
          </p:cNvPr>
          <p:cNvSpPr>
            <a:spLocks xmlns:a="http://schemas.openxmlformats.org/drawingml/2006/main" noGrp="1"/>
          </p:cNvSpPr>
          <p:nvPr/>
        </p:nvSpPr>
        <p:spPr>
          <a:xfrm xmlns:a="http://schemas.openxmlformats.org/drawingml/2006/main">
            <a:off x="6527800" y="2311400"/>
            <a:ext cx="381000" cy="279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1600" b="1">
                <a:solidFill>
                  <a:srgbClr val="DA1884"/>
                </a:solidFill>
                <a:latin typeface="Arial"/>
                <a:ea typeface="Arial"/>
                <a:cs typeface="Arial"/>
              </a:rPr>
              <a:t>01</a:t>
            </a:r>
            <a:endParaRPr sz="1600"/>
          </a:p>
        </p:txBody>
      </p:sp>
      <p:sp>
        <p:nvSpPr>
          <p:cNvPr id="18" name="Text 14">
            <a:extLst xmlns:a="http://schemas.openxmlformats.org/drawingml/2006/main">
              <a:ext uri="{FF2B5EF4-FFF2-40B4-BE49-F238E27FC236}">
                <a16:creationId xmlns:a16="http://schemas.microsoft.com/office/drawing/2014/main" id="{BEDB2FCF-7253-4A40-AC6C-FBD93F63345B}"/>
              </a:ext>
            </a:extLst>
          </p:cNvPr>
          <p:cNvSpPr>
            <a:spLocks xmlns:a="http://schemas.openxmlformats.org/drawingml/2006/main" noGrp="1"/>
          </p:cNvSpPr>
          <p:nvPr/>
        </p:nvSpPr>
        <p:spPr>
          <a:xfrm xmlns:a="http://schemas.openxmlformats.org/drawingml/2006/main">
            <a:off x="7035800" y="2311400"/>
            <a:ext cx="4445000" cy="635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15000"/>
              </a:lnSpc>
              <a:spcAft>
                <a:spcPts val="400"/>
              </a:spcAft>
              <a:buNone/>
            </a:pPr>
            <a:r>
              <a:rPr sz="1300" b="1">
                <a:solidFill>
                  <a:srgbClr val="141414"/>
                </a:solidFill>
                <a:latin typeface="Arial"/>
                <a:ea typeface="Arial"/>
                <a:cs typeface="Arial"/>
              </a:rPr>
              <a:t>One request, linked records</a:t>
            </a:r>
            <a:endParaRPr sz="1300"/>
          </a:p>
          <a:p xmlns:a="http://schemas.openxmlformats.org/drawingml/2006/main">
            <a:pPr marL="0" indent="0">
              <a:lnSpc>
                <a:spcPct val="115000"/>
              </a:lnSpc>
              <a:buNone/>
            </a:pPr>
            <a:r>
              <a:rPr sz="1200">
                <a:solidFill>
                  <a:srgbClr val="333333"/>
                </a:solidFill>
                <a:latin typeface="Arial"/>
                <a:ea typeface="Arial"/>
                <a:cs typeface="Arial"/>
              </a:rPr>
              <a:t>A ship, its films and its flight crew in one round trip.</a:t>
            </a:r>
            <a:endParaRPr sz="1300"/>
          </a:p>
        </p:txBody>
      </p:sp>
      <p:sp>
        <p:nvSpPr>
          <p:cNvPr id="19" name="Shape 15">
            <a:extLst xmlns:a="http://schemas.openxmlformats.org/drawingml/2006/main">
              <a:ext uri="{FF2B5EF4-FFF2-40B4-BE49-F238E27FC236}">
                <a16:creationId xmlns:a16="http://schemas.microsoft.com/office/drawing/2014/main" id="{2F52A8C4-92CD-4F92-AB30-94BAAD69D02E}"/>
              </a:ext>
            </a:extLst>
          </p:cNvPr>
          <p:cNvSpPr>
            <a:spLocks xmlns:a="http://schemas.openxmlformats.org/drawingml/2006/main" noGrp="1"/>
          </p:cNvSpPr>
          <p:nvPr/>
        </p:nvSpPr>
        <p:spPr>
          <a:xfrm xmlns:a="http://schemas.openxmlformats.org/drawingml/2006/main">
            <a:off x="6299200" y="3149600"/>
            <a:ext cx="5384800" cy="889000"/>
          </a:xfrm>
          <a:prstGeom xmlns:a="http://schemas.openxmlformats.org/drawingml/2006/main" prst="rect">
            <a:avLst/>
          </a:prstGeom>
          <a:solidFill xmlns:a="http://schemas.openxmlformats.org/drawingml/2006/main">
            <a:srgbClr val="F4F4F4"/>
          </a:solidFill>
          <a:effectLst xmlns:a="http://schemas.openxmlformats.org/drawingml/2006/main">
            <a:outerShdw blurRad="50800" dist="25400" dir="5400000" algn="bl" rotWithShape="0">
              <a:srgbClr val="000000">
                <a:alpha val="18000"/>
              </a:srgbClr>
            </a:outerShdw>
          </a:effectLst>
        </p:spPr>
        <p:txBody>
          <a:bodyPr xmlns:a="http://schemas.openxmlformats.org/drawingml/2006/main"/>
          <a:lstStyle xmlns:a="http://schemas.openxmlformats.org/drawingml/2006/main"/>
          <a:p xmlns:a="http://schemas.openxmlformats.org/drawingml/2006/main">
            <a:endParaRPr/>
          </a:p>
        </p:txBody>
      </p:sp>
      <p:sp>
        <p:nvSpPr>
          <p:cNvPr id="20" name="Shape 16">
            <a:extLst xmlns:a="http://schemas.openxmlformats.org/drawingml/2006/main">
              <a:ext uri="{FF2B5EF4-FFF2-40B4-BE49-F238E27FC236}">
                <a16:creationId xmlns:a16="http://schemas.microsoft.com/office/drawing/2014/main" id="{D351BEB2-49E7-42BA-BCDC-5A0E7DF0300A}"/>
              </a:ext>
            </a:extLst>
          </p:cNvPr>
          <p:cNvSpPr>
            <a:spLocks xmlns:a="http://schemas.openxmlformats.org/drawingml/2006/main" noGrp="1"/>
          </p:cNvSpPr>
          <p:nvPr/>
        </p:nvSpPr>
        <p:spPr>
          <a:xfrm xmlns:a="http://schemas.openxmlformats.org/drawingml/2006/main">
            <a:off x="6299200" y="3149600"/>
            <a:ext cx="63500" cy="889000"/>
          </a:xfrm>
          <a:prstGeom xmlns:a="http://schemas.openxmlformats.org/drawingml/2006/main" prst="rect">
            <a:avLst/>
          </a:prstGeom>
          <a:solidFill xmlns:a="http://schemas.openxmlformats.org/drawingml/2006/main">
            <a:srgbClr val="DA1884"/>
          </a:solidFill>
        </p:spPr>
        <p:txBody>
          <a:bodyPr xmlns:a="http://schemas.openxmlformats.org/drawingml/2006/main"/>
          <a:lstStyle xmlns:a="http://schemas.openxmlformats.org/drawingml/2006/main"/>
          <a:p xmlns:a="http://schemas.openxmlformats.org/drawingml/2006/main">
            <a:endParaRPr/>
          </a:p>
        </p:txBody>
      </p:sp>
      <p:sp>
        <p:nvSpPr>
          <p:cNvPr id="21" name="Text 17">
            <a:extLst xmlns:a="http://schemas.openxmlformats.org/drawingml/2006/main">
              <a:ext uri="{FF2B5EF4-FFF2-40B4-BE49-F238E27FC236}">
                <a16:creationId xmlns:a16="http://schemas.microsoft.com/office/drawing/2014/main" id="{1ABBF981-259C-43CE-A859-A500C423EE92}"/>
              </a:ext>
            </a:extLst>
          </p:cNvPr>
          <p:cNvSpPr>
            <a:spLocks xmlns:a="http://schemas.openxmlformats.org/drawingml/2006/main" noGrp="1"/>
          </p:cNvSpPr>
          <p:nvPr/>
        </p:nvSpPr>
        <p:spPr>
          <a:xfrm xmlns:a="http://schemas.openxmlformats.org/drawingml/2006/main">
            <a:off x="6527800" y="3302000"/>
            <a:ext cx="381000" cy="279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1600" b="1">
                <a:solidFill>
                  <a:srgbClr val="DA1884"/>
                </a:solidFill>
                <a:latin typeface="Arial"/>
                <a:ea typeface="Arial"/>
                <a:cs typeface="Arial"/>
              </a:rPr>
              <a:t>02</a:t>
            </a:r>
            <a:endParaRPr sz="1600"/>
          </a:p>
        </p:txBody>
      </p:sp>
      <p:sp>
        <p:nvSpPr>
          <p:cNvPr id="22" name="Text 18">
            <a:extLst xmlns:a="http://schemas.openxmlformats.org/drawingml/2006/main">
              <a:ext uri="{FF2B5EF4-FFF2-40B4-BE49-F238E27FC236}">
                <a16:creationId xmlns:a16="http://schemas.microsoft.com/office/drawing/2014/main" id="{C52CC297-E6D0-49A7-9B75-95E2EF548C3D}"/>
              </a:ext>
            </a:extLst>
          </p:cNvPr>
          <p:cNvSpPr>
            <a:spLocks xmlns:a="http://schemas.openxmlformats.org/drawingml/2006/main" noGrp="1"/>
          </p:cNvSpPr>
          <p:nvPr/>
        </p:nvSpPr>
        <p:spPr>
          <a:xfrm xmlns:a="http://schemas.openxmlformats.org/drawingml/2006/main">
            <a:off x="7035800" y="3302000"/>
            <a:ext cx="4445000" cy="635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15000"/>
              </a:lnSpc>
              <a:spcAft>
                <a:spcPts val="400"/>
              </a:spcAft>
              <a:buNone/>
            </a:pPr>
            <a:r>
              <a:rPr sz="1300" b="1">
                <a:solidFill>
                  <a:srgbClr val="141414"/>
                </a:solidFill>
                <a:latin typeface="Arial"/>
                <a:ea typeface="Arial"/>
                <a:cs typeface="Arial"/>
              </a:rPr>
              <a:t>Spring for GraphQL</a:t>
            </a:r>
            <a:endParaRPr sz="1300"/>
          </a:p>
          <a:p xmlns:a="http://schemas.openxmlformats.org/drawingml/2006/main">
            <a:pPr marL="0" indent="0">
              <a:lnSpc>
                <a:spcPct val="115000"/>
              </a:lnSpc>
              <a:buNone/>
            </a:pPr>
            <a:r>
              <a:rPr sz="1200">
                <a:solidFill>
                  <a:srgbClr val="333333"/>
                </a:solidFill>
                <a:latin typeface="Arial"/>
                <a:ea typeface="Arial"/>
                <a:cs typeface="Arial"/>
              </a:rPr>
              <a:t>@QueryMapping resolvers read the same catalog that REST serves.</a:t>
            </a:r>
            <a:endParaRPr sz="1300"/>
          </a:p>
        </p:txBody>
      </p:sp>
      <p:sp>
        <p:nvSpPr>
          <p:cNvPr id="23" name="Shape 19">
            <a:extLst xmlns:a="http://schemas.openxmlformats.org/drawingml/2006/main">
              <a:ext uri="{FF2B5EF4-FFF2-40B4-BE49-F238E27FC236}">
                <a16:creationId xmlns:a16="http://schemas.microsoft.com/office/drawing/2014/main" id="{57C597F8-DA4A-46DC-9F80-252F95E373BC}"/>
              </a:ext>
            </a:extLst>
          </p:cNvPr>
          <p:cNvSpPr>
            <a:spLocks xmlns:a="http://schemas.openxmlformats.org/drawingml/2006/main" noGrp="1"/>
          </p:cNvSpPr>
          <p:nvPr/>
        </p:nvSpPr>
        <p:spPr>
          <a:xfrm xmlns:a="http://schemas.openxmlformats.org/drawingml/2006/main">
            <a:off x="6299200" y="4140200"/>
            <a:ext cx="5384800" cy="889000"/>
          </a:xfrm>
          <a:prstGeom xmlns:a="http://schemas.openxmlformats.org/drawingml/2006/main" prst="rect">
            <a:avLst/>
          </a:prstGeom>
          <a:solidFill xmlns:a="http://schemas.openxmlformats.org/drawingml/2006/main">
            <a:srgbClr val="F4F4F4"/>
          </a:solidFill>
          <a:effectLst xmlns:a="http://schemas.openxmlformats.org/drawingml/2006/main">
            <a:outerShdw blurRad="50800" dist="25400" dir="5400000" algn="bl" rotWithShape="0">
              <a:srgbClr val="000000">
                <a:alpha val="18000"/>
              </a:srgbClr>
            </a:outerShdw>
          </a:effectLst>
        </p:spPr>
        <p:txBody>
          <a:bodyPr xmlns:a="http://schemas.openxmlformats.org/drawingml/2006/main"/>
          <a:lstStyle xmlns:a="http://schemas.openxmlformats.org/drawingml/2006/main"/>
          <a:p xmlns:a="http://schemas.openxmlformats.org/drawingml/2006/main">
            <a:endParaRPr/>
          </a:p>
        </p:txBody>
      </p:sp>
      <p:sp>
        <p:nvSpPr>
          <p:cNvPr id="24" name="Shape 20">
            <a:extLst xmlns:a="http://schemas.openxmlformats.org/drawingml/2006/main">
              <a:ext uri="{FF2B5EF4-FFF2-40B4-BE49-F238E27FC236}">
                <a16:creationId xmlns:a16="http://schemas.microsoft.com/office/drawing/2014/main" id="{5FBD22B9-B7EB-4BC5-A595-14A99D1E125C}"/>
              </a:ext>
            </a:extLst>
          </p:cNvPr>
          <p:cNvSpPr>
            <a:spLocks xmlns:a="http://schemas.openxmlformats.org/drawingml/2006/main" noGrp="1"/>
          </p:cNvSpPr>
          <p:nvPr/>
        </p:nvSpPr>
        <p:spPr>
          <a:xfrm xmlns:a="http://schemas.openxmlformats.org/drawingml/2006/main">
            <a:off x="6299200" y="4140200"/>
            <a:ext cx="63500" cy="889000"/>
          </a:xfrm>
          <a:prstGeom xmlns:a="http://schemas.openxmlformats.org/drawingml/2006/main" prst="rect">
            <a:avLst/>
          </a:prstGeom>
          <a:solidFill xmlns:a="http://schemas.openxmlformats.org/drawingml/2006/main">
            <a:srgbClr val="DA1884"/>
          </a:solidFill>
        </p:spPr>
        <p:txBody>
          <a:bodyPr xmlns:a="http://schemas.openxmlformats.org/drawingml/2006/main"/>
          <a:lstStyle xmlns:a="http://schemas.openxmlformats.org/drawingml/2006/main"/>
          <a:p xmlns:a="http://schemas.openxmlformats.org/drawingml/2006/main">
            <a:endParaRPr/>
          </a:p>
        </p:txBody>
      </p:sp>
      <p:sp>
        <p:nvSpPr>
          <p:cNvPr id="25" name="Text 21">
            <a:extLst xmlns:a="http://schemas.openxmlformats.org/drawingml/2006/main">
              <a:ext uri="{FF2B5EF4-FFF2-40B4-BE49-F238E27FC236}">
                <a16:creationId xmlns:a16="http://schemas.microsoft.com/office/drawing/2014/main" id="{2ADDB858-2EB5-4365-AC09-8512A74A87CF}"/>
              </a:ext>
            </a:extLst>
          </p:cNvPr>
          <p:cNvSpPr>
            <a:spLocks xmlns:a="http://schemas.openxmlformats.org/drawingml/2006/main" noGrp="1"/>
          </p:cNvSpPr>
          <p:nvPr/>
        </p:nvSpPr>
        <p:spPr>
          <a:xfrm xmlns:a="http://schemas.openxmlformats.org/drawingml/2006/main">
            <a:off x="6527800" y="4292600"/>
            <a:ext cx="381000" cy="279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1600" b="1">
                <a:solidFill>
                  <a:srgbClr val="DA1884"/>
                </a:solidFill>
                <a:latin typeface="Arial"/>
                <a:ea typeface="Arial"/>
                <a:cs typeface="Arial"/>
              </a:rPr>
              <a:t>03</a:t>
            </a:r>
            <a:endParaRPr sz="1600"/>
          </a:p>
        </p:txBody>
      </p:sp>
      <p:sp>
        <p:nvSpPr>
          <p:cNvPr id="26" name="Text 22">
            <a:extLst xmlns:a="http://schemas.openxmlformats.org/drawingml/2006/main">
              <a:ext uri="{FF2B5EF4-FFF2-40B4-BE49-F238E27FC236}">
                <a16:creationId xmlns:a16="http://schemas.microsoft.com/office/drawing/2014/main" id="{F485770D-DA09-4CE4-8E46-049177BDDF2B}"/>
              </a:ext>
            </a:extLst>
          </p:cNvPr>
          <p:cNvSpPr>
            <a:spLocks xmlns:a="http://schemas.openxmlformats.org/drawingml/2006/main" noGrp="1"/>
          </p:cNvSpPr>
          <p:nvPr/>
        </p:nvSpPr>
        <p:spPr>
          <a:xfrm xmlns:a="http://schemas.openxmlformats.org/drawingml/2006/main">
            <a:off x="7035800" y="4292600"/>
            <a:ext cx="4445000" cy="635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15000"/>
              </a:lnSpc>
              <a:spcAft>
                <a:spcPts val="400"/>
              </a:spcAft>
              <a:buNone/>
            </a:pPr>
            <a:r>
              <a:rPr sz="1300" b="1">
                <a:solidFill>
                  <a:srgbClr val="141414"/>
                </a:solidFill>
                <a:latin typeface="Arial"/>
                <a:ea typeface="Arial"/>
                <a:cs typeface="Arial"/>
              </a:rPr>
              <a:t>Picked for relationships</a:t>
            </a:r>
            <a:endParaRPr sz="1300"/>
          </a:p>
          <a:p xmlns:a="http://schemas.openxmlformats.org/drawingml/2006/main">
            <a:pPr marL="0" indent="0">
              <a:lnSpc>
                <a:spcPct val="115000"/>
              </a:lnSpc>
              <a:buNone/>
            </a:pPr>
            <a:r>
              <a:rPr sz="1200">
                <a:solidFill>
                  <a:srgbClr val="333333"/>
                </a:solidFill>
                <a:latin typeface="Arial"/>
                <a:ea typeface="Arial"/>
                <a:cs typeface="Arial"/>
              </a:rPr>
              <a:t>“Which characters” and “who flew” route here, even for one ship.</a:t>
            </a:r>
            <a:endParaRPr sz="1300"/>
          </a:p>
        </p:txBody>
      </p:sp>
      <p:sp>
        <p:nvSpPr>
          <p:cNvPr id="27" name="Shape 23">
            <a:extLst xmlns:a="http://schemas.openxmlformats.org/drawingml/2006/main">
              <a:ext uri="{FF2B5EF4-FFF2-40B4-BE49-F238E27FC236}">
                <a16:creationId xmlns:a16="http://schemas.microsoft.com/office/drawing/2014/main" id="{208F6C30-B09F-4898-B8BA-C603C45EADB8}"/>
              </a:ext>
            </a:extLst>
          </p:cNvPr>
          <p:cNvSpPr>
            <a:spLocks xmlns:a="http://schemas.openxmlformats.org/drawingml/2006/main" noGrp="1"/>
          </p:cNvSpPr>
          <p:nvPr/>
        </p:nvSpPr>
        <p:spPr>
          <a:xfrm xmlns:a="http://schemas.openxmlformats.org/drawingml/2006/main">
            <a:off x="6299200" y="5130800"/>
            <a:ext cx="5384800" cy="787400"/>
          </a:xfrm>
          <a:prstGeom xmlns:a="http://schemas.openxmlformats.org/drawingml/2006/main" prst="rect">
            <a:avLst/>
          </a:prstGeom>
          <a:solidFill xmlns:a="http://schemas.openxmlformats.org/drawingml/2006/main">
            <a:srgbClr val="F4F4F4"/>
          </a:solidFill>
          <a:effectLst xmlns:a="http://schemas.openxmlformats.org/drawingml/2006/main">
            <a:outerShdw blurRad="50800" dist="25400" dir="5400000" algn="bl" rotWithShape="0">
              <a:srgbClr val="000000">
                <a:alpha val="18000"/>
              </a:srgbClr>
            </a:outerShdw>
          </a:effectLst>
        </p:spPr>
        <p:txBody>
          <a:bodyPr xmlns:a="http://schemas.openxmlformats.org/drawingml/2006/main"/>
          <a:lstStyle xmlns:a="http://schemas.openxmlformats.org/drawingml/2006/main"/>
          <a:p xmlns:a="http://schemas.openxmlformats.org/drawingml/2006/main">
            <a:endParaRPr/>
          </a:p>
        </p:txBody>
      </p:sp>
      <p:sp>
        <p:nvSpPr>
          <p:cNvPr id="28" name="Shape 24">
            <a:extLst xmlns:a="http://schemas.openxmlformats.org/drawingml/2006/main">
              <a:ext uri="{FF2B5EF4-FFF2-40B4-BE49-F238E27FC236}">
                <a16:creationId xmlns:a16="http://schemas.microsoft.com/office/drawing/2014/main" id="{7A86BE0F-3724-4415-BF5B-9D230C339F2D}"/>
              </a:ext>
            </a:extLst>
          </p:cNvPr>
          <p:cNvSpPr>
            <a:spLocks xmlns:a="http://schemas.openxmlformats.org/drawingml/2006/main" noGrp="1"/>
          </p:cNvSpPr>
          <p:nvPr/>
        </p:nvSpPr>
        <p:spPr>
          <a:xfrm xmlns:a="http://schemas.openxmlformats.org/drawingml/2006/main">
            <a:off x="6299200" y="5130800"/>
            <a:ext cx="76200" cy="787400"/>
          </a:xfrm>
          <a:prstGeom xmlns:a="http://schemas.openxmlformats.org/drawingml/2006/main" prst="rect">
            <a:avLst/>
          </a:prstGeom>
          <a:solidFill xmlns:a="http://schemas.openxmlformats.org/drawingml/2006/main">
            <a:srgbClr val="DA1884"/>
          </a:solidFill>
        </p:spPr>
        <p:txBody>
          <a:bodyPr xmlns:a="http://schemas.openxmlformats.org/drawingml/2006/main"/>
          <a:lstStyle xmlns:a="http://schemas.openxmlformats.org/drawingml/2006/main"/>
          <a:p xmlns:a="http://schemas.openxmlformats.org/drawingml/2006/main">
            <a:endParaRPr/>
          </a:p>
        </p:txBody>
      </p:sp>
      <p:sp>
        <p:nvSpPr>
          <p:cNvPr id="29" name="Text 25">
            <a:extLst xmlns:a="http://schemas.openxmlformats.org/drawingml/2006/main">
              <a:ext uri="{FF2B5EF4-FFF2-40B4-BE49-F238E27FC236}">
                <a16:creationId xmlns:a16="http://schemas.microsoft.com/office/drawing/2014/main" id="{B05ABDFB-7E0B-46E5-AA87-75FF52141051}"/>
              </a:ext>
            </a:extLst>
          </p:cNvPr>
          <p:cNvSpPr>
            <a:spLocks xmlns:a="http://schemas.openxmlformats.org/drawingml/2006/main" noGrp="1"/>
          </p:cNvSpPr>
          <p:nvPr/>
        </p:nvSpPr>
        <p:spPr>
          <a:xfrm xmlns:a="http://schemas.openxmlformats.org/drawingml/2006/main">
            <a:off x="6578600" y="5130800"/>
            <a:ext cx="4876800" cy="787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200" b="1">
                <a:solidFill>
                  <a:srgbClr val="141414"/>
                </a:solidFill>
                <a:latin typeface="Arial"/>
                <a:ea typeface="Arial"/>
                <a:cs typeface="Arial"/>
              </a:rPr>
              <a:t>Try it:  </a:t>
            </a:r>
            <a:r>
              <a:rPr sz="1200">
                <a:solidFill>
                  <a:srgbClr val="141414"/>
                </a:solidFill>
                <a:latin typeface="Arial"/>
                <a:ea typeface="Arial"/>
                <a:cs typeface="Arial"/>
              </a:rPr>
              <a:t>“Who flew the Millennium Falcon in A New Hope?”</a:t>
            </a:r>
            <a:endParaRPr sz="1200"/>
          </a:p>
        </p:txBody>
      </p:sp>
    </p:spTree>
    <p:extLst>
      <p:ext uri="{BB962C8B-B14F-4D97-AF65-F5344CB8AC3E}">
        <p14:creationId xmlns:p14="http://schemas.microsoft.com/office/powerpoint/2010/main" val="12864275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6948A719-10BB-4388-938B-60F6D6A67237}"/>
              </a:ext>
            </a:extLst>
          </p:cNvPr>
          <p:cNvPicPr>
            <a:picLocks xmlns:a="http://schemas.openxmlformats.org/drawingml/2006/main" noChangeAspect="1"/>
          </p:cNvPicPr>
          <p:nvPr/>
        </p:nvPicPr>
        <p:blipFill>
          <a:blip xmlns:r="http://schemas.openxmlformats.org/officeDocument/2006/relationships" xmlns:a="http://schemas.openxmlformats.org/drawingml/2006/main" r:embed="R34258ffb64db495d"/>
          <a:stretch xmlns:a="http://schemas.openxmlformats.org/drawingml/2006/main">
            <a:fillRect l="0" t="0" r="0" b="0"/>
          </a:stretch>
        </p:blipFill>
        <p:spPr>
          <a:xfrm xmlns:a="http://schemas.openxmlformats.org/drawingml/2006/main">
            <a:off x="508000" y="152400"/>
            <a:ext cx="990600" cy="40640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D887F5CF-4971-4302-B500-44A3A2FFFEE0}"/>
              </a:ext>
            </a:extLst>
          </p:cNvPr>
          <p:cNvSpPr>
            <a:spLocks xmlns:a="http://schemas.openxmlformats.org/drawingml/2006/main" noGrp="1"/>
          </p:cNvSpPr>
          <p:nvPr/>
        </p:nvSpPr>
        <p:spPr>
          <a:xfrm xmlns:a="http://schemas.openxmlformats.org/drawingml/2006/main">
            <a:off x="3556000" y="406400"/>
            <a:ext cx="5080000" cy="190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110000"/>
              </a:lnSpc>
              <a:buNone/>
            </a:pPr>
            <a:r>
              <a:rPr sz="1000">
                <a:solidFill>
                  <a:srgbClr val="6B6B6B"/>
                </a:solidFill>
                <a:latin typeface="Arial"/>
                <a:ea typeface="Arial"/>
                <a:cs typeface="Arial"/>
              </a:rPr>
              <a:t>Protocol Studio  —  REST · GraphQL · gRPC</a:t>
            </a:r>
            <a:endParaRPr sz="1000"/>
          </a:p>
        </p:txBody>
      </p:sp>
      <p:sp>
        <p:nvSpPr>
          <p:cNvPr id="4" name="Text 1">
            <a:extLst xmlns:a="http://schemas.openxmlformats.org/drawingml/2006/main">
              <a:ext uri="{FF2B5EF4-FFF2-40B4-BE49-F238E27FC236}">
                <a16:creationId xmlns:a16="http://schemas.microsoft.com/office/drawing/2014/main" id="{2ABC35A0-13ED-4982-B23D-211EB115C36C}"/>
              </a:ext>
            </a:extLst>
          </p:cNvPr>
          <p:cNvSpPr>
            <a:spLocks xmlns:a="http://schemas.openxmlformats.org/drawingml/2006/main" noGrp="1"/>
          </p:cNvSpPr>
          <p:nvPr/>
        </p:nvSpPr>
        <p:spPr>
          <a:xfrm xmlns:a="http://schemas.openxmlformats.org/drawingml/2006/main">
            <a:off x="6350000" y="406400"/>
            <a:ext cx="5334000" cy="190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ct val="110000"/>
              </a:lnSpc>
              <a:buNone/>
            </a:pPr>
            <a:r>
              <a:rPr sz="1000" b="1">
                <a:solidFill>
                  <a:srgbClr val="DA1884"/>
                </a:solidFill>
                <a:latin typeface="Arial"/>
                <a:ea typeface="Arial"/>
                <a:cs typeface="Arial"/>
              </a:rPr>
              <a:t>GRPC</a:t>
            </a:r>
            <a:endParaRPr sz="1000"/>
          </a:p>
        </p:txBody>
      </p:sp>
      <p:sp>
        <p:nvSpPr>
          <p:cNvPr id="5" name="Text 2">
            <a:extLst xmlns:a="http://schemas.openxmlformats.org/drawingml/2006/main">
              <a:ext uri="{FF2B5EF4-FFF2-40B4-BE49-F238E27FC236}">
                <a16:creationId xmlns:a16="http://schemas.microsoft.com/office/drawing/2014/main" id="{27E95D3D-8DDC-45E0-BCB2-DDD8DE36AD2C}"/>
              </a:ext>
            </a:extLst>
          </p:cNvPr>
          <p:cNvSpPr>
            <a:spLocks xmlns:a="http://schemas.openxmlformats.org/drawingml/2006/main" noGrp="1"/>
          </p:cNvSpPr>
          <p:nvPr/>
        </p:nvSpPr>
        <p:spPr>
          <a:xfrm xmlns:a="http://schemas.openxmlformats.org/drawingml/2006/main">
            <a:off x="508000" y="6578600"/>
            <a:ext cx="8890000" cy="177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900">
                <a:solidFill>
                  <a:srgbClr val="9E9E9E"/>
                </a:solidFill>
                <a:latin typeface="Arial"/>
                <a:ea typeface="Arial"/>
                <a:cs typeface="Arial"/>
              </a:rPr>
              <a:t>Insight Proprietary &amp; Confidential.  Do Not Copy or Distribute.  © 2026 Insight.  All Rights Reserved.</a:t>
            </a:r>
            <a:endParaRPr sz="900"/>
          </a:p>
        </p:txBody>
      </p:sp>
      <p:sp>
        <p:nvSpPr>
          <p:cNvPr id="6" name="Text 3">
            <a:extLst xmlns:a="http://schemas.openxmlformats.org/drawingml/2006/main">
              <a:ext uri="{FF2B5EF4-FFF2-40B4-BE49-F238E27FC236}">
                <a16:creationId xmlns:a16="http://schemas.microsoft.com/office/drawing/2014/main" id="{F254D188-E0E4-408E-A34E-545DA87108CE}"/>
              </a:ext>
            </a:extLst>
          </p:cNvPr>
          <p:cNvSpPr>
            <a:spLocks xmlns:a="http://schemas.openxmlformats.org/drawingml/2006/main" noGrp="1"/>
          </p:cNvSpPr>
          <p:nvPr/>
        </p:nvSpPr>
        <p:spPr>
          <a:xfrm xmlns:a="http://schemas.openxmlformats.org/drawingml/2006/main">
            <a:off x="10922000" y="6578600"/>
            <a:ext cx="762000" cy="177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ct val="110000"/>
              </a:lnSpc>
              <a:buNone/>
            </a:pPr>
            <a:r>
              <a:rPr sz="900">
                <a:solidFill>
                  <a:srgbClr val="9E9E9E"/>
                </a:solidFill>
                <a:latin typeface="Arial"/>
                <a:ea typeface="Arial"/>
                <a:cs typeface="Arial"/>
              </a:rPr>
              <a:t>12</a:t>
            </a:r>
            <a:endParaRPr sz="900"/>
          </a:p>
        </p:txBody>
      </p:sp>
      <p:sp>
        <p:nvSpPr>
          <p:cNvPr id="7" name="Text 4">
            <a:extLst xmlns:a="http://schemas.openxmlformats.org/drawingml/2006/main">
              <a:ext uri="{FF2B5EF4-FFF2-40B4-BE49-F238E27FC236}">
                <a16:creationId xmlns:a16="http://schemas.microsoft.com/office/drawing/2014/main" id="{EF00EA14-FB27-4829-940F-715D1CE3414D}"/>
              </a:ext>
            </a:extLst>
          </p:cNvPr>
          <p:cNvSpPr>
            <a:spLocks xmlns:a="http://schemas.openxmlformats.org/drawingml/2006/main" noGrp="1"/>
          </p:cNvSpPr>
          <p:nvPr/>
        </p:nvSpPr>
        <p:spPr>
          <a:xfrm xmlns:a="http://schemas.openxmlformats.org/drawingml/2006/main">
            <a:off x="508000" y="889000"/>
            <a:ext cx="11176000" cy="2159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1200" b="1">
                <a:solidFill>
                  <a:srgbClr val="DA1884"/>
                </a:solidFill>
                <a:latin typeface="Arial"/>
                <a:ea typeface="Arial"/>
                <a:cs typeface="Arial"/>
              </a:rPr>
              <a:t>GRPC · HOW IT WORKS</a:t>
            </a:r>
            <a:endParaRPr sz="1200"/>
          </a:p>
        </p:txBody>
      </p:sp>
      <p:sp>
        <p:nvSpPr>
          <p:cNvPr id="8" name="Text 5">
            <a:extLst xmlns:a="http://schemas.openxmlformats.org/drawingml/2006/main">
              <a:ext uri="{FF2B5EF4-FFF2-40B4-BE49-F238E27FC236}">
                <a16:creationId xmlns:a16="http://schemas.microsoft.com/office/drawing/2014/main" id="{FED03D74-9C2F-4D50-884C-0DA321E404A9}"/>
              </a:ext>
            </a:extLst>
          </p:cNvPr>
          <p:cNvSpPr>
            <a:spLocks xmlns:a="http://schemas.openxmlformats.org/drawingml/2006/main" noGrp="1"/>
          </p:cNvSpPr>
          <p:nvPr/>
        </p:nvSpPr>
        <p:spPr>
          <a:xfrm xmlns:a="http://schemas.openxmlformats.org/drawingml/2006/main">
            <a:off x="508000" y="1130300"/>
            <a:ext cx="11176000" cy="482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3000" b="1">
                <a:solidFill>
                  <a:srgbClr val="141414"/>
                </a:solidFill>
                <a:latin typeface="Arial"/>
                <a:ea typeface="Arial"/>
                <a:cs typeface="Arial"/>
              </a:rPr>
              <a:t>gRPC: Typed Contracts, Streaming by Default</a:t>
            </a:r>
            <a:endParaRPr sz="3000"/>
          </a:p>
        </p:txBody>
      </p:sp>
      <p:sp>
        <p:nvSpPr>
          <p:cNvPr id="9" name="Text 6">
            <a:extLst xmlns:a="http://schemas.openxmlformats.org/drawingml/2006/main">
              <a:ext uri="{FF2B5EF4-FFF2-40B4-BE49-F238E27FC236}">
                <a16:creationId xmlns:a16="http://schemas.microsoft.com/office/drawing/2014/main" id="{F2D15E5E-E401-4A93-8DD4-C34FFF30E9A8}"/>
              </a:ext>
            </a:extLst>
          </p:cNvPr>
          <p:cNvSpPr>
            <a:spLocks xmlns:a="http://schemas.openxmlformats.org/drawingml/2006/main" noGrp="1"/>
          </p:cNvSpPr>
          <p:nvPr/>
        </p:nvSpPr>
        <p:spPr>
          <a:xfrm xmlns:a="http://schemas.openxmlformats.org/drawingml/2006/main">
            <a:off x="508000" y="1663700"/>
            <a:ext cx="11176000"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1400">
                <a:solidFill>
                  <a:srgbClr val="6B6B6B"/>
                </a:solidFill>
                <a:latin typeface="Arial"/>
                <a:ea typeface="Arial"/>
                <a:cs typeface="Arial"/>
              </a:rPr>
              <a:t>Contract-first RPC over HTTP/2 with compact Protobuf messages and four call types.</a:t>
            </a:r>
            <a:endParaRPr sz="1400"/>
          </a:p>
        </p:txBody>
      </p:sp>
      <p:sp>
        <p:nvSpPr>
          <p:cNvPr id="11" name="Shape 7">
            <a:extLst xmlns:a="http://schemas.openxmlformats.org/drawingml/2006/main">
              <a:ext uri="{FF2B5EF4-FFF2-40B4-BE49-F238E27FC236}">
                <a16:creationId xmlns:a16="http://schemas.microsoft.com/office/drawing/2014/main" id="{1E478EB3-616D-44DE-8BD0-1D6D1A81D419}"/>
              </a:ext>
            </a:extLst>
          </p:cNvPr>
          <p:cNvSpPr>
            <a:spLocks xmlns:a="http://schemas.openxmlformats.org/drawingml/2006/main" noGrp="1"/>
          </p:cNvSpPr>
          <p:nvPr/>
        </p:nvSpPr>
        <p:spPr>
          <a:xfrm xmlns:a="http://schemas.openxmlformats.org/drawingml/2006/main">
            <a:off x="508000" y="2159000"/>
            <a:ext cx="5486400" cy="2794000"/>
          </a:xfrm>
          <a:prstGeom xmlns:a="http://schemas.openxmlformats.org/drawingml/2006/main" prst="rect">
            <a:avLst/>
          </a:prstGeom>
          <a:solidFill xmlns:a="http://schemas.openxmlformats.org/drawingml/2006/main">
            <a:srgbClr val="F4F4F4"/>
          </a:solidFill>
          <a:effectLst xmlns:a="http://schemas.openxmlformats.org/drawingml/2006/main">
            <a:outerShdw blurRad="50800" dist="25400" dir="5400000" algn="bl" rotWithShape="0">
              <a:srgbClr val="000000">
                <a:alpha val="18000"/>
              </a:srgbClr>
            </a:outerShdw>
          </a:effectLst>
        </p:spPr>
        <p:txBody>
          <a:bodyPr xmlns:a="http://schemas.openxmlformats.org/drawingml/2006/main"/>
          <a:lstStyle xmlns:a="http://schemas.openxmlformats.org/drawingml/2006/main"/>
          <a:p xmlns:a="http://schemas.openxmlformats.org/drawingml/2006/main">
            <a:endParaRPr/>
          </a:p>
        </p:txBody>
      </p:sp>
      <p:sp>
        <p:nvSpPr>
          <p:cNvPr id="12" name="Shape 8">
            <a:extLst xmlns:a="http://schemas.openxmlformats.org/drawingml/2006/main">
              <a:ext uri="{FF2B5EF4-FFF2-40B4-BE49-F238E27FC236}">
                <a16:creationId xmlns:a16="http://schemas.microsoft.com/office/drawing/2014/main" id="{067D9920-F49F-447F-8DA2-25470D2B3FB4}"/>
              </a:ext>
            </a:extLst>
          </p:cNvPr>
          <p:cNvSpPr>
            <a:spLocks xmlns:a="http://schemas.openxmlformats.org/drawingml/2006/main" noGrp="1"/>
          </p:cNvSpPr>
          <p:nvPr/>
        </p:nvSpPr>
        <p:spPr>
          <a:xfrm xmlns:a="http://schemas.openxmlformats.org/drawingml/2006/main">
            <a:off x="508000" y="2159000"/>
            <a:ext cx="5486400" cy="406400"/>
          </a:xfrm>
          <a:prstGeom xmlns:a="http://schemas.openxmlformats.org/drawingml/2006/main" prst="rect">
            <a:avLst/>
          </a:prstGeom>
          <a:solidFill xmlns:a="http://schemas.openxmlformats.org/drawingml/2006/main">
            <a:srgbClr val="DA1884"/>
          </a:solidFill>
        </p:spPr>
        <p:txBody>
          <a:bodyPr xmlns:a="http://schemas.openxmlformats.org/drawingml/2006/main"/>
          <a:lstStyle xmlns:a="http://schemas.openxmlformats.org/drawingml/2006/main"/>
          <a:p xmlns:a="http://schemas.openxmlformats.org/drawingml/2006/main">
            <a:endParaRPr/>
          </a:p>
        </p:txBody>
      </p:sp>
      <p:sp>
        <p:nvSpPr>
          <p:cNvPr id="13" name="Text 9">
            <a:extLst xmlns:a="http://schemas.openxmlformats.org/drawingml/2006/main">
              <a:ext uri="{FF2B5EF4-FFF2-40B4-BE49-F238E27FC236}">
                <a16:creationId xmlns:a16="http://schemas.microsoft.com/office/drawing/2014/main" id="{50E86671-B539-4815-9492-54B9A682AD4B}"/>
              </a:ext>
            </a:extLst>
          </p:cNvPr>
          <p:cNvSpPr>
            <a:spLocks xmlns:a="http://schemas.openxmlformats.org/drawingml/2006/main" noGrp="1"/>
          </p:cNvSpPr>
          <p:nvPr/>
        </p:nvSpPr>
        <p:spPr>
          <a:xfrm xmlns:a="http://schemas.openxmlformats.org/drawingml/2006/main">
            <a:off x="736600" y="2159000"/>
            <a:ext cx="5029200" cy="406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300" b="1">
                <a:solidFill>
                  <a:srgbClr val="FFFFFF"/>
                </a:solidFill>
                <a:latin typeface="Arial"/>
                <a:ea typeface="Arial"/>
                <a:cs typeface="Arial"/>
              </a:rPr>
              <a:t>Where gRPC shines</a:t>
            </a:r>
            <a:endParaRPr sz="1300"/>
          </a:p>
        </p:txBody>
      </p:sp>
      <p:sp>
        <p:nvSpPr>
          <p:cNvPr id="14" name="Text 10">
            <a:extLst xmlns:a="http://schemas.openxmlformats.org/drawingml/2006/main">
              <a:ext uri="{FF2B5EF4-FFF2-40B4-BE49-F238E27FC236}">
                <a16:creationId xmlns:a16="http://schemas.microsoft.com/office/drawing/2014/main" id="{6103BC91-8E89-45E3-98E8-32835034EA2B}"/>
              </a:ext>
            </a:extLst>
          </p:cNvPr>
          <p:cNvSpPr>
            <a:spLocks xmlns:a="http://schemas.openxmlformats.org/drawingml/2006/main" noGrp="1"/>
          </p:cNvSpPr>
          <p:nvPr/>
        </p:nvSpPr>
        <p:spPr>
          <a:xfrm xmlns:a="http://schemas.openxmlformats.org/drawingml/2006/main">
            <a:off x="736600" y="2743200"/>
            <a:ext cx="5029200" cy="2057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lnSpc>
                <a:spcPct val="115000"/>
              </a:lnSpc>
              <a:spcAft>
                <a:spcPts val="1000"/>
              </a:spcAft>
              <a:buSzPct val="100000"/>
              <a:buChar char="•"/>
            </a:pPr>
            <a:r>
              <a:rPr sz="1200">
                <a:solidFill>
                  <a:srgbClr val="333333"/>
                </a:solidFill>
                <a:latin typeface="Arial"/>
                <a:ea typeface="Arial"/>
                <a:cs typeface="Arial"/>
              </a:rPr>
              <a:t>Contract-first .proto files with generated clients in many languages</a:t>
            </a:r>
            <a:endParaRPr sz="1200"/>
          </a:p>
          <a:p xmlns:a="http://schemas.openxmlformats.org/drawingml/2006/main">
            <a:pPr marL="342900" indent="-342900">
              <a:lnSpc>
                <a:spcPct val="115000"/>
              </a:lnSpc>
              <a:spcAft>
                <a:spcPts val="1000"/>
              </a:spcAft>
              <a:buSzPct val="100000"/>
              <a:buChar char="•"/>
            </a:pPr>
            <a:r>
              <a:rPr sz="1200">
                <a:solidFill>
                  <a:srgbClr val="333333"/>
                </a:solidFill>
                <a:latin typeface="Arial"/>
                <a:ea typeface="Arial"/>
                <a:cs typeface="Arial"/>
              </a:rPr>
              <a:t>Compact binary Protobuf with HTTP/2 multiplexing</a:t>
            </a:r>
            <a:endParaRPr sz="1200"/>
          </a:p>
          <a:p xmlns:a="http://schemas.openxmlformats.org/drawingml/2006/main">
            <a:pPr marL="342900" indent="-342900">
              <a:lnSpc>
                <a:spcPct val="115000"/>
              </a:lnSpc>
              <a:spcAft>
                <a:spcPts val="1000"/>
              </a:spcAft>
              <a:buSzPct val="100000"/>
              <a:buChar char="•"/>
            </a:pPr>
            <a:r>
              <a:rPr sz="1200">
                <a:solidFill>
                  <a:srgbClr val="333333"/>
                </a:solidFill>
                <a:latin typeface="Arial"/>
                <a:ea typeface="Arial"/>
                <a:cs typeface="Arial"/>
              </a:rPr>
              <a:t>Unary, server, client and bidirectional streaming</a:t>
            </a:r>
            <a:endParaRPr sz="1200"/>
          </a:p>
          <a:p xmlns:a="http://schemas.openxmlformats.org/drawingml/2006/main">
            <a:pPr marL="342900" indent="-342900">
              <a:lnSpc>
                <a:spcPct val="115000"/>
              </a:lnSpc>
              <a:spcAft>
                <a:spcPts val="1000"/>
              </a:spcAft>
              <a:buSzPct val="100000"/>
              <a:buChar char="•"/>
            </a:pPr>
            <a:r>
              <a:rPr sz="1200">
                <a:solidFill>
                  <a:srgbClr val="333333"/>
                </a:solidFill>
                <a:latin typeface="Arial"/>
                <a:ea typeface="Arial"/>
                <a:cs typeface="Arial"/>
              </a:rPr>
              <a:t>Deadlines, cancellation and metadata built in</a:t>
            </a:r>
            <a:endParaRPr sz="1200"/>
          </a:p>
        </p:txBody>
      </p:sp>
      <p:sp>
        <p:nvSpPr>
          <p:cNvPr id="15" name="Shape 11">
            <a:extLst xmlns:a="http://schemas.openxmlformats.org/drawingml/2006/main">
              <a:ext uri="{FF2B5EF4-FFF2-40B4-BE49-F238E27FC236}">
                <a16:creationId xmlns:a16="http://schemas.microsoft.com/office/drawing/2014/main" id="{C3E31C9B-ECF7-4A19-9843-4E1A534D2ED0}"/>
              </a:ext>
            </a:extLst>
          </p:cNvPr>
          <p:cNvSpPr>
            <a:spLocks xmlns:a="http://schemas.openxmlformats.org/drawingml/2006/main" noGrp="1"/>
          </p:cNvSpPr>
          <p:nvPr/>
        </p:nvSpPr>
        <p:spPr>
          <a:xfrm xmlns:a="http://schemas.openxmlformats.org/drawingml/2006/main">
            <a:off x="6197600" y="2159000"/>
            <a:ext cx="5486400" cy="2794000"/>
          </a:xfrm>
          <a:prstGeom xmlns:a="http://schemas.openxmlformats.org/drawingml/2006/main" prst="rect">
            <a:avLst/>
          </a:prstGeom>
          <a:solidFill xmlns:a="http://schemas.openxmlformats.org/drawingml/2006/main">
            <a:srgbClr val="F4F4F4"/>
          </a:solidFill>
          <a:effectLst xmlns:a="http://schemas.openxmlformats.org/drawingml/2006/main">
            <a:outerShdw blurRad="50800" dist="25400" dir="5400000" algn="bl" rotWithShape="0">
              <a:srgbClr val="000000">
                <a:alpha val="18000"/>
              </a:srgbClr>
            </a:outerShdw>
          </a:effectLst>
        </p:spPr>
        <p:txBody>
          <a:bodyPr xmlns:a="http://schemas.openxmlformats.org/drawingml/2006/main"/>
          <a:lstStyle xmlns:a="http://schemas.openxmlformats.org/drawingml/2006/main"/>
          <a:p xmlns:a="http://schemas.openxmlformats.org/drawingml/2006/main">
            <a:endParaRPr/>
          </a:p>
        </p:txBody>
      </p:sp>
      <p:sp>
        <p:nvSpPr>
          <p:cNvPr id="16" name="Shape 12">
            <a:extLst xmlns:a="http://schemas.openxmlformats.org/drawingml/2006/main">
              <a:ext uri="{FF2B5EF4-FFF2-40B4-BE49-F238E27FC236}">
                <a16:creationId xmlns:a16="http://schemas.microsoft.com/office/drawing/2014/main" id="{F268FDC3-C42C-49CD-9CB4-D56474EAC5AE}"/>
              </a:ext>
            </a:extLst>
          </p:cNvPr>
          <p:cNvSpPr>
            <a:spLocks xmlns:a="http://schemas.openxmlformats.org/drawingml/2006/main" noGrp="1"/>
          </p:cNvSpPr>
          <p:nvPr/>
        </p:nvSpPr>
        <p:spPr>
          <a:xfrm xmlns:a="http://schemas.openxmlformats.org/drawingml/2006/main">
            <a:off x="6197600" y="2159000"/>
            <a:ext cx="5486400" cy="406400"/>
          </a:xfrm>
          <a:prstGeom xmlns:a="http://schemas.openxmlformats.org/drawingml/2006/main" prst="rect">
            <a:avLst/>
          </a:prstGeom>
          <a:solidFill xmlns:a="http://schemas.openxmlformats.org/drawingml/2006/main">
            <a:srgbClr val="A1005D"/>
          </a:solidFill>
        </p:spPr>
        <p:txBody>
          <a:bodyPr xmlns:a="http://schemas.openxmlformats.org/drawingml/2006/main"/>
          <a:lstStyle xmlns:a="http://schemas.openxmlformats.org/drawingml/2006/main"/>
          <a:p xmlns:a="http://schemas.openxmlformats.org/drawingml/2006/main">
            <a:endParaRPr/>
          </a:p>
        </p:txBody>
      </p:sp>
      <p:sp>
        <p:nvSpPr>
          <p:cNvPr id="17" name="Text 13">
            <a:extLst xmlns:a="http://schemas.openxmlformats.org/drawingml/2006/main">
              <a:ext uri="{FF2B5EF4-FFF2-40B4-BE49-F238E27FC236}">
                <a16:creationId xmlns:a16="http://schemas.microsoft.com/office/drawing/2014/main" id="{7FE7CC19-B58C-423A-AF1C-4BFF7700DB61}"/>
              </a:ext>
            </a:extLst>
          </p:cNvPr>
          <p:cNvSpPr>
            <a:spLocks xmlns:a="http://schemas.openxmlformats.org/drawingml/2006/main" noGrp="1"/>
          </p:cNvSpPr>
          <p:nvPr/>
        </p:nvSpPr>
        <p:spPr>
          <a:xfrm xmlns:a="http://schemas.openxmlformats.org/drawingml/2006/main">
            <a:off x="6426200" y="2159000"/>
            <a:ext cx="5029200" cy="406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300" b="1">
                <a:solidFill>
                  <a:srgbClr val="FFFFFF"/>
                </a:solidFill>
                <a:latin typeface="Arial"/>
                <a:ea typeface="Arial"/>
                <a:cs typeface="Arial"/>
              </a:rPr>
              <a:t>Where it strains</a:t>
            </a:r>
            <a:endParaRPr sz="1300"/>
          </a:p>
        </p:txBody>
      </p:sp>
      <p:sp>
        <p:nvSpPr>
          <p:cNvPr id="18" name="Text 14">
            <a:extLst xmlns:a="http://schemas.openxmlformats.org/drawingml/2006/main">
              <a:ext uri="{FF2B5EF4-FFF2-40B4-BE49-F238E27FC236}">
                <a16:creationId xmlns:a16="http://schemas.microsoft.com/office/drawing/2014/main" id="{3C54E77C-192C-4D0B-AEAF-05DA9602BD80}"/>
              </a:ext>
            </a:extLst>
          </p:cNvPr>
          <p:cNvSpPr>
            <a:spLocks xmlns:a="http://schemas.openxmlformats.org/drawingml/2006/main" noGrp="1"/>
          </p:cNvSpPr>
          <p:nvPr/>
        </p:nvSpPr>
        <p:spPr>
          <a:xfrm xmlns:a="http://schemas.openxmlformats.org/drawingml/2006/main">
            <a:off x="6426200" y="2743200"/>
            <a:ext cx="5029200" cy="2057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lnSpc>
                <a:spcPct val="115000"/>
              </a:lnSpc>
              <a:spcAft>
                <a:spcPts val="1000"/>
              </a:spcAft>
              <a:buSzPct val="100000"/>
              <a:buChar char="•"/>
            </a:pPr>
            <a:r>
              <a:rPr sz="1200">
                <a:solidFill>
                  <a:srgbClr val="333333"/>
                </a:solidFill>
                <a:latin typeface="Arial"/>
                <a:ea typeface="Arial"/>
                <a:cs typeface="Arial"/>
              </a:rPr>
              <a:t>Browsers need gRPC-Web or an HTTP bridge</a:t>
            </a:r>
            <a:endParaRPr sz="1200"/>
          </a:p>
          <a:p xmlns:a="http://schemas.openxmlformats.org/drawingml/2006/main">
            <a:pPr marL="342900" indent="-342900">
              <a:lnSpc>
                <a:spcPct val="115000"/>
              </a:lnSpc>
              <a:spcAft>
                <a:spcPts val="1000"/>
              </a:spcAft>
              <a:buSzPct val="100000"/>
              <a:buChar char="•"/>
            </a:pPr>
            <a:r>
              <a:rPr sz="1200">
                <a:solidFill>
                  <a:srgbClr val="333333"/>
                </a:solidFill>
                <a:latin typeface="Arial"/>
                <a:ea typeface="Arial"/>
                <a:cs typeface="Arial"/>
              </a:rPr>
              <a:t>Binary payloads are harder to read and debug</a:t>
            </a:r>
            <a:endParaRPr sz="1200"/>
          </a:p>
          <a:p xmlns:a="http://schemas.openxmlformats.org/drawingml/2006/main">
            <a:pPr marL="342900" indent="-342900">
              <a:lnSpc>
                <a:spcPct val="115000"/>
              </a:lnSpc>
              <a:spcAft>
                <a:spcPts val="1000"/>
              </a:spcAft>
              <a:buSzPct val="100000"/>
              <a:buChar char="•"/>
            </a:pPr>
            <a:r>
              <a:rPr sz="1200">
                <a:solidFill>
                  <a:srgbClr val="333333"/>
                </a:solidFill>
                <a:latin typeface="Arial"/>
                <a:ea typeface="Arial"/>
                <a:cs typeface="Arial"/>
              </a:rPr>
              <a:t>HTTP/2 end to end through proxies and load balancers</a:t>
            </a:r>
            <a:endParaRPr sz="1200"/>
          </a:p>
          <a:p xmlns:a="http://schemas.openxmlformats.org/drawingml/2006/main">
            <a:pPr marL="342900" indent="-342900">
              <a:lnSpc>
                <a:spcPct val="115000"/>
              </a:lnSpc>
              <a:spcAft>
                <a:spcPts val="1000"/>
              </a:spcAft>
              <a:buSzPct val="100000"/>
              <a:buChar char="•"/>
            </a:pPr>
            <a:r>
              <a:rPr sz="1200">
                <a:solidFill>
                  <a:srgbClr val="333333"/>
                </a:solidFill>
                <a:latin typeface="Arial"/>
                <a:ea typeface="Arial"/>
                <a:cs typeface="Arial"/>
              </a:rPr>
              <a:t>Schema discipline: field numbers are forever</a:t>
            </a:r>
            <a:endParaRPr sz="1200"/>
          </a:p>
        </p:txBody>
      </p:sp>
      <p:sp>
        <p:nvSpPr>
          <p:cNvPr id="19" name="Shape 15">
            <a:extLst xmlns:a="http://schemas.openxmlformats.org/drawingml/2006/main">
              <a:ext uri="{FF2B5EF4-FFF2-40B4-BE49-F238E27FC236}">
                <a16:creationId xmlns:a16="http://schemas.microsoft.com/office/drawing/2014/main" id="{C52DD8AD-05BA-4ECC-8415-FDF38438B3BE}"/>
              </a:ext>
            </a:extLst>
          </p:cNvPr>
          <p:cNvSpPr>
            <a:spLocks xmlns:a="http://schemas.openxmlformats.org/drawingml/2006/main" noGrp="1"/>
          </p:cNvSpPr>
          <p:nvPr/>
        </p:nvSpPr>
        <p:spPr>
          <a:xfrm xmlns:a="http://schemas.openxmlformats.org/drawingml/2006/main">
            <a:off x="508000" y="5207000"/>
            <a:ext cx="11176000" cy="635000"/>
          </a:xfrm>
          <a:prstGeom xmlns:a="http://schemas.openxmlformats.org/drawingml/2006/main" prst="rect">
            <a:avLst/>
          </a:prstGeom>
          <a:solidFill xmlns:a="http://schemas.openxmlformats.org/drawingml/2006/main">
            <a:srgbClr val="F4F4F4"/>
          </a:solidFill>
          <a:effectLst xmlns:a="http://schemas.openxmlformats.org/drawingml/2006/main">
            <a:outerShdw blurRad="50800" dist="25400" dir="5400000" algn="bl" rotWithShape="0">
              <a:srgbClr val="000000">
                <a:alpha val="18000"/>
              </a:srgbClr>
            </a:outerShdw>
          </a:effectLst>
        </p:spPr>
        <p:txBody>
          <a:bodyPr xmlns:a="http://schemas.openxmlformats.org/drawingml/2006/main"/>
          <a:lstStyle xmlns:a="http://schemas.openxmlformats.org/drawingml/2006/main"/>
          <a:p xmlns:a="http://schemas.openxmlformats.org/drawingml/2006/main">
            <a:endParaRPr/>
          </a:p>
        </p:txBody>
      </p:sp>
      <p:sp>
        <p:nvSpPr>
          <p:cNvPr id="20" name="Shape 16">
            <a:extLst xmlns:a="http://schemas.openxmlformats.org/drawingml/2006/main">
              <a:ext uri="{FF2B5EF4-FFF2-40B4-BE49-F238E27FC236}">
                <a16:creationId xmlns:a16="http://schemas.microsoft.com/office/drawing/2014/main" id="{AFDFDD92-609C-4D35-B0F7-D9B2DBF43176}"/>
              </a:ext>
            </a:extLst>
          </p:cNvPr>
          <p:cNvSpPr>
            <a:spLocks xmlns:a="http://schemas.openxmlformats.org/drawingml/2006/main" noGrp="1"/>
          </p:cNvSpPr>
          <p:nvPr/>
        </p:nvSpPr>
        <p:spPr>
          <a:xfrm xmlns:a="http://schemas.openxmlformats.org/drawingml/2006/main">
            <a:off x="508000" y="5207000"/>
            <a:ext cx="76200" cy="635000"/>
          </a:xfrm>
          <a:prstGeom xmlns:a="http://schemas.openxmlformats.org/drawingml/2006/main" prst="rect">
            <a:avLst/>
          </a:prstGeom>
          <a:solidFill xmlns:a="http://schemas.openxmlformats.org/drawingml/2006/main">
            <a:srgbClr val="DA1884"/>
          </a:solidFill>
        </p:spPr>
        <p:txBody>
          <a:bodyPr xmlns:a="http://schemas.openxmlformats.org/drawingml/2006/main"/>
          <a:lstStyle xmlns:a="http://schemas.openxmlformats.org/drawingml/2006/main"/>
          <a:p xmlns:a="http://schemas.openxmlformats.org/drawingml/2006/main">
            <a:endParaRPr/>
          </a:p>
        </p:txBody>
      </p:sp>
      <p:sp>
        <p:nvSpPr>
          <p:cNvPr id="21" name="Text 17">
            <a:extLst xmlns:a="http://schemas.openxmlformats.org/drawingml/2006/main">
              <a:ext uri="{FF2B5EF4-FFF2-40B4-BE49-F238E27FC236}">
                <a16:creationId xmlns:a16="http://schemas.microsoft.com/office/drawing/2014/main" id="{EE0E242A-F5C7-49AA-8B3D-5967721C4589}"/>
              </a:ext>
            </a:extLst>
          </p:cNvPr>
          <p:cNvSpPr>
            <a:spLocks xmlns:a="http://schemas.openxmlformats.org/drawingml/2006/main" noGrp="1"/>
          </p:cNvSpPr>
          <p:nvPr/>
        </p:nvSpPr>
        <p:spPr>
          <a:xfrm xmlns:a="http://schemas.openxmlformats.org/drawingml/2006/main">
            <a:off x="787400" y="5207000"/>
            <a:ext cx="10668000" cy="635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200" b="1">
                <a:solidFill>
                  <a:srgbClr val="141414"/>
                </a:solidFill>
                <a:latin typeface="Arial"/>
                <a:ea typeface="Arial"/>
                <a:cs typeface="Arial"/>
              </a:rPr>
              <a:t>Use gRPC for  </a:t>
            </a:r>
            <a:r>
              <a:rPr sz="1200">
                <a:solidFill>
                  <a:srgbClr val="141414"/>
                </a:solidFill>
                <a:latin typeface="Arial"/>
                <a:ea typeface="Arial"/>
                <a:cs typeface="Arial"/>
              </a:rPr>
              <a:t>internal service-to-service calls, low-latency paths and real-time streams.</a:t>
            </a:r>
            <a:endParaRPr sz="1200"/>
          </a:p>
        </p:txBody>
      </p:sp>
    </p:spTree>
    <p:extLst>
      <p:ext uri="{BB962C8B-B14F-4D97-AF65-F5344CB8AC3E}">
        <p14:creationId xmlns:p14="http://schemas.microsoft.com/office/powerpoint/2010/main" val="38943920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BA9A913E-CD69-45B8-A7BE-91FB0E574178}"/>
              </a:ext>
            </a:extLst>
          </p:cNvPr>
          <p:cNvPicPr>
            <a:picLocks xmlns:a="http://schemas.openxmlformats.org/drawingml/2006/main" noChangeAspect="1"/>
          </p:cNvPicPr>
          <p:nvPr/>
        </p:nvPicPr>
        <p:blipFill>
          <a:blip xmlns:r="http://schemas.openxmlformats.org/officeDocument/2006/relationships" xmlns:a="http://schemas.openxmlformats.org/drawingml/2006/main" r:embed="R2fc10229724d43ad"/>
          <a:stretch xmlns:a="http://schemas.openxmlformats.org/drawingml/2006/main">
            <a:fillRect l="0" t="0" r="0" b="0"/>
          </a:stretch>
        </p:blipFill>
        <p:spPr>
          <a:xfrm xmlns:a="http://schemas.openxmlformats.org/drawingml/2006/main">
            <a:off x="508000" y="152400"/>
            <a:ext cx="990600" cy="40640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A9B3823C-7020-4F39-BF5A-B49634649DFB}"/>
              </a:ext>
            </a:extLst>
          </p:cNvPr>
          <p:cNvSpPr>
            <a:spLocks xmlns:a="http://schemas.openxmlformats.org/drawingml/2006/main" noGrp="1"/>
          </p:cNvSpPr>
          <p:nvPr/>
        </p:nvSpPr>
        <p:spPr>
          <a:xfrm xmlns:a="http://schemas.openxmlformats.org/drawingml/2006/main">
            <a:off x="3556000" y="406400"/>
            <a:ext cx="5080000" cy="190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110000"/>
              </a:lnSpc>
              <a:buNone/>
            </a:pPr>
            <a:r>
              <a:rPr sz="1000">
                <a:solidFill>
                  <a:srgbClr val="6B6B6B"/>
                </a:solidFill>
                <a:latin typeface="Arial"/>
                <a:ea typeface="Arial"/>
                <a:cs typeface="Arial"/>
              </a:rPr>
              <a:t>Protocol Studio  —  REST · GraphQL · gRPC</a:t>
            </a:r>
            <a:endParaRPr sz="1000"/>
          </a:p>
        </p:txBody>
      </p:sp>
      <p:sp>
        <p:nvSpPr>
          <p:cNvPr id="4" name="Text 1">
            <a:extLst xmlns:a="http://schemas.openxmlformats.org/drawingml/2006/main">
              <a:ext uri="{FF2B5EF4-FFF2-40B4-BE49-F238E27FC236}">
                <a16:creationId xmlns:a16="http://schemas.microsoft.com/office/drawing/2014/main" id="{73CCA750-BF91-4DC1-B7CC-800DECD03C79}"/>
              </a:ext>
            </a:extLst>
          </p:cNvPr>
          <p:cNvSpPr>
            <a:spLocks xmlns:a="http://schemas.openxmlformats.org/drawingml/2006/main" noGrp="1"/>
          </p:cNvSpPr>
          <p:nvPr/>
        </p:nvSpPr>
        <p:spPr>
          <a:xfrm xmlns:a="http://schemas.openxmlformats.org/drawingml/2006/main">
            <a:off x="6350000" y="406400"/>
            <a:ext cx="5334000" cy="190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ct val="110000"/>
              </a:lnSpc>
              <a:buNone/>
            </a:pPr>
            <a:r>
              <a:rPr sz="1000" b="1">
                <a:solidFill>
                  <a:srgbClr val="DA1884"/>
                </a:solidFill>
                <a:latin typeface="Arial"/>
                <a:ea typeface="Arial"/>
                <a:cs typeface="Arial"/>
              </a:rPr>
              <a:t>GRPC</a:t>
            </a:r>
            <a:endParaRPr sz="1000"/>
          </a:p>
        </p:txBody>
      </p:sp>
      <p:sp>
        <p:nvSpPr>
          <p:cNvPr id="5" name="Text 2">
            <a:extLst xmlns:a="http://schemas.openxmlformats.org/drawingml/2006/main">
              <a:ext uri="{FF2B5EF4-FFF2-40B4-BE49-F238E27FC236}">
                <a16:creationId xmlns:a16="http://schemas.microsoft.com/office/drawing/2014/main" id="{0140C38E-8F8E-4F46-A932-DF35BE88200D}"/>
              </a:ext>
            </a:extLst>
          </p:cNvPr>
          <p:cNvSpPr>
            <a:spLocks xmlns:a="http://schemas.openxmlformats.org/drawingml/2006/main" noGrp="1"/>
          </p:cNvSpPr>
          <p:nvPr/>
        </p:nvSpPr>
        <p:spPr>
          <a:xfrm xmlns:a="http://schemas.openxmlformats.org/drawingml/2006/main">
            <a:off x="508000" y="6578600"/>
            <a:ext cx="8890000" cy="177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900">
                <a:solidFill>
                  <a:srgbClr val="9E9E9E"/>
                </a:solidFill>
                <a:latin typeface="Arial"/>
                <a:ea typeface="Arial"/>
                <a:cs typeface="Arial"/>
              </a:rPr>
              <a:t>Insight Proprietary &amp; Confidential.  Do Not Copy or Distribute.  © 2026 Insight.  All Rights Reserved.</a:t>
            </a:r>
            <a:endParaRPr sz="900"/>
          </a:p>
        </p:txBody>
      </p:sp>
      <p:sp>
        <p:nvSpPr>
          <p:cNvPr id="6" name="Text 3">
            <a:extLst xmlns:a="http://schemas.openxmlformats.org/drawingml/2006/main">
              <a:ext uri="{FF2B5EF4-FFF2-40B4-BE49-F238E27FC236}">
                <a16:creationId xmlns:a16="http://schemas.microsoft.com/office/drawing/2014/main" id="{B80EB8F3-98BB-4F8F-85DD-8F80BFB192F5}"/>
              </a:ext>
            </a:extLst>
          </p:cNvPr>
          <p:cNvSpPr>
            <a:spLocks xmlns:a="http://schemas.openxmlformats.org/drawingml/2006/main" noGrp="1"/>
          </p:cNvSpPr>
          <p:nvPr/>
        </p:nvSpPr>
        <p:spPr>
          <a:xfrm xmlns:a="http://schemas.openxmlformats.org/drawingml/2006/main">
            <a:off x="10922000" y="6578600"/>
            <a:ext cx="762000" cy="177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ct val="110000"/>
              </a:lnSpc>
              <a:buNone/>
            </a:pPr>
            <a:r>
              <a:rPr sz="900">
                <a:solidFill>
                  <a:srgbClr val="9E9E9E"/>
                </a:solidFill>
                <a:latin typeface="Arial"/>
                <a:ea typeface="Arial"/>
                <a:cs typeface="Arial"/>
              </a:rPr>
              <a:t>13</a:t>
            </a:r>
            <a:endParaRPr sz="900"/>
          </a:p>
        </p:txBody>
      </p:sp>
      <p:sp>
        <p:nvSpPr>
          <p:cNvPr id="7" name="Text 4">
            <a:extLst xmlns:a="http://schemas.openxmlformats.org/drawingml/2006/main">
              <a:ext uri="{FF2B5EF4-FFF2-40B4-BE49-F238E27FC236}">
                <a16:creationId xmlns:a16="http://schemas.microsoft.com/office/drawing/2014/main" id="{2DB7256D-C636-42CD-B5F4-01FD9159BF7E}"/>
              </a:ext>
            </a:extLst>
          </p:cNvPr>
          <p:cNvSpPr>
            <a:spLocks xmlns:a="http://schemas.openxmlformats.org/drawingml/2006/main" noGrp="1"/>
          </p:cNvSpPr>
          <p:nvPr/>
        </p:nvSpPr>
        <p:spPr>
          <a:xfrm xmlns:a="http://schemas.openxmlformats.org/drawingml/2006/main">
            <a:off x="508000" y="889000"/>
            <a:ext cx="11176000" cy="2159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1200" b="1">
                <a:solidFill>
                  <a:srgbClr val="DA1884"/>
                </a:solidFill>
                <a:latin typeface="Arial"/>
                <a:ea typeface="Arial"/>
                <a:cs typeface="Arial"/>
              </a:rPr>
              <a:t>GRPC · IN THE DEMO</a:t>
            </a:r>
            <a:endParaRPr sz="1200"/>
          </a:p>
        </p:txBody>
      </p:sp>
      <p:sp>
        <p:nvSpPr>
          <p:cNvPr id="8" name="Text 5">
            <a:extLst xmlns:a="http://schemas.openxmlformats.org/drawingml/2006/main">
              <a:ext uri="{FF2B5EF4-FFF2-40B4-BE49-F238E27FC236}">
                <a16:creationId xmlns:a16="http://schemas.microsoft.com/office/drawing/2014/main" id="{6AB606DA-049C-4BA2-AE7C-7EA314CC8066}"/>
              </a:ext>
            </a:extLst>
          </p:cNvPr>
          <p:cNvSpPr>
            <a:spLocks xmlns:a="http://schemas.openxmlformats.org/drawingml/2006/main" noGrp="1"/>
          </p:cNvSpPr>
          <p:nvPr/>
        </p:nvSpPr>
        <p:spPr>
          <a:xfrm xmlns:a="http://schemas.openxmlformats.org/drawingml/2006/main">
            <a:off x="508000" y="1130300"/>
            <a:ext cx="11176000" cy="482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3000" b="1">
                <a:solidFill>
                  <a:srgbClr val="141414"/>
                </a:solidFill>
                <a:latin typeface="Arial"/>
                <a:ea typeface="Arial"/>
                <a:cs typeface="Arial"/>
              </a:rPr>
              <a:t>gRPC in Protocol Studio</a:t>
            </a:r>
            <a:endParaRPr sz="3000"/>
          </a:p>
        </p:txBody>
      </p:sp>
      <p:sp>
        <p:nvSpPr>
          <p:cNvPr id="9" name="Text 6">
            <a:extLst xmlns:a="http://schemas.openxmlformats.org/drawingml/2006/main">
              <a:ext uri="{FF2B5EF4-FFF2-40B4-BE49-F238E27FC236}">
                <a16:creationId xmlns:a16="http://schemas.microsoft.com/office/drawing/2014/main" id="{825442CD-6547-47FD-821B-9A15712CEA82}"/>
              </a:ext>
            </a:extLst>
          </p:cNvPr>
          <p:cNvSpPr>
            <a:spLocks xmlns:a="http://schemas.openxmlformats.org/drawingml/2006/main" noGrp="1"/>
          </p:cNvSpPr>
          <p:nvPr/>
        </p:nvSpPr>
        <p:spPr>
          <a:xfrm xmlns:a="http://schemas.openxmlformats.org/drawingml/2006/main">
            <a:off x="508000" y="1663700"/>
            <a:ext cx="11176000"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1400">
                <a:solidFill>
                  <a:srgbClr val="6B6B6B"/>
                </a:solidFill>
                <a:latin typeface="Arial"/>
                <a:ea typeface="Arial"/>
                <a:cs typeface="Arial"/>
              </a:rPr>
              <a:t>Track a simulated Falcon flight: one request, 21 updates, about 40 seconds.</a:t>
            </a:r>
            <a:endParaRPr sz="1400"/>
          </a:p>
        </p:txBody>
      </p:sp>
      <p:sp>
        <p:nvSpPr>
          <p:cNvPr id="11" name="Shape 7">
            <a:extLst xmlns:a="http://schemas.openxmlformats.org/drawingml/2006/main">
              <a:ext uri="{FF2B5EF4-FFF2-40B4-BE49-F238E27FC236}">
                <a16:creationId xmlns:a16="http://schemas.microsoft.com/office/drawing/2014/main" id="{EF26F99C-4864-427C-9407-343F4B30CA2C}"/>
              </a:ext>
            </a:extLst>
          </p:cNvPr>
          <p:cNvSpPr>
            <a:spLocks xmlns:a="http://schemas.openxmlformats.org/drawingml/2006/main" noGrp="1"/>
          </p:cNvSpPr>
          <p:nvPr/>
        </p:nvSpPr>
        <p:spPr>
          <a:xfrm xmlns:a="http://schemas.openxmlformats.org/drawingml/2006/main">
            <a:off x="508000" y="2159000"/>
            <a:ext cx="5588000" cy="3937000"/>
          </a:xfrm>
          <a:prstGeom xmlns:a="http://schemas.openxmlformats.org/drawingml/2006/main" prst="rect">
            <a:avLst/>
          </a:prstGeom>
          <a:solidFill xmlns:a="http://schemas.openxmlformats.org/drawingml/2006/main">
            <a:srgbClr val="1B1B1F"/>
          </a:solidFill>
          <a:effectLst xmlns:a="http://schemas.openxmlformats.org/drawingml/2006/main">
            <a:outerShdw blurRad="50800" dist="25400" dir="5400000" algn="bl" rotWithShape="0">
              <a:srgbClr val="000000">
                <a:alpha val="18000"/>
              </a:srgbClr>
            </a:outerShdw>
          </a:effectLst>
        </p:spPr>
        <p:txBody>
          <a:bodyPr xmlns:a="http://schemas.openxmlformats.org/drawingml/2006/main"/>
          <a:lstStyle xmlns:a="http://schemas.openxmlformats.org/drawingml/2006/main"/>
          <a:p xmlns:a="http://schemas.openxmlformats.org/drawingml/2006/main">
            <a:endParaRPr/>
          </a:p>
        </p:txBody>
      </p:sp>
      <p:sp>
        <p:nvSpPr>
          <p:cNvPr id="12" name="Shape 8">
            <a:extLst xmlns:a="http://schemas.openxmlformats.org/drawingml/2006/main">
              <a:ext uri="{FF2B5EF4-FFF2-40B4-BE49-F238E27FC236}">
                <a16:creationId xmlns:a16="http://schemas.microsoft.com/office/drawing/2014/main" id="{8BDF813D-E7C0-44DF-AB45-D33ACF131B7A}"/>
              </a:ext>
            </a:extLst>
          </p:cNvPr>
          <p:cNvSpPr>
            <a:spLocks xmlns:a="http://schemas.openxmlformats.org/drawingml/2006/main" noGrp="1"/>
          </p:cNvSpPr>
          <p:nvPr/>
        </p:nvSpPr>
        <p:spPr>
          <a:xfrm xmlns:a="http://schemas.openxmlformats.org/drawingml/2006/main">
            <a:off x="508000" y="2159000"/>
            <a:ext cx="5588000" cy="355600"/>
          </a:xfrm>
          <a:prstGeom xmlns:a="http://schemas.openxmlformats.org/drawingml/2006/main" prst="rect">
            <a:avLst/>
          </a:prstGeom>
          <a:solidFill xmlns:a="http://schemas.openxmlformats.org/drawingml/2006/main">
            <a:srgbClr val="DA1884"/>
          </a:solidFill>
        </p:spPr>
        <p:txBody>
          <a:bodyPr xmlns:a="http://schemas.openxmlformats.org/drawingml/2006/main"/>
          <a:lstStyle xmlns:a="http://schemas.openxmlformats.org/drawingml/2006/main"/>
          <a:p xmlns:a="http://schemas.openxmlformats.org/drawingml/2006/main">
            <a:endParaRPr/>
          </a:p>
        </p:txBody>
      </p:sp>
      <p:sp>
        <p:nvSpPr>
          <p:cNvPr id="13" name="Text 9">
            <a:extLst xmlns:a="http://schemas.openxmlformats.org/drawingml/2006/main">
              <a:ext uri="{FF2B5EF4-FFF2-40B4-BE49-F238E27FC236}">
                <a16:creationId xmlns:a16="http://schemas.microsoft.com/office/drawing/2014/main" id="{A0B7B05F-2369-419B-91B4-FF1EF168AF34}"/>
              </a:ext>
            </a:extLst>
          </p:cNvPr>
          <p:cNvSpPr>
            <a:spLocks xmlns:a="http://schemas.openxmlformats.org/drawingml/2006/main" noGrp="1"/>
          </p:cNvSpPr>
          <p:nvPr/>
        </p:nvSpPr>
        <p:spPr>
          <a:xfrm xmlns:a="http://schemas.openxmlformats.org/drawingml/2006/main">
            <a:off x="711200" y="2159000"/>
            <a:ext cx="5181600" cy="355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200" b="1">
                <a:solidFill>
                  <a:srgbClr val="FFFFFF"/>
                </a:solidFill>
                <a:latin typeface="Arial"/>
                <a:ea typeface="Arial"/>
                <a:cs typeface="Arial"/>
              </a:rPr>
              <a:t>CATALOG.PROTO</a:t>
            </a:r>
            <a:endParaRPr sz="1200"/>
          </a:p>
        </p:txBody>
      </p:sp>
      <p:sp>
        <p:nvSpPr>
          <p:cNvPr id="14" name="Text 10">
            <a:extLst xmlns:a="http://schemas.openxmlformats.org/drawingml/2006/main">
              <a:ext uri="{FF2B5EF4-FFF2-40B4-BE49-F238E27FC236}">
                <a16:creationId xmlns:a16="http://schemas.microsoft.com/office/drawing/2014/main" id="{1CE9F498-97FE-481A-90ED-43DEF1C44B93}"/>
              </a:ext>
            </a:extLst>
          </p:cNvPr>
          <p:cNvSpPr>
            <a:spLocks xmlns:a="http://schemas.openxmlformats.org/drawingml/2006/main" noGrp="1"/>
          </p:cNvSpPr>
          <p:nvPr/>
        </p:nvSpPr>
        <p:spPr>
          <a:xfrm xmlns:a="http://schemas.openxmlformats.org/drawingml/2006/main">
            <a:off x="711200" y="2667000"/>
            <a:ext cx="5181600" cy="3276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20000"/>
              </a:lnSpc>
              <a:buNone/>
            </a:pPr>
            <a:r>
              <a:rPr sz="1200">
                <a:solidFill>
                  <a:srgbClr val="EDEDED"/>
                </a:solidFill>
                <a:latin typeface="Consolas"/>
                <a:ea typeface="Consolas"/>
                <a:cs typeface="Consolas"/>
              </a:rPr>
              <a:t>service StarshipTracker {</a:t>
            </a:r>
            <a:endParaRPr sz="1200"/>
          </a:p>
          <a:p xmlns:a="http://schemas.openxmlformats.org/drawingml/2006/main">
            <a:pPr marL="0" indent="0">
              <a:lnSpc>
                <a:spcPct val="120000"/>
              </a:lnSpc>
              <a:buNone/>
            </a:pPr>
            <a:r>
              <a:rPr sz="1200">
                <a:solidFill>
                  <a:srgbClr val="EDEDED"/>
                </a:solidFill>
                <a:latin typeface="Consolas"/>
                <a:ea typeface="Consolas"/>
                <a:cs typeface="Consolas"/>
              </a:rPr>
              <a:t>  rpc Watch(WatchRequest)</a:t>
            </a:r>
          </a:p>
          <a:p xmlns:a="http://schemas.openxmlformats.org/drawingml/2006/main">
            <a:pPr marL="0" indent="0">
              <a:lnSpc>
                <a:spcPct val="120000"/>
              </a:lnSpc>
              <a:buNone/>
            </a:pPr>
            <a:r>
              <a:rPr sz="1200">
                <a:solidFill>
                  <a:srgbClr val="EDEDED"/>
                </a:solidFill>
                <a:latin typeface="Consolas"/>
                <a:ea typeface="Consolas"/>
                <a:cs typeface="Consolas"/>
              </a:rPr>
              <a:t>      returns (stream TrackSnapshot);</a:t>
            </a:r>
          </a:p>
          <a:p xmlns:a="http://schemas.openxmlformats.org/drawingml/2006/main">
            <a:pPr marL="0" indent="0">
              <a:lnSpc>
                <a:spcPct val="120000"/>
              </a:lnSpc>
              <a:buNone/>
            </a:pPr>
            <a:r>
              <a:rPr sz="1200">
                <a:solidFill>
                  <a:srgbClr val="EDEDED"/>
                </a:solidFill>
                <a:latin typeface="Consolas"/>
                <a:ea typeface="Consolas"/>
                <a:cs typeface="Consolas"/>
              </a:rPr>
              <a:t>}</a:t>
            </a:r>
          </a:p>
          <a:p xmlns:a="http://schemas.openxmlformats.org/drawingml/2006/main">
            <a:pPr marL="0" indent="0">
              <a:lnSpc>
                <a:spcPct val="120000"/>
              </a:lnSpc>
              <a:buNone/>
            </a:pPr>
            <a:r>
              <a:rPr sz="1200">
                <a:solidFill>
                  <a:srgbClr val="EDEDED"/>
                </a:solidFill>
                <a:latin typeface="Consolas"/>
                <a:ea typeface="Consolas"/>
                <a:cs typeface="Consolas"/>
              </a:rPr>
              <a:t>message WatchRequest {</a:t>
            </a:r>
          </a:p>
          <a:p xmlns:a="http://schemas.openxmlformats.org/drawingml/2006/main">
            <a:pPr marL="0" indent="0">
              <a:lnSpc>
                <a:spcPct val="120000"/>
              </a:lnSpc>
              <a:buNone/>
            </a:pPr>
            <a:r>
              <a:rPr sz="1200">
                <a:solidFill>
                  <a:srgbClr val="EDEDED"/>
                </a:solidFill>
                <a:latin typeface="Consolas"/>
                <a:ea typeface="Consolas"/>
                <a:cs typeface="Consolas"/>
              </a:rPr>
              <a:t>  string target = 1;</a:t>
            </a:r>
          </a:p>
          <a:p xmlns:a="http://schemas.openxmlformats.org/drawingml/2006/main">
            <a:pPr marL="0" indent="0">
              <a:lnSpc>
                <a:spcPct val="120000"/>
              </a:lnSpc>
              <a:buNone/>
            </a:pPr>
            <a:r>
              <a:rPr sz="1200">
                <a:solidFill>
                  <a:srgbClr val="EDEDED"/>
                </a:solidFill>
                <a:latin typeface="Consolas"/>
                <a:ea typeface="Consolas"/>
                <a:cs typeface="Consolas"/>
              </a:rPr>
              <a:t>}</a:t>
            </a:r>
          </a:p>
          <a:p xmlns:a="http://schemas.openxmlformats.org/drawingml/2006/main">
            <a:pPr marL="0" indent="0">
              <a:lnSpc>
                <a:spcPct val="120000"/>
              </a:lnSpc>
              <a:buNone/>
            </a:pPr>
            <a:r>
              <a:rPr sz="1200">
                <a:solidFill>
                  <a:srgbClr val="EDEDED"/>
                </a:solidFill>
                <a:latin typeface="Consolas"/>
                <a:ea typeface="Consolas"/>
                <a:cs typeface="Consolas"/>
              </a:rPr>
              <a:t>message TrackSnapshot {</a:t>
            </a:r>
          </a:p>
          <a:p xmlns:a="http://schemas.openxmlformats.org/drawingml/2006/main">
            <a:pPr marL="0" indent="0">
              <a:lnSpc>
                <a:spcPct val="120000"/>
              </a:lnSpc>
              <a:buNone/>
            </a:pPr>
            <a:r>
              <a:rPr sz="1200">
                <a:solidFill>
                  <a:srgbClr val="EDEDED"/>
                </a:solidFill>
                <a:latin typeface="Consolas"/>
                <a:ea typeface="Consolas"/>
                <a:cs typeface="Consolas"/>
              </a:rPr>
              <a:t>  repeated TrackedShip starships = 1;</a:t>
            </a:r>
          </a:p>
          <a:p xmlns:a="http://schemas.openxmlformats.org/drawingml/2006/main">
            <a:pPr marL="0" indent="0">
              <a:lnSpc>
                <a:spcPct val="120000"/>
              </a:lnSpc>
              <a:buNone/>
            </a:pPr>
            <a:r>
              <a:rPr sz="1200">
                <a:solidFill>
                  <a:srgbClr val="EDEDED"/>
                </a:solidFill>
                <a:latin typeface="Consolas"/>
                <a:ea typeface="Consolas"/>
                <a:cs typeface="Consolas"/>
              </a:rPr>
              <a:t>  int32 sequence = 2;</a:t>
            </a:r>
          </a:p>
          <a:p xmlns:a="http://schemas.openxmlformats.org/drawingml/2006/main">
            <a:pPr marL="0" indent="0">
              <a:lnSpc>
                <a:spcPct val="120000"/>
              </a:lnSpc>
              <a:buNone/>
            </a:pPr>
            <a:r>
              <a:rPr sz="1200">
                <a:solidFill>
                  <a:srgbClr val="EDEDED"/>
                </a:solidFill>
                <a:latin typeface="Consolas"/>
                <a:ea typeface="Consolas"/>
                <a:cs typeface="Consolas"/>
              </a:rPr>
              <a:t>  string observed_at = 3;</a:t>
            </a:r>
          </a:p>
          <a:p xmlns:a="http://schemas.openxmlformats.org/drawingml/2006/main">
            <a:pPr marL="0" indent="0">
              <a:lnSpc>
                <a:spcPct val="120000"/>
              </a:lnSpc>
              <a:buNone/>
            </a:pPr>
            <a:r>
              <a:rPr sz="1200">
                <a:solidFill>
                  <a:srgbClr val="EDEDED"/>
                </a:solidFill>
                <a:latin typeface="Consolas"/>
                <a:ea typeface="Consolas"/>
                <a:cs typeface="Consolas"/>
              </a:rPr>
              <a:t>  FlightState flight = 6;</a:t>
            </a:r>
          </a:p>
          <a:p xmlns:a="http://schemas.openxmlformats.org/drawingml/2006/main">
            <a:pPr marL="0" indent="0">
              <a:lnSpc>
                <a:spcPct val="120000"/>
              </a:lnSpc>
              <a:buNone/>
            </a:pPr>
            <a:r>
              <a:rPr sz="1200">
                <a:solidFill>
                  <a:srgbClr val="EDEDED"/>
                </a:solidFill>
                <a:latin typeface="Consolas"/>
                <a:ea typeface="Consolas"/>
                <a:cs typeface="Consolas"/>
              </a:rPr>
              <a:t>}</a:t>
            </a:r>
          </a:p>
        </p:txBody>
      </p:sp>
      <p:sp>
        <p:nvSpPr>
          <p:cNvPr id="15" name="Shape 11">
            <a:extLst xmlns:a="http://schemas.openxmlformats.org/drawingml/2006/main">
              <a:ext uri="{FF2B5EF4-FFF2-40B4-BE49-F238E27FC236}">
                <a16:creationId xmlns:a16="http://schemas.microsoft.com/office/drawing/2014/main" id="{DFDA5FD4-B3C0-4BD6-8913-B390A28B5E86}"/>
              </a:ext>
            </a:extLst>
          </p:cNvPr>
          <p:cNvSpPr>
            <a:spLocks xmlns:a="http://schemas.openxmlformats.org/drawingml/2006/main" noGrp="1"/>
          </p:cNvSpPr>
          <p:nvPr/>
        </p:nvSpPr>
        <p:spPr>
          <a:xfrm xmlns:a="http://schemas.openxmlformats.org/drawingml/2006/main">
            <a:off x="6299200" y="2159000"/>
            <a:ext cx="5384800" cy="889000"/>
          </a:xfrm>
          <a:prstGeom xmlns:a="http://schemas.openxmlformats.org/drawingml/2006/main" prst="rect">
            <a:avLst/>
          </a:prstGeom>
          <a:solidFill xmlns:a="http://schemas.openxmlformats.org/drawingml/2006/main">
            <a:srgbClr val="F4F4F4"/>
          </a:solidFill>
          <a:effectLst xmlns:a="http://schemas.openxmlformats.org/drawingml/2006/main">
            <a:outerShdw blurRad="50800" dist="25400" dir="5400000" algn="bl" rotWithShape="0">
              <a:srgbClr val="000000">
                <a:alpha val="18000"/>
              </a:srgbClr>
            </a:outerShdw>
          </a:effectLst>
        </p:spPr>
        <p:txBody>
          <a:bodyPr xmlns:a="http://schemas.openxmlformats.org/drawingml/2006/main"/>
          <a:lstStyle xmlns:a="http://schemas.openxmlformats.org/drawingml/2006/main"/>
          <a:p xmlns:a="http://schemas.openxmlformats.org/drawingml/2006/main">
            <a:endParaRPr/>
          </a:p>
        </p:txBody>
      </p:sp>
      <p:sp>
        <p:nvSpPr>
          <p:cNvPr id="16" name="Shape 12">
            <a:extLst xmlns:a="http://schemas.openxmlformats.org/drawingml/2006/main">
              <a:ext uri="{FF2B5EF4-FFF2-40B4-BE49-F238E27FC236}">
                <a16:creationId xmlns:a16="http://schemas.microsoft.com/office/drawing/2014/main" id="{433CB626-67F9-44A3-952A-36089FBBA4C6}"/>
              </a:ext>
            </a:extLst>
          </p:cNvPr>
          <p:cNvSpPr>
            <a:spLocks xmlns:a="http://schemas.openxmlformats.org/drawingml/2006/main" noGrp="1"/>
          </p:cNvSpPr>
          <p:nvPr/>
        </p:nvSpPr>
        <p:spPr>
          <a:xfrm xmlns:a="http://schemas.openxmlformats.org/drawingml/2006/main">
            <a:off x="6299200" y="2159000"/>
            <a:ext cx="63500" cy="889000"/>
          </a:xfrm>
          <a:prstGeom xmlns:a="http://schemas.openxmlformats.org/drawingml/2006/main" prst="rect">
            <a:avLst/>
          </a:prstGeom>
          <a:solidFill xmlns:a="http://schemas.openxmlformats.org/drawingml/2006/main">
            <a:srgbClr val="DA1884"/>
          </a:solidFill>
        </p:spPr>
        <p:txBody>
          <a:bodyPr xmlns:a="http://schemas.openxmlformats.org/drawingml/2006/main"/>
          <a:lstStyle xmlns:a="http://schemas.openxmlformats.org/drawingml/2006/main"/>
          <a:p xmlns:a="http://schemas.openxmlformats.org/drawingml/2006/main">
            <a:endParaRPr/>
          </a:p>
        </p:txBody>
      </p:sp>
      <p:sp>
        <p:nvSpPr>
          <p:cNvPr id="17" name="Text 13">
            <a:extLst xmlns:a="http://schemas.openxmlformats.org/drawingml/2006/main">
              <a:ext uri="{FF2B5EF4-FFF2-40B4-BE49-F238E27FC236}">
                <a16:creationId xmlns:a16="http://schemas.microsoft.com/office/drawing/2014/main" id="{253611BF-A7BC-490E-B131-3E8EC7D2838A}"/>
              </a:ext>
            </a:extLst>
          </p:cNvPr>
          <p:cNvSpPr>
            <a:spLocks xmlns:a="http://schemas.openxmlformats.org/drawingml/2006/main" noGrp="1"/>
          </p:cNvSpPr>
          <p:nvPr/>
        </p:nvSpPr>
        <p:spPr>
          <a:xfrm xmlns:a="http://schemas.openxmlformats.org/drawingml/2006/main">
            <a:off x="6527800" y="2311400"/>
            <a:ext cx="381000" cy="279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1600" b="1">
                <a:solidFill>
                  <a:srgbClr val="DA1884"/>
                </a:solidFill>
                <a:latin typeface="Arial"/>
                <a:ea typeface="Arial"/>
                <a:cs typeface="Arial"/>
              </a:rPr>
              <a:t>01</a:t>
            </a:r>
            <a:endParaRPr sz="1600"/>
          </a:p>
        </p:txBody>
      </p:sp>
      <p:sp>
        <p:nvSpPr>
          <p:cNvPr id="18" name="Text 14">
            <a:extLst xmlns:a="http://schemas.openxmlformats.org/drawingml/2006/main">
              <a:ext uri="{FF2B5EF4-FFF2-40B4-BE49-F238E27FC236}">
                <a16:creationId xmlns:a16="http://schemas.microsoft.com/office/drawing/2014/main" id="{EDC5784D-8C6A-4912-8126-D257537E8A21}"/>
              </a:ext>
            </a:extLst>
          </p:cNvPr>
          <p:cNvSpPr>
            <a:spLocks xmlns:a="http://schemas.openxmlformats.org/drawingml/2006/main" noGrp="1"/>
          </p:cNvSpPr>
          <p:nvPr/>
        </p:nvSpPr>
        <p:spPr>
          <a:xfrm xmlns:a="http://schemas.openxmlformats.org/drawingml/2006/main">
            <a:off x="7035800" y="2311400"/>
            <a:ext cx="4445000" cy="635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15000"/>
              </a:lnSpc>
              <a:spcAft>
                <a:spcPts val="400"/>
              </a:spcAft>
              <a:buNone/>
            </a:pPr>
            <a:r>
              <a:rPr sz="1300" b="1">
                <a:solidFill>
                  <a:srgbClr val="141414"/>
                </a:solidFill>
                <a:latin typeface="Arial"/>
                <a:ea typeface="Arial"/>
                <a:cs typeface="Arial"/>
              </a:rPr>
              <a:t>Subscribe once</a:t>
            </a:r>
            <a:endParaRPr sz="1300"/>
          </a:p>
          <a:p xmlns:a="http://schemas.openxmlformats.org/drawingml/2006/main">
            <a:pPr marL="0" indent="0">
              <a:lnSpc>
                <a:spcPct val="115000"/>
              </a:lnSpc>
              <a:buNone/>
            </a:pPr>
            <a:r>
              <a:rPr sz="1200">
                <a:solidFill>
                  <a:srgbClr val="333333"/>
                </a:solidFill>
                <a:latin typeface="Arial"/>
                <a:ea typeface="Arial"/>
                <a:cs typeface="Arial"/>
              </a:rPr>
              <a:t>One request starts a server stream; location, pilot and shields change.</a:t>
            </a:r>
            <a:endParaRPr sz="1300"/>
          </a:p>
        </p:txBody>
      </p:sp>
      <p:sp>
        <p:nvSpPr>
          <p:cNvPr id="19" name="Shape 15">
            <a:extLst xmlns:a="http://schemas.openxmlformats.org/drawingml/2006/main">
              <a:ext uri="{FF2B5EF4-FFF2-40B4-BE49-F238E27FC236}">
                <a16:creationId xmlns:a16="http://schemas.microsoft.com/office/drawing/2014/main" id="{182A9745-3BAF-4381-BB39-7149DD948477}"/>
              </a:ext>
            </a:extLst>
          </p:cNvPr>
          <p:cNvSpPr>
            <a:spLocks xmlns:a="http://schemas.openxmlformats.org/drawingml/2006/main" noGrp="1"/>
          </p:cNvSpPr>
          <p:nvPr/>
        </p:nvSpPr>
        <p:spPr>
          <a:xfrm xmlns:a="http://schemas.openxmlformats.org/drawingml/2006/main">
            <a:off x="6299200" y="3149600"/>
            <a:ext cx="5384800" cy="889000"/>
          </a:xfrm>
          <a:prstGeom xmlns:a="http://schemas.openxmlformats.org/drawingml/2006/main" prst="rect">
            <a:avLst/>
          </a:prstGeom>
          <a:solidFill xmlns:a="http://schemas.openxmlformats.org/drawingml/2006/main">
            <a:srgbClr val="F4F4F4"/>
          </a:solidFill>
          <a:effectLst xmlns:a="http://schemas.openxmlformats.org/drawingml/2006/main">
            <a:outerShdw blurRad="50800" dist="25400" dir="5400000" algn="bl" rotWithShape="0">
              <a:srgbClr val="000000">
                <a:alpha val="18000"/>
              </a:srgbClr>
            </a:outerShdw>
          </a:effectLst>
        </p:spPr>
        <p:txBody>
          <a:bodyPr xmlns:a="http://schemas.openxmlformats.org/drawingml/2006/main"/>
          <a:lstStyle xmlns:a="http://schemas.openxmlformats.org/drawingml/2006/main"/>
          <a:p xmlns:a="http://schemas.openxmlformats.org/drawingml/2006/main">
            <a:endParaRPr/>
          </a:p>
        </p:txBody>
      </p:sp>
      <p:sp>
        <p:nvSpPr>
          <p:cNvPr id="20" name="Shape 16">
            <a:extLst xmlns:a="http://schemas.openxmlformats.org/drawingml/2006/main">
              <a:ext uri="{FF2B5EF4-FFF2-40B4-BE49-F238E27FC236}">
                <a16:creationId xmlns:a16="http://schemas.microsoft.com/office/drawing/2014/main" id="{4021188A-8315-4D75-807E-4915091B0A6D}"/>
              </a:ext>
            </a:extLst>
          </p:cNvPr>
          <p:cNvSpPr>
            <a:spLocks xmlns:a="http://schemas.openxmlformats.org/drawingml/2006/main" noGrp="1"/>
          </p:cNvSpPr>
          <p:nvPr/>
        </p:nvSpPr>
        <p:spPr>
          <a:xfrm xmlns:a="http://schemas.openxmlformats.org/drawingml/2006/main">
            <a:off x="6299200" y="3149600"/>
            <a:ext cx="63500" cy="889000"/>
          </a:xfrm>
          <a:prstGeom xmlns:a="http://schemas.openxmlformats.org/drawingml/2006/main" prst="rect">
            <a:avLst/>
          </a:prstGeom>
          <a:solidFill xmlns:a="http://schemas.openxmlformats.org/drawingml/2006/main">
            <a:srgbClr val="DA1884"/>
          </a:solidFill>
        </p:spPr>
        <p:txBody>
          <a:bodyPr xmlns:a="http://schemas.openxmlformats.org/drawingml/2006/main"/>
          <a:lstStyle xmlns:a="http://schemas.openxmlformats.org/drawingml/2006/main"/>
          <a:p xmlns:a="http://schemas.openxmlformats.org/drawingml/2006/main">
            <a:endParaRPr/>
          </a:p>
        </p:txBody>
      </p:sp>
      <p:sp>
        <p:nvSpPr>
          <p:cNvPr id="21" name="Text 17">
            <a:extLst xmlns:a="http://schemas.openxmlformats.org/drawingml/2006/main">
              <a:ext uri="{FF2B5EF4-FFF2-40B4-BE49-F238E27FC236}">
                <a16:creationId xmlns:a16="http://schemas.microsoft.com/office/drawing/2014/main" id="{BCB369D9-CF3E-47C1-9AD0-0C0916AB5054}"/>
              </a:ext>
            </a:extLst>
          </p:cNvPr>
          <p:cNvSpPr>
            <a:spLocks xmlns:a="http://schemas.openxmlformats.org/drawingml/2006/main" noGrp="1"/>
          </p:cNvSpPr>
          <p:nvPr/>
        </p:nvSpPr>
        <p:spPr>
          <a:xfrm xmlns:a="http://schemas.openxmlformats.org/drawingml/2006/main">
            <a:off x="6527800" y="3302000"/>
            <a:ext cx="381000" cy="279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1600" b="1">
                <a:solidFill>
                  <a:srgbClr val="DA1884"/>
                </a:solidFill>
                <a:latin typeface="Arial"/>
                <a:ea typeface="Arial"/>
                <a:cs typeface="Arial"/>
              </a:rPr>
              <a:t>02</a:t>
            </a:r>
            <a:endParaRPr sz="1600"/>
          </a:p>
        </p:txBody>
      </p:sp>
      <p:sp>
        <p:nvSpPr>
          <p:cNvPr id="22" name="Text 18">
            <a:extLst xmlns:a="http://schemas.openxmlformats.org/drawingml/2006/main">
              <a:ext uri="{FF2B5EF4-FFF2-40B4-BE49-F238E27FC236}">
                <a16:creationId xmlns:a16="http://schemas.microsoft.com/office/drawing/2014/main" id="{9F5BD190-E03A-4FDB-8123-53582AAACB91}"/>
              </a:ext>
            </a:extLst>
          </p:cNvPr>
          <p:cNvSpPr>
            <a:spLocks xmlns:a="http://schemas.openxmlformats.org/drawingml/2006/main" noGrp="1"/>
          </p:cNvSpPr>
          <p:nvPr/>
        </p:nvSpPr>
        <p:spPr>
          <a:xfrm xmlns:a="http://schemas.openxmlformats.org/drawingml/2006/main">
            <a:off x="7035800" y="3302000"/>
            <a:ext cx="4445000" cy="635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15000"/>
              </a:lnSpc>
              <a:spcAft>
                <a:spcPts val="400"/>
              </a:spcAft>
              <a:buNone/>
            </a:pPr>
            <a:r>
              <a:rPr sz="1300" b="1">
                <a:solidFill>
                  <a:srgbClr val="141414"/>
                </a:solidFill>
                <a:latin typeface="Arial"/>
                <a:ea typeface="Arial"/>
                <a:cs typeface="Arial"/>
              </a:rPr>
              <a:t>Bridged to the browser</a:t>
            </a:r>
            <a:endParaRPr sz="1300"/>
          </a:p>
          <a:p xmlns:a="http://schemas.openxmlformats.org/drawingml/2006/main">
            <a:pPr marL="0" indent="0">
              <a:lnSpc>
                <a:spcPct val="115000"/>
              </a:lnSpc>
              <a:buNone/>
            </a:pPr>
            <a:r>
              <a:rPr sz="1200">
                <a:solidFill>
                  <a:srgbClr val="333333"/>
                </a:solidFill>
                <a:latin typeface="Arial"/>
                <a:ea typeface="Arial"/>
                <a:cs typeface="Arial"/>
              </a:rPr>
              <a:t>Each snapshot is flushed to the UI as NDJSON as it arrives.</a:t>
            </a:r>
            <a:endParaRPr sz="1300"/>
          </a:p>
        </p:txBody>
      </p:sp>
      <p:sp>
        <p:nvSpPr>
          <p:cNvPr id="23" name="Shape 19">
            <a:extLst xmlns:a="http://schemas.openxmlformats.org/drawingml/2006/main">
              <a:ext uri="{FF2B5EF4-FFF2-40B4-BE49-F238E27FC236}">
                <a16:creationId xmlns:a16="http://schemas.microsoft.com/office/drawing/2014/main" id="{06A9C8E7-DC35-4309-BDA6-A40D18142AA2}"/>
              </a:ext>
            </a:extLst>
          </p:cNvPr>
          <p:cNvSpPr>
            <a:spLocks xmlns:a="http://schemas.openxmlformats.org/drawingml/2006/main" noGrp="1"/>
          </p:cNvSpPr>
          <p:nvPr/>
        </p:nvSpPr>
        <p:spPr>
          <a:xfrm xmlns:a="http://schemas.openxmlformats.org/drawingml/2006/main">
            <a:off x="6299200" y="4140200"/>
            <a:ext cx="5384800" cy="889000"/>
          </a:xfrm>
          <a:prstGeom xmlns:a="http://schemas.openxmlformats.org/drawingml/2006/main" prst="rect">
            <a:avLst/>
          </a:prstGeom>
          <a:solidFill xmlns:a="http://schemas.openxmlformats.org/drawingml/2006/main">
            <a:srgbClr val="F4F4F4"/>
          </a:solidFill>
          <a:effectLst xmlns:a="http://schemas.openxmlformats.org/drawingml/2006/main">
            <a:outerShdw blurRad="50800" dist="25400" dir="5400000" algn="bl" rotWithShape="0">
              <a:srgbClr val="000000">
                <a:alpha val="18000"/>
              </a:srgbClr>
            </a:outerShdw>
          </a:effectLst>
        </p:spPr>
        <p:txBody>
          <a:bodyPr xmlns:a="http://schemas.openxmlformats.org/drawingml/2006/main"/>
          <a:lstStyle xmlns:a="http://schemas.openxmlformats.org/drawingml/2006/main"/>
          <a:p xmlns:a="http://schemas.openxmlformats.org/drawingml/2006/main">
            <a:endParaRPr/>
          </a:p>
        </p:txBody>
      </p:sp>
      <p:sp>
        <p:nvSpPr>
          <p:cNvPr id="24" name="Shape 20">
            <a:extLst xmlns:a="http://schemas.openxmlformats.org/drawingml/2006/main">
              <a:ext uri="{FF2B5EF4-FFF2-40B4-BE49-F238E27FC236}">
                <a16:creationId xmlns:a16="http://schemas.microsoft.com/office/drawing/2014/main" id="{1A87F500-099F-4616-99E7-CAB064F89EA4}"/>
              </a:ext>
            </a:extLst>
          </p:cNvPr>
          <p:cNvSpPr>
            <a:spLocks xmlns:a="http://schemas.openxmlformats.org/drawingml/2006/main" noGrp="1"/>
          </p:cNvSpPr>
          <p:nvPr/>
        </p:nvSpPr>
        <p:spPr>
          <a:xfrm xmlns:a="http://schemas.openxmlformats.org/drawingml/2006/main">
            <a:off x="6299200" y="4140200"/>
            <a:ext cx="63500" cy="889000"/>
          </a:xfrm>
          <a:prstGeom xmlns:a="http://schemas.openxmlformats.org/drawingml/2006/main" prst="rect">
            <a:avLst/>
          </a:prstGeom>
          <a:solidFill xmlns:a="http://schemas.openxmlformats.org/drawingml/2006/main">
            <a:srgbClr val="DA1884"/>
          </a:solidFill>
        </p:spPr>
        <p:txBody>
          <a:bodyPr xmlns:a="http://schemas.openxmlformats.org/drawingml/2006/main"/>
          <a:lstStyle xmlns:a="http://schemas.openxmlformats.org/drawingml/2006/main"/>
          <a:p xmlns:a="http://schemas.openxmlformats.org/drawingml/2006/main">
            <a:endParaRPr/>
          </a:p>
        </p:txBody>
      </p:sp>
      <p:sp>
        <p:nvSpPr>
          <p:cNvPr id="25" name="Text 21">
            <a:extLst xmlns:a="http://schemas.openxmlformats.org/drawingml/2006/main">
              <a:ext uri="{FF2B5EF4-FFF2-40B4-BE49-F238E27FC236}">
                <a16:creationId xmlns:a16="http://schemas.microsoft.com/office/drawing/2014/main" id="{0B529FCE-10D4-4096-97A0-34E298E2512F}"/>
              </a:ext>
            </a:extLst>
          </p:cNvPr>
          <p:cNvSpPr>
            <a:spLocks xmlns:a="http://schemas.openxmlformats.org/drawingml/2006/main" noGrp="1"/>
          </p:cNvSpPr>
          <p:nvPr/>
        </p:nvSpPr>
        <p:spPr>
          <a:xfrm xmlns:a="http://schemas.openxmlformats.org/drawingml/2006/main">
            <a:off x="6527800" y="4292600"/>
            <a:ext cx="381000" cy="279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1600" b="1">
                <a:solidFill>
                  <a:srgbClr val="DA1884"/>
                </a:solidFill>
                <a:latin typeface="Arial"/>
                <a:ea typeface="Arial"/>
                <a:cs typeface="Arial"/>
              </a:rPr>
              <a:t>03</a:t>
            </a:r>
            <a:endParaRPr sz="1600"/>
          </a:p>
        </p:txBody>
      </p:sp>
      <p:sp>
        <p:nvSpPr>
          <p:cNvPr id="26" name="Text 22">
            <a:extLst xmlns:a="http://schemas.openxmlformats.org/drawingml/2006/main">
              <a:ext uri="{FF2B5EF4-FFF2-40B4-BE49-F238E27FC236}">
                <a16:creationId xmlns:a16="http://schemas.microsoft.com/office/drawing/2014/main" id="{9288FD18-062B-420F-93D2-9AD643E65D29}"/>
              </a:ext>
            </a:extLst>
          </p:cNvPr>
          <p:cNvSpPr>
            <a:spLocks xmlns:a="http://schemas.openxmlformats.org/drawingml/2006/main" noGrp="1"/>
          </p:cNvSpPr>
          <p:nvPr/>
        </p:nvSpPr>
        <p:spPr>
          <a:xfrm xmlns:a="http://schemas.openxmlformats.org/drawingml/2006/main">
            <a:off x="7035800" y="4292600"/>
            <a:ext cx="4445000" cy="635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15000"/>
              </a:lnSpc>
              <a:spcAft>
                <a:spcPts val="400"/>
              </a:spcAft>
              <a:buNone/>
            </a:pPr>
            <a:r>
              <a:rPr sz="1300" b="1">
                <a:solidFill>
                  <a:srgbClr val="141414"/>
                </a:solidFill>
                <a:latin typeface="Arial"/>
                <a:ea typeface="Arial"/>
                <a:cs typeface="Arial"/>
              </a:rPr>
              <a:t>Bounded and honest</a:t>
            </a:r>
            <a:endParaRPr sz="1300"/>
          </a:p>
          <a:p xmlns:a="http://schemas.openxmlformats.org/drawingml/2006/main">
            <a:pPr marL="0" indent="0">
              <a:lnSpc>
                <a:spcPct val="115000"/>
              </a:lnSpc>
              <a:buNone/>
            </a:pPr>
            <a:r>
              <a:rPr sz="1200">
                <a:solidFill>
                  <a:srgbClr val="333333"/>
                </a:solidFill>
                <a:latin typeface="Arial"/>
                <a:ea typeface="Arial"/>
                <a:cs typeface="Arial"/>
              </a:rPr>
              <a:t>A labeled, repeatable simulation. Stop anytime; replay the same flight.</a:t>
            </a:r>
            <a:endParaRPr sz="1300"/>
          </a:p>
        </p:txBody>
      </p:sp>
      <p:sp>
        <p:nvSpPr>
          <p:cNvPr id="27" name="Shape 23">
            <a:extLst xmlns:a="http://schemas.openxmlformats.org/drawingml/2006/main">
              <a:ext uri="{FF2B5EF4-FFF2-40B4-BE49-F238E27FC236}">
                <a16:creationId xmlns:a16="http://schemas.microsoft.com/office/drawing/2014/main" id="{C5F3889D-AD5A-4B17-A3E1-D693E96157D2}"/>
              </a:ext>
            </a:extLst>
          </p:cNvPr>
          <p:cNvSpPr>
            <a:spLocks xmlns:a="http://schemas.openxmlformats.org/drawingml/2006/main" noGrp="1"/>
          </p:cNvSpPr>
          <p:nvPr/>
        </p:nvSpPr>
        <p:spPr>
          <a:xfrm xmlns:a="http://schemas.openxmlformats.org/drawingml/2006/main">
            <a:off x="6299200" y="5130800"/>
            <a:ext cx="5384800" cy="787400"/>
          </a:xfrm>
          <a:prstGeom xmlns:a="http://schemas.openxmlformats.org/drawingml/2006/main" prst="rect">
            <a:avLst/>
          </a:prstGeom>
          <a:solidFill xmlns:a="http://schemas.openxmlformats.org/drawingml/2006/main">
            <a:srgbClr val="F4F4F4"/>
          </a:solidFill>
          <a:effectLst xmlns:a="http://schemas.openxmlformats.org/drawingml/2006/main">
            <a:outerShdw blurRad="50800" dist="25400" dir="5400000" algn="bl" rotWithShape="0">
              <a:srgbClr val="000000">
                <a:alpha val="18000"/>
              </a:srgbClr>
            </a:outerShdw>
          </a:effectLst>
        </p:spPr>
        <p:txBody>
          <a:bodyPr xmlns:a="http://schemas.openxmlformats.org/drawingml/2006/main"/>
          <a:lstStyle xmlns:a="http://schemas.openxmlformats.org/drawingml/2006/main"/>
          <a:p xmlns:a="http://schemas.openxmlformats.org/drawingml/2006/main">
            <a:endParaRPr/>
          </a:p>
        </p:txBody>
      </p:sp>
      <p:sp>
        <p:nvSpPr>
          <p:cNvPr id="28" name="Shape 24">
            <a:extLst xmlns:a="http://schemas.openxmlformats.org/drawingml/2006/main">
              <a:ext uri="{FF2B5EF4-FFF2-40B4-BE49-F238E27FC236}">
                <a16:creationId xmlns:a16="http://schemas.microsoft.com/office/drawing/2014/main" id="{295F0F0B-81D2-4D70-8456-F84E86B03FA3}"/>
              </a:ext>
            </a:extLst>
          </p:cNvPr>
          <p:cNvSpPr>
            <a:spLocks xmlns:a="http://schemas.openxmlformats.org/drawingml/2006/main" noGrp="1"/>
          </p:cNvSpPr>
          <p:nvPr/>
        </p:nvSpPr>
        <p:spPr>
          <a:xfrm xmlns:a="http://schemas.openxmlformats.org/drawingml/2006/main">
            <a:off x="6299200" y="5130800"/>
            <a:ext cx="76200" cy="787400"/>
          </a:xfrm>
          <a:prstGeom xmlns:a="http://schemas.openxmlformats.org/drawingml/2006/main" prst="rect">
            <a:avLst/>
          </a:prstGeom>
          <a:solidFill xmlns:a="http://schemas.openxmlformats.org/drawingml/2006/main">
            <a:srgbClr val="DA1884"/>
          </a:solidFill>
        </p:spPr>
        <p:txBody>
          <a:bodyPr xmlns:a="http://schemas.openxmlformats.org/drawingml/2006/main"/>
          <a:lstStyle xmlns:a="http://schemas.openxmlformats.org/drawingml/2006/main"/>
          <a:p xmlns:a="http://schemas.openxmlformats.org/drawingml/2006/main">
            <a:endParaRPr/>
          </a:p>
        </p:txBody>
      </p:sp>
      <p:sp>
        <p:nvSpPr>
          <p:cNvPr id="29" name="Text 25">
            <a:extLst xmlns:a="http://schemas.openxmlformats.org/drawingml/2006/main">
              <a:ext uri="{FF2B5EF4-FFF2-40B4-BE49-F238E27FC236}">
                <a16:creationId xmlns:a16="http://schemas.microsoft.com/office/drawing/2014/main" id="{A6F17ADE-F59F-4E2F-814C-6C074FBC01FE}"/>
              </a:ext>
            </a:extLst>
          </p:cNvPr>
          <p:cNvSpPr>
            <a:spLocks xmlns:a="http://schemas.openxmlformats.org/drawingml/2006/main" noGrp="1"/>
          </p:cNvSpPr>
          <p:nvPr/>
        </p:nvSpPr>
        <p:spPr>
          <a:xfrm xmlns:a="http://schemas.openxmlformats.org/drawingml/2006/main">
            <a:off x="6578600" y="5130800"/>
            <a:ext cx="4876800" cy="787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200" b="1">
                <a:solidFill>
                  <a:srgbClr val="141414"/>
                </a:solidFill>
                <a:latin typeface="Arial"/>
                <a:ea typeface="Arial"/>
                <a:cs typeface="Arial"/>
              </a:rPr>
              <a:t>Try it:  </a:t>
            </a:r>
            <a:r>
              <a:rPr sz="1200">
                <a:solidFill>
                  <a:srgbClr val="141414"/>
                </a:solidFill>
                <a:latin typeface="Arial"/>
                <a:ea typeface="Arial"/>
                <a:cs typeface="Arial"/>
              </a:rPr>
              <a:t>“Track the Millennium Falcon.”</a:t>
            </a:r>
            <a:endParaRPr sz="1200"/>
          </a:p>
        </p:txBody>
      </p:sp>
    </p:spTree>
    <p:extLst>
      <p:ext uri="{BB962C8B-B14F-4D97-AF65-F5344CB8AC3E}">
        <p14:creationId xmlns:p14="http://schemas.microsoft.com/office/powerpoint/2010/main" val="35784269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1C6E5641-7C84-4974-9607-3F6D820B6102}"/>
              </a:ext>
            </a:extLst>
          </p:cNvPr>
          <p:cNvPicPr>
            <a:picLocks xmlns:a="http://schemas.openxmlformats.org/drawingml/2006/main" noChangeAspect="1"/>
          </p:cNvPicPr>
          <p:nvPr/>
        </p:nvPicPr>
        <p:blipFill>
          <a:blip xmlns:r="http://schemas.openxmlformats.org/officeDocument/2006/relationships" xmlns:a="http://schemas.openxmlformats.org/drawingml/2006/main" r:embed="R0082a64dd3804a37"/>
          <a:stretch xmlns:a="http://schemas.openxmlformats.org/drawingml/2006/main">
            <a:fillRect l="0" t="0" r="0" b="0"/>
          </a:stretch>
        </p:blipFill>
        <p:spPr>
          <a:xfrm xmlns:a="http://schemas.openxmlformats.org/drawingml/2006/main">
            <a:off x="508000" y="152400"/>
            <a:ext cx="990600" cy="40640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1C1DBAC5-8D25-45FB-A301-E8020C0F5CB9}"/>
              </a:ext>
            </a:extLst>
          </p:cNvPr>
          <p:cNvSpPr>
            <a:spLocks xmlns:a="http://schemas.openxmlformats.org/drawingml/2006/main" noGrp="1"/>
          </p:cNvSpPr>
          <p:nvPr/>
        </p:nvSpPr>
        <p:spPr>
          <a:xfrm xmlns:a="http://schemas.openxmlformats.org/drawingml/2006/main">
            <a:off x="3556000" y="406400"/>
            <a:ext cx="5080000" cy="190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110000"/>
              </a:lnSpc>
              <a:buNone/>
            </a:pPr>
            <a:r>
              <a:rPr sz="1000">
                <a:solidFill>
                  <a:srgbClr val="6B6B6B"/>
                </a:solidFill>
                <a:latin typeface="Arial"/>
                <a:ea typeface="Arial"/>
                <a:cs typeface="Arial"/>
              </a:rPr>
              <a:t>Protocol Studio  —  REST · GraphQL · gRPC</a:t>
            </a:r>
            <a:endParaRPr sz="1000"/>
          </a:p>
        </p:txBody>
      </p:sp>
      <p:sp>
        <p:nvSpPr>
          <p:cNvPr id="4" name="Text 1">
            <a:extLst xmlns:a="http://schemas.openxmlformats.org/drawingml/2006/main">
              <a:ext uri="{FF2B5EF4-FFF2-40B4-BE49-F238E27FC236}">
                <a16:creationId xmlns:a16="http://schemas.microsoft.com/office/drawing/2014/main" id="{70F2D321-DC4A-454F-AAEE-C9C4B555D151}"/>
              </a:ext>
            </a:extLst>
          </p:cNvPr>
          <p:cNvSpPr>
            <a:spLocks xmlns:a="http://schemas.openxmlformats.org/drawingml/2006/main" noGrp="1"/>
          </p:cNvSpPr>
          <p:nvPr/>
        </p:nvSpPr>
        <p:spPr>
          <a:xfrm xmlns:a="http://schemas.openxmlformats.org/drawingml/2006/main">
            <a:off x="6350000" y="406400"/>
            <a:ext cx="5334000" cy="190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ct val="110000"/>
              </a:lnSpc>
              <a:buNone/>
            </a:pPr>
            <a:r>
              <a:rPr sz="1000" b="1">
                <a:solidFill>
                  <a:srgbClr val="DA1884"/>
                </a:solidFill>
                <a:latin typeface="Arial"/>
                <a:ea typeface="Arial"/>
                <a:cs typeface="Arial"/>
              </a:rPr>
              <a:t>THE PROTOCOLS</a:t>
            </a:r>
            <a:endParaRPr sz="1000"/>
          </a:p>
        </p:txBody>
      </p:sp>
      <p:sp>
        <p:nvSpPr>
          <p:cNvPr id="5" name="Text 2">
            <a:extLst xmlns:a="http://schemas.openxmlformats.org/drawingml/2006/main">
              <a:ext uri="{FF2B5EF4-FFF2-40B4-BE49-F238E27FC236}">
                <a16:creationId xmlns:a16="http://schemas.microsoft.com/office/drawing/2014/main" id="{9AC6B01A-02FA-40F2-BDC9-535CDBEF661B}"/>
              </a:ext>
            </a:extLst>
          </p:cNvPr>
          <p:cNvSpPr>
            <a:spLocks xmlns:a="http://schemas.openxmlformats.org/drawingml/2006/main" noGrp="1"/>
          </p:cNvSpPr>
          <p:nvPr/>
        </p:nvSpPr>
        <p:spPr>
          <a:xfrm xmlns:a="http://schemas.openxmlformats.org/drawingml/2006/main">
            <a:off x="508000" y="6578600"/>
            <a:ext cx="8890000" cy="177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900">
                <a:solidFill>
                  <a:srgbClr val="9E9E9E"/>
                </a:solidFill>
                <a:latin typeface="Arial"/>
                <a:ea typeface="Arial"/>
                <a:cs typeface="Arial"/>
              </a:rPr>
              <a:t>Insight Proprietary &amp; Confidential.  Do Not Copy or Distribute.  © 2026 Insight.  All Rights Reserved.</a:t>
            </a:r>
            <a:endParaRPr sz="900"/>
          </a:p>
        </p:txBody>
      </p:sp>
      <p:sp>
        <p:nvSpPr>
          <p:cNvPr id="6" name="Text 3">
            <a:extLst xmlns:a="http://schemas.openxmlformats.org/drawingml/2006/main">
              <a:ext uri="{FF2B5EF4-FFF2-40B4-BE49-F238E27FC236}">
                <a16:creationId xmlns:a16="http://schemas.microsoft.com/office/drawing/2014/main" id="{AD9365CB-1177-43A8-B586-EEFF8D44BC16}"/>
              </a:ext>
            </a:extLst>
          </p:cNvPr>
          <p:cNvSpPr>
            <a:spLocks xmlns:a="http://schemas.openxmlformats.org/drawingml/2006/main" noGrp="1"/>
          </p:cNvSpPr>
          <p:nvPr/>
        </p:nvSpPr>
        <p:spPr>
          <a:xfrm xmlns:a="http://schemas.openxmlformats.org/drawingml/2006/main">
            <a:off x="10922000" y="6578600"/>
            <a:ext cx="762000" cy="177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ct val="110000"/>
              </a:lnSpc>
              <a:buNone/>
            </a:pPr>
            <a:r>
              <a:rPr sz="900">
                <a:solidFill>
                  <a:srgbClr val="9E9E9E"/>
                </a:solidFill>
                <a:latin typeface="Arial"/>
                <a:ea typeface="Arial"/>
                <a:cs typeface="Arial"/>
              </a:rPr>
              <a:t>14</a:t>
            </a:r>
            <a:endParaRPr sz="900"/>
          </a:p>
        </p:txBody>
      </p:sp>
      <p:sp>
        <p:nvSpPr>
          <p:cNvPr id="7" name="Text 4">
            <a:extLst xmlns:a="http://schemas.openxmlformats.org/drawingml/2006/main">
              <a:ext uri="{FF2B5EF4-FFF2-40B4-BE49-F238E27FC236}">
                <a16:creationId xmlns:a16="http://schemas.microsoft.com/office/drawing/2014/main" id="{2068377C-C4E8-4276-AD4D-1A75722EDBAE}"/>
              </a:ext>
            </a:extLst>
          </p:cNvPr>
          <p:cNvSpPr>
            <a:spLocks xmlns:a="http://schemas.openxmlformats.org/drawingml/2006/main" noGrp="1"/>
          </p:cNvSpPr>
          <p:nvPr/>
        </p:nvSpPr>
        <p:spPr>
          <a:xfrm xmlns:a="http://schemas.openxmlformats.org/drawingml/2006/main">
            <a:off x="508000" y="889000"/>
            <a:ext cx="11176000" cy="2159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1200" b="1">
                <a:solidFill>
                  <a:srgbClr val="DA1884"/>
                </a:solidFill>
                <a:latin typeface="Arial"/>
                <a:ea typeface="Arial"/>
                <a:cs typeface="Arial"/>
              </a:rPr>
              <a:t>USAGE COMPARISON</a:t>
            </a:r>
            <a:endParaRPr sz="1200"/>
          </a:p>
        </p:txBody>
      </p:sp>
      <p:sp>
        <p:nvSpPr>
          <p:cNvPr id="8" name="Text 5">
            <a:extLst xmlns:a="http://schemas.openxmlformats.org/drawingml/2006/main">
              <a:ext uri="{FF2B5EF4-FFF2-40B4-BE49-F238E27FC236}">
                <a16:creationId xmlns:a16="http://schemas.microsoft.com/office/drawing/2014/main" id="{A69CEAFA-A606-4659-B925-CB41616ED355}"/>
              </a:ext>
            </a:extLst>
          </p:cNvPr>
          <p:cNvSpPr>
            <a:spLocks xmlns:a="http://schemas.openxmlformats.org/drawingml/2006/main" noGrp="1"/>
          </p:cNvSpPr>
          <p:nvPr/>
        </p:nvSpPr>
        <p:spPr>
          <a:xfrm xmlns:a="http://schemas.openxmlformats.org/drawingml/2006/main">
            <a:off x="508000" y="1130300"/>
            <a:ext cx="11176000" cy="482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3000" b="1">
                <a:solidFill>
                  <a:srgbClr val="141414"/>
                </a:solidFill>
                <a:latin typeface="Arial"/>
                <a:ea typeface="Arial"/>
                <a:cs typeface="Arial"/>
              </a:rPr>
              <a:t>Where Each Protocol Came From, and Where It Fits</a:t>
            </a:r>
            <a:endParaRPr sz="3000"/>
          </a:p>
        </p:txBody>
      </p:sp>
      <p:sp>
        <p:nvSpPr>
          <p:cNvPr id="9" name="Text 6">
            <a:extLst xmlns:a="http://schemas.openxmlformats.org/drawingml/2006/main">
              <a:ext uri="{FF2B5EF4-FFF2-40B4-BE49-F238E27FC236}">
                <a16:creationId xmlns:a16="http://schemas.microsoft.com/office/drawing/2014/main" id="{6A2682F5-54C9-423E-BEC7-433D176287A9}"/>
              </a:ext>
            </a:extLst>
          </p:cNvPr>
          <p:cNvSpPr>
            <a:spLocks xmlns:a="http://schemas.openxmlformats.org/drawingml/2006/main" noGrp="1"/>
          </p:cNvSpPr>
          <p:nvPr/>
        </p:nvSpPr>
        <p:spPr>
          <a:xfrm xmlns:a="http://schemas.openxmlformats.org/drawingml/2006/main">
            <a:off x="508000" y="1663700"/>
            <a:ext cx="11176000"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1400">
                <a:solidFill>
                  <a:srgbClr val="6B6B6B"/>
                </a:solidFill>
                <a:latin typeface="Arial"/>
                <a:ea typeface="Arial"/>
                <a:cs typeface="Arial"/>
              </a:rPr>
              <a:t>Three decades of API design. Each protocol answered the problem of its moment.</a:t>
            </a:r>
            <a:endParaRPr sz="1400"/>
          </a:p>
        </p:txBody>
      </p:sp>
      <p:sp>
        <p:nvSpPr>
          <p:cNvPr id="11" name="Shape 7">
            <a:extLst xmlns:a="http://schemas.openxmlformats.org/drawingml/2006/main">
              <a:ext uri="{FF2B5EF4-FFF2-40B4-BE49-F238E27FC236}">
                <a16:creationId xmlns:a16="http://schemas.microsoft.com/office/drawing/2014/main" id="{EA69A30F-51B5-46EB-A1E7-999788C1518E}"/>
              </a:ext>
            </a:extLst>
          </p:cNvPr>
          <p:cNvSpPr>
            <a:spLocks xmlns:a="http://schemas.openxmlformats.org/drawingml/2006/main" noGrp="1"/>
          </p:cNvSpPr>
          <p:nvPr/>
        </p:nvSpPr>
        <p:spPr>
          <a:xfrm xmlns:a="http://schemas.openxmlformats.org/drawingml/2006/main">
            <a:off x="508000" y="2159000"/>
            <a:ext cx="2679700" cy="38100"/>
          </a:xfrm>
          <a:prstGeom xmlns:a="http://schemas.openxmlformats.org/drawingml/2006/main" prst="rect">
            <a:avLst/>
          </a:prstGeom>
          <a:solidFill xmlns:a="http://schemas.openxmlformats.org/drawingml/2006/main">
            <a:srgbClr val="DA1884"/>
          </a:solidFill>
        </p:spPr>
        <p:txBody>
          <a:bodyPr xmlns:a="http://schemas.openxmlformats.org/drawingml/2006/main"/>
          <a:lstStyle xmlns:a="http://schemas.openxmlformats.org/drawingml/2006/main"/>
          <a:p xmlns:a="http://schemas.openxmlformats.org/drawingml/2006/main">
            <a:endParaRPr/>
          </a:p>
        </p:txBody>
      </p:sp>
      <p:sp>
        <p:nvSpPr>
          <p:cNvPr id="12" name="Text 8">
            <a:extLst xmlns:a="http://schemas.openxmlformats.org/drawingml/2006/main">
              <a:ext uri="{FF2B5EF4-FFF2-40B4-BE49-F238E27FC236}">
                <a16:creationId xmlns:a16="http://schemas.microsoft.com/office/drawing/2014/main" id="{02F394B9-8C46-49E4-88E9-FAA3A3CB60FB}"/>
              </a:ext>
            </a:extLst>
          </p:cNvPr>
          <p:cNvSpPr>
            <a:spLocks xmlns:a="http://schemas.openxmlformats.org/drawingml/2006/main" noGrp="1"/>
          </p:cNvSpPr>
          <p:nvPr/>
        </p:nvSpPr>
        <p:spPr>
          <a:xfrm xmlns:a="http://schemas.openxmlformats.org/drawingml/2006/main">
            <a:off x="508000" y="2311400"/>
            <a:ext cx="2679700" cy="2921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1800" b="1">
                <a:solidFill>
                  <a:srgbClr val="DA1884"/>
                </a:solidFill>
                <a:latin typeface="Arial"/>
                <a:ea typeface="Arial"/>
                <a:cs typeface="Arial"/>
              </a:rPr>
              <a:t>2000</a:t>
            </a:r>
            <a:endParaRPr sz="1800"/>
          </a:p>
        </p:txBody>
      </p:sp>
      <p:sp>
        <p:nvSpPr>
          <p:cNvPr id="13" name="Text 9">
            <a:extLst xmlns:a="http://schemas.openxmlformats.org/drawingml/2006/main">
              <a:ext uri="{FF2B5EF4-FFF2-40B4-BE49-F238E27FC236}">
                <a16:creationId xmlns:a16="http://schemas.microsoft.com/office/drawing/2014/main" id="{385A3AED-1187-4662-BE40-5542A95D750D}"/>
              </a:ext>
            </a:extLst>
          </p:cNvPr>
          <p:cNvSpPr>
            <a:spLocks xmlns:a="http://schemas.openxmlformats.org/drawingml/2006/main" noGrp="1"/>
          </p:cNvSpPr>
          <p:nvPr/>
        </p:nvSpPr>
        <p:spPr>
          <a:xfrm xmlns:a="http://schemas.openxmlformats.org/drawingml/2006/main">
            <a:off x="508000" y="2654300"/>
            <a:ext cx="2540000" cy="444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0000"/>
              </a:lnSpc>
              <a:buNone/>
            </a:pPr>
            <a:r>
              <a:rPr sz="1200">
                <a:solidFill>
                  <a:srgbClr val="333333"/>
                </a:solidFill>
                <a:latin typeface="Arial"/>
                <a:ea typeface="Arial"/>
                <a:cs typeface="Arial"/>
              </a:rPr>
              <a:t>REST described in Roy Fielding's dissertation</a:t>
            </a:r>
            <a:endParaRPr sz="1200"/>
          </a:p>
        </p:txBody>
      </p:sp>
      <p:sp>
        <p:nvSpPr>
          <p:cNvPr id="14" name="Shape 10">
            <a:extLst xmlns:a="http://schemas.openxmlformats.org/drawingml/2006/main">
              <a:ext uri="{FF2B5EF4-FFF2-40B4-BE49-F238E27FC236}">
                <a16:creationId xmlns:a16="http://schemas.microsoft.com/office/drawing/2014/main" id="{B86F59FA-5EA7-437F-993D-B482FAB02D61}"/>
              </a:ext>
            </a:extLst>
          </p:cNvPr>
          <p:cNvSpPr>
            <a:spLocks xmlns:a="http://schemas.openxmlformats.org/drawingml/2006/main" noGrp="1"/>
          </p:cNvSpPr>
          <p:nvPr/>
        </p:nvSpPr>
        <p:spPr>
          <a:xfrm xmlns:a="http://schemas.openxmlformats.org/drawingml/2006/main">
            <a:off x="3340100" y="2159000"/>
            <a:ext cx="2679700" cy="38100"/>
          </a:xfrm>
          <a:prstGeom xmlns:a="http://schemas.openxmlformats.org/drawingml/2006/main" prst="rect">
            <a:avLst/>
          </a:prstGeom>
          <a:solidFill xmlns:a="http://schemas.openxmlformats.org/drawingml/2006/main">
            <a:srgbClr val="DA1884"/>
          </a:solidFill>
        </p:spPr>
        <p:txBody>
          <a:bodyPr xmlns:a="http://schemas.openxmlformats.org/drawingml/2006/main"/>
          <a:lstStyle xmlns:a="http://schemas.openxmlformats.org/drawingml/2006/main"/>
          <a:p xmlns:a="http://schemas.openxmlformats.org/drawingml/2006/main">
            <a:endParaRPr/>
          </a:p>
        </p:txBody>
      </p:sp>
      <p:sp>
        <p:nvSpPr>
          <p:cNvPr id="15" name="Text 11">
            <a:extLst xmlns:a="http://schemas.openxmlformats.org/drawingml/2006/main">
              <a:ext uri="{FF2B5EF4-FFF2-40B4-BE49-F238E27FC236}">
                <a16:creationId xmlns:a16="http://schemas.microsoft.com/office/drawing/2014/main" id="{8C726186-FA68-428E-BFA1-147728A13C02}"/>
              </a:ext>
            </a:extLst>
          </p:cNvPr>
          <p:cNvSpPr>
            <a:spLocks xmlns:a="http://schemas.openxmlformats.org/drawingml/2006/main" noGrp="1"/>
          </p:cNvSpPr>
          <p:nvPr/>
        </p:nvSpPr>
        <p:spPr>
          <a:xfrm xmlns:a="http://schemas.openxmlformats.org/drawingml/2006/main">
            <a:off x="3340100" y="2311400"/>
            <a:ext cx="2679700" cy="2921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1800" b="1">
                <a:solidFill>
                  <a:srgbClr val="DA1884"/>
                </a:solidFill>
                <a:latin typeface="Arial"/>
                <a:ea typeface="Arial"/>
                <a:cs typeface="Arial"/>
              </a:rPr>
              <a:t>2012</a:t>
            </a:r>
            <a:endParaRPr sz="1800"/>
          </a:p>
        </p:txBody>
      </p:sp>
      <p:sp>
        <p:nvSpPr>
          <p:cNvPr id="16" name="Text 12">
            <a:extLst xmlns:a="http://schemas.openxmlformats.org/drawingml/2006/main">
              <a:ext uri="{FF2B5EF4-FFF2-40B4-BE49-F238E27FC236}">
                <a16:creationId xmlns:a16="http://schemas.microsoft.com/office/drawing/2014/main" id="{FA578879-B195-4E61-98AD-6773DA5FF5F9}"/>
              </a:ext>
            </a:extLst>
          </p:cNvPr>
          <p:cNvSpPr>
            <a:spLocks xmlns:a="http://schemas.openxmlformats.org/drawingml/2006/main" noGrp="1"/>
          </p:cNvSpPr>
          <p:nvPr/>
        </p:nvSpPr>
        <p:spPr>
          <a:xfrm xmlns:a="http://schemas.openxmlformats.org/drawingml/2006/main">
            <a:off x="3340100" y="2654300"/>
            <a:ext cx="2540000" cy="444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0000"/>
              </a:lnSpc>
              <a:buNone/>
            </a:pPr>
            <a:r>
              <a:rPr sz="1200">
                <a:solidFill>
                  <a:srgbClr val="333333"/>
                </a:solidFill>
                <a:latin typeface="Arial"/>
                <a:ea typeface="Arial"/>
                <a:cs typeface="Arial"/>
              </a:rPr>
              <a:t>GraphQL built inside Facebook for mobile</a:t>
            </a:r>
            <a:endParaRPr sz="1200"/>
          </a:p>
        </p:txBody>
      </p:sp>
      <p:sp>
        <p:nvSpPr>
          <p:cNvPr id="17" name="Shape 13">
            <a:extLst xmlns:a="http://schemas.openxmlformats.org/drawingml/2006/main">
              <a:ext uri="{FF2B5EF4-FFF2-40B4-BE49-F238E27FC236}">
                <a16:creationId xmlns:a16="http://schemas.microsoft.com/office/drawing/2014/main" id="{A565A8E3-FB52-4CB0-8A10-994B10FFC77E}"/>
              </a:ext>
            </a:extLst>
          </p:cNvPr>
          <p:cNvSpPr>
            <a:spLocks xmlns:a="http://schemas.openxmlformats.org/drawingml/2006/main" noGrp="1"/>
          </p:cNvSpPr>
          <p:nvPr/>
        </p:nvSpPr>
        <p:spPr>
          <a:xfrm xmlns:a="http://schemas.openxmlformats.org/drawingml/2006/main">
            <a:off x="6172200" y="2159000"/>
            <a:ext cx="2679700" cy="38100"/>
          </a:xfrm>
          <a:prstGeom xmlns:a="http://schemas.openxmlformats.org/drawingml/2006/main" prst="rect">
            <a:avLst/>
          </a:prstGeom>
          <a:solidFill xmlns:a="http://schemas.openxmlformats.org/drawingml/2006/main">
            <a:srgbClr val="DA1884"/>
          </a:solidFill>
        </p:spPr>
        <p:txBody>
          <a:bodyPr xmlns:a="http://schemas.openxmlformats.org/drawingml/2006/main"/>
          <a:lstStyle xmlns:a="http://schemas.openxmlformats.org/drawingml/2006/main"/>
          <a:p xmlns:a="http://schemas.openxmlformats.org/drawingml/2006/main">
            <a:endParaRPr/>
          </a:p>
        </p:txBody>
      </p:sp>
      <p:sp>
        <p:nvSpPr>
          <p:cNvPr id="18" name="Text 14">
            <a:extLst xmlns:a="http://schemas.openxmlformats.org/drawingml/2006/main">
              <a:ext uri="{FF2B5EF4-FFF2-40B4-BE49-F238E27FC236}">
                <a16:creationId xmlns:a16="http://schemas.microsoft.com/office/drawing/2014/main" id="{E961B294-74D5-473E-98C3-DB98D6DBF27F}"/>
              </a:ext>
            </a:extLst>
          </p:cNvPr>
          <p:cNvSpPr>
            <a:spLocks xmlns:a="http://schemas.openxmlformats.org/drawingml/2006/main" noGrp="1"/>
          </p:cNvSpPr>
          <p:nvPr/>
        </p:nvSpPr>
        <p:spPr>
          <a:xfrm xmlns:a="http://schemas.openxmlformats.org/drawingml/2006/main">
            <a:off x="6172200" y="2311400"/>
            <a:ext cx="2679700" cy="2921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1800" b="1">
                <a:solidFill>
                  <a:srgbClr val="DA1884"/>
                </a:solidFill>
                <a:latin typeface="Arial"/>
                <a:ea typeface="Arial"/>
                <a:cs typeface="Arial"/>
              </a:rPr>
              <a:t>2015</a:t>
            </a:r>
            <a:endParaRPr sz="1800"/>
          </a:p>
        </p:txBody>
      </p:sp>
      <p:sp>
        <p:nvSpPr>
          <p:cNvPr id="19" name="Text 15">
            <a:extLst xmlns:a="http://schemas.openxmlformats.org/drawingml/2006/main">
              <a:ext uri="{FF2B5EF4-FFF2-40B4-BE49-F238E27FC236}">
                <a16:creationId xmlns:a16="http://schemas.microsoft.com/office/drawing/2014/main" id="{26CBF3DA-C6C9-4E2F-99CF-9EF16D9B6DFD}"/>
              </a:ext>
            </a:extLst>
          </p:cNvPr>
          <p:cNvSpPr>
            <a:spLocks xmlns:a="http://schemas.openxmlformats.org/drawingml/2006/main" noGrp="1"/>
          </p:cNvSpPr>
          <p:nvPr/>
        </p:nvSpPr>
        <p:spPr>
          <a:xfrm xmlns:a="http://schemas.openxmlformats.org/drawingml/2006/main">
            <a:off x="6172200" y="2654300"/>
            <a:ext cx="2540000" cy="444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0000"/>
              </a:lnSpc>
              <a:buNone/>
            </a:pPr>
            <a:r>
              <a:rPr sz="1200">
                <a:solidFill>
                  <a:srgbClr val="333333"/>
                </a:solidFill>
                <a:latin typeface="Arial"/>
                <a:ea typeface="Arial"/>
                <a:cs typeface="Arial"/>
              </a:rPr>
              <a:t>GraphQL spec published; gRPC open-sourced by Google</a:t>
            </a:r>
            <a:endParaRPr sz="1200"/>
          </a:p>
        </p:txBody>
      </p:sp>
      <p:sp>
        <p:nvSpPr>
          <p:cNvPr id="20" name="Shape 16">
            <a:extLst xmlns:a="http://schemas.openxmlformats.org/drawingml/2006/main">
              <a:ext uri="{FF2B5EF4-FFF2-40B4-BE49-F238E27FC236}">
                <a16:creationId xmlns:a16="http://schemas.microsoft.com/office/drawing/2014/main" id="{C594A9B4-D15D-40EB-9A55-54C2BE0B14A4}"/>
              </a:ext>
            </a:extLst>
          </p:cNvPr>
          <p:cNvSpPr>
            <a:spLocks xmlns:a="http://schemas.openxmlformats.org/drawingml/2006/main" noGrp="1"/>
          </p:cNvSpPr>
          <p:nvPr/>
        </p:nvSpPr>
        <p:spPr>
          <a:xfrm xmlns:a="http://schemas.openxmlformats.org/drawingml/2006/main">
            <a:off x="9004300" y="2159000"/>
            <a:ext cx="2679700" cy="38100"/>
          </a:xfrm>
          <a:prstGeom xmlns:a="http://schemas.openxmlformats.org/drawingml/2006/main" prst="rect">
            <a:avLst/>
          </a:prstGeom>
          <a:solidFill xmlns:a="http://schemas.openxmlformats.org/drawingml/2006/main">
            <a:srgbClr val="DA1884"/>
          </a:solidFill>
        </p:spPr>
        <p:txBody>
          <a:bodyPr xmlns:a="http://schemas.openxmlformats.org/drawingml/2006/main"/>
          <a:lstStyle xmlns:a="http://schemas.openxmlformats.org/drawingml/2006/main"/>
          <a:p xmlns:a="http://schemas.openxmlformats.org/drawingml/2006/main">
            <a:endParaRPr/>
          </a:p>
        </p:txBody>
      </p:sp>
      <p:sp>
        <p:nvSpPr>
          <p:cNvPr id="21" name="Text 17">
            <a:extLst xmlns:a="http://schemas.openxmlformats.org/drawingml/2006/main">
              <a:ext uri="{FF2B5EF4-FFF2-40B4-BE49-F238E27FC236}">
                <a16:creationId xmlns:a16="http://schemas.microsoft.com/office/drawing/2014/main" id="{A5E3C2D6-4530-440D-82AA-3D423D91E77E}"/>
              </a:ext>
            </a:extLst>
          </p:cNvPr>
          <p:cNvSpPr>
            <a:spLocks xmlns:a="http://schemas.openxmlformats.org/drawingml/2006/main" noGrp="1"/>
          </p:cNvSpPr>
          <p:nvPr/>
        </p:nvSpPr>
        <p:spPr>
          <a:xfrm xmlns:a="http://schemas.openxmlformats.org/drawingml/2006/main">
            <a:off x="9004300" y="2311400"/>
            <a:ext cx="2679700" cy="2921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1800" b="1">
                <a:solidFill>
                  <a:srgbClr val="DA1884"/>
                </a:solidFill>
                <a:latin typeface="Arial"/>
                <a:ea typeface="Arial"/>
                <a:cs typeface="Arial"/>
              </a:rPr>
              <a:t>2016</a:t>
            </a:r>
            <a:endParaRPr sz="1800"/>
          </a:p>
        </p:txBody>
      </p:sp>
      <p:sp>
        <p:nvSpPr>
          <p:cNvPr id="22" name="Text 18">
            <a:extLst xmlns:a="http://schemas.openxmlformats.org/drawingml/2006/main">
              <a:ext uri="{FF2B5EF4-FFF2-40B4-BE49-F238E27FC236}">
                <a16:creationId xmlns:a16="http://schemas.microsoft.com/office/drawing/2014/main" id="{77D53191-2288-43F2-8372-34C1D77D9376}"/>
              </a:ext>
            </a:extLst>
          </p:cNvPr>
          <p:cNvSpPr>
            <a:spLocks xmlns:a="http://schemas.openxmlformats.org/drawingml/2006/main" noGrp="1"/>
          </p:cNvSpPr>
          <p:nvPr/>
        </p:nvSpPr>
        <p:spPr>
          <a:xfrm xmlns:a="http://schemas.openxmlformats.org/drawingml/2006/main">
            <a:off x="9004300" y="2654300"/>
            <a:ext cx="2540000" cy="444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0000"/>
              </a:lnSpc>
              <a:buNone/>
            </a:pPr>
            <a:r>
              <a:rPr sz="1200">
                <a:solidFill>
                  <a:srgbClr val="333333"/>
                </a:solidFill>
                <a:latin typeface="Arial"/>
                <a:ea typeface="Arial"/>
                <a:cs typeface="Arial"/>
              </a:rPr>
              <a:t>gRPC 1.0 released; adopted by CNCF in 2017</a:t>
            </a:r>
            <a:endParaRPr sz="1200"/>
          </a:p>
        </p:txBody>
      </p:sp>
      <p:graphicFrame>
        <p:nvGraphicFramePr>
          <p:cNvPr id="10" name="Table 0">
            <a:extLst xmlns:a="http://schemas.openxmlformats.org/drawingml/2006/main">
              <a:ext uri="{FF2B5EF4-FFF2-40B4-BE49-F238E27FC236}">
                <a16:creationId xmlns:a16="http://schemas.microsoft.com/office/drawing/2014/main" id="{8C16D335-96A2-47CB-AF8F-001B70309214}"/>
              </a:ext>
            </a:extLst>
          </p:cNvPr>
          <p:cNvGraphicFramePr/>
          <p:nvPr/>
        </p:nvGraphicFramePr>
        <p:xfrm>
          <a:off xmlns:a="http://schemas.openxmlformats.org/drawingml/2006/main" x="508000" y="3429000"/>
          <a:ext xmlns:a="http://schemas.openxmlformats.org/drawingml/2006/main" cx="11176000" cy="1930400"/>
        </p:xfrm>
        <a:graphic xmlns:a="http://schemas.openxmlformats.org/drawingml/2006/main">
          <a:graphicData uri="http://schemas.openxmlformats.org/drawingml/2006/table">
            <a:tbl>
              <a:tblPr/>
              <a:tblGrid>
                <a:gridCol w="2123440"/>
                <a:gridCol w="3017520"/>
                <a:gridCol w="3017520"/>
                <a:gridCol w="3017520"/>
              </a:tblGrid>
              <a:tr h="482600">
                <a:tc>
                  <a:txBody>
                    <a:bodyPr/>
                    <a:lstStyle/>
                    <a:p>
                      <a:pPr marL="0" indent="0">
                        <a:buNone/>
                      </a:pP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DA1884"/>
                    </a:solidFill>
                  </a:tcPr>
                </a:tc>
                <a:tc>
                  <a:txBody>
                    <a:bodyPr/>
                    <a:lstStyle/>
                    <a:p>
                      <a:pPr marL="0" indent="0">
                        <a:buNone/>
                      </a:pPr>
                      <a:r>
                        <a:rPr sz="1200" b="1">
                          <a:solidFill>
                            <a:srgbClr val="FFFFFF"/>
                          </a:solidFill>
                          <a:latin typeface="Arial"/>
                          <a:ea typeface="Arial"/>
                          <a:cs typeface="Arial"/>
                        </a:rPr>
                        <a:t>REST</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DA1884"/>
                    </a:solidFill>
                  </a:tcPr>
                </a:tc>
                <a:tc>
                  <a:txBody>
                    <a:bodyPr/>
                    <a:lstStyle/>
                    <a:p>
                      <a:pPr marL="0" indent="0">
                        <a:buNone/>
                      </a:pPr>
                      <a:r>
                        <a:rPr sz="1200" b="1">
                          <a:solidFill>
                            <a:srgbClr val="FFFFFF"/>
                          </a:solidFill>
                          <a:latin typeface="Arial"/>
                          <a:ea typeface="Arial"/>
                          <a:cs typeface="Arial"/>
                        </a:rPr>
                        <a:t>GraphQL</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DA1884"/>
                    </a:solidFill>
                  </a:tcPr>
                </a:tc>
                <a:tc>
                  <a:txBody>
                    <a:bodyPr/>
                    <a:lstStyle/>
                    <a:p>
                      <a:pPr marL="0" indent="0">
                        <a:buNone/>
                      </a:pPr>
                      <a:r>
                        <a:rPr sz="1200" b="1">
                          <a:solidFill>
                            <a:srgbClr val="FFFFFF"/>
                          </a:solidFill>
                          <a:latin typeface="Arial"/>
                          <a:ea typeface="Arial"/>
                          <a:cs typeface="Arial"/>
                        </a:rPr>
                        <a:t>gRPC</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DA1884"/>
                    </a:solidFill>
                  </a:tcPr>
                </a:tc>
              </a:tr>
              <a:tr h="482600">
                <a:tc>
                  <a:txBody>
                    <a:bodyPr/>
                    <a:lstStyle/>
                    <a:p>
                      <a:pPr marL="0" indent="0">
                        <a:buNone/>
                      </a:pPr>
                      <a:r>
                        <a:rPr sz="1200" b="1">
                          <a:solidFill>
                            <a:srgbClr val="141414"/>
                          </a:solidFill>
                          <a:latin typeface="Arial"/>
                          <a:ea typeface="Arial"/>
                          <a:cs typeface="Arial"/>
                        </a:rPr>
                        <a:t>Learning curve</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4F4F4"/>
                    </a:solidFill>
                  </a:tcPr>
                </a:tc>
                <a:tc>
                  <a:txBody>
                    <a:bodyPr/>
                    <a:lstStyle/>
                    <a:p>
                      <a:pPr marL="0" indent="0">
                        <a:buNone/>
                      </a:pPr>
                      <a:r>
                        <a:rPr sz="1200">
                          <a:solidFill>
                            <a:srgbClr val="333333"/>
                          </a:solidFill>
                          <a:latin typeface="Arial"/>
                          <a:ea typeface="Arial"/>
                          <a:cs typeface="Arial"/>
                        </a:rPr>
                        <a:t>Low</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4F4F4"/>
                    </a:solidFill>
                  </a:tcPr>
                </a:tc>
                <a:tc>
                  <a:txBody>
                    <a:bodyPr/>
                    <a:lstStyle/>
                    <a:p>
                      <a:pPr marL="0" indent="0">
                        <a:buNone/>
                      </a:pPr>
                      <a:r>
                        <a:rPr sz="1200">
                          <a:solidFill>
                            <a:srgbClr val="333333"/>
                          </a:solidFill>
                          <a:latin typeface="Arial"/>
                          <a:ea typeface="Arial"/>
                          <a:cs typeface="Arial"/>
                        </a:rPr>
                        <a:t>Medium</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4F4F4"/>
                    </a:solidFill>
                  </a:tcPr>
                </a:tc>
                <a:tc>
                  <a:txBody>
                    <a:bodyPr/>
                    <a:lstStyle/>
                    <a:p>
                      <a:pPr marL="0" indent="0">
                        <a:buNone/>
                      </a:pPr>
                      <a:r>
                        <a:rPr sz="1200">
                          <a:solidFill>
                            <a:srgbClr val="333333"/>
                          </a:solidFill>
                          <a:latin typeface="Arial"/>
                          <a:ea typeface="Arial"/>
                          <a:cs typeface="Arial"/>
                        </a:rPr>
                        <a:t>Medium: Protobuf and toolchain</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4F4F4"/>
                    </a:solidFill>
                  </a:tcPr>
                </a:tc>
              </a:tr>
              <a:tr h="482600">
                <a:tc>
                  <a:txBody>
                    <a:bodyPr/>
                    <a:lstStyle/>
                    <a:p>
                      <a:pPr marL="0" indent="0">
                        <a:buNone/>
                      </a:pPr>
                      <a:r>
                        <a:rPr sz="1200" b="1">
                          <a:solidFill>
                            <a:srgbClr val="141414"/>
                          </a:solidFill>
                          <a:latin typeface="Arial"/>
                          <a:ea typeface="Arial"/>
                          <a:cs typeface="Arial"/>
                        </a:rPr>
                        <a:t>Ecosystem</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FFFFF"/>
                    </a:solidFill>
                  </a:tcPr>
                </a:tc>
                <a:tc>
                  <a:txBody>
                    <a:bodyPr/>
                    <a:lstStyle/>
                    <a:p>
                      <a:pPr marL="0" indent="0">
                        <a:buNone/>
                      </a:pPr>
                      <a:r>
                        <a:rPr sz="1200">
                          <a:solidFill>
                            <a:srgbClr val="333333"/>
                          </a:solidFill>
                          <a:latin typeface="Arial"/>
                          <a:ea typeface="Arial"/>
                          <a:cs typeface="Arial"/>
                        </a:rPr>
                        <a:t>Abundant</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FFFFF"/>
                    </a:solidFill>
                  </a:tcPr>
                </a:tc>
                <a:tc>
                  <a:txBody>
                    <a:bodyPr/>
                    <a:lstStyle/>
                    <a:p>
                      <a:pPr marL="0" indent="0">
                        <a:buNone/>
                      </a:pPr>
                      <a:r>
                        <a:rPr sz="1200">
                          <a:solidFill>
                            <a:srgbClr val="333333"/>
                          </a:solidFill>
                          <a:latin typeface="Arial"/>
                          <a:ea typeface="Arial"/>
                          <a:cs typeface="Arial"/>
                        </a:rPr>
                        <a:t>Mature and growing</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FFFFF"/>
                    </a:solidFill>
                  </a:tcPr>
                </a:tc>
                <a:tc>
                  <a:txBody>
                    <a:bodyPr/>
                    <a:lstStyle/>
                    <a:p>
                      <a:pPr marL="0" indent="0">
                        <a:buNone/>
                      </a:pPr>
                      <a:r>
                        <a:rPr sz="1200">
                          <a:solidFill>
                            <a:srgbClr val="333333"/>
                          </a:solidFill>
                          <a:latin typeface="Arial"/>
                          <a:ea typeface="Arial"/>
                          <a:cs typeface="Arial"/>
                        </a:rPr>
                        <a:t>Mature in cloud-native</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FFFFF"/>
                    </a:solidFill>
                  </a:tcPr>
                </a:tc>
              </a:tr>
              <a:tr h="482600">
                <a:tc>
                  <a:txBody>
                    <a:bodyPr/>
                    <a:lstStyle/>
                    <a:p>
                      <a:pPr marL="0" indent="0">
                        <a:buNone/>
                      </a:pPr>
                      <a:r>
                        <a:rPr sz="1200" b="1">
                          <a:solidFill>
                            <a:srgbClr val="141414"/>
                          </a:solidFill>
                          <a:latin typeface="Arial"/>
                          <a:ea typeface="Arial"/>
                          <a:cs typeface="Arial"/>
                        </a:rPr>
                        <a:t>Typical use cases</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4F4F4"/>
                    </a:solidFill>
                  </a:tcPr>
                </a:tc>
                <a:tc>
                  <a:txBody>
                    <a:bodyPr/>
                    <a:lstStyle/>
                    <a:p>
                      <a:pPr marL="0" indent="0">
                        <a:buNone/>
                      </a:pPr>
                      <a:r>
                        <a:rPr sz="1200">
                          <a:solidFill>
                            <a:srgbClr val="333333"/>
                          </a:solidFill>
                          <a:latin typeface="Arial"/>
                          <a:ea typeface="Arial"/>
                          <a:cs typeface="Arial"/>
                        </a:rPr>
                        <a:t>Public APIs, identity, legacy integration</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4F4F4"/>
                    </a:solidFill>
                  </a:tcPr>
                </a:tc>
                <a:tc>
                  <a:txBody>
                    <a:bodyPr/>
                    <a:lstStyle/>
                    <a:p>
                      <a:pPr marL="0" indent="0">
                        <a:buNone/>
                      </a:pPr>
                      <a:r>
                        <a:rPr sz="1200">
                          <a:solidFill>
                            <a:srgbClr val="333333"/>
                          </a:solidFill>
                          <a:latin typeface="Arial"/>
                          <a:ea typeface="Arial"/>
                          <a:cs typeface="Arial"/>
                        </a:rPr>
                        <a:t>Mobile, BFFs, micro-frontends, multi-tenant</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4F4F4"/>
                    </a:solidFill>
                  </a:tcPr>
                </a:tc>
                <a:tc>
                  <a:txBody>
                    <a:bodyPr/>
                    <a:lstStyle/>
                    <a:p>
                      <a:pPr marL="0" indent="0">
                        <a:buNone/>
                      </a:pPr>
                      <a:r>
                        <a:rPr sz="1200">
                          <a:solidFill>
                            <a:srgbClr val="333333"/>
                          </a:solidFill>
                          <a:latin typeface="Arial"/>
                          <a:ea typeface="Arial"/>
                          <a:cs typeface="Arial"/>
                        </a:rPr>
                        <a:t>Microservices, IoT, real-time streams</a:t>
                      </a:r>
                      <a:endParaRPr sz="12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4F4F4"/>
                    </a:solidFill>
                  </a:tcPr>
                </a:tc>
              </a:tr>
            </a:tbl>
          </a:graphicData>
        </a:graphic>
      </p:graphicFrame>
    </p:spTree>
    <p:extLst>
      <p:ext uri="{BB962C8B-B14F-4D97-AF65-F5344CB8AC3E}">
        <p14:creationId xmlns:p14="http://schemas.microsoft.com/office/powerpoint/2010/main" val="1782677711"/>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2BBE2181-90CF-40A0-9534-65C6823211A3}"/>
              </a:ext>
            </a:extLst>
          </p:cNvPr>
          <p:cNvPicPr>
            <a:picLocks xmlns:a="http://schemas.openxmlformats.org/drawingml/2006/main" noChangeAspect="1"/>
          </p:cNvPicPr>
          <p:nvPr/>
        </p:nvPicPr>
        <p:blipFill>
          <a:blip xmlns:r="http://schemas.openxmlformats.org/officeDocument/2006/relationships" xmlns:a="http://schemas.openxmlformats.org/drawingml/2006/main" r:embed="R76383cda8dfd4287"/>
          <a:stretch xmlns:a="http://schemas.openxmlformats.org/drawingml/2006/main">
            <a:fillRect l="0" t="0" r="0" b="0"/>
          </a:stretch>
        </p:blipFill>
        <p:spPr>
          <a:xfrm xmlns:a="http://schemas.openxmlformats.org/drawingml/2006/main">
            <a:off x="508000" y="152400"/>
            <a:ext cx="990600" cy="40640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3AC30FC6-E3A9-41D3-BBC0-3E833C165ED8}"/>
              </a:ext>
            </a:extLst>
          </p:cNvPr>
          <p:cNvSpPr>
            <a:spLocks xmlns:a="http://schemas.openxmlformats.org/drawingml/2006/main" noGrp="1"/>
          </p:cNvSpPr>
          <p:nvPr/>
        </p:nvSpPr>
        <p:spPr>
          <a:xfrm xmlns:a="http://schemas.openxmlformats.org/drawingml/2006/main">
            <a:off x="3556000" y="406400"/>
            <a:ext cx="5080000" cy="190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110000"/>
              </a:lnSpc>
              <a:buNone/>
            </a:pPr>
            <a:r>
              <a:rPr sz="1000">
                <a:solidFill>
                  <a:srgbClr val="6B6B6B"/>
                </a:solidFill>
                <a:latin typeface="Arial"/>
                <a:ea typeface="Arial"/>
                <a:cs typeface="Arial"/>
              </a:rPr>
              <a:t>Protocol Studio  —  REST · GraphQL · gRPC</a:t>
            </a:r>
            <a:endParaRPr sz="1000"/>
          </a:p>
        </p:txBody>
      </p:sp>
      <p:sp>
        <p:nvSpPr>
          <p:cNvPr id="4" name="Text 1">
            <a:extLst xmlns:a="http://schemas.openxmlformats.org/drawingml/2006/main">
              <a:ext uri="{FF2B5EF4-FFF2-40B4-BE49-F238E27FC236}">
                <a16:creationId xmlns:a16="http://schemas.microsoft.com/office/drawing/2014/main" id="{531CA7E7-D87C-49B3-BA90-B2ACD3663CBA}"/>
              </a:ext>
            </a:extLst>
          </p:cNvPr>
          <p:cNvSpPr>
            <a:spLocks xmlns:a="http://schemas.openxmlformats.org/drawingml/2006/main" noGrp="1"/>
          </p:cNvSpPr>
          <p:nvPr/>
        </p:nvSpPr>
        <p:spPr>
          <a:xfrm xmlns:a="http://schemas.openxmlformats.org/drawingml/2006/main">
            <a:off x="6350000" y="406400"/>
            <a:ext cx="5334000" cy="190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ct val="110000"/>
              </a:lnSpc>
              <a:buNone/>
            </a:pPr>
            <a:r>
              <a:rPr sz="1000" b="1">
                <a:solidFill>
                  <a:srgbClr val="DA1884"/>
                </a:solidFill>
                <a:latin typeface="Arial"/>
                <a:ea typeface="Arial"/>
                <a:cs typeface="Arial"/>
              </a:rPr>
              <a:t>SECTION 03</a:t>
            </a:r>
            <a:endParaRPr sz="1000"/>
          </a:p>
        </p:txBody>
      </p:sp>
      <p:sp>
        <p:nvSpPr>
          <p:cNvPr id="5" name="Text 2">
            <a:extLst xmlns:a="http://schemas.openxmlformats.org/drawingml/2006/main">
              <a:ext uri="{FF2B5EF4-FFF2-40B4-BE49-F238E27FC236}">
                <a16:creationId xmlns:a16="http://schemas.microsoft.com/office/drawing/2014/main" id="{9FE413C5-4B55-4C1A-A536-A3DE4825018F}"/>
              </a:ext>
            </a:extLst>
          </p:cNvPr>
          <p:cNvSpPr>
            <a:spLocks xmlns:a="http://schemas.openxmlformats.org/drawingml/2006/main" noGrp="1"/>
          </p:cNvSpPr>
          <p:nvPr/>
        </p:nvSpPr>
        <p:spPr>
          <a:xfrm xmlns:a="http://schemas.openxmlformats.org/drawingml/2006/main">
            <a:off x="508000" y="6578600"/>
            <a:ext cx="8890000" cy="177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900">
                <a:solidFill>
                  <a:srgbClr val="9E9E9E"/>
                </a:solidFill>
                <a:latin typeface="Arial"/>
                <a:ea typeface="Arial"/>
                <a:cs typeface="Arial"/>
              </a:rPr>
              <a:t>Insight Proprietary &amp; Confidential.  Do Not Copy or Distribute.  © 2026 Insight.  All Rights Reserved.</a:t>
            </a:r>
            <a:endParaRPr sz="900"/>
          </a:p>
        </p:txBody>
      </p:sp>
      <p:sp>
        <p:nvSpPr>
          <p:cNvPr id="6" name="Text 3">
            <a:extLst xmlns:a="http://schemas.openxmlformats.org/drawingml/2006/main">
              <a:ext uri="{FF2B5EF4-FFF2-40B4-BE49-F238E27FC236}">
                <a16:creationId xmlns:a16="http://schemas.microsoft.com/office/drawing/2014/main" id="{83A3A293-D935-4631-AA05-F660EEE1336F}"/>
              </a:ext>
            </a:extLst>
          </p:cNvPr>
          <p:cNvSpPr>
            <a:spLocks xmlns:a="http://schemas.openxmlformats.org/drawingml/2006/main" noGrp="1"/>
          </p:cNvSpPr>
          <p:nvPr/>
        </p:nvSpPr>
        <p:spPr>
          <a:xfrm xmlns:a="http://schemas.openxmlformats.org/drawingml/2006/main">
            <a:off x="10922000" y="6578600"/>
            <a:ext cx="762000" cy="177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ct val="110000"/>
              </a:lnSpc>
              <a:buNone/>
            </a:pPr>
            <a:r>
              <a:rPr sz="900">
                <a:solidFill>
                  <a:srgbClr val="9E9E9E"/>
                </a:solidFill>
                <a:latin typeface="Arial"/>
                <a:ea typeface="Arial"/>
                <a:cs typeface="Arial"/>
              </a:rPr>
              <a:t>15</a:t>
            </a:r>
            <a:endParaRPr sz="900"/>
          </a:p>
        </p:txBody>
      </p:sp>
      <p:sp>
        <p:nvSpPr>
          <p:cNvPr id="7" name="Text 4">
            <a:extLst xmlns:a="http://schemas.openxmlformats.org/drawingml/2006/main">
              <a:ext uri="{FF2B5EF4-FFF2-40B4-BE49-F238E27FC236}">
                <a16:creationId xmlns:a16="http://schemas.microsoft.com/office/drawing/2014/main" id="{6DB3E511-52CE-48E0-B6F7-CE8B032EBC59}"/>
              </a:ext>
            </a:extLst>
          </p:cNvPr>
          <p:cNvSpPr>
            <a:spLocks xmlns:a="http://schemas.openxmlformats.org/drawingml/2006/main" noGrp="1"/>
          </p:cNvSpPr>
          <p:nvPr/>
        </p:nvSpPr>
        <p:spPr>
          <a:xfrm xmlns:a="http://schemas.openxmlformats.org/drawingml/2006/main">
            <a:off x="457200" y="1587500"/>
            <a:ext cx="5080000" cy="1651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90000"/>
              </a:lnSpc>
              <a:buNone/>
            </a:pPr>
            <a:r>
              <a:rPr sz="12000" b="1">
                <a:solidFill>
                  <a:srgbClr val="DA1884"/>
                </a:solidFill>
                <a:latin typeface="Arial"/>
                <a:ea typeface="Arial"/>
                <a:cs typeface="Arial"/>
              </a:rPr>
              <a:t>03</a:t>
            </a:r>
            <a:endParaRPr sz="12000"/>
          </a:p>
        </p:txBody>
      </p:sp>
      <p:sp>
        <p:nvSpPr>
          <p:cNvPr id="8" name="Text 5">
            <a:extLst xmlns:a="http://schemas.openxmlformats.org/drawingml/2006/main">
              <a:ext uri="{FF2B5EF4-FFF2-40B4-BE49-F238E27FC236}">
                <a16:creationId xmlns:a16="http://schemas.microsoft.com/office/drawing/2014/main" id="{5EC281E2-138E-49CC-9EFF-4808FF4B2F06}"/>
              </a:ext>
            </a:extLst>
          </p:cNvPr>
          <p:cNvSpPr>
            <a:spLocks xmlns:a="http://schemas.openxmlformats.org/drawingml/2006/main" noGrp="1"/>
          </p:cNvSpPr>
          <p:nvPr/>
        </p:nvSpPr>
        <p:spPr>
          <a:xfrm xmlns:a="http://schemas.openxmlformats.org/drawingml/2006/main">
            <a:off x="508000" y="3302000"/>
            <a:ext cx="5207000" cy="1320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0000"/>
              </a:lnSpc>
              <a:buNone/>
            </a:pPr>
            <a:r>
              <a:rPr sz="4400" b="1">
                <a:solidFill>
                  <a:srgbClr val="141414"/>
                </a:solidFill>
                <a:latin typeface="Arial"/>
                <a:ea typeface="Arial"/>
                <a:cs typeface="Arial"/>
              </a:rPr>
              <a:t>Demo &amp; Field Stories</a:t>
            </a:r>
            <a:endParaRPr sz="4400"/>
          </a:p>
        </p:txBody>
      </p:sp>
      <p:sp>
        <p:nvSpPr>
          <p:cNvPr id="9" name="Shape 6">
            <a:extLst xmlns:a="http://schemas.openxmlformats.org/drawingml/2006/main">
              <a:ext uri="{FF2B5EF4-FFF2-40B4-BE49-F238E27FC236}">
                <a16:creationId xmlns:a16="http://schemas.microsoft.com/office/drawing/2014/main" id="{8B3FFB3C-11ED-4DA9-86E3-E1B7F85194A6}"/>
              </a:ext>
            </a:extLst>
          </p:cNvPr>
          <p:cNvSpPr>
            <a:spLocks xmlns:a="http://schemas.openxmlformats.org/drawingml/2006/main" noGrp="1"/>
          </p:cNvSpPr>
          <p:nvPr/>
        </p:nvSpPr>
        <p:spPr>
          <a:xfrm xmlns:a="http://schemas.openxmlformats.org/drawingml/2006/main">
            <a:off x="508000" y="4800600"/>
            <a:ext cx="1016000" cy="50800"/>
          </a:xfrm>
          <a:prstGeom xmlns:a="http://schemas.openxmlformats.org/drawingml/2006/main" prst="rect">
            <a:avLst/>
          </a:prstGeom>
          <a:solidFill xmlns:a="http://schemas.openxmlformats.org/drawingml/2006/main">
            <a:srgbClr val="DA1884"/>
          </a:solidFill>
        </p:spPr>
        <p:txBody>
          <a:bodyPr xmlns:a="http://schemas.openxmlformats.org/drawingml/2006/main"/>
          <a:lstStyle xmlns:a="http://schemas.openxmlformats.org/drawingml/2006/main"/>
          <a:p xmlns:a="http://schemas.openxmlformats.org/drawingml/2006/main">
            <a:endParaRPr/>
          </a:p>
        </p:txBody>
      </p:sp>
      <p:sp>
        <p:nvSpPr>
          <p:cNvPr id="10" name="Text 7">
            <a:extLst xmlns:a="http://schemas.openxmlformats.org/drawingml/2006/main">
              <a:ext uri="{FF2B5EF4-FFF2-40B4-BE49-F238E27FC236}">
                <a16:creationId xmlns:a16="http://schemas.microsoft.com/office/drawing/2014/main" id="{162AE712-9355-459F-B6E3-BBCE3F7FF1AF}"/>
              </a:ext>
            </a:extLst>
          </p:cNvPr>
          <p:cNvSpPr>
            <a:spLocks xmlns:a="http://schemas.openxmlformats.org/drawingml/2006/main" noGrp="1"/>
          </p:cNvSpPr>
          <p:nvPr/>
        </p:nvSpPr>
        <p:spPr>
          <a:xfrm xmlns:a="http://schemas.openxmlformats.org/drawingml/2006/main">
            <a:off x="508000" y="5029200"/>
            <a:ext cx="5207000" cy="635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5000"/>
              </a:lnSpc>
              <a:buNone/>
            </a:pPr>
            <a:r>
              <a:rPr sz="1500">
                <a:solidFill>
                  <a:srgbClr val="6B6B6B"/>
                </a:solidFill>
                <a:latin typeface="Arial"/>
                <a:ea typeface="Arial"/>
                <a:cs typeface="Arial"/>
              </a:rPr>
              <a:t>Protocol Studio live, then where the choice mattered for clients.</a:t>
            </a:r>
            <a:endParaRPr sz="1500"/>
          </a:p>
        </p:txBody>
      </p:sp>
      <p:sp>
        <p:nvSpPr>
          <p:cNvPr id="11" name="Shape 8">
            <a:extLst xmlns:a="http://schemas.openxmlformats.org/drawingml/2006/main">
              <a:ext uri="{FF2B5EF4-FFF2-40B4-BE49-F238E27FC236}">
                <a16:creationId xmlns:a16="http://schemas.microsoft.com/office/drawing/2014/main" id="{788DB8FF-FC1F-4367-85BC-52D541CE8182}"/>
              </a:ext>
            </a:extLst>
          </p:cNvPr>
          <p:cNvSpPr>
            <a:spLocks xmlns:a="http://schemas.openxmlformats.org/drawingml/2006/main" noGrp="1"/>
          </p:cNvSpPr>
          <p:nvPr/>
        </p:nvSpPr>
        <p:spPr>
          <a:xfrm xmlns:a="http://schemas.openxmlformats.org/drawingml/2006/main">
            <a:off x="6223000" y="2654300"/>
            <a:ext cx="5461000" cy="2057400"/>
          </a:xfrm>
          <a:prstGeom xmlns:a="http://schemas.openxmlformats.org/drawingml/2006/main" prst="rect">
            <a:avLst/>
          </a:prstGeom>
          <a:solidFill xmlns:a="http://schemas.openxmlformats.org/drawingml/2006/main">
            <a:srgbClr val="F4F4F4"/>
          </a:solidFill>
          <a:effectLst xmlns:a="http://schemas.openxmlformats.org/drawingml/2006/main">
            <a:outerShdw blurRad="50800" dist="25400" dir="5400000" algn="bl" rotWithShape="0">
              <a:srgbClr val="000000">
                <a:alpha val="18000"/>
              </a:srgbClr>
            </a:outerShdw>
          </a:effectLst>
        </p:spPr>
        <p:txBody>
          <a:bodyPr xmlns:a="http://schemas.openxmlformats.org/drawingml/2006/main"/>
          <a:lstStyle xmlns:a="http://schemas.openxmlformats.org/drawingml/2006/main"/>
          <a:p xmlns:a="http://schemas.openxmlformats.org/drawingml/2006/main">
            <a:endParaRPr/>
          </a:p>
        </p:txBody>
      </p:sp>
      <p:sp>
        <p:nvSpPr>
          <p:cNvPr id="12" name="Shape 9">
            <a:extLst xmlns:a="http://schemas.openxmlformats.org/drawingml/2006/main">
              <a:ext uri="{FF2B5EF4-FFF2-40B4-BE49-F238E27FC236}">
                <a16:creationId xmlns:a16="http://schemas.microsoft.com/office/drawing/2014/main" id="{2473AE0D-F8DD-4DC2-877F-C1239F7C1F9A}"/>
              </a:ext>
            </a:extLst>
          </p:cNvPr>
          <p:cNvSpPr>
            <a:spLocks xmlns:a="http://schemas.openxmlformats.org/drawingml/2006/main" noGrp="1"/>
          </p:cNvSpPr>
          <p:nvPr/>
        </p:nvSpPr>
        <p:spPr>
          <a:xfrm xmlns:a="http://schemas.openxmlformats.org/drawingml/2006/main">
            <a:off x="6223000" y="2654300"/>
            <a:ext cx="5461000" cy="50800"/>
          </a:xfrm>
          <a:prstGeom xmlns:a="http://schemas.openxmlformats.org/drawingml/2006/main" prst="rect">
            <a:avLst/>
          </a:prstGeom>
          <a:solidFill xmlns:a="http://schemas.openxmlformats.org/drawingml/2006/main">
            <a:srgbClr val="DA1884"/>
          </a:solidFill>
        </p:spPr>
        <p:txBody>
          <a:bodyPr xmlns:a="http://schemas.openxmlformats.org/drawingml/2006/main"/>
          <a:lstStyle xmlns:a="http://schemas.openxmlformats.org/drawingml/2006/main"/>
          <a:p xmlns:a="http://schemas.openxmlformats.org/drawingml/2006/main">
            <a:endParaRPr/>
          </a:p>
        </p:txBody>
      </p:sp>
      <p:sp>
        <p:nvSpPr>
          <p:cNvPr id="13" name="Text 10">
            <a:extLst xmlns:a="http://schemas.openxmlformats.org/drawingml/2006/main">
              <a:ext uri="{FF2B5EF4-FFF2-40B4-BE49-F238E27FC236}">
                <a16:creationId xmlns:a16="http://schemas.microsoft.com/office/drawing/2014/main" id="{CC7D36DA-C5A0-4BF3-98C8-52D45A3B9B75}"/>
              </a:ext>
            </a:extLst>
          </p:cNvPr>
          <p:cNvSpPr>
            <a:spLocks xmlns:a="http://schemas.openxmlformats.org/drawingml/2006/main" noGrp="1"/>
          </p:cNvSpPr>
          <p:nvPr/>
        </p:nvSpPr>
        <p:spPr>
          <a:xfrm xmlns:a="http://schemas.openxmlformats.org/drawingml/2006/main">
            <a:off x="6477000" y="2882900"/>
            <a:ext cx="4953000" cy="2159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1200" b="1">
                <a:solidFill>
                  <a:srgbClr val="DA1884"/>
                </a:solidFill>
                <a:latin typeface="Arial"/>
                <a:ea typeface="Arial"/>
                <a:cs typeface="Arial"/>
              </a:rPr>
              <a:t>IN THIS SECTION</a:t>
            </a:r>
            <a:endParaRPr sz="1200"/>
          </a:p>
        </p:txBody>
      </p:sp>
      <p:sp>
        <p:nvSpPr>
          <p:cNvPr id="14" name="Text 11">
            <a:extLst xmlns:a="http://schemas.openxmlformats.org/drawingml/2006/main">
              <a:ext uri="{FF2B5EF4-FFF2-40B4-BE49-F238E27FC236}">
                <a16:creationId xmlns:a16="http://schemas.microsoft.com/office/drawing/2014/main" id="{92944637-8C7F-45B0-9FA7-32213F3A8220}"/>
              </a:ext>
            </a:extLst>
          </p:cNvPr>
          <p:cNvSpPr>
            <a:spLocks xmlns:a="http://schemas.openxmlformats.org/drawingml/2006/main" noGrp="1"/>
          </p:cNvSpPr>
          <p:nvPr/>
        </p:nvSpPr>
        <p:spPr>
          <a:xfrm xmlns:a="http://schemas.openxmlformats.org/drawingml/2006/main">
            <a:off x="6477000" y="3238500"/>
            <a:ext cx="4953000" cy="406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333333"/>
                </a:solidFill>
                <a:latin typeface="Arial"/>
                <a:ea typeface="Arial"/>
                <a:cs typeface="Arial"/>
              </a:rPr>
              <a:t>Live demo: three questions, three protocols</a:t>
            </a:r>
            <a:endParaRPr sz="1300"/>
          </a:p>
        </p:txBody>
      </p:sp>
      <p:sp>
        <p:nvSpPr>
          <p:cNvPr id="15" name="Text 12">
            <a:extLst xmlns:a="http://schemas.openxmlformats.org/drawingml/2006/main">
              <a:ext uri="{FF2B5EF4-FFF2-40B4-BE49-F238E27FC236}">
                <a16:creationId xmlns:a16="http://schemas.microsoft.com/office/drawing/2014/main" id="{3902F1EC-AA3B-4C4D-8152-DD1C8BC80302}"/>
              </a:ext>
            </a:extLst>
          </p:cNvPr>
          <p:cNvSpPr>
            <a:spLocks xmlns:a="http://schemas.openxmlformats.org/drawingml/2006/main" noGrp="1"/>
          </p:cNvSpPr>
          <p:nvPr/>
        </p:nvSpPr>
        <p:spPr>
          <a:xfrm xmlns:a="http://schemas.openxmlformats.org/drawingml/2006/main">
            <a:off x="6477000" y="3721100"/>
            <a:ext cx="4953000" cy="406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333333"/>
                </a:solidFill>
                <a:latin typeface="Arial"/>
                <a:ea typeface="Arial"/>
                <a:cs typeface="Arial"/>
              </a:rPr>
              <a:t>Large-scale distribution: REST and GraphQL</a:t>
            </a:r>
            <a:endParaRPr sz="1300"/>
          </a:p>
        </p:txBody>
      </p:sp>
      <p:sp>
        <p:nvSpPr>
          <p:cNvPr id="16" name="Text 13">
            <a:extLst xmlns:a="http://schemas.openxmlformats.org/drawingml/2006/main">
              <a:ext uri="{FF2B5EF4-FFF2-40B4-BE49-F238E27FC236}">
                <a16:creationId xmlns:a16="http://schemas.microsoft.com/office/drawing/2014/main" id="{37CC10C4-13D4-4BE0-B8CF-833DF44DF858}"/>
              </a:ext>
            </a:extLst>
          </p:cNvPr>
          <p:cNvSpPr>
            <a:spLocks xmlns:a="http://schemas.openxmlformats.org/drawingml/2006/main" noGrp="1"/>
          </p:cNvSpPr>
          <p:nvPr/>
        </p:nvSpPr>
        <p:spPr>
          <a:xfrm xmlns:a="http://schemas.openxmlformats.org/drawingml/2006/main">
            <a:off x="6477000" y="4203700"/>
            <a:ext cx="4953000" cy="406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333333"/>
                </a:solidFill>
                <a:latin typeface="Arial"/>
                <a:ea typeface="Arial"/>
                <a:cs typeface="Arial"/>
              </a:rPr>
              <a:t>Global retail coffee: gRPC at the edge</a:t>
            </a:r>
            <a:endParaRPr sz="1300"/>
          </a:p>
        </p:txBody>
      </p:sp>
    </p:spTree>
    <p:extLst>
      <p:ext uri="{BB962C8B-B14F-4D97-AF65-F5344CB8AC3E}">
        <p14:creationId xmlns:p14="http://schemas.microsoft.com/office/powerpoint/2010/main" val="79573955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0AE5F1A3-9511-433D-A88B-AEC019E4CA64}"/>
              </a:ext>
            </a:extLst>
          </p:cNvPr>
          <p:cNvPicPr>
            <a:picLocks xmlns:a="http://schemas.openxmlformats.org/drawingml/2006/main" noChangeAspect="1"/>
          </p:cNvPicPr>
          <p:nvPr/>
        </p:nvPicPr>
        <p:blipFill>
          <a:blip xmlns:r="http://schemas.openxmlformats.org/officeDocument/2006/relationships" xmlns:a="http://schemas.openxmlformats.org/drawingml/2006/main" r:embed="Rd147e93130fc48bd"/>
          <a:stretch xmlns:a="http://schemas.openxmlformats.org/drawingml/2006/main">
            <a:fillRect l="0" t="0" r="0" b="0"/>
          </a:stretch>
        </p:blipFill>
        <p:spPr>
          <a:xfrm xmlns:a="http://schemas.openxmlformats.org/drawingml/2006/main">
            <a:off x="508000" y="152400"/>
            <a:ext cx="990600" cy="40640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898B8EEB-F348-4407-A60D-457E8DFCF57D}"/>
              </a:ext>
            </a:extLst>
          </p:cNvPr>
          <p:cNvSpPr>
            <a:spLocks xmlns:a="http://schemas.openxmlformats.org/drawingml/2006/main" noGrp="1"/>
          </p:cNvSpPr>
          <p:nvPr/>
        </p:nvSpPr>
        <p:spPr>
          <a:xfrm xmlns:a="http://schemas.openxmlformats.org/drawingml/2006/main">
            <a:off x="3556000" y="406400"/>
            <a:ext cx="5080000" cy="190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110000"/>
              </a:lnSpc>
              <a:buNone/>
            </a:pPr>
            <a:r>
              <a:rPr sz="1000">
                <a:solidFill>
                  <a:srgbClr val="6B6B6B"/>
                </a:solidFill>
                <a:latin typeface="Arial"/>
                <a:ea typeface="Arial"/>
                <a:cs typeface="Arial"/>
              </a:rPr>
              <a:t>Protocol Studio  —  REST · GraphQL · gRPC</a:t>
            </a:r>
            <a:endParaRPr sz="1000"/>
          </a:p>
        </p:txBody>
      </p:sp>
      <p:sp>
        <p:nvSpPr>
          <p:cNvPr id="4" name="Text 1">
            <a:extLst xmlns:a="http://schemas.openxmlformats.org/drawingml/2006/main">
              <a:ext uri="{FF2B5EF4-FFF2-40B4-BE49-F238E27FC236}">
                <a16:creationId xmlns:a16="http://schemas.microsoft.com/office/drawing/2014/main" id="{10D42B30-5A70-4FFE-90B2-AD27F0D44B1C}"/>
              </a:ext>
            </a:extLst>
          </p:cNvPr>
          <p:cNvSpPr>
            <a:spLocks xmlns:a="http://schemas.openxmlformats.org/drawingml/2006/main" noGrp="1"/>
          </p:cNvSpPr>
          <p:nvPr/>
        </p:nvSpPr>
        <p:spPr>
          <a:xfrm xmlns:a="http://schemas.openxmlformats.org/drawingml/2006/main">
            <a:off x="6350000" y="406400"/>
            <a:ext cx="5334000" cy="190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ct val="110000"/>
              </a:lnSpc>
              <a:buNone/>
            </a:pPr>
            <a:r>
              <a:rPr sz="1000" b="1">
                <a:solidFill>
                  <a:srgbClr val="DA1884"/>
                </a:solidFill>
                <a:latin typeface="Arial"/>
                <a:ea typeface="Arial"/>
                <a:cs typeface="Arial"/>
              </a:rPr>
              <a:t>LIVE DEMO</a:t>
            </a:r>
            <a:endParaRPr sz="1000"/>
          </a:p>
        </p:txBody>
      </p:sp>
      <p:sp>
        <p:nvSpPr>
          <p:cNvPr id="5" name="Text 2">
            <a:extLst xmlns:a="http://schemas.openxmlformats.org/drawingml/2006/main">
              <a:ext uri="{FF2B5EF4-FFF2-40B4-BE49-F238E27FC236}">
                <a16:creationId xmlns:a16="http://schemas.microsoft.com/office/drawing/2014/main" id="{147463B8-476D-4AB7-9E74-F3317268F031}"/>
              </a:ext>
            </a:extLst>
          </p:cNvPr>
          <p:cNvSpPr>
            <a:spLocks xmlns:a="http://schemas.openxmlformats.org/drawingml/2006/main" noGrp="1"/>
          </p:cNvSpPr>
          <p:nvPr/>
        </p:nvSpPr>
        <p:spPr>
          <a:xfrm xmlns:a="http://schemas.openxmlformats.org/drawingml/2006/main">
            <a:off x="508000" y="6578600"/>
            <a:ext cx="8890000" cy="177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900">
                <a:solidFill>
                  <a:srgbClr val="9E9E9E"/>
                </a:solidFill>
                <a:latin typeface="Arial"/>
                <a:ea typeface="Arial"/>
                <a:cs typeface="Arial"/>
              </a:rPr>
              <a:t>Insight Proprietary &amp; Confidential.  Do Not Copy or Distribute.  © 2026 Insight.  All Rights Reserved.</a:t>
            </a:r>
            <a:endParaRPr sz="900"/>
          </a:p>
        </p:txBody>
      </p:sp>
      <p:sp>
        <p:nvSpPr>
          <p:cNvPr id="6" name="Text 3">
            <a:extLst xmlns:a="http://schemas.openxmlformats.org/drawingml/2006/main">
              <a:ext uri="{FF2B5EF4-FFF2-40B4-BE49-F238E27FC236}">
                <a16:creationId xmlns:a16="http://schemas.microsoft.com/office/drawing/2014/main" id="{2815A659-1EA2-409E-8DEA-61C601F6C49F}"/>
              </a:ext>
            </a:extLst>
          </p:cNvPr>
          <p:cNvSpPr>
            <a:spLocks xmlns:a="http://schemas.openxmlformats.org/drawingml/2006/main" noGrp="1"/>
          </p:cNvSpPr>
          <p:nvPr/>
        </p:nvSpPr>
        <p:spPr>
          <a:xfrm xmlns:a="http://schemas.openxmlformats.org/drawingml/2006/main">
            <a:off x="10922000" y="6578600"/>
            <a:ext cx="762000" cy="177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ct val="110000"/>
              </a:lnSpc>
              <a:buNone/>
            </a:pPr>
            <a:r>
              <a:rPr sz="900">
                <a:solidFill>
                  <a:srgbClr val="9E9E9E"/>
                </a:solidFill>
                <a:latin typeface="Arial"/>
                <a:ea typeface="Arial"/>
                <a:cs typeface="Arial"/>
              </a:rPr>
              <a:t>16</a:t>
            </a:r>
            <a:endParaRPr sz="900"/>
          </a:p>
        </p:txBody>
      </p:sp>
      <p:sp>
        <p:nvSpPr>
          <p:cNvPr id="7" name="Text 4">
            <a:extLst xmlns:a="http://schemas.openxmlformats.org/drawingml/2006/main">
              <a:ext uri="{FF2B5EF4-FFF2-40B4-BE49-F238E27FC236}">
                <a16:creationId xmlns:a16="http://schemas.microsoft.com/office/drawing/2014/main" id="{8FBF82B2-B04D-407D-AE7B-2C258EF25CA5}"/>
              </a:ext>
            </a:extLst>
          </p:cNvPr>
          <p:cNvSpPr>
            <a:spLocks xmlns:a="http://schemas.openxmlformats.org/drawingml/2006/main" noGrp="1"/>
          </p:cNvSpPr>
          <p:nvPr/>
        </p:nvSpPr>
        <p:spPr>
          <a:xfrm xmlns:a="http://schemas.openxmlformats.org/drawingml/2006/main">
            <a:off x="508000" y="889000"/>
            <a:ext cx="11176000" cy="2159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1200" b="1">
                <a:solidFill>
                  <a:srgbClr val="DA1884"/>
                </a:solidFill>
                <a:latin typeface="Arial"/>
                <a:ea typeface="Arial"/>
                <a:cs typeface="Arial"/>
              </a:rPr>
              <a:t>LIVE DEMO</a:t>
            </a:r>
            <a:endParaRPr sz="1200"/>
          </a:p>
        </p:txBody>
      </p:sp>
      <p:sp>
        <p:nvSpPr>
          <p:cNvPr id="8" name="Text 5">
            <a:extLst xmlns:a="http://schemas.openxmlformats.org/drawingml/2006/main">
              <a:ext uri="{FF2B5EF4-FFF2-40B4-BE49-F238E27FC236}">
                <a16:creationId xmlns:a16="http://schemas.microsoft.com/office/drawing/2014/main" id="{264CEC44-61D3-445F-A145-9B27A01E7982}"/>
              </a:ext>
            </a:extLst>
          </p:cNvPr>
          <p:cNvSpPr>
            <a:spLocks xmlns:a="http://schemas.openxmlformats.org/drawingml/2006/main" noGrp="1"/>
          </p:cNvSpPr>
          <p:nvPr/>
        </p:nvSpPr>
        <p:spPr>
          <a:xfrm xmlns:a="http://schemas.openxmlformats.org/drawingml/2006/main">
            <a:off x="508000" y="1130300"/>
            <a:ext cx="11176000" cy="482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3000" b="1">
                <a:solidFill>
                  <a:srgbClr val="141414"/>
                </a:solidFill>
                <a:latin typeface="Arial"/>
                <a:ea typeface="Arial"/>
                <a:cs typeface="Arial"/>
              </a:rPr>
              <a:t>Demo: Let's Get Into the Code</a:t>
            </a:r>
            <a:endParaRPr sz="3000"/>
          </a:p>
        </p:txBody>
      </p:sp>
      <p:sp>
        <p:nvSpPr>
          <p:cNvPr id="9" name="Text 6">
            <a:extLst xmlns:a="http://schemas.openxmlformats.org/drawingml/2006/main">
              <a:ext uri="{FF2B5EF4-FFF2-40B4-BE49-F238E27FC236}">
                <a16:creationId xmlns:a16="http://schemas.microsoft.com/office/drawing/2014/main" id="{2D7F2EDD-9F7E-4117-AF05-EA4E21321974}"/>
              </a:ext>
            </a:extLst>
          </p:cNvPr>
          <p:cNvSpPr>
            <a:spLocks xmlns:a="http://schemas.openxmlformats.org/drawingml/2006/main" noGrp="1"/>
          </p:cNvSpPr>
          <p:nvPr/>
        </p:nvSpPr>
        <p:spPr>
          <a:xfrm xmlns:a="http://schemas.openxmlformats.org/drawingml/2006/main">
            <a:off x="508000" y="1663700"/>
            <a:ext cx="11176000"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1400">
                <a:solidFill>
                  <a:srgbClr val="6B6B6B"/>
                </a:solidFill>
                <a:latin typeface="Arial"/>
                <a:ea typeface="Arial"/>
                <a:cs typeface="Arial"/>
              </a:rPr>
              <a:t>Ask a question, see the protocol and why it fits, then inspect the real request and response.</a:t>
            </a:r>
            <a:endParaRPr sz="1400"/>
          </a:p>
        </p:txBody>
      </p:sp>
      <p:sp>
        <p:nvSpPr>
          <p:cNvPr id="11" name="Shape 7">
            <a:extLst xmlns:a="http://schemas.openxmlformats.org/drawingml/2006/main">
              <a:ext uri="{FF2B5EF4-FFF2-40B4-BE49-F238E27FC236}">
                <a16:creationId xmlns:a16="http://schemas.microsoft.com/office/drawing/2014/main" id="{10749DD9-FB88-4E32-9CC9-D3160DB993C6}"/>
              </a:ext>
            </a:extLst>
          </p:cNvPr>
          <p:cNvSpPr>
            <a:spLocks xmlns:a="http://schemas.openxmlformats.org/drawingml/2006/main" noGrp="1"/>
          </p:cNvSpPr>
          <p:nvPr/>
        </p:nvSpPr>
        <p:spPr>
          <a:xfrm xmlns:a="http://schemas.openxmlformats.org/drawingml/2006/main">
            <a:off x="508000" y="2159000"/>
            <a:ext cx="3587750" cy="2540000"/>
          </a:xfrm>
          <a:prstGeom xmlns:a="http://schemas.openxmlformats.org/drawingml/2006/main" prst="rect">
            <a:avLst/>
          </a:prstGeom>
          <a:solidFill xmlns:a="http://schemas.openxmlformats.org/drawingml/2006/main">
            <a:srgbClr val="F4F4F4"/>
          </a:solidFill>
          <a:effectLst xmlns:a="http://schemas.openxmlformats.org/drawingml/2006/main">
            <a:outerShdw blurRad="50800" dist="25400" dir="5400000" algn="bl" rotWithShape="0">
              <a:srgbClr val="000000">
                <a:alpha val="18000"/>
              </a:srgbClr>
            </a:outerShdw>
          </a:effectLst>
        </p:spPr>
        <p:txBody>
          <a:bodyPr xmlns:a="http://schemas.openxmlformats.org/drawingml/2006/main"/>
          <a:lstStyle xmlns:a="http://schemas.openxmlformats.org/drawingml/2006/main"/>
          <a:p xmlns:a="http://schemas.openxmlformats.org/drawingml/2006/main">
            <a:endParaRPr/>
          </a:p>
        </p:txBody>
      </p:sp>
      <p:sp>
        <p:nvSpPr>
          <p:cNvPr id="12" name="Shape 8">
            <a:extLst xmlns:a="http://schemas.openxmlformats.org/drawingml/2006/main">
              <a:ext uri="{FF2B5EF4-FFF2-40B4-BE49-F238E27FC236}">
                <a16:creationId xmlns:a16="http://schemas.microsoft.com/office/drawing/2014/main" id="{3FEF5379-B820-4D84-9C2D-C7C38B397771}"/>
              </a:ext>
            </a:extLst>
          </p:cNvPr>
          <p:cNvSpPr>
            <a:spLocks xmlns:a="http://schemas.openxmlformats.org/drawingml/2006/main" noGrp="1"/>
          </p:cNvSpPr>
          <p:nvPr/>
        </p:nvSpPr>
        <p:spPr>
          <a:xfrm xmlns:a="http://schemas.openxmlformats.org/drawingml/2006/main">
            <a:off x="508000" y="2159000"/>
            <a:ext cx="3587750" cy="50800"/>
          </a:xfrm>
          <a:prstGeom xmlns:a="http://schemas.openxmlformats.org/drawingml/2006/main" prst="rect">
            <a:avLst/>
          </a:prstGeom>
          <a:solidFill xmlns:a="http://schemas.openxmlformats.org/drawingml/2006/main">
            <a:srgbClr val="DA1884"/>
          </a:solidFill>
        </p:spPr>
        <p:txBody>
          <a:bodyPr xmlns:a="http://schemas.openxmlformats.org/drawingml/2006/main"/>
          <a:lstStyle xmlns:a="http://schemas.openxmlformats.org/drawingml/2006/main"/>
          <a:p xmlns:a="http://schemas.openxmlformats.org/drawingml/2006/main">
            <a:endParaRPr/>
          </a:p>
        </p:txBody>
      </p:sp>
      <p:sp>
        <p:nvSpPr>
          <p:cNvPr id="13" name="Text 9">
            <a:extLst xmlns:a="http://schemas.openxmlformats.org/drawingml/2006/main">
              <a:ext uri="{FF2B5EF4-FFF2-40B4-BE49-F238E27FC236}">
                <a16:creationId xmlns:a16="http://schemas.microsoft.com/office/drawing/2014/main" id="{48C9D11A-E77C-4C61-847B-CB7D2277350C}"/>
              </a:ext>
            </a:extLst>
          </p:cNvPr>
          <p:cNvSpPr>
            <a:spLocks xmlns:a="http://schemas.openxmlformats.org/drawingml/2006/main" noGrp="1"/>
          </p:cNvSpPr>
          <p:nvPr/>
        </p:nvSpPr>
        <p:spPr>
          <a:xfrm xmlns:a="http://schemas.openxmlformats.org/drawingml/2006/main">
            <a:off x="736600" y="2387600"/>
            <a:ext cx="3130550" cy="2133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15000"/>
              </a:lnSpc>
              <a:spcAft>
                <a:spcPts val="800"/>
              </a:spcAft>
              <a:buNone/>
            </a:pPr>
            <a:r>
              <a:rPr sz="1200" b="1">
                <a:solidFill>
                  <a:srgbClr val="DA1884"/>
                </a:solidFill>
                <a:latin typeface="Arial"/>
                <a:ea typeface="Arial"/>
                <a:cs typeface="Arial"/>
              </a:rPr>
              <a:t>REST · SIMPLE LOOKUP</a:t>
            </a:r>
            <a:endParaRPr sz="1200"/>
          </a:p>
          <a:p xmlns:a="http://schemas.openxmlformats.org/drawingml/2006/main">
            <a:pPr marL="0" indent="0">
              <a:lnSpc>
                <a:spcPct val="115000"/>
              </a:lnSpc>
              <a:spcAft>
                <a:spcPts val="800"/>
              </a:spcAft>
              <a:buNone/>
            </a:pPr>
            <a:r>
              <a:rPr sz="1500" b="1">
                <a:solidFill>
                  <a:srgbClr val="141414"/>
                </a:solidFill>
                <a:latin typeface="Arial"/>
                <a:ea typeface="Arial"/>
                <a:cs typeface="Arial"/>
              </a:rPr>
              <a:t>“Tell me about the Millennium Falcon.”</a:t>
            </a:r>
            <a:endParaRPr sz="1200"/>
          </a:p>
          <a:p xmlns:a="http://schemas.openxmlformats.org/drawingml/2006/main">
            <a:pPr marL="0" indent="0">
              <a:lnSpc>
                <a:spcPct val="115000"/>
              </a:lnSpc>
              <a:buNone/>
            </a:pPr>
            <a:r>
              <a:rPr sz="1200">
                <a:solidFill>
                  <a:srgbClr val="333333"/>
                </a:solidFill>
                <a:latin typeface="Arial"/>
                <a:ea typeface="Arial"/>
                <a:cs typeface="Arial"/>
              </a:rPr>
              <a:t>Routes to GET /api/catalog/starships/ship:5 and returns a cacheable JSON body.</a:t>
            </a:r>
            <a:endParaRPr sz="1200"/>
          </a:p>
        </p:txBody>
      </p:sp>
      <p:sp>
        <p:nvSpPr>
          <p:cNvPr id="14" name="Shape 10">
            <a:extLst xmlns:a="http://schemas.openxmlformats.org/drawingml/2006/main">
              <a:ext uri="{FF2B5EF4-FFF2-40B4-BE49-F238E27FC236}">
                <a16:creationId xmlns:a16="http://schemas.microsoft.com/office/drawing/2014/main" id="{A6914ED6-C2DB-482F-97B1-4B0021D53761}"/>
              </a:ext>
            </a:extLst>
          </p:cNvPr>
          <p:cNvSpPr>
            <a:spLocks xmlns:a="http://schemas.openxmlformats.org/drawingml/2006/main" noGrp="1"/>
          </p:cNvSpPr>
          <p:nvPr/>
        </p:nvSpPr>
        <p:spPr>
          <a:xfrm xmlns:a="http://schemas.openxmlformats.org/drawingml/2006/main">
            <a:off x="4298950" y="2159000"/>
            <a:ext cx="3587750" cy="2540000"/>
          </a:xfrm>
          <a:prstGeom xmlns:a="http://schemas.openxmlformats.org/drawingml/2006/main" prst="rect">
            <a:avLst/>
          </a:prstGeom>
          <a:solidFill xmlns:a="http://schemas.openxmlformats.org/drawingml/2006/main">
            <a:srgbClr val="F4F4F4"/>
          </a:solidFill>
          <a:effectLst xmlns:a="http://schemas.openxmlformats.org/drawingml/2006/main">
            <a:outerShdw blurRad="50800" dist="25400" dir="5400000" algn="bl" rotWithShape="0">
              <a:srgbClr val="000000">
                <a:alpha val="18000"/>
              </a:srgbClr>
            </a:outerShdw>
          </a:effectLst>
        </p:spPr>
        <p:txBody>
          <a:bodyPr xmlns:a="http://schemas.openxmlformats.org/drawingml/2006/main"/>
          <a:lstStyle xmlns:a="http://schemas.openxmlformats.org/drawingml/2006/main"/>
          <a:p xmlns:a="http://schemas.openxmlformats.org/drawingml/2006/main">
            <a:endParaRPr/>
          </a:p>
        </p:txBody>
      </p:sp>
      <p:sp>
        <p:nvSpPr>
          <p:cNvPr id="15" name="Shape 11">
            <a:extLst xmlns:a="http://schemas.openxmlformats.org/drawingml/2006/main">
              <a:ext uri="{FF2B5EF4-FFF2-40B4-BE49-F238E27FC236}">
                <a16:creationId xmlns:a16="http://schemas.microsoft.com/office/drawing/2014/main" id="{C2684F43-5210-4048-A227-EB5770FBEBAC}"/>
              </a:ext>
            </a:extLst>
          </p:cNvPr>
          <p:cNvSpPr>
            <a:spLocks xmlns:a="http://schemas.openxmlformats.org/drawingml/2006/main" noGrp="1"/>
          </p:cNvSpPr>
          <p:nvPr/>
        </p:nvSpPr>
        <p:spPr>
          <a:xfrm xmlns:a="http://schemas.openxmlformats.org/drawingml/2006/main">
            <a:off x="4298950" y="2159000"/>
            <a:ext cx="3587750" cy="50800"/>
          </a:xfrm>
          <a:prstGeom xmlns:a="http://schemas.openxmlformats.org/drawingml/2006/main" prst="rect">
            <a:avLst/>
          </a:prstGeom>
          <a:solidFill xmlns:a="http://schemas.openxmlformats.org/drawingml/2006/main">
            <a:srgbClr val="DA1884"/>
          </a:solidFill>
        </p:spPr>
        <p:txBody>
          <a:bodyPr xmlns:a="http://schemas.openxmlformats.org/drawingml/2006/main"/>
          <a:lstStyle xmlns:a="http://schemas.openxmlformats.org/drawingml/2006/main"/>
          <a:p xmlns:a="http://schemas.openxmlformats.org/drawingml/2006/main">
            <a:endParaRPr/>
          </a:p>
        </p:txBody>
      </p:sp>
      <p:sp>
        <p:nvSpPr>
          <p:cNvPr id="16" name="Text 12">
            <a:extLst xmlns:a="http://schemas.openxmlformats.org/drawingml/2006/main">
              <a:ext uri="{FF2B5EF4-FFF2-40B4-BE49-F238E27FC236}">
                <a16:creationId xmlns:a16="http://schemas.microsoft.com/office/drawing/2014/main" id="{BBE30D59-2134-4480-86C0-4040FCAE421B}"/>
              </a:ext>
            </a:extLst>
          </p:cNvPr>
          <p:cNvSpPr>
            <a:spLocks xmlns:a="http://schemas.openxmlformats.org/drawingml/2006/main" noGrp="1"/>
          </p:cNvSpPr>
          <p:nvPr/>
        </p:nvSpPr>
        <p:spPr>
          <a:xfrm xmlns:a="http://schemas.openxmlformats.org/drawingml/2006/main">
            <a:off x="4527550" y="2387600"/>
            <a:ext cx="3130550" cy="2133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15000"/>
              </a:lnSpc>
              <a:spcAft>
                <a:spcPts val="800"/>
              </a:spcAft>
              <a:buNone/>
            </a:pPr>
            <a:r>
              <a:rPr sz="1200" b="1">
                <a:solidFill>
                  <a:srgbClr val="DA1884"/>
                </a:solidFill>
                <a:latin typeface="Arial"/>
                <a:ea typeface="Arial"/>
                <a:cs typeface="Arial"/>
              </a:rPr>
              <a:t>GRAPHQL · RELATIONSHIPS</a:t>
            </a:r>
            <a:endParaRPr sz="1200"/>
          </a:p>
          <a:p xmlns:a="http://schemas.openxmlformats.org/drawingml/2006/main">
            <a:pPr marL="0" indent="0">
              <a:lnSpc>
                <a:spcPct val="115000"/>
              </a:lnSpc>
              <a:spcAft>
                <a:spcPts val="800"/>
              </a:spcAft>
              <a:buNone/>
            </a:pPr>
            <a:r>
              <a:rPr sz="1500" b="1">
                <a:solidFill>
                  <a:srgbClr val="141414"/>
                </a:solidFill>
                <a:latin typeface="Arial"/>
                <a:ea typeface="Arial"/>
                <a:cs typeface="Arial"/>
              </a:rPr>
              <a:t>“Who flew the Millennium Falcon in A New Hope?”</a:t>
            </a:r>
            <a:endParaRPr sz="1200"/>
          </a:p>
          <a:p xmlns:a="http://schemas.openxmlformats.org/drawingml/2006/main">
            <a:pPr marL="0" indent="0">
              <a:lnSpc>
                <a:spcPct val="115000"/>
              </a:lnSpc>
              <a:buNone/>
            </a:pPr>
            <a:r>
              <a:rPr sz="1200">
                <a:solidFill>
                  <a:srgbClr val="333333"/>
                </a:solidFill>
                <a:latin typeface="Arial"/>
                <a:ea typeface="Arial"/>
                <a:cs typeface="Arial"/>
              </a:rPr>
              <a:t>Returns Han Solo as pilot and Chewbacca as co-pilot through query ExploreStarships.</a:t>
            </a:r>
            <a:endParaRPr sz="1200"/>
          </a:p>
        </p:txBody>
      </p:sp>
      <p:sp>
        <p:nvSpPr>
          <p:cNvPr id="17" name="Shape 13">
            <a:extLst xmlns:a="http://schemas.openxmlformats.org/drawingml/2006/main">
              <a:ext uri="{FF2B5EF4-FFF2-40B4-BE49-F238E27FC236}">
                <a16:creationId xmlns:a16="http://schemas.microsoft.com/office/drawing/2014/main" id="{8347EEE1-46C5-4A61-990E-76F790EB1BA7}"/>
              </a:ext>
            </a:extLst>
          </p:cNvPr>
          <p:cNvSpPr>
            <a:spLocks xmlns:a="http://schemas.openxmlformats.org/drawingml/2006/main" noGrp="1"/>
          </p:cNvSpPr>
          <p:nvPr/>
        </p:nvSpPr>
        <p:spPr>
          <a:xfrm xmlns:a="http://schemas.openxmlformats.org/drawingml/2006/main">
            <a:off x="8089900" y="2159000"/>
            <a:ext cx="3587750" cy="2540000"/>
          </a:xfrm>
          <a:prstGeom xmlns:a="http://schemas.openxmlformats.org/drawingml/2006/main" prst="rect">
            <a:avLst/>
          </a:prstGeom>
          <a:solidFill xmlns:a="http://schemas.openxmlformats.org/drawingml/2006/main">
            <a:srgbClr val="F4F4F4"/>
          </a:solidFill>
          <a:effectLst xmlns:a="http://schemas.openxmlformats.org/drawingml/2006/main">
            <a:outerShdw blurRad="50800" dist="25400" dir="5400000" algn="bl" rotWithShape="0">
              <a:srgbClr val="000000">
                <a:alpha val="18000"/>
              </a:srgbClr>
            </a:outerShdw>
          </a:effectLst>
        </p:spPr>
        <p:txBody>
          <a:bodyPr xmlns:a="http://schemas.openxmlformats.org/drawingml/2006/main"/>
          <a:lstStyle xmlns:a="http://schemas.openxmlformats.org/drawingml/2006/main"/>
          <a:p xmlns:a="http://schemas.openxmlformats.org/drawingml/2006/main">
            <a:endParaRPr/>
          </a:p>
        </p:txBody>
      </p:sp>
      <p:sp>
        <p:nvSpPr>
          <p:cNvPr id="18" name="Shape 14">
            <a:extLst xmlns:a="http://schemas.openxmlformats.org/drawingml/2006/main">
              <a:ext uri="{FF2B5EF4-FFF2-40B4-BE49-F238E27FC236}">
                <a16:creationId xmlns:a16="http://schemas.microsoft.com/office/drawing/2014/main" id="{68686AB8-0A9A-4794-9A1B-CD552D746C5C}"/>
              </a:ext>
            </a:extLst>
          </p:cNvPr>
          <p:cNvSpPr>
            <a:spLocks xmlns:a="http://schemas.openxmlformats.org/drawingml/2006/main" noGrp="1"/>
          </p:cNvSpPr>
          <p:nvPr/>
        </p:nvSpPr>
        <p:spPr>
          <a:xfrm xmlns:a="http://schemas.openxmlformats.org/drawingml/2006/main">
            <a:off x="8089900" y="2159000"/>
            <a:ext cx="3587750" cy="50800"/>
          </a:xfrm>
          <a:prstGeom xmlns:a="http://schemas.openxmlformats.org/drawingml/2006/main" prst="rect">
            <a:avLst/>
          </a:prstGeom>
          <a:solidFill xmlns:a="http://schemas.openxmlformats.org/drawingml/2006/main">
            <a:srgbClr val="DA1884"/>
          </a:solidFill>
        </p:spPr>
        <p:txBody>
          <a:bodyPr xmlns:a="http://schemas.openxmlformats.org/drawingml/2006/main"/>
          <a:lstStyle xmlns:a="http://schemas.openxmlformats.org/drawingml/2006/main"/>
          <a:p xmlns:a="http://schemas.openxmlformats.org/drawingml/2006/main">
            <a:endParaRPr/>
          </a:p>
        </p:txBody>
      </p:sp>
      <p:sp>
        <p:nvSpPr>
          <p:cNvPr id="19" name="Text 15">
            <a:extLst xmlns:a="http://schemas.openxmlformats.org/drawingml/2006/main">
              <a:ext uri="{FF2B5EF4-FFF2-40B4-BE49-F238E27FC236}">
                <a16:creationId xmlns:a16="http://schemas.microsoft.com/office/drawing/2014/main" id="{6D16009E-5D46-46E8-83E8-1A08067772B5}"/>
              </a:ext>
            </a:extLst>
          </p:cNvPr>
          <p:cNvSpPr>
            <a:spLocks xmlns:a="http://schemas.openxmlformats.org/drawingml/2006/main" noGrp="1"/>
          </p:cNvSpPr>
          <p:nvPr/>
        </p:nvSpPr>
        <p:spPr>
          <a:xfrm xmlns:a="http://schemas.openxmlformats.org/drawingml/2006/main">
            <a:off x="8318500" y="2387600"/>
            <a:ext cx="3130550" cy="2133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15000"/>
              </a:lnSpc>
              <a:spcAft>
                <a:spcPts val="800"/>
              </a:spcAft>
              <a:buNone/>
            </a:pPr>
            <a:r>
              <a:rPr sz="1200" b="1">
                <a:solidFill>
                  <a:srgbClr val="DA1884"/>
                </a:solidFill>
                <a:latin typeface="Arial"/>
                <a:ea typeface="Arial"/>
                <a:cs typeface="Arial"/>
              </a:rPr>
              <a:t>GRPC · STREAMING</a:t>
            </a:r>
            <a:endParaRPr sz="1200"/>
          </a:p>
          <a:p xmlns:a="http://schemas.openxmlformats.org/drawingml/2006/main">
            <a:pPr marL="0" indent="0">
              <a:lnSpc>
                <a:spcPct val="115000"/>
              </a:lnSpc>
              <a:spcAft>
                <a:spcPts val="800"/>
              </a:spcAft>
              <a:buNone/>
            </a:pPr>
            <a:r>
              <a:rPr sz="1500" b="1">
                <a:solidFill>
                  <a:srgbClr val="141414"/>
                </a:solidFill>
                <a:latin typeface="Arial"/>
                <a:ea typeface="Arial"/>
                <a:cs typeface="Arial"/>
              </a:rPr>
              <a:t>“Track the Millennium Falcon.”</a:t>
            </a:r>
            <a:endParaRPr sz="1200"/>
          </a:p>
          <a:p xmlns:a="http://schemas.openxmlformats.org/drawingml/2006/main">
            <a:pPr marL="0" indent="0">
              <a:lnSpc>
                <a:spcPct val="115000"/>
              </a:lnSpc>
              <a:buNone/>
            </a:pPr>
            <a:r>
              <a:rPr sz="1200">
                <a:solidFill>
                  <a:srgbClr val="333333"/>
                </a:solidFill>
                <a:latin typeface="Arial"/>
                <a:ea typeface="Arial"/>
                <a:cs typeface="Arial"/>
              </a:rPr>
              <a:t>One Watch subscription streams a 40-second simulated flight into an updating chat card.</a:t>
            </a:r>
            <a:endParaRPr sz="1200"/>
          </a:p>
        </p:txBody>
      </p:sp>
      <p:sp>
        <p:nvSpPr>
          <p:cNvPr id="20" name="Shape 16">
            <a:extLst xmlns:a="http://schemas.openxmlformats.org/drawingml/2006/main">
              <a:ext uri="{FF2B5EF4-FFF2-40B4-BE49-F238E27FC236}">
                <a16:creationId xmlns:a16="http://schemas.microsoft.com/office/drawing/2014/main" id="{4C6FA401-4D21-4D52-8897-90C5FB8916F5}"/>
              </a:ext>
            </a:extLst>
          </p:cNvPr>
          <p:cNvSpPr>
            <a:spLocks xmlns:a="http://schemas.openxmlformats.org/drawingml/2006/main" noGrp="1"/>
          </p:cNvSpPr>
          <p:nvPr/>
        </p:nvSpPr>
        <p:spPr>
          <a:xfrm xmlns:a="http://schemas.openxmlformats.org/drawingml/2006/main">
            <a:off x="508000" y="4927600"/>
            <a:ext cx="5486400" cy="1168400"/>
          </a:xfrm>
          <a:prstGeom xmlns:a="http://schemas.openxmlformats.org/drawingml/2006/main" prst="rect">
            <a:avLst/>
          </a:prstGeom>
          <a:solidFill xmlns:a="http://schemas.openxmlformats.org/drawingml/2006/main">
            <a:srgbClr val="1B1B1F"/>
          </a:solidFill>
          <a:effectLst xmlns:a="http://schemas.openxmlformats.org/drawingml/2006/main">
            <a:outerShdw blurRad="50800" dist="25400" dir="5400000" algn="bl" rotWithShape="0">
              <a:srgbClr val="000000">
                <a:alpha val="18000"/>
              </a:srgbClr>
            </a:outerShdw>
          </a:effectLst>
        </p:spPr>
        <p:txBody>
          <a:bodyPr xmlns:a="http://schemas.openxmlformats.org/drawingml/2006/main"/>
          <a:lstStyle xmlns:a="http://schemas.openxmlformats.org/drawingml/2006/main"/>
          <a:p xmlns:a="http://schemas.openxmlformats.org/drawingml/2006/main">
            <a:endParaRPr/>
          </a:p>
        </p:txBody>
      </p:sp>
      <p:sp>
        <p:nvSpPr>
          <p:cNvPr id="21" name="Shape 17">
            <a:extLst xmlns:a="http://schemas.openxmlformats.org/drawingml/2006/main">
              <a:ext uri="{FF2B5EF4-FFF2-40B4-BE49-F238E27FC236}">
                <a16:creationId xmlns:a16="http://schemas.microsoft.com/office/drawing/2014/main" id="{3C876CED-FDD0-4490-9F43-FDF11B580AA9}"/>
              </a:ext>
            </a:extLst>
          </p:cNvPr>
          <p:cNvSpPr>
            <a:spLocks xmlns:a="http://schemas.openxmlformats.org/drawingml/2006/main" noGrp="1"/>
          </p:cNvSpPr>
          <p:nvPr/>
        </p:nvSpPr>
        <p:spPr>
          <a:xfrm xmlns:a="http://schemas.openxmlformats.org/drawingml/2006/main">
            <a:off x="508000" y="4927600"/>
            <a:ext cx="5486400" cy="355600"/>
          </a:xfrm>
          <a:prstGeom xmlns:a="http://schemas.openxmlformats.org/drawingml/2006/main" prst="rect">
            <a:avLst/>
          </a:prstGeom>
          <a:solidFill xmlns:a="http://schemas.openxmlformats.org/drawingml/2006/main">
            <a:srgbClr val="DA1884"/>
          </a:solidFill>
        </p:spPr>
        <p:txBody>
          <a:bodyPr xmlns:a="http://schemas.openxmlformats.org/drawingml/2006/main"/>
          <a:lstStyle xmlns:a="http://schemas.openxmlformats.org/drawingml/2006/main"/>
          <a:p xmlns:a="http://schemas.openxmlformats.org/drawingml/2006/main">
            <a:endParaRPr/>
          </a:p>
        </p:txBody>
      </p:sp>
      <p:sp>
        <p:nvSpPr>
          <p:cNvPr id="22" name="Text 18">
            <a:extLst xmlns:a="http://schemas.openxmlformats.org/drawingml/2006/main">
              <a:ext uri="{FF2B5EF4-FFF2-40B4-BE49-F238E27FC236}">
                <a16:creationId xmlns:a16="http://schemas.microsoft.com/office/drawing/2014/main" id="{8E2ACC18-9C87-43C3-BE16-6E8588C91920}"/>
              </a:ext>
            </a:extLst>
          </p:cNvPr>
          <p:cNvSpPr>
            <a:spLocks xmlns:a="http://schemas.openxmlformats.org/drawingml/2006/main" noGrp="1"/>
          </p:cNvSpPr>
          <p:nvPr/>
        </p:nvSpPr>
        <p:spPr>
          <a:xfrm xmlns:a="http://schemas.openxmlformats.org/drawingml/2006/main">
            <a:off x="711200" y="4927600"/>
            <a:ext cx="5080000" cy="355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200" b="1">
                <a:solidFill>
                  <a:srgbClr val="FFFFFF"/>
                </a:solidFill>
                <a:latin typeface="Arial"/>
                <a:ea typeface="Arial"/>
                <a:cs typeface="Arial"/>
              </a:rPr>
              <a:t>RUN IT</a:t>
            </a:r>
            <a:endParaRPr sz="1200"/>
          </a:p>
        </p:txBody>
      </p:sp>
      <p:sp>
        <p:nvSpPr>
          <p:cNvPr id="23" name="Text 19">
            <a:extLst xmlns:a="http://schemas.openxmlformats.org/drawingml/2006/main">
              <a:ext uri="{FF2B5EF4-FFF2-40B4-BE49-F238E27FC236}">
                <a16:creationId xmlns:a16="http://schemas.microsoft.com/office/drawing/2014/main" id="{CD9B6A3B-1FDE-4785-A362-59F08B430C2F}"/>
              </a:ext>
            </a:extLst>
          </p:cNvPr>
          <p:cNvSpPr>
            <a:spLocks xmlns:a="http://schemas.openxmlformats.org/drawingml/2006/main" noGrp="1"/>
          </p:cNvSpPr>
          <p:nvPr/>
        </p:nvSpPr>
        <p:spPr>
          <a:xfrm xmlns:a="http://schemas.openxmlformats.org/drawingml/2006/main">
            <a:off x="711200" y="5435600"/>
            <a:ext cx="5080000" cy="508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20000"/>
              </a:lnSpc>
              <a:buNone/>
            </a:pPr>
            <a:r>
              <a:rPr sz="1200">
                <a:solidFill>
                  <a:srgbClr val="EDEDED"/>
                </a:solidFill>
                <a:latin typeface="Consolas"/>
                <a:ea typeface="Consolas"/>
                <a:cs typeface="Consolas"/>
              </a:rPr>
              <a:t>docker compose up --build -d</a:t>
            </a:r>
            <a:endParaRPr sz="1200"/>
          </a:p>
          <a:p xmlns:a="http://schemas.openxmlformats.org/drawingml/2006/main">
            <a:pPr marL="0" indent="0">
              <a:lnSpc>
                <a:spcPct val="120000"/>
              </a:lnSpc>
              <a:buNone/>
            </a:pPr>
            <a:r>
              <a:rPr sz="1200">
                <a:solidFill>
                  <a:srgbClr val="EDEDED"/>
                </a:solidFill>
                <a:latin typeface="Consolas"/>
                <a:ea typeface="Consolas"/>
                <a:cs typeface="Consolas"/>
              </a:rPr>
              <a:t>open http://localhost:3000</a:t>
            </a:r>
            <a:endParaRPr sz="1200"/>
          </a:p>
        </p:txBody>
      </p:sp>
      <p:sp>
        <p:nvSpPr>
          <p:cNvPr id="24" name="Text 20">
            <a:extLst xmlns:a="http://schemas.openxmlformats.org/drawingml/2006/main">
              <a:ext uri="{FF2B5EF4-FFF2-40B4-BE49-F238E27FC236}">
                <a16:creationId xmlns:a16="http://schemas.microsoft.com/office/drawing/2014/main" id="{8DBBE1FF-B8F8-499D-AD9B-0268F8CAE953}"/>
              </a:ext>
            </a:extLst>
          </p:cNvPr>
          <p:cNvSpPr>
            <a:spLocks xmlns:a="http://schemas.openxmlformats.org/drawingml/2006/main" noGrp="1"/>
          </p:cNvSpPr>
          <p:nvPr/>
        </p:nvSpPr>
        <p:spPr>
          <a:xfrm xmlns:a="http://schemas.openxmlformats.org/drawingml/2006/main">
            <a:off x="6400800" y="4953000"/>
            <a:ext cx="5283200" cy="2159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1200" b="1">
                <a:solidFill>
                  <a:srgbClr val="DA1884"/>
                </a:solidFill>
                <a:latin typeface="Arial"/>
                <a:ea typeface="Arial"/>
                <a:cs typeface="Arial"/>
              </a:rPr>
              <a:t>BUILT WITH</a:t>
            </a:r>
            <a:endParaRPr sz="1200"/>
          </a:p>
        </p:txBody>
      </p:sp>
      <p:sp>
        <p:nvSpPr>
          <p:cNvPr id="25" name="Text 21">
            <a:extLst xmlns:a="http://schemas.openxmlformats.org/drawingml/2006/main">
              <a:ext uri="{FF2B5EF4-FFF2-40B4-BE49-F238E27FC236}">
                <a16:creationId xmlns:a16="http://schemas.microsoft.com/office/drawing/2014/main" id="{696A03C9-81D4-4717-9766-455214C2A1DF}"/>
              </a:ext>
            </a:extLst>
          </p:cNvPr>
          <p:cNvSpPr>
            <a:spLocks xmlns:a="http://schemas.openxmlformats.org/drawingml/2006/main" noGrp="1"/>
          </p:cNvSpPr>
          <p:nvPr/>
        </p:nvSpPr>
        <p:spPr>
          <a:xfrm xmlns:a="http://schemas.openxmlformats.org/drawingml/2006/main">
            <a:off x="6400800" y="5232400"/>
            <a:ext cx="5283200" cy="825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30000"/>
              </a:lnSpc>
              <a:buNone/>
            </a:pPr>
            <a:r>
              <a:rPr sz="1200">
                <a:solidFill>
                  <a:srgbClr val="333333"/>
                </a:solidFill>
                <a:latin typeface="Arial"/>
                <a:ea typeface="Arial"/>
                <a:cs typeface="Arial"/>
              </a:rPr>
              <a:t>React 19 · TypeScript · assistant-ui · Zustand · Tailwind v4</a:t>
            </a:r>
            <a:endParaRPr sz="1200"/>
          </a:p>
          <a:p xmlns:a="http://schemas.openxmlformats.org/drawingml/2006/main">
            <a:pPr marL="0" indent="0" algn="l">
              <a:lnSpc>
                <a:spcPct val="130000"/>
              </a:lnSpc>
              <a:buNone/>
            </a:pPr>
            <a:r>
              <a:rPr sz="1200">
                <a:solidFill>
                  <a:srgbClr val="333333"/>
                </a:solidFill>
                <a:latin typeface="Arial"/>
                <a:ea typeface="Arial"/>
                <a:cs typeface="Arial"/>
              </a:rPr>
              <a:t>Java 25 · Spring Boot 4.1</a:t>
            </a:r>
            <a:r>
              <a:rPr sz="1200">
                <a:solidFill>
                  <a:srgbClr val="333333"/>
                </a:solidFill>
                <a:latin typeface="Arial"/>
                <a:ea typeface="Arial"/>
                <a:cs typeface="Arial"/>
              </a:rPr>
              <a:t> · Spring for GraphQL · grpc-java</a:t>
            </a:r>
            <a:endParaRPr sz="1200"/>
          </a:p>
          <a:p xmlns:a="http://schemas.openxmlformats.org/drawingml/2006/main">
            <a:pPr marL="0" indent="0" algn="l">
              <a:lnSpc>
                <a:spcPct val="130000"/>
              </a:lnSpc>
              <a:buNone/>
            </a:pPr>
            <a:r>
              <a:rPr sz="1200">
                <a:solidFill>
                  <a:srgbClr val="333333"/>
                </a:solidFill>
                <a:latin typeface="Arial"/>
                <a:ea typeface="Arial"/>
                <a:cs typeface="Arial"/>
              </a:rPr>
              <a:t>Ollama (local) · Jev (optional, hosted)</a:t>
            </a:r>
            <a:endParaRPr sz="1200"/>
          </a:p>
        </p:txBody>
      </p:sp>
    </p:spTree>
    <p:extLst>
      <p:ext uri="{BB962C8B-B14F-4D97-AF65-F5344CB8AC3E}">
        <p14:creationId xmlns:p14="http://schemas.microsoft.com/office/powerpoint/2010/main" val="851204439"/>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1A5D3A46-1063-4016-94AE-3573B95ED740}"/>
              </a:ext>
            </a:extLst>
          </p:cNvPr>
          <p:cNvPicPr>
            <a:picLocks xmlns:a="http://schemas.openxmlformats.org/drawingml/2006/main" noChangeAspect="1"/>
          </p:cNvPicPr>
          <p:nvPr/>
        </p:nvPicPr>
        <p:blipFill>
          <a:blip xmlns:r="http://schemas.openxmlformats.org/officeDocument/2006/relationships" xmlns:a="http://schemas.openxmlformats.org/drawingml/2006/main" r:embed="R5f56d8c7fc42445a"/>
          <a:stretch xmlns:a="http://schemas.openxmlformats.org/drawingml/2006/main">
            <a:fillRect l="0" t="0" r="0" b="0"/>
          </a:stretch>
        </p:blipFill>
        <p:spPr>
          <a:xfrm xmlns:a="http://schemas.openxmlformats.org/drawingml/2006/main">
            <a:off x="508000" y="152400"/>
            <a:ext cx="990600" cy="40640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C04A1DCC-6136-41E5-BB76-86E747372B5A}"/>
              </a:ext>
            </a:extLst>
          </p:cNvPr>
          <p:cNvSpPr>
            <a:spLocks xmlns:a="http://schemas.openxmlformats.org/drawingml/2006/main" noGrp="1"/>
          </p:cNvSpPr>
          <p:nvPr/>
        </p:nvSpPr>
        <p:spPr>
          <a:xfrm xmlns:a="http://schemas.openxmlformats.org/drawingml/2006/main">
            <a:off x="3556000" y="406400"/>
            <a:ext cx="5080000" cy="190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110000"/>
              </a:lnSpc>
              <a:buNone/>
            </a:pPr>
            <a:r>
              <a:rPr sz="1000">
                <a:solidFill>
                  <a:srgbClr val="6B6B6B"/>
                </a:solidFill>
                <a:latin typeface="Arial"/>
                <a:ea typeface="Arial"/>
                <a:cs typeface="Arial"/>
              </a:rPr>
              <a:t>Protocol Studio  —  REST · GraphQL · gRPC</a:t>
            </a:r>
            <a:endParaRPr sz="1000"/>
          </a:p>
        </p:txBody>
      </p:sp>
      <p:sp>
        <p:nvSpPr>
          <p:cNvPr id="4" name="Text 1">
            <a:extLst xmlns:a="http://schemas.openxmlformats.org/drawingml/2006/main">
              <a:ext uri="{FF2B5EF4-FFF2-40B4-BE49-F238E27FC236}">
                <a16:creationId xmlns:a16="http://schemas.microsoft.com/office/drawing/2014/main" id="{AB3F3FA2-ACC4-4E22-8845-205FFB0153E3}"/>
              </a:ext>
            </a:extLst>
          </p:cNvPr>
          <p:cNvSpPr>
            <a:spLocks xmlns:a="http://schemas.openxmlformats.org/drawingml/2006/main" noGrp="1"/>
          </p:cNvSpPr>
          <p:nvPr/>
        </p:nvSpPr>
        <p:spPr>
          <a:xfrm xmlns:a="http://schemas.openxmlformats.org/drawingml/2006/main">
            <a:off x="6350000" y="406400"/>
            <a:ext cx="5334000" cy="190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ct val="110000"/>
              </a:lnSpc>
              <a:buNone/>
            </a:pPr>
            <a:r>
              <a:rPr sz="1000" b="1">
                <a:solidFill>
                  <a:srgbClr val="DA1884"/>
                </a:solidFill>
                <a:latin typeface="Arial"/>
                <a:ea typeface="Arial"/>
                <a:cs typeface="Arial"/>
              </a:rPr>
              <a:t>CLIENT STORIES</a:t>
            </a:r>
            <a:endParaRPr sz="1000"/>
          </a:p>
        </p:txBody>
      </p:sp>
      <p:sp>
        <p:nvSpPr>
          <p:cNvPr id="5" name="Text 2">
            <a:extLst xmlns:a="http://schemas.openxmlformats.org/drawingml/2006/main">
              <a:ext uri="{FF2B5EF4-FFF2-40B4-BE49-F238E27FC236}">
                <a16:creationId xmlns:a16="http://schemas.microsoft.com/office/drawing/2014/main" id="{A47B9B39-19B6-4694-8124-353EE438937D}"/>
              </a:ext>
            </a:extLst>
          </p:cNvPr>
          <p:cNvSpPr>
            <a:spLocks xmlns:a="http://schemas.openxmlformats.org/drawingml/2006/main" noGrp="1"/>
          </p:cNvSpPr>
          <p:nvPr/>
        </p:nvSpPr>
        <p:spPr>
          <a:xfrm xmlns:a="http://schemas.openxmlformats.org/drawingml/2006/main">
            <a:off x="508000" y="6578600"/>
            <a:ext cx="8890000" cy="177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900">
                <a:solidFill>
                  <a:srgbClr val="9E9E9E"/>
                </a:solidFill>
                <a:latin typeface="Arial"/>
                <a:ea typeface="Arial"/>
                <a:cs typeface="Arial"/>
              </a:rPr>
              <a:t>Insight Proprietary &amp; Confidential.  Do Not Copy or Distribute.  © 2026 Insight.  All Rights Reserved.</a:t>
            </a:r>
            <a:endParaRPr sz="900"/>
          </a:p>
        </p:txBody>
      </p:sp>
      <p:sp>
        <p:nvSpPr>
          <p:cNvPr id="6" name="Text 3">
            <a:extLst xmlns:a="http://schemas.openxmlformats.org/drawingml/2006/main">
              <a:ext uri="{FF2B5EF4-FFF2-40B4-BE49-F238E27FC236}">
                <a16:creationId xmlns:a16="http://schemas.microsoft.com/office/drawing/2014/main" id="{33877B7C-02BD-4C8D-BEF4-FACB4DCA0D4E}"/>
              </a:ext>
            </a:extLst>
          </p:cNvPr>
          <p:cNvSpPr>
            <a:spLocks xmlns:a="http://schemas.openxmlformats.org/drawingml/2006/main" noGrp="1"/>
          </p:cNvSpPr>
          <p:nvPr/>
        </p:nvSpPr>
        <p:spPr>
          <a:xfrm xmlns:a="http://schemas.openxmlformats.org/drawingml/2006/main">
            <a:off x="10922000" y="6578600"/>
            <a:ext cx="762000" cy="177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ct val="110000"/>
              </a:lnSpc>
              <a:buNone/>
            </a:pPr>
            <a:r>
              <a:rPr sz="900">
                <a:solidFill>
                  <a:srgbClr val="9E9E9E"/>
                </a:solidFill>
                <a:latin typeface="Arial"/>
                <a:ea typeface="Arial"/>
                <a:cs typeface="Arial"/>
              </a:rPr>
              <a:t>17</a:t>
            </a:r>
            <a:endParaRPr sz="900"/>
          </a:p>
        </p:txBody>
      </p:sp>
      <p:sp>
        <p:nvSpPr>
          <p:cNvPr id="7" name="Text 4">
            <a:extLst xmlns:a="http://schemas.openxmlformats.org/drawingml/2006/main">
              <a:ext uri="{FF2B5EF4-FFF2-40B4-BE49-F238E27FC236}">
                <a16:creationId xmlns:a16="http://schemas.microsoft.com/office/drawing/2014/main" id="{07ADE5DC-6BC1-45C4-BFD4-9C98FF85A3DA}"/>
              </a:ext>
            </a:extLst>
          </p:cNvPr>
          <p:cNvSpPr>
            <a:spLocks xmlns:a="http://schemas.openxmlformats.org/drawingml/2006/main" noGrp="1"/>
          </p:cNvSpPr>
          <p:nvPr/>
        </p:nvSpPr>
        <p:spPr>
          <a:xfrm xmlns:a="http://schemas.openxmlformats.org/drawingml/2006/main">
            <a:off x="508000" y="889000"/>
            <a:ext cx="11176000" cy="2159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1200" b="1">
                <a:solidFill>
                  <a:srgbClr val="DA1884"/>
                </a:solidFill>
                <a:latin typeface="Arial"/>
                <a:ea typeface="Arial"/>
                <a:cs typeface="Arial"/>
              </a:rPr>
              <a:t>CLIENT STORY · DISTRIBUTION</a:t>
            </a:r>
            <a:endParaRPr sz="1200"/>
          </a:p>
        </p:txBody>
      </p:sp>
      <p:sp>
        <p:nvSpPr>
          <p:cNvPr id="8" name="Text 5">
            <a:extLst xmlns:a="http://schemas.openxmlformats.org/drawingml/2006/main">
              <a:ext uri="{FF2B5EF4-FFF2-40B4-BE49-F238E27FC236}">
                <a16:creationId xmlns:a16="http://schemas.microsoft.com/office/drawing/2014/main" id="{2798A8B6-3270-4C88-836C-BC800B1ED58F}"/>
              </a:ext>
            </a:extLst>
          </p:cNvPr>
          <p:cNvSpPr>
            <a:spLocks xmlns:a="http://schemas.openxmlformats.org/drawingml/2006/main" noGrp="1"/>
          </p:cNvSpPr>
          <p:nvPr/>
        </p:nvSpPr>
        <p:spPr>
          <a:xfrm xmlns:a="http://schemas.openxmlformats.org/drawingml/2006/main">
            <a:off x="508000" y="1130300"/>
            <a:ext cx="11176000" cy="482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3000" b="1">
                <a:solidFill>
                  <a:srgbClr val="141414"/>
                </a:solidFill>
                <a:latin typeface="Arial"/>
                <a:ea typeface="Arial"/>
                <a:cs typeface="Arial"/>
              </a:rPr>
              <a:t>Large-Scale Distribution</a:t>
            </a:r>
            <a:endParaRPr sz="3000"/>
          </a:p>
        </p:txBody>
      </p:sp>
      <p:sp>
        <p:nvSpPr>
          <p:cNvPr id="9" name="Text 6">
            <a:extLst xmlns:a="http://schemas.openxmlformats.org/drawingml/2006/main">
              <a:ext uri="{FF2B5EF4-FFF2-40B4-BE49-F238E27FC236}">
                <a16:creationId xmlns:a16="http://schemas.microsoft.com/office/drawing/2014/main" id="{08182AB1-BDF3-4648-977D-659D39B750EC}"/>
              </a:ext>
            </a:extLst>
          </p:cNvPr>
          <p:cNvSpPr>
            <a:spLocks xmlns:a="http://schemas.openxmlformats.org/drawingml/2006/main" noGrp="1"/>
          </p:cNvSpPr>
          <p:nvPr/>
        </p:nvSpPr>
        <p:spPr>
          <a:xfrm xmlns:a="http://schemas.openxmlformats.org/drawingml/2006/main">
            <a:off x="508000" y="1663700"/>
            <a:ext cx="11176000"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1400">
                <a:solidFill>
                  <a:srgbClr val="6B6B6B"/>
                </a:solidFill>
                <a:latin typeface="Arial"/>
                <a:ea typeface="Arial"/>
                <a:cs typeface="Arial"/>
              </a:rPr>
              <a:t>An automated material handling systems, equipment and consulting company.</a:t>
            </a:r>
            <a:endParaRPr sz="1400"/>
          </a:p>
        </p:txBody>
      </p:sp>
      <p:sp>
        <p:nvSpPr>
          <p:cNvPr id="11" name="Text 7">
            <a:extLst xmlns:a="http://schemas.openxmlformats.org/drawingml/2006/main">
              <a:ext uri="{FF2B5EF4-FFF2-40B4-BE49-F238E27FC236}">
                <a16:creationId xmlns:a16="http://schemas.microsoft.com/office/drawing/2014/main" id="{07167F58-894F-43E3-AE07-42FCD73E4751}"/>
              </a:ext>
            </a:extLst>
          </p:cNvPr>
          <p:cNvSpPr>
            <a:spLocks xmlns:a="http://schemas.openxmlformats.org/drawingml/2006/main" noGrp="1"/>
          </p:cNvSpPr>
          <p:nvPr/>
        </p:nvSpPr>
        <p:spPr>
          <a:xfrm xmlns:a="http://schemas.openxmlformats.org/drawingml/2006/main">
            <a:off x="508000" y="2159000"/>
            <a:ext cx="6731000" cy="571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0000"/>
              </a:lnSpc>
              <a:buNone/>
            </a:pPr>
            <a:r>
              <a:rPr sz="1500" b="1">
                <a:solidFill>
                  <a:srgbClr val="141414"/>
                </a:solidFill>
                <a:latin typeface="Arial"/>
                <a:ea typeface="Arial"/>
                <a:cs typeface="Arial"/>
              </a:rPr>
              <a:t>The client set out to build the next-generation warehouse execution system.</a:t>
            </a:r>
            <a:endParaRPr sz="1500"/>
          </a:p>
        </p:txBody>
      </p:sp>
      <p:sp>
        <p:nvSpPr>
          <p:cNvPr id="12" name="Shape 8">
            <a:extLst xmlns:a="http://schemas.openxmlformats.org/drawingml/2006/main">
              <a:ext uri="{FF2B5EF4-FFF2-40B4-BE49-F238E27FC236}">
                <a16:creationId xmlns:a16="http://schemas.microsoft.com/office/drawing/2014/main" id="{609391BF-24D0-444E-8B11-0525138504B1}"/>
              </a:ext>
            </a:extLst>
          </p:cNvPr>
          <p:cNvSpPr>
            <a:spLocks xmlns:a="http://schemas.openxmlformats.org/drawingml/2006/main" noGrp="1"/>
          </p:cNvSpPr>
          <p:nvPr/>
        </p:nvSpPr>
        <p:spPr>
          <a:xfrm xmlns:a="http://schemas.openxmlformats.org/drawingml/2006/main">
            <a:off x="508000" y="2870200"/>
            <a:ext cx="6731000" cy="2984500"/>
          </a:xfrm>
          <a:prstGeom xmlns:a="http://schemas.openxmlformats.org/drawingml/2006/main" prst="rect">
            <a:avLst/>
          </a:prstGeom>
          <a:solidFill xmlns:a="http://schemas.openxmlformats.org/drawingml/2006/main">
            <a:srgbClr val="F4F4F4"/>
          </a:solidFill>
          <a:effectLst xmlns:a="http://schemas.openxmlformats.org/drawingml/2006/main">
            <a:outerShdw blurRad="50800" dist="25400" dir="5400000" algn="bl" rotWithShape="0">
              <a:srgbClr val="000000">
                <a:alpha val="18000"/>
              </a:srgbClr>
            </a:outerShdw>
          </a:effectLst>
        </p:spPr>
        <p:txBody>
          <a:bodyPr xmlns:a="http://schemas.openxmlformats.org/drawingml/2006/main"/>
          <a:lstStyle xmlns:a="http://schemas.openxmlformats.org/drawingml/2006/main"/>
          <a:p xmlns:a="http://schemas.openxmlformats.org/drawingml/2006/main">
            <a:endParaRPr/>
          </a:p>
        </p:txBody>
      </p:sp>
      <p:sp>
        <p:nvSpPr>
          <p:cNvPr id="13" name="Shape 9">
            <a:extLst xmlns:a="http://schemas.openxmlformats.org/drawingml/2006/main">
              <a:ext uri="{FF2B5EF4-FFF2-40B4-BE49-F238E27FC236}">
                <a16:creationId xmlns:a16="http://schemas.microsoft.com/office/drawing/2014/main" id="{67552BF8-E4C7-40F1-AB4F-F7401C64D54A}"/>
              </a:ext>
            </a:extLst>
          </p:cNvPr>
          <p:cNvSpPr>
            <a:spLocks xmlns:a="http://schemas.openxmlformats.org/drawingml/2006/main" noGrp="1"/>
          </p:cNvSpPr>
          <p:nvPr/>
        </p:nvSpPr>
        <p:spPr>
          <a:xfrm xmlns:a="http://schemas.openxmlformats.org/drawingml/2006/main">
            <a:off x="508000" y="2870200"/>
            <a:ext cx="6731000" cy="406400"/>
          </a:xfrm>
          <a:prstGeom xmlns:a="http://schemas.openxmlformats.org/drawingml/2006/main" prst="rect">
            <a:avLst/>
          </a:prstGeom>
          <a:solidFill xmlns:a="http://schemas.openxmlformats.org/drawingml/2006/main">
            <a:srgbClr val="DA1884"/>
          </a:solidFill>
        </p:spPr>
        <p:txBody>
          <a:bodyPr xmlns:a="http://schemas.openxmlformats.org/drawingml/2006/main"/>
          <a:lstStyle xmlns:a="http://schemas.openxmlformats.org/drawingml/2006/main"/>
          <a:p xmlns:a="http://schemas.openxmlformats.org/drawingml/2006/main">
            <a:endParaRPr/>
          </a:p>
        </p:txBody>
      </p:sp>
      <p:sp>
        <p:nvSpPr>
          <p:cNvPr id="14" name="Text 10">
            <a:extLst xmlns:a="http://schemas.openxmlformats.org/drawingml/2006/main">
              <a:ext uri="{FF2B5EF4-FFF2-40B4-BE49-F238E27FC236}">
                <a16:creationId xmlns:a16="http://schemas.microsoft.com/office/drawing/2014/main" id="{6A05C23E-7707-4A32-BB12-120749C5F5F1}"/>
              </a:ext>
            </a:extLst>
          </p:cNvPr>
          <p:cNvSpPr>
            <a:spLocks xmlns:a="http://schemas.openxmlformats.org/drawingml/2006/main" noGrp="1"/>
          </p:cNvSpPr>
          <p:nvPr/>
        </p:nvSpPr>
        <p:spPr>
          <a:xfrm xmlns:a="http://schemas.openxmlformats.org/drawingml/2006/main">
            <a:off x="736600" y="2870200"/>
            <a:ext cx="6273800" cy="406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300" b="1">
                <a:solidFill>
                  <a:srgbClr val="FFFFFF"/>
                </a:solidFill>
                <a:latin typeface="Arial"/>
                <a:ea typeface="Arial"/>
                <a:cs typeface="Arial"/>
              </a:rPr>
              <a:t>The approach</a:t>
            </a:r>
            <a:endParaRPr sz="1300"/>
          </a:p>
        </p:txBody>
      </p:sp>
      <p:sp>
        <p:nvSpPr>
          <p:cNvPr id="15" name="Text 11">
            <a:extLst xmlns:a="http://schemas.openxmlformats.org/drawingml/2006/main">
              <a:ext uri="{FF2B5EF4-FFF2-40B4-BE49-F238E27FC236}">
                <a16:creationId xmlns:a16="http://schemas.microsoft.com/office/drawing/2014/main" id="{F5EDD3E5-BE59-4039-8B20-EA85995F9522}"/>
              </a:ext>
            </a:extLst>
          </p:cNvPr>
          <p:cNvSpPr>
            <a:spLocks xmlns:a="http://schemas.openxmlformats.org/drawingml/2006/main" noGrp="1"/>
          </p:cNvSpPr>
          <p:nvPr/>
        </p:nvSpPr>
        <p:spPr>
          <a:xfrm xmlns:a="http://schemas.openxmlformats.org/drawingml/2006/main">
            <a:off x="736600" y="3454400"/>
            <a:ext cx="6273800" cy="22479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lnSpc>
                <a:spcPct val="115000"/>
              </a:lnSpc>
              <a:spcAft>
                <a:spcPts val="1000"/>
              </a:spcAft>
              <a:buSzPct val="100000"/>
              <a:buChar char="•"/>
            </a:pPr>
            <a:r>
              <a:rPr sz="1200">
                <a:solidFill>
                  <a:srgbClr val="333333"/>
                </a:solidFill>
                <a:latin typeface="Arial"/>
                <a:ea typeface="Arial"/>
                <a:cs typeface="Arial"/>
              </a:rPr>
              <a:t>Design “Waze for the warehouse” in the public cloud</a:t>
            </a:r>
            <a:endParaRPr sz="1200"/>
          </a:p>
          <a:p xmlns:a="http://schemas.openxmlformats.org/drawingml/2006/main">
            <a:pPr marL="342900" indent="-342900">
              <a:lnSpc>
                <a:spcPct val="115000"/>
              </a:lnSpc>
              <a:spcAft>
                <a:spcPts val="1000"/>
              </a:spcAft>
              <a:buSzPct val="100000"/>
              <a:buChar char="•"/>
            </a:pPr>
            <a:r>
              <a:rPr sz="1200">
                <a:solidFill>
                  <a:srgbClr val="333333"/>
                </a:solidFill>
                <a:latin typeface="Arial"/>
                <a:ea typeface="Arial"/>
                <a:cs typeface="Arial"/>
              </a:rPr>
              <a:t>Complete automation, which had never been done before</a:t>
            </a:r>
            <a:endParaRPr sz="1200"/>
          </a:p>
          <a:p xmlns:a="http://schemas.openxmlformats.org/drawingml/2006/main">
            <a:pPr marL="342900" indent="-342900">
              <a:lnSpc>
                <a:spcPct val="115000"/>
              </a:lnSpc>
              <a:spcAft>
                <a:spcPts val="1000"/>
              </a:spcAft>
              <a:buSzPct val="100000"/>
              <a:buChar char="•"/>
            </a:pPr>
            <a:r>
              <a:rPr sz="1200">
                <a:solidFill>
                  <a:srgbClr val="333333"/>
                </a:solidFill>
                <a:latin typeface="Arial"/>
                <a:ea typeface="Arial"/>
                <a:cs typeface="Arial"/>
              </a:rPr>
              <a:t>An industrial IoT solution: sorting, picking and conveyors</a:t>
            </a:r>
            <a:endParaRPr sz="1200"/>
          </a:p>
          <a:p xmlns:a="http://schemas.openxmlformats.org/drawingml/2006/main">
            <a:pPr marL="342900" indent="-342900">
              <a:lnSpc>
                <a:spcPct val="115000"/>
              </a:lnSpc>
              <a:spcAft>
                <a:spcPts val="1000"/>
              </a:spcAft>
              <a:buSzPct val="100000"/>
              <a:buChar char="•"/>
            </a:pPr>
            <a:r>
              <a:rPr sz="1200">
                <a:solidFill>
                  <a:srgbClr val="333333"/>
                </a:solidFill>
                <a:latin typeface="Arial"/>
                <a:ea typeface="Arial"/>
                <a:cs typeface="Arial"/>
              </a:rPr>
              <a:t>A “basecamp to the summit” delivery approach</a:t>
            </a:r>
            <a:endParaRPr sz="1200"/>
          </a:p>
        </p:txBody>
      </p:sp>
      <p:sp>
        <p:nvSpPr>
          <p:cNvPr id="16" name="Shape 12">
            <a:extLst xmlns:a="http://schemas.openxmlformats.org/drawingml/2006/main">
              <a:ext uri="{FF2B5EF4-FFF2-40B4-BE49-F238E27FC236}">
                <a16:creationId xmlns:a16="http://schemas.microsoft.com/office/drawing/2014/main" id="{D8FC2B11-CE63-488A-9BE3-DC39AE1BA844}"/>
              </a:ext>
            </a:extLst>
          </p:cNvPr>
          <p:cNvSpPr>
            <a:spLocks xmlns:a="http://schemas.openxmlformats.org/drawingml/2006/main" noGrp="1"/>
          </p:cNvSpPr>
          <p:nvPr/>
        </p:nvSpPr>
        <p:spPr>
          <a:xfrm xmlns:a="http://schemas.openxmlformats.org/drawingml/2006/main">
            <a:off x="7493000" y="2159000"/>
            <a:ext cx="4191000" cy="1778000"/>
          </a:xfrm>
          <a:prstGeom xmlns:a="http://schemas.openxmlformats.org/drawingml/2006/main" prst="rect">
            <a:avLst/>
          </a:prstGeom>
          <a:solidFill xmlns:a="http://schemas.openxmlformats.org/drawingml/2006/main">
            <a:srgbClr val="F4F4F4"/>
          </a:solidFill>
          <a:effectLst xmlns:a="http://schemas.openxmlformats.org/drawingml/2006/main">
            <a:outerShdw blurRad="50800" dist="25400" dir="5400000" algn="bl" rotWithShape="0">
              <a:srgbClr val="000000">
                <a:alpha val="18000"/>
              </a:srgbClr>
            </a:outerShdw>
          </a:effectLst>
        </p:spPr>
        <p:txBody>
          <a:bodyPr xmlns:a="http://schemas.openxmlformats.org/drawingml/2006/main"/>
          <a:lstStyle xmlns:a="http://schemas.openxmlformats.org/drawingml/2006/main"/>
          <a:p xmlns:a="http://schemas.openxmlformats.org/drawingml/2006/main">
            <a:endParaRPr/>
          </a:p>
        </p:txBody>
      </p:sp>
      <p:sp>
        <p:nvSpPr>
          <p:cNvPr id="17" name="Shape 13">
            <a:extLst xmlns:a="http://schemas.openxmlformats.org/drawingml/2006/main">
              <a:ext uri="{FF2B5EF4-FFF2-40B4-BE49-F238E27FC236}">
                <a16:creationId xmlns:a16="http://schemas.microsoft.com/office/drawing/2014/main" id="{B0019242-E6F7-4797-AF17-AC5919F4DF9A}"/>
              </a:ext>
            </a:extLst>
          </p:cNvPr>
          <p:cNvSpPr>
            <a:spLocks xmlns:a="http://schemas.openxmlformats.org/drawingml/2006/main" noGrp="1"/>
          </p:cNvSpPr>
          <p:nvPr/>
        </p:nvSpPr>
        <p:spPr>
          <a:xfrm xmlns:a="http://schemas.openxmlformats.org/drawingml/2006/main">
            <a:off x="7493000" y="2159000"/>
            <a:ext cx="4191000" cy="50800"/>
          </a:xfrm>
          <a:prstGeom xmlns:a="http://schemas.openxmlformats.org/drawingml/2006/main" prst="rect">
            <a:avLst/>
          </a:prstGeom>
          <a:solidFill xmlns:a="http://schemas.openxmlformats.org/drawingml/2006/main">
            <a:srgbClr val="DA1884"/>
          </a:solidFill>
        </p:spPr>
        <p:txBody>
          <a:bodyPr xmlns:a="http://schemas.openxmlformats.org/drawingml/2006/main"/>
          <a:lstStyle xmlns:a="http://schemas.openxmlformats.org/drawingml/2006/main"/>
          <a:p xmlns:a="http://schemas.openxmlformats.org/drawingml/2006/main">
            <a:endParaRPr/>
          </a:p>
        </p:txBody>
      </p:sp>
      <p:sp>
        <p:nvSpPr>
          <p:cNvPr id="18" name="Text 14">
            <a:extLst xmlns:a="http://schemas.openxmlformats.org/drawingml/2006/main">
              <a:ext uri="{FF2B5EF4-FFF2-40B4-BE49-F238E27FC236}">
                <a16:creationId xmlns:a16="http://schemas.microsoft.com/office/drawing/2014/main" id="{1204D21C-1CB0-4DBE-B2AC-37FF759EB0E0}"/>
              </a:ext>
            </a:extLst>
          </p:cNvPr>
          <p:cNvSpPr>
            <a:spLocks xmlns:a="http://schemas.openxmlformats.org/drawingml/2006/main" noGrp="1"/>
          </p:cNvSpPr>
          <p:nvPr/>
        </p:nvSpPr>
        <p:spPr>
          <a:xfrm xmlns:a="http://schemas.openxmlformats.org/drawingml/2006/main">
            <a:off x="7721600" y="2387600"/>
            <a:ext cx="373380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15000"/>
              </a:lnSpc>
              <a:spcAft>
                <a:spcPts val="800"/>
              </a:spcAft>
              <a:buNone/>
            </a:pPr>
            <a:r>
              <a:rPr sz="1200" b="1">
                <a:solidFill>
                  <a:srgbClr val="DA1884"/>
                </a:solidFill>
                <a:latin typeface="Arial"/>
                <a:ea typeface="Arial"/>
                <a:cs typeface="Arial"/>
              </a:rPr>
              <a:t>PROTOCOLS IN PLAY</a:t>
            </a:r>
            <a:endParaRPr sz="1200"/>
          </a:p>
          <a:p xmlns:a="http://schemas.openxmlformats.org/drawingml/2006/main">
            <a:pPr marL="0" indent="0">
              <a:lnSpc>
                <a:spcPct val="115000"/>
              </a:lnSpc>
              <a:spcAft>
                <a:spcPts val="800"/>
              </a:spcAft>
              <a:buNone/>
            </a:pPr>
            <a:r>
              <a:rPr sz="1500" b="1">
                <a:solidFill>
                  <a:srgbClr val="141414"/>
                </a:solidFill>
                <a:latin typeface="Arial"/>
                <a:ea typeface="Arial"/>
                <a:cs typeface="Arial"/>
              </a:rPr>
              <a:t>REST and GraphQL</a:t>
            </a:r>
            <a:endParaRPr sz="1200"/>
          </a:p>
          <a:p xmlns:a="http://schemas.openxmlformats.org/drawingml/2006/main">
            <a:pPr marL="0" indent="0">
              <a:lnSpc>
                <a:spcPct val="115000"/>
              </a:lnSpc>
              <a:buNone/>
            </a:pPr>
            <a:r>
              <a:rPr sz="1200">
                <a:solidFill>
                  <a:srgbClr val="333333"/>
                </a:solidFill>
                <a:latin typeface="Arial"/>
                <a:ea typeface="Arial"/>
                <a:cs typeface="Arial"/>
              </a:rPr>
              <a:t>Microservices and functions expose REST APIs for resources and GraphQL for the connected warehouse view.</a:t>
            </a:r>
            <a:endParaRPr sz="1200"/>
          </a:p>
        </p:txBody>
      </p:sp>
      <p:sp>
        <p:nvSpPr>
          <p:cNvPr id="19" name="Shape 15">
            <a:extLst xmlns:a="http://schemas.openxmlformats.org/drawingml/2006/main">
              <a:ext uri="{FF2B5EF4-FFF2-40B4-BE49-F238E27FC236}">
                <a16:creationId xmlns:a16="http://schemas.microsoft.com/office/drawing/2014/main" id="{A79AA854-31B7-4C81-B27C-3F997D780D5B}"/>
              </a:ext>
            </a:extLst>
          </p:cNvPr>
          <p:cNvSpPr>
            <a:spLocks xmlns:a="http://schemas.openxmlformats.org/drawingml/2006/main" noGrp="1"/>
          </p:cNvSpPr>
          <p:nvPr/>
        </p:nvSpPr>
        <p:spPr>
          <a:xfrm xmlns:a="http://schemas.openxmlformats.org/drawingml/2006/main">
            <a:off x="7493000" y="4140200"/>
            <a:ext cx="4191000" cy="1714500"/>
          </a:xfrm>
          <a:prstGeom xmlns:a="http://schemas.openxmlformats.org/drawingml/2006/main" prst="rect">
            <a:avLst/>
          </a:prstGeom>
          <a:solidFill xmlns:a="http://schemas.openxmlformats.org/drawingml/2006/main">
            <a:srgbClr val="F4F4F4"/>
          </a:solidFill>
          <a:effectLst xmlns:a="http://schemas.openxmlformats.org/drawingml/2006/main">
            <a:outerShdw blurRad="50800" dist="25400" dir="5400000" algn="bl" rotWithShape="0">
              <a:srgbClr val="000000">
                <a:alpha val="18000"/>
              </a:srgbClr>
            </a:outerShdw>
          </a:effectLst>
        </p:spPr>
        <p:txBody>
          <a:bodyPr xmlns:a="http://schemas.openxmlformats.org/drawingml/2006/main"/>
          <a:lstStyle xmlns:a="http://schemas.openxmlformats.org/drawingml/2006/main"/>
          <a:p xmlns:a="http://schemas.openxmlformats.org/drawingml/2006/main">
            <a:endParaRPr/>
          </a:p>
        </p:txBody>
      </p:sp>
      <p:sp>
        <p:nvSpPr>
          <p:cNvPr id="20" name="Shape 16">
            <a:extLst xmlns:a="http://schemas.openxmlformats.org/drawingml/2006/main">
              <a:ext uri="{FF2B5EF4-FFF2-40B4-BE49-F238E27FC236}">
                <a16:creationId xmlns:a16="http://schemas.microsoft.com/office/drawing/2014/main" id="{BFD3BA41-7F7C-4B5D-AC85-56C2CD93B8EF}"/>
              </a:ext>
            </a:extLst>
          </p:cNvPr>
          <p:cNvSpPr>
            <a:spLocks xmlns:a="http://schemas.openxmlformats.org/drawingml/2006/main" noGrp="1"/>
          </p:cNvSpPr>
          <p:nvPr/>
        </p:nvSpPr>
        <p:spPr>
          <a:xfrm xmlns:a="http://schemas.openxmlformats.org/drawingml/2006/main">
            <a:off x="7493000" y="4140200"/>
            <a:ext cx="4191000" cy="50800"/>
          </a:xfrm>
          <a:prstGeom xmlns:a="http://schemas.openxmlformats.org/drawingml/2006/main" prst="rect">
            <a:avLst/>
          </a:prstGeom>
          <a:solidFill xmlns:a="http://schemas.openxmlformats.org/drawingml/2006/main">
            <a:srgbClr val="DA1884"/>
          </a:solidFill>
        </p:spPr>
        <p:txBody>
          <a:bodyPr xmlns:a="http://schemas.openxmlformats.org/drawingml/2006/main"/>
          <a:lstStyle xmlns:a="http://schemas.openxmlformats.org/drawingml/2006/main"/>
          <a:p xmlns:a="http://schemas.openxmlformats.org/drawingml/2006/main">
            <a:endParaRPr/>
          </a:p>
        </p:txBody>
      </p:sp>
      <p:sp>
        <p:nvSpPr>
          <p:cNvPr id="21" name="Text 17">
            <a:extLst xmlns:a="http://schemas.openxmlformats.org/drawingml/2006/main">
              <a:ext uri="{FF2B5EF4-FFF2-40B4-BE49-F238E27FC236}">
                <a16:creationId xmlns:a16="http://schemas.microsoft.com/office/drawing/2014/main" id="{463F5FDA-B302-4D3C-84BA-0A9D3FF08135}"/>
              </a:ext>
            </a:extLst>
          </p:cNvPr>
          <p:cNvSpPr>
            <a:spLocks xmlns:a="http://schemas.openxmlformats.org/drawingml/2006/main" noGrp="1"/>
          </p:cNvSpPr>
          <p:nvPr/>
        </p:nvSpPr>
        <p:spPr>
          <a:xfrm xmlns:a="http://schemas.openxmlformats.org/drawingml/2006/main">
            <a:off x="7721600" y="4368800"/>
            <a:ext cx="3733800" cy="13081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15000"/>
              </a:lnSpc>
              <a:spcAft>
                <a:spcPts val="800"/>
              </a:spcAft>
              <a:buNone/>
            </a:pPr>
            <a:r>
              <a:rPr sz="1200" b="1">
                <a:solidFill>
                  <a:srgbClr val="DA1884"/>
                </a:solidFill>
                <a:latin typeface="Arial"/>
                <a:ea typeface="Arial"/>
                <a:cs typeface="Arial"/>
              </a:rPr>
              <a:t>WHERE IT IS GOING</a:t>
            </a:r>
            <a:endParaRPr sz="1200"/>
          </a:p>
          <a:p xmlns:a="http://schemas.openxmlformats.org/drawingml/2006/main">
            <a:pPr marL="0" indent="0">
              <a:lnSpc>
                <a:spcPct val="115000"/>
              </a:lnSpc>
              <a:spcAft>
                <a:spcPts val="800"/>
              </a:spcAft>
              <a:buNone/>
            </a:pPr>
            <a:r>
              <a:rPr sz="1500" b="1">
                <a:solidFill>
                  <a:srgbClr val="141414"/>
                </a:solidFill>
                <a:latin typeface="Arial"/>
                <a:ea typeface="Arial"/>
                <a:cs typeface="Arial"/>
              </a:rPr>
              <a:t>Project “Jinan”</a:t>
            </a:r>
            <a:endParaRPr sz="1200"/>
          </a:p>
          <a:p xmlns:a="http://schemas.openxmlformats.org/drawingml/2006/main">
            <a:pPr marL="0" indent="0">
              <a:lnSpc>
                <a:spcPct val="115000"/>
              </a:lnSpc>
              <a:buNone/>
            </a:pPr>
            <a:r>
              <a:rPr sz="1200">
                <a:solidFill>
                  <a:srgbClr val="333333"/>
                </a:solidFill>
                <a:latin typeface="Arial"/>
                <a:ea typeface="Arial"/>
                <a:cs typeface="Arial"/>
              </a:rPr>
              <a:t>A multi-year engagement to build the next platform. The name means “second son.”</a:t>
            </a:r>
            <a:endParaRPr sz="1200"/>
          </a:p>
        </p:txBody>
      </p:sp>
    </p:spTree>
    <p:extLst>
      <p:ext uri="{BB962C8B-B14F-4D97-AF65-F5344CB8AC3E}">
        <p14:creationId xmlns:p14="http://schemas.microsoft.com/office/powerpoint/2010/main" val="1259066661"/>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8FD138D2-2213-49DF-B787-FCF1A74F6FE0}"/>
              </a:ext>
            </a:extLst>
          </p:cNvPr>
          <p:cNvPicPr>
            <a:picLocks xmlns:a="http://schemas.openxmlformats.org/drawingml/2006/main" noChangeAspect="1"/>
          </p:cNvPicPr>
          <p:nvPr/>
        </p:nvPicPr>
        <p:blipFill>
          <a:blip xmlns:r="http://schemas.openxmlformats.org/officeDocument/2006/relationships" xmlns:a="http://schemas.openxmlformats.org/drawingml/2006/main" r:embed="Rbc7c5c4f5ece4d3a"/>
          <a:stretch xmlns:a="http://schemas.openxmlformats.org/drawingml/2006/main">
            <a:fillRect l="0" t="0" r="0" b="0"/>
          </a:stretch>
        </p:blipFill>
        <p:spPr>
          <a:xfrm xmlns:a="http://schemas.openxmlformats.org/drawingml/2006/main">
            <a:off x="508000" y="152400"/>
            <a:ext cx="990600" cy="40640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AA7A2EFB-00C8-449F-97E0-88192C7F973B}"/>
              </a:ext>
            </a:extLst>
          </p:cNvPr>
          <p:cNvSpPr>
            <a:spLocks xmlns:a="http://schemas.openxmlformats.org/drawingml/2006/main" noGrp="1"/>
          </p:cNvSpPr>
          <p:nvPr/>
        </p:nvSpPr>
        <p:spPr>
          <a:xfrm xmlns:a="http://schemas.openxmlformats.org/drawingml/2006/main">
            <a:off x="3556000" y="406400"/>
            <a:ext cx="5080000" cy="190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110000"/>
              </a:lnSpc>
              <a:buNone/>
            </a:pPr>
            <a:r>
              <a:rPr sz="1000">
                <a:solidFill>
                  <a:srgbClr val="6B6B6B"/>
                </a:solidFill>
                <a:latin typeface="Arial"/>
                <a:ea typeface="Arial"/>
                <a:cs typeface="Arial"/>
              </a:rPr>
              <a:t>Protocol Studio  —  REST · GraphQL · gRPC</a:t>
            </a:r>
            <a:endParaRPr sz="1000"/>
          </a:p>
        </p:txBody>
      </p:sp>
      <p:sp>
        <p:nvSpPr>
          <p:cNvPr id="4" name="Text 1">
            <a:extLst xmlns:a="http://schemas.openxmlformats.org/drawingml/2006/main">
              <a:ext uri="{FF2B5EF4-FFF2-40B4-BE49-F238E27FC236}">
                <a16:creationId xmlns:a16="http://schemas.microsoft.com/office/drawing/2014/main" id="{6FBF1ED1-F6EF-4D47-B5B1-B6479939273C}"/>
              </a:ext>
            </a:extLst>
          </p:cNvPr>
          <p:cNvSpPr>
            <a:spLocks xmlns:a="http://schemas.openxmlformats.org/drawingml/2006/main" noGrp="1"/>
          </p:cNvSpPr>
          <p:nvPr/>
        </p:nvSpPr>
        <p:spPr>
          <a:xfrm xmlns:a="http://schemas.openxmlformats.org/drawingml/2006/main">
            <a:off x="6350000" y="406400"/>
            <a:ext cx="5334000" cy="190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ct val="110000"/>
              </a:lnSpc>
              <a:buNone/>
            </a:pPr>
            <a:r>
              <a:rPr sz="1000" b="1">
                <a:solidFill>
                  <a:srgbClr val="DA1884"/>
                </a:solidFill>
                <a:latin typeface="Arial"/>
                <a:ea typeface="Arial"/>
                <a:cs typeface="Arial"/>
              </a:rPr>
              <a:t>CLIENT STORIES</a:t>
            </a:r>
            <a:endParaRPr sz="1000"/>
          </a:p>
        </p:txBody>
      </p:sp>
      <p:sp>
        <p:nvSpPr>
          <p:cNvPr id="5" name="Text 2">
            <a:extLst xmlns:a="http://schemas.openxmlformats.org/drawingml/2006/main">
              <a:ext uri="{FF2B5EF4-FFF2-40B4-BE49-F238E27FC236}">
                <a16:creationId xmlns:a16="http://schemas.microsoft.com/office/drawing/2014/main" id="{7D75A38D-5899-40E3-B1FF-485904DA8080}"/>
              </a:ext>
            </a:extLst>
          </p:cNvPr>
          <p:cNvSpPr>
            <a:spLocks xmlns:a="http://schemas.openxmlformats.org/drawingml/2006/main" noGrp="1"/>
          </p:cNvSpPr>
          <p:nvPr/>
        </p:nvSpPr>
        <p:spPr>
          <a:xfrm xmlns:a="http://schemas.openxmlformats.org/drawingml/2006/main">
            <a:off x="508000" y="6578600"/>
            <a:ext cx="8890000" cy="177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900">
                <a:solidFill>
                  <a:srgbClr val="9E9E9E"/>
                </a:solidFill>
                <a:latin typeface="Arial"/>
                <a:ea typeface="Arial"/>
                <a:cs typeface="Arial"/>
              </a:rPr>
              <a:t>Insight Proprietary &amp; Confidential.  Do Not Copy or Distribute.  © 2026 Insight.  All Rights Reserved.</a:t>
            </a:r>
            <a:endParaRPr sz="900"/>
          </a:p>
        </p:txBody>
      </p:sp>
      <p:sp>
        <p:nvSpPr>
          <p:cNvPr id="6" name="Text 3">
            <a:extLst xmlns:a="http://schemas.openxmlformats.org/drawingml/2006/main">
              <a:ext uri="{FF2B5EF4-FFF2-40B4-BE49-F238E27FC236}">
                <a16:creationId xmlns:a16="http://schemas.microsoft.com/office/drawing/2014/main" id="{6ED08289-F49E-4FF7-8D37-0817AD5370DE}"/>
              </a:ext>
            </a:extLst>
          </p:cNvPr>
          <p:cNvSpPr>
            <a:spLocks xmlns:a="http://schemas.openxmlformats.org/drawingml/2006/main" noGrp="1"/>
          </p:cNvSpPr>
          <p:nvPr/>
        </p:nvSpPr>
        <p:spPr>
          <a:xfrm xmlns:a="http://schemas.openxmlformats.org/drawingml/2006/main">
            <a:off x="10922000" y="6578600"/>
            <a:ext cx="762000" cy="177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ct val="110000"/>
              </a:lnSpc>
              <a:buNone/>
            </a:pPr>
            <a:r>
              <a:rPr sz="900">
                <a:solidFill>
                  <a:srgbClr val="9E9E9E"/>
                </a:solidFill>
                <a:latin typeface="Arial"/>
                <a:ea typeface="Arial"/>
                <a:cs typeface="Arial"/>
              </a:rPr>
              <a:t>18</a:t>
            </a:r>
            <a:endParaRPr sz="900"/>
          </a:p>
        </p:txBody>
      </p:sp>
      <p:sp>
        <p:nvSpPr>
          <p:cNvPr id="7" name="Text 4">
            <a:extLst xmlns:a="http://schemas.openxmlformats.org/drawingml/2006/main">
              <a:ext uri="{FF2B5EF4-FFF2-40B4-BE49-F238E27FC236}">
                <a16:creationId xmlns:a16="http://schemas.microsoft.com/office/drawing/2014/main" id="{83CD959F-F07C-4AE6-A601-4EE4C9CC948C}"/>
              </a:ext>
            </a:extLst>
          </p:cNvPr>
          <p:cNvSpPr>
            <a:spLocks xmlns:a="http://schemas.openxmlformats.org/drawingml/2006/main" noGrp="1"/>
          </p:cNvSpPr>
          <p:nvPr/>
        </p:nvSpPr>
        <p:spPr>
          <a:xfrm xmlns:a="http://schemas.openxmlformats.org/drawingml/2006/main">
            <a:off x="508000" y="889000"/>
            <a:ext cx="11176000" cy="2159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1200" b="1">
                <a:solidFill>
                  <a:srgbClr val="DA1884"/>
                </a:solidFill>
                <a:latin typeface="Arial"/>
                <a:ea typeface="Arial"/>
                <a:cs typeface="Arial"/>
              </a:rPr>
              <a:t>CLIENT STORY · RETAIL</a:t>
            </a:r>
            <a:endParaRPr sz="1200"/>
          </a:p>
        </p:txBody>
      </p:sp>
      <p:sp>
        <p:nvSpPr>
          <p:cNvPr id="8" name="Text 5">
            <a:extLst xmlns:a="http://schemas.openxmlformats.org/drawingml/2006/main">
              <a:ext uri="{FF2B5EF4-FFF2-40B4-BE49-F238E27FC236}">
                <a16:creationId xmlns:a16="http://schemas.microsoft.com/office/drawing/2014/main" id="{3B2C672A-A9FE-4482-AE15-95B0777601AD}"/>
              </a:ext>
            </a:extLst>
          </p:cNvPr>
          <p:cNvSpPr>
            <a:spLocks xmlns:a="http://schemas.openxmlformats.org/drawingml/2006/main" noGrp="1"/>
          </p:cNvSpPr>
          <p:nvPr/>
        </p:nvSpPr>
        <p:spPr>
          <a:xfrm xmlns:a="http://schemas.openxmlformats.org/drawingml/2006/main">
            <a:off x="508000" y="1130300"/>
            <a:ext cx="11176000" cy="482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3000" b="1">
                <a:solidFill>
                  <a:srgbClr val="141414"/>
                </a:solidFill>
                <a:latin typeface="Arial"/>
                <a:ea typeface="Arial"/>
                <a:cs typeface="Arial"/>
              </a:rPr>
              <a:t>Global Retail Coffee Manufacturer</a:t>
            </a:r>
            <a:endParaRPr sz="3000"/>
          </a:p>
        </p:txBody>
      </p:sp>
      <p:sp>
        <p:nvSpPr>
          <p:cNvPr id="9" name="Text 6">
            <a:extLst xmlns:a="http://schemas.openxmlformats.org/drawingml/2006/main">
              <a:ext uri="{FF2B5EF4-FFF2-40B4-BE49-F238E27FC236}">
                <a16:creationId xmlns:a16="http://schemas.microsoft.com/office/drawing/2014/main" id="{300C35A9-4C73-4EF3-ADCF-8BE7D33DC8E0}"/>
              </a:ext>
            </a:extLst>
          </p:cNvPr>
          <p:cNvSpPr>
            <a:spLocks xmlns:a="http://schemas.openxmlformats.org/drawingml/2006/main" noGrp="1"/>
          </p:cNvSpPr>
          <p:nvPr/>
        </p:nvSpPr>
        <p:spPr>
          <a:xfrm xmlns:a="http://schemas.openxmlformats.org/drawingml/2006/main">
            <a:off x="508000" y="1663700"/>
            <a:ext cx="11176000"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1400">
                <a:solidFill>
                  <a:srgbClr val="6B6B6B"/>
                </a:solidFill>
                <a:latin typeface="Arial"/>
                <a:ea typeface="Arial"/>
                <a:cs typeface="Arial"/>
              </a:rPr>
              <a:t>Next-generation point of sale and order operations.</a:t>
            </a:r>
            <a:endParaRPr sz="1400"/>
          </a:p>
        </p:txBody>
      </p:sp>
      <p:sp>
        <p:nvSpPr>
          <p:cNvPr id="11" name="Shape 7">
            <a:extLst xmlns:a="http://schemas.openxmlformats.org/drawingml/2006/main">
              <a:ext uri="{FF2B5EF4-FFF2-40B4-BE49-F238E27FC236}">
                <a16:creationId xmlns:a16="http://schemas.microsoft.com/office/drawing/2014/main" id="{D956FC87-46F9-4F93-A9BE-143901B6C1A8}"/>
              </a:ext>
            </a:extLst>
          </p:cNvPr>
          <p:cNvSpPr>
            <a:spLocks xmlns:a="http://schemas.openxmlformats.org/drawingml/2006/main" noGrp="1"/>
          </p:cNvSpPr>
          <p:nvPr/>
        </p:nvSpPr>
        <p:spPr>
          <a:xfrm xmlns:a="http://schemas.openxmlformats.org/drawingml/2006/main">
            <a:off x="508000" y="2159000"/>
            <a:ext cx="3429000" cy="1549400"/>
          </a:xfrm>
          <a:prstGeom xmlns:a="http://schemas.openxmlformats.org/drawingml/2006/main" prst="rect">
            <a:avLst/>
          </a:prstGeom>
          <a:solidFill xmlns:a="http://schemas.openxmlformats.org/drawingml/2006/main">
            <a:srgbClr val="F4F4F4"/>
          </a:solidFill>
          <a:effectLst xmlns:a="http://schemas.openxmlformats.org/drawingml/2006/main">
            <a:outerShdw blurRad="50800" dist="25400" dir="5400000" algn="bl" rotWithShape="0">
              <a:srgbClr val="000000">
                <a:alpha val="18000"/>
              </a:srgbClr>
            </a:outerShdw>
          </a:effectLst>
        </p:spPr>
        <p:txBody>
          <a:bodyPr xmlns:a="http://schemas.openxmlformats.org/drawingml/2006/main"/>
          <a:lstStyle xmlns:a="http://schemas.openxmlformats.org/drawingml/2006/main"/>
          <a:p xmlns:a="http://schemas.openxmlformats.org/drawingml/2006/main">
            <a:endParaRPr/>
          </a:p>
        </p:txBody>
      </p:sp>
      <p:sp>
        <p:nvSpPr>
          <p:cNvPr id="12" name="Shape 8">
            <a:extLst xmlns:a="http://schemas.openxmlformats.org/drawingml/2006/main">
              <a:ext uri="{FF2B5EF4-FFF2-40B4-BE49-F238E27FC236}">
                <a16:creationId xmlns:a16="http://schemas.microsoft.com/office/drawing/2014/main" id="{6D2FD96E-0F90-4D97-B6B1-449DB00314C4}"/>
              </a:ext>
            </a:extLst>
          </p:cNvPr>
          <p:cNvSpPr>
            <a:spLocks xmlns:a="http://schemas.openxmlformats.org/drawingml/2006/main" noGrp="1"/>
          </p:cNvSpPr>
          <p:nvPr/>
        </p:nvSpPr>
        <p:spPr>
          <a:xfrm xmlns:a="http://schemas.openxmlformats.org/drawingml/2006/main">
            <a:off x="508000" y="2159000"/>
            <a:ext cx="3429000" cy="50800"/>
          </a:xfrm>
          <a:prstGeom xmlns:a="http://schemas.openxmlformats.org/drawingml/2006/main" prst="rect">
            <a:avLst/>
          </a:prstGeom>
          <a:solidFill xmlns:a="http://schemas.openxmlformats.org/drawingml/2006/main">
            <a:srgbClr val="DA1884"/>
          </a:solidFill>
        </p:spPr>
        <p:txBody>
          <a:bodyPr xmlns:a="http://schemas.openxmlformats.org/drawingml/2006/main"/>
          <a:lstStyle xmlns:a="http://schemas.openxmlformats.org/drawingml/2006/main"/>
          <a:p xmlns:a="http://schemas.openxmlformats.org/drawingml/2006/main">
            <a:endParaRPr/>
          </a:p>
        </p:txBody>
      </p:sp>
      <p:sp>
        <p:nvSpPr>
          <p:cNvPr id="13" name="Text 9">
            <a:extLst xmlns:a="http://schemas.openxmlformats.org/drawingml/2006/main">
              <a:ext uri="{FF2B5EF4-FFF2-40B4-BE49-F238E27FC236}">
                <a16:creationId xmlns:a16="http://schemas.microsoft.com/office/drawing/2014/main" id="{42C0521A-BACD-4E81-BA5A-F1C3DC80D008}"/>
              </a:ext>
            </a:extLst>
          </p:cNvPr>
          <p:cNvSpPr>
            <a:spLocks xmlns:a="http://schemas.openxmlformats.org/drawingml/2006/main" noGrp="1"/>
          </p:cNvSpPr>
          <p:nvPr/>
        </p:nvSpPr>
        <p:spPr>
          <a:xfrm xmlns:a="http://schemas.openxmlformats.org/drawingml/2006/main">
            <a:off x="736600" y="2349500"/>
            <a:ext cx="2971800" cy="2159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1200" b="1">
                <a:solidFill>
                  <a:srgbClr val="DA1884"/>
                </a:solidFill>
                <a:latin typeface="Arial"/>
                <a:ea typeface="Arial"/>
                <a:cs typeface="Arial"/>
              </a:rPr>
              <a:t>LOCATIONS</a:t>
            </a:r>
            <a:endParaRPr sz="1200"/>
          </a:p>
        </p:txBody>
      </p:sp>
      <p:sp>
        <p:nvSpPr>
          <p:cNvPr id="14" name="Text 10">
            <a:extLst xmlns:a="http://schemas.openxmlformats.org/drawingml/2006/main">
              <a:ext uri="{FF2B5EF4-FFF2-40B4-BE49-F238E27FC236}">
                <a16:creationId xmlns:a16="http://schemas.microsoft.com/office/drawing/2014/main" id="{1E93D0F9-FC2B-4FC9-8AFA-2B29749CE512}"/>
              </a:ext>
            </a:extLst>
          </p:cNvPr>
          <p:cNvSpPr>
            <a:spLocks xmlns:a="http://schemas.openxmlformats.org/drawingml/2006/main" noGrp="1"/>
          </p:cNvSpPr>
          <p:nvPr/>
        </p:nvSpPr>
        <p:spPr>
          <a:xfrm xmlns:a="http://schemas.openxmlformats.org/drawingml/2006/main">
            <a:off x="736600" y="2616200"/>
            <a:ext cx="2971800" cy="635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4000" b="1">
                <a:solidFill>
                  <a:srgbClr val="141414"/>
                </a:solidFill>
                <a:latin typeface="Arial"/>
                <a:ea typeface="Arial"/>
                <a:cs typeface="Arial"/>
              </a:rPr>
              <a:t>33k</a:t>
            </a:r>
            <a:endParaRPr sz="4000"/>
          </a:p>
        </p:txBody>
      </p:sp>
      <p:sp>
        <p:nvSpPr>
          <p:cNvPr id="15" name="Text 11">
            <a:extLst xmlns:a="http://schemas.openxmlformats.org/drawingml/2006/main">
              <a:ext uri="{FF2B5EF4-FFF2-40B4-BE49-F238E27FC236}">
                <a16:creationId xmlns:a16="http://schemas.microsoft.com/office/drawing/2014/main" id="{29747CE4-BCC1-4AF5-AB13-B305B8137FFB}"/>
              </a:ext>
            </a:extLst>
          </p:cNvPr>
          <p:cNvSpPr>
            <a:spLocks xmlns:a="http://schemas.openxmlformats.org/drawingml/2006/main" noGrp="1"/>
          </p:cNvSpPr>
          <p:nvPr/>
        </p:nvSpPr>
        <p:spPr>
          <a:xfrm xmlns:a="http://schemas.openxmlformats.org/drawingml/2006/main">
            <a:off x="736600" y="3327400"/>
            <a:ext cx="2971800" cy="2159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1200">
                <a:solidFill>
                  <a:srgbClr val="6B6B6B"/>
                </a:solidFill>
                <a:latin typeface="Arial"/>
                <a:ea typeface="Arial"/>
                <a:cs typeface="Arial"/>
              </a:rPr>
              <a:t>security and offline operation are key</a:t>
            </a:r>
            <a:endParaRPr sz="1200"/>
          </a:p>
        </p:txBody>
      </p:sp>
      <p:sp>
        <p:nvSpPr>
          <p:cNvPr id="16" name="Shape 12">
            <a:extLst xmlns:a="http://schemas.openxmlformats.org/drawingml/2006/main">
              <a:ext uri="{FF2B5EF4-FFF2-40B4-BE49-F238E27FC236}">
                <a16:creationId xmlns:a16="http://schemas.microsoft.com/office/drawing/2014/main" id="{25D11877-1100-4C9F-AA16-AB4A6C6D051C}"/>
              </a:ext>
            </a:extLst>
          </p:cNvPr>
          <p:cNvSpPr>
            <a:spLocks xmlns:a="http://schemas.openxmlformats.org/drawingml/2006/main" noGrp="1"/>
          </p:cNvSpPr>
          <p:nvPr/>
        </p:nvSpPr>
        <p:spPr>
          <a:xfrm xmlns:a="http://schemas.openxmlformats.org/drawingml/2006/main">
            <a:off x="508000" y="3911600"/>
            <a:ext cx="3429000" cy="1943100"/>
          </a:xfrm>
          <a:prstGeom xmlns:a="http://schemas.openxmlformats.org/drawingml/2006/main" prst="rect">
            <a:avLst/>
          </a:prstGeom>
          <a:solidFill xmlns:a="http://schemas.openxmlformats.org/drawingml/2006/main">
            <a:srgbClr val="F4F4F4"/>
          </a:solidFill>
          <a:effectLst xmlns:a="http://schemas.openxmlformats.org/drawingml/2006/main">
            <a:outerShdw blurRad="50800" dist="25400" dir="5400000" algn="bl" rotWithShape="0">
              <a:srgbClr val="000000">
                <a:alpha val="18000"/>
              </a:srgbClr>
            </a:outerShdw>
          </a:effectLst>
        </p:spPr>
        <p:txBody>
          <a:bodyPr xmlns:a="http://schemas.openxmlformats.org/drawingml/2006/main"/>
          <a:lstStyle xmlns:a="http://schemas.openxmlformats.org/drawingml/2006/main"/>
          <a:p xmlns:a="http://schemas.openxmlformats.org/drawingml/2006/main">
            <a:endParaRPr/>
          </a:p>
        </p:txBody>
      </p:sp>
      <p:sp>
        <p:nvSpPr>
          <p:cNvPr id="17" name="Shape 13">
            <a:extLst xmlns:a="http://schemas.openxmlformats.org/drawingml/2006/main">
              <a:ext uri="{FF2B5EF4-FFF2-40B4-BE49-F238E27FC236}">
                <a16:creationId xmlns:a16="http://schemas.microsoft.com/office/drawing/2014/main" id="{FB3B89A7-F7B2-4C17-A33B-752E38CAD6A8}"/>
              </a:ext>
            </a:extLst>
          </p:cNvPr>
          <p:cNvSpPr>
            <a:spLocks xmlns:a="http://schemas.openxmlformats.org/drawingml/2006/main" noGrp="1"/>
          </p:cNvSpPr>
          <p:nvPr/>
        </p:nvSpPr>
        <p:spPr>
          <a:xfrm xmlns:a="http://schemas.openxmlformats.org/drawingml/2006/main">
            <a:off x="508000" y="3911600"/>
            <a:ext cx="3429000" cy="50800"/>
          </a:xfrm>
          <a:prstGeom xmlns:a="http://schemas.openxmlformats.org/drawingml/2006/main" prst="rect">
            <a:avLst/>
          </a:prstGeom>
          <a:solidFill xmlns:a="http://schemas.openxmlformats.org/drawingml/2006/main">
            <a:srgbClr val="DA1884"/>
          </a:solidFill>
        </p:spPr>
        <p:txBody>
          <a:bodyPr xmlns:a="http://schemas.openxmlformats.org/drawingml/2006/main"/>
          <a:lstStyle xmlns:a="http://schemas.openxmlformats.org/drawingml/2006/main"/>
          <a:p xmlns:a="http://schemas.openxmlformats.org/drawingml/2006/main">
            <a:endParaRPr/>
          </a:p>
        </p:txBody>
      </p:sp>
      <p:sp>
        <p:nvSpPr>
          <p:cNvPr id="18" name="Text 14">
            <a:extLst xmlns:a="http://schemas.openxmlformats.org/drawingml/2006/main">
              <a:ext uri="{FF2B5EF4-FFF2-40B4-BE49-F238E27FC236}">
                <a16:creationId xmlns:a16="http://schemas.microsoft.com/office/drawing/2014/main" id="{DBE6E971-7734-4EEC-9B82-93FAB6C60A75}"/>
              </a:ext>
            </a:extLst>
          </p:cNvPr>
          <p:cNvSpPr>
            <a:spLocks xmlns:a="http://schemas.openxmlformats.org/drawingml/2006/main" noGrp="1"/>
          </p:cNvSpPr>
          <p:nvPr/>
        </p:nvSpPr>
        <p:spPr>
          <a:xfrm xmlns:a="http://schemas.openxmlformats.org/drawingml/2006/main">
            <a:off x="736600" y="4140200"/>
            <a:ext cx="2971800" cy="15367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15000"/>
              </a:lnSpc>
              <a:spcAft>
                <a:spcPts val="800"/>
              </a:spcAft>
              <a:buNone/>
            </a:pPr>
            <a:r>
              <a:rPr sz="1200" b="1">
                <a:solidFill>
                  <a:srgbClr val="DA1884"/>
                </a:solidFill>
                <a:latin typeface="Arial"/>
                <a:ea typeface="Arial"/>
                <a:cs typeface="Arial"/>
              </a:rPr>
              <a:t>WHERE IT IS GOING</a:t>
            </a:r>
            <a:endParaRPr sz="1200"/>
          </a:p>
          <a:p xmlns:a="http://schemas.openxmlformats.org/drawingml/2006/main">
            <a:pPr marL="0" indent="0">
              <a:lnSpc>
                <a:spcPct val="115000"/>
              </a:lnSpc>
              <a:spcAft>
                <a:spcPts val="800"/>
              </a:spcAft>
              <a:buNone/>
            </a:pPr>
            <a:r>
              <a:rPr sz="1500" b="1">
                <a:solidFill>
                  <a:srgbClr val="141414"/>
                </a:solidFill>
                <a:latin typeface="Arial"/>
                <a:ea typeface="Arial"/>
                <a:cs typeface="Arial"/>
              </a:rPr>
              <a:t>The drive-thru</a:t>
            </a:r>
            <a:endParaRPr sz="1200"/>
          </a:p>
          <a:p xmlns:a="http://schemas.openxmlformats.org/drawingml/2006/main">
            <a:pPr marL="0" indent="0">
              <a:lnSpc>
                <a:spcPct val="115000"/>
              </a:lnSpc>
              <a:buNone/>
            </a:pPr>
            <a:r>
              <a:rPr sz="1200">
                <a:solidFill>
                  <a:srgbClr val="333333"/>
                </a:solidFill>
                <a:latin typeface="Arial"/>
                <a:ea typeface="Arial"/>
                <a:cs typeface="Arial"/>
              </a:rPr>
              <a:t>Now engaged on opportunities to improve drive-thru experiences.</a:t>
            </a:r>
            <a:endParaRPr sz="1200"/>
          </a:p>
        </p:txBody>
      </p:sp>
      <p:sp>
        <p:nvSpPr>
          <p:cNvPr id="19" name="Text 15">
            <a:extLst xmlns:a="http://schemas.openxmlformats.org/drawingml/2006/main">
              <a:ext uri="{FF2B5EF4-FFF2-40B4-BE49-F238E27FC236}">
                <a16:creationId xmlns:a16="http://schemas.microsoft.com/office/drawing/2014/main" id="{71AE39DE-0EBE-486F-8ABB-C2BBF81F63CF}"/>
              </a:ext>
            </a:extLst>
          </p:cNvPr>
          <p:cNvSpPr>
            <a:spLocks xmlns:a="http://schemas.openxmlformats.org/drawingml/2006/main" noGrp="1"/>
          </p:cNvSpPr>
          <p:nvPr/>
        </p:nvSpPr>
        <p:spPr>
          <a:xfrm xmlns:a="http://schemas.openxmlformats.org/drawingml/2006/main">
            <a:off x="4191000" y="2159000"/>
            <a:ext cx="7493000" cy="571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0000"/>
              </a:lnSpc>
              <a:buNone/>
            </a:pPr>
            <a:r>
              <a:rPr sz="1500" b="1">
                <a:solidFill>
                  <a:srgbClr val="141414"/>
                </a:solidFill>
                <a:latin typeface="Arial"/>
                <a:ea typeface="Arial"/>
                <a:cs typeface="Arial"/>
              </a:rPr>
              <a:t>The client set out to build the next-generation POS and ordering system.</a:t>
            </a:r>
            <a:endParaRPr sz="1500"/>
          </a:p>
        </p:txBody>
      </p:sp>
      <p:sp>
        <p:nvSpPr>
          <p:cNvPr id="20" name="Shape 16">
            <a:extLst xmlns:a="http://schemas.openxmlformats.org/drawingml/2006/main">
              <a:ext uri="{FF2B5EF4-FFF2-40B4-BE49-F238E27FC236}">
                <a16:creationId xmlns:a16="http://schemas.microsoft.com/office/drawing/2014/main" id="{700E1FB4-1837-4C04-95C3-0347E4C777C7}"/>
              </a:ext>
            </a:extLst>
          </p:cNvPr>
          <p:cNvSpPr>
            <a:spLocks xmlns:a="http://schemas.openxmlformats.org/drawingml/2006/main" noGrp="1"/>
          </p:cNvSpPr>
          <p:nvPr/>
        </p:nvSpPr>
        <p:spPr>
          <a:xfrm xmlns:a="http://schemas.openxmlformats.org/drawingml/2006/main">
            <a:off x="4191000" y="2870200"/>
            <a:ext cx="7493000" cy="2984500"/>
          </a:xfrm>
          <a:prstGeom xmlns:a="http://schemas.openxmlformats.org/drawingml/2006/main" prst="rect">
            <a:avLst/>
          </a:prstGeom>
          <a:solidFill xmlns:a="http://schemas.openxmlformats.org/drawingml/2006/main">
            <a:srgbClr val="F4F4F4"/>
          </a:solidFill>
          <a:effectLst xmlns:a="http://schemas.openxmlformats.org/drawingml/2006/main">
            <a:outerShdw blurRad="50800" dist="25400" dir="5400000" algn="bl" rotWithShape="0">
              <a:srgbClr val="000000">
                <a:alpha val="18000"/>
              </a:srgbClr>
            </a:outerShdw>
          </a:effectLst>
        </p:spPr>
        <p:txBody>
          <a:bodyPr xmlns:a="http://schemas.openxmlformats.org/drawingml/2006/main"/>
          <a:lstStyle xmlns:a="http://schemas.openxmlformats.org/drawingml/2006/main"/>
          <a:p xmlns:a="http://schemas.openxmlformats.org/drawingml/2006/main">
            <a:endParaRPr/>
          </a:p>
        </p:txBody>
      </p:sp>
      <p:sp>
        <p:nvSpPr>
          <p:cNvPr id="21" name="Shape 17">
            <a:extLst xmlns:a="http://schemas.openxmlformats.org/drawingml/2006/main">
              <a:ext uri="{FF2B5EF4-FFF2-40B4-BE49-F238E27FC236}">
                <a16:creationId xmlns:a16="http://schemas.microsoft.com/office/drawing/2014/main" id="{2D7FA955-3571-42AA-A14D-C7D85A82EC1D}"/>
              </a:ext>
            </a:extLst>
          </p:cNvPr>
          <p:cNvSpPr>
            <a:spLocks xmlns:a="http://schemas.openxmlformats.org/drawingml/2006/main" noGrp="1"/>
          </p:cNvSpPr>
          <p:nvPr/>
        </p:nvSpPr>
        <p:spPr>
          <a:xfrm xmlns:a="http://schemas.openxmlformats.org/drawingml/2006/main">
            <a:off x="4191000" y="2870200"/>
            <a:ext cx="7493000" cy="406400"/>
          </a:xfrm>
          <a:prstGeom xmlns:a="http://schemas.openxmlformats.org/drawingml/2006/main" prst="rect">
            <a:avLst/>
          </a:prstGeom>
          <a:solidFill xmlns:a="http://schemas.openxmlformats.org/drawingml/2006/main">
            <a:srgbClr val="DA1884"/>
          </a:solidFill>
        </p:spPr>
        <p:txBody>
          <a:bodyPr xmlns:a="http://schemas.openxmlformats.org/drawingml/2006/main"/>
          <a:lstStyle xmlns:a="http://schemas.openxmlformats.org/drawingml/2006/main"/>
          <a:p xmlns:a="http://schemas.openxmlformats.org/drawingml/2006/main">
            <a:endParaRPr/>
          </a:p>
        </p:txBody>
      </p:sp>
      <p:sp>
        <p:nvSpPr>
          <p:cNvPr id="22" name="Text 18">
            <a:extLst xmlns:a="http://schemas.openxmlformats.org/drawingml/2006/main">
              <a:ext uri="{FF2B5EF4-FFF2-40B4-BE49-F238E27FC236}">
                <a16:creationId xmlns:a16="http://schemas.microsoft.com/office/drawing/2014/main" id="{F9C5D286-AFBF-464B-93FF-F6843CD68FD0}"/>
              </a:ext>
            </a:extLst>
          </p:cNvPr>
          <p:cNvSpPr>
            <a:spLocks xmlns:a="http://schemas.openxmlformats.org/drawingml/2006/main" noGrp="1"/>
          </p:cNvSpPr>
          <p:nvPr/>
        </p:nvSpPr>
        <p:spPr>
          <a:xfrm xmlns:a="http://schemas.openxmlformats.org/drawingml/2006/main">
            <a:off x="4419600" y="2870200"/>
            <a:ext cx="7035800" cy="406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300" b="1">
                <a:solidFill>
                  <a:srgbClr val="FFFFFF"/>
                </a:solidFill>
                <a:latin typeface="Arial"/>
                <a:ea typeface="Arial"/>
                <a:cs typeface="Arial"/>
              </a:rPr>
              <a:t>Why gRPC</a:t>
            </a:r>
            <a:endParaRPr sz="1300"/>
          </a:p>
        </p:txBody>
      </p:sp>
      <p:sp>
        <p:nvSpPr>
          <p:cNvPr id="23" name="Text 19">
            <a:extLst xmlns:a="http://schemas.openxmlformats.org/drawingml/2006/main">
              <a:ext uri="{FF2B5EF4-FFF2-40B4-BE49-F238E27FC236}">
                <a16:creationId xmlns:a16="http://schemas.microsoft.com/office/drawing/2014/main" id="{C7CDB3C6-457A-40B9-A3F4-4C70C102FB6E}"/>
              </a:ext>
            </a:extLst>
          </p:cNvPr>
          <p:cNvSpPr>
            <a:spLocks xmlns:a="http://schemas.openxmlformats.org/drawingml/2006/main" noGrp="1"/>
          </p:cNvSpPr>
          <p:nvPr/>
        </p:nvSpPr>
        <p:spPr>
          <a:xfrm xmlns:a="http://schemas.openxmlformats.org/drawingml/2006/main">
            <a:off x="4419600" y="3454400"/>
            <a:ext cx="7035800" cy="22479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lnSpc>
                <a:spcPct val="115000"/>
              </a:lnSpc>
              <a:spcAft>
                <a:spcPts val="1000"/>
              </a:spcAft>
              <a:buSzPct val="100000"/>
              <a:buChar char="•"/>
            </a:pPr>
            <a:r>
              <a:rPr sz="1200">
                <a:solidFill>
                  <a:srgbClr val="333333"/>
                </a:solidFill>
                <a:latin typeface="Arial"/>
                <a:ea typeface="Arial"/>
                <a:cs typeface="Arial"/>
              </a:rPr>
              <a:t>Better experiences for both the barista partner and the customer</a:t>
            </a:r>
            <a:endParaRPr sz="1200"/>
          </a:p>
          <a:p xmlns:a="http://schemas.openxmlformats.org/drawingml/2006/main">
            <a:pPr marL="342900" indent="-342900">
              <a:lnSpc>
                <a:spcPct val="115000"/>
              </a:lnSpc>
              <a:spcAft>
                <a:spcPts val="1000"/>
              </a:spcAft>
              <a:buSzPct val="100000"/>
              <a:buChar char="•"/>
            </a:pPr>
            <a:r>
              <a:rPr sz="1200">
                <a:solidFill>
                  <a:srgbClr val="333333"/>
                </a:solidFill>
                <a:latin typeface="Arial"/>
                <a:ea typeface="Arial"/>
                <a:cs typeface="Arial"/>
              </a:rPr>
              <a:t>Limited ability to expose endpoints at the store</a:t>
            </a:r>
            <a:endParaRPr sz="1200"/>
          </a:p>
          <a:p xmlns:a="http://schemas.openxmlformats.org/drawingml/2006/main">
            <a:pPr marL="342900" indent="-342900">
              <a:lnSpc>
                <a:spcPct val="115000"/>
              </a:lnSpc>
              <a:spcAft>
                <a:spcPts val="1000"/>
              </a:spcAft>
              <a:buSzPct val="100000"/>
              <a:buChar char="•"/>
            </a:pPr>
            <a:r>
              <a:rPr sz="1200">
                <a:solidFill>
                  <a:srgbClr val="333333"/>
                </a:solidFill>
                <a:latin typeface="Arial"/>
                <a:ea typeface="Arial"/>
                <a:cs typeface="Arial"/>
              </a:rPr>
              <a:t>gRPC integration reduces exposure and increases performance</a:t>
            </a:r>
            <a:endParaRPr sz="1200"/>
          </a:p>
          <a:p xmlns:a="http://schemas.openxmlformats.org/drawingml/2006/main">
            <a:pPr marL="342900" indent="-342900">
              <a:lnSpc>
                <a:spcPct val="115000"/>
              </a:lnSpc>
              <a:spcAft>
                <a:spcPts val="1000"/>
              </a:spcAft>
              <a:buSzPct val="100000"/>
              <a:buChar char="•"/>
            </a:pPr>
            <a:r>
              <a:rPr sz="1200">
                <a:solidFill>
                  <a:srgbClr val="333333"/>
                </a:solidFill>
                <a:latin typeface="Arial"/>
                <a:ea typeface="Arial"/>
                <a:cs typeface="Arial"/>
              </a:rPr>
              <a:t>Service-based integration built on typed gRPC contracts</a:t>
            </a:r>
            <a:endParaRPr sz="1200"/>
          </a:p>
        </p:txBody>
      </p:sp>
    </p:spTree>
    <p:extLst>
      <p:ext uri="{BB962C8B-B14F-4D97-AF65-F5344CB8AC3E}">
        <p14:creationId xmlns:p14="http://schemas.microsoft.com/office/powerpoint/2010/main" val="515521997"/>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D4A8BD36-FB66-4F3B-BCBF-1D65385C3452}"/>
              </a:ext>
            </a:extLst>
          </p:cNvPr>
          <p:cNvPicPr>
            <a:picLocks xmlns:a="http://schemas.openxmlformats.org/drawingml/2006/main" noChangeAspect="1"/>
          </p:cNvPicPr>
          <p:nvPr/>
        </p:nvPicPr>
        <p:blipFill>
          <a:blip xmlns:r="http://schemas.openxmlformats.org/officeDocument/2006/relationships" xmlns:a="http://schemas.openxmlformats.org/drawingml/2006/main" r:embed="R2a748d75b4294a09"/>
          <a:stretch xmlns:a="http://schemas.openxmlformats.org/drawingml/2006/main">
            <a:fillRect l="0" t="0" r="0" b="0"/>
          </a:stretch>
        </p:blipFill>
        <p:spPr>
          <a:xfrm xmlns:a="http://schemas.openxmlformats.org/drawingml/2006/main">
            <a:off x="508000" y="152400"/>
            <a:ext cx="990600" cy="40640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8EA7740E-7E5B-4BF3-945E-85ADBBD1DED7}"/>
              </a:ext>
            </a:extLst>
          </p:cNvPr>
          <p:cNvSpPr>
            <a:spLocks xmlns:a="http://schemas.openxmlformats.org/drawingml/2006/main" noGrp="1"/>
          </p:cNvSpPr>
          <p:nvPr/>
        </p:nvSpPr>
        <p:spPr>
          <a:xfrm xmlns:a="http://schemas.openxmlformats.org/drawingml/2006/main">
            <a:off x="3556000" y="406400"/>
            <a:ext cx="5080000" cy="190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110000"/>
              </a:lnSpc>
              <a:buNone/>
            </a:pPr>
            <a:r>
              <a:rPr sz="1000">
                <a:solidFill>
                  <a:srgbClr val="6B6B6B"/>
                </a:solidFill>
                <a:latin typeface="Arial"/>
                <a:ea typeface="Arial"/>
                <a:cs typeface="Arial"/>
              </a:rPr>
              <a:t>Protocol Studio  —  REST · GraphQL · gRPC</a:t>
            </a:r>
            <a:endParaRPr sz="1000"/>
          </a:p>
        </p:txBody>
      </p:sp>
      <p:sp>
        <p:nvSpPr>
          <p:cNvPr id="4" name="Text 1">
            <a:extLst xmlns:a="http://schemas.openxmlformats.org/drawingml/2006/main">
              <a:ext uri="{FF2B5EF4-FFF2-40B4-BE49-F238E27FC236}">
                <a16:creationId xmlns:a16="http://schemas.microsoft.com/office/drawing/2014/main" id="{14CB29D9-CA60-473C-8AC8-E720D7BEF35B}"/>
              </a:ext>
            </a:extLst>
          </p:cNvPr>
          <p:cNvSpPr>
            <a:spLocks xmlns:a="http://schemas.openxmlformats.org/drawingml/2006/main" noGrp="1"/>
          </p:cNvSpPr>
          <p:nvPr/>
        </p:nvSpPr>
        <p:spPr>
          <a:xfrm xmlns:a="http://schemas.openxmlformats.org/drawingml/2006/main">
            <a:off x="6350000" y="406400"/>
            <a:ext cx="5334000" cy="190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ct val="110000"/>
              </a:lnSpc>
              <a:buNone/>
            </a:pPr>
            <a:r>
              <a:rPr sz="1000" b="1">
                <a:solidFill>
                  <a:srgbClr val="DA1884"/>
                </a:solidFill>
                <a:latin typeface="Arial"/>
                <a:ea typeface="Arial"/>
                <a:cs typeface="Arial"/>
              </a:rPr>
              <a:t>CLOSING</a:t>
            </a:r>
            <a:endParaRPr sz="1000"/>
          </a:p>
        </p:txBody>
      </p:sp>
      <p:sp>
        <p:nvSpPr>
          <p:cNvPr id="5" name="Text 2">
            <a:extLst xmlns:a="http://schemas.openxmlformats.org/drawingml/2006/main">
              <a:ext uri="{FF2B5EF4-FFF2-40B4-BE49-F238E27FC236}">
                <a16:creationId xmlns:a16="http://schemas.microsoft.com/office/drawing/2014/main" id="{CDC94D25-2F96-4F93-A7AE-614A5A9FAC72}"/>
              </a:ext>
            </a:extLst>
          </p:cNvPr>
          <p:cNvSpPr>
            <a:spLocks xmlns:a="http://schemas.openxmlformats.org/drawingml/2006/main" noGrp="1"/>
          </p:cNvSpPr>
          <p:nvPr/>
        </p:nvSpPr>
        <p:spPr>
          <a:xfrm xmlns:a="http://schemas.openxmlformats.org/drawingml/2006/main">
            <a:off x="508000" y="6578600"/>
            <a:ext cx="8890000" cy="177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900">
                <a:solidFill>
                  <a:srgbClr val="9E9E9E"/>
                </a:solidFill>
                <a:latin typeface="Arial"/>
                <a:ea typeface="Arial"/>
                <a:cs typeface="Arial"/>
              </a:rPr>
              <a:t>Insight Proprietary &amp; Confidential.  Do Not Copy or Distribute.  © 2026 Insight.  All Rights Reserved.</a:t>
            </a:r>
            <a:endParaRPr sz="900"/>
          </a:p>
        </p:txBody>
      </p:sp>
      <p:sp>
        <p:nvSpPr>
          <p:cNvPr id="6" name="Text 3">
            <a:extLst xmlns:a="http://schemas.openxmlformats.org/drawingml/2006/main">
              <a:ext uri="{FF2B5EF4-FFF2-40B4-BE49-F238E27FC236}">
                <a16:creationId xmlns:a16="http://schemas.microsoft.com/office/drawing/2014/main" id="{412EE278-6B9D-4178-BCA6-B693FF8A3523}"/>
              </a:ext>
            </a:extLst>
          </p:cNvPr>
          <p:cNvSpPr>
            <a:spLocks xmlns:a="http://schemas.openxmlformats.org/drawingml/2006/main" noGrp="1"/>
          </p:cNvSpPr>
          <p:nvPr/>
        </p:nvSpPr>
        <p:spPr>
          <a:xfrm xmlns:a="http://schemas.openxmlformats.org/drawingml/2006/main">
            <a:off x="10922000" y="6578600"/>
            <a:ext cx="762000" cy="177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ct val="110000"/>
              </a:lnSpc>
              <a:buNone/>
            </a:pPr>
            <a:r>
              <a:rPr sz="900">
                <a:solidFill>
                  <a:srgbClr val="9E9E9E"/>
                </a:solidFill>
                <a:latin typeface="Arial"/>
                <a:ea typeface="Arial"/>
                <a:cs typeface="Arial"/>
              </a:rPr>
              <a:t>19</a:t>
            </a:r>
            <a:endParaRPr sz="900"/>
          </a:p>
        </p:txBody>
      </p:sp>
      <p:sp>
        <p:nvSpPr>
          <p:cNvPr id="7" name="Text 4">
            <a:extLst xmlns:a="http://schemas.openxmlformats.org/drawingml/2006/main">
              <a:ext uri="{FF2B5EF4-FFF2-40B4-BE49-F238E27FC236}">
                <a16:creationId xmlns:a16="http://schemas.microsoft.com/office/drawing/2014/main" id="{A09D51C3-9DE9-47AA-BF99-C8A617006382}"/>
              </a:ext>
            </a:extLst>
          </p:cNvPr>
          <p:cNvSpPr>
            <a:spLocks xmlns:a="http://schemas.openxmlformats.org/drawingml/2006/main" noGrp="1"/>
          </p:cNvSpPr>
          <p:nvPr/>
        </p:nvSpPr>
        <p:spPr>
          <a:xfrm xmlns:a="http://schemas.openxmlformats.org/drawingml/2006/main">
            <a:off x="508000" y="889000"/>
            <a:ext cx="11176000" cy="2159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1200" b="1">
                <a:solidFill>
                  <a:srgbClr val="DA1884"/>
                </a:solidFill>
                <a:latin typeface="Arial"/>
                <a:ea typeface="Arial"/>
                <a:cs typeface="Arial"/>
              </a:rPr>
              <a:t>WHAT TO TAKE AWAY</a:t>
            </a:r>
            <a:endParaRPr sz="1200"/>
          </a:p>
        </p:txBody>
      </p:sp>
      <p:sp>
        <p:nvSpPr>
          <p:cNvPr id="8" name="Text 5">
            <a:extLst xmlns:a="http://schemas.openxmlformats.org/drawingml/2006/main">
              <a:ext uri="{FF2B5EF4-FFF2-40B4-BE49-F238E27FC236}">
                <a16:creationId xmlns:a16="http://schemas.microsoft.com/office/drawing/2014/main" id="{BEA3AF91-F94B-4B4C-AA4F-3571D24D5753}"/>
              </a:ext>
            </a:extLst>
          </p:cNvPr>
          <p:cNvSpPr>
            <a:spLocks xmlns:a="http://schemas.openxmlformats.org/drawingml/2006/main" noGrp="1"/>
          </p:cNvSpPr>
          <p:nvPr/>
        </p:nvSpPr>
        <p:spPr>
          <a:xfrm xmlns:a="http://schemas.openxmlformats.org/drawingml/2006/main">
            <a:off x="508000" y="1130300"/>
            <a:ext cx="11176000" cy="482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3000" b="1">
                <a:solidFill>
                  <a:srgbClr val="141414"/>
                </a:solidFill>
                <a:latin typeface="Arial"/>
                <a:ea typeface="Arial"/>
                <a:cs typeface="Arial"/>
              </a:rPr>
              <a:t>Three Things to Take Away</a:t>
            </a:r>
            <a:endParaRPr sz="3000"/>
          </a:p>
        </p:txBody>
      </p:sp>
      <p:sp>
        <p:nvSpPr>
          <p:cNvPr id="9" name="Text 6">
            <a:extLst xmlns:a="http://schemas.openxmlformats.org/drawingml/2006/main">
              <a:ext uri="{FF2B5EF4-FFF2-40B4-BE49-F238E27FC236}">
                <a16:creationId xmlns:a16="http://schemas.microsoft.com/office/drawing/2014/main" id="{C7FA8C3B-EDDE-49A0-B086-75C2CF7757FE}"/>
              </a:ext>
            </a:extLst>
          </p:cNvPr>
          <p:cNvSpPr>
            <a:spLocks xmlns:a="http://schemas.openxmlformats.org/drawingml/2006/main" noGrp="1"/>
          </p:cNvSpPr>
          <p:nvPr/>
        </p:nvSpPr>
        <p:spPr>
          <a:xfrm xmlns:a="http://schemas.openxmlformats.org/drawingml/2006/main">
            <a:off x="508000" y="1663700"/>
            <a:ext cx="11176000"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1400">
                <a:solidFill>
                  <a:srgbClr val="6B6B6B"/>
                </a:solidFill>
                <a:latin typeface="Arial"/>
                <a:ea typeface="Arial"/>
                <a:cs typeface="Arial"/>
              </a:rPr>
              <a:t>Pick the protocol per operation, design the contract first, and measure the whole path.</a:t>
            </a:r>
            <a:endParaRPr sz="1400"/>
          </a:p>
        </p:txBody>
      </p:sp>
      <p:sp>
        <p:nvSpPr>
          <p:cNvPr id="11" name="Shape 7">
            <a:extLst xmlns:a="http://schemas.openxmlformats.org/drawingml/2006/main">
              <a:ext uri="{FF2B5EF4-FFF2-40B4-BE49-F238E27FC236}">
                <a16:creationId xmlns:a16="http://schemas.microsoft.com/office/drawing/2014/main" id="{29E12480-4246-4431-9AF9-A42044D463FD}"/>
              </a:ext>
            </a:extLst>
          </p:cNvPr>
          <p:cNvSpPr>
            <a:spLocks xmlns:a="http://schemas.openxmlformats.org/drawingml/2006/main" noGrp="1"/>
          </p:cNvSpPr>
          <p:nvPr/>
        </p:nvSpPr>
        <p:spPr>
          <a:xfrm xmlns:a="http://schemas.openxmlformats.org/drawingml/2006/main">
            <a:off x="508000" y="2159000"/>
            <a:ext cx="3587750" cy="2476500"/>
          </a:xfrm>
          <a:prstGeom xmlns:a="http://schemas.openxmlformats.org/drawingml/2006/main" prst="rect">
            <a:avLst/>
          </a:prstGeom>
          <a:solidFill xmlns:a="http://schemas.openxmlformats.org/drawingml/2006/main">
            <a:srgbClr val="F4F4F4"/>
          </a:solidFill>
          <a:effectLst xmlns:a="http://schemas.openxmlformats.org/drawingml/2006/main">
            <a:outerShdw blurRad="50800" dist="25400" dir="5400000" algn="bl" rotWithShape="0">
              <a:srgbClr val="000000">
                <a:alpha val="18000"/>
              </a:srgbClr>
            </a:outerShdw>
          </a:effectLst>
        </p:spPr>
        <p:txBody>
          <a:bodyPr xmlns:a="http://schemas.openxmlformats.org/drawingml/2006/main"/>
          <a:lstStyle xmlns:a="http://schemas.openxmlformats.org/drawingml/2006/main"/>
          <a:p xmlns:a="http://schemas.openxmlformats.org/drawingml/2006/main">
            <a:endParaRPr/>
          </a:p>
        </p:txBody>
      </p:sp>
      <p:sp>
        <p:nvSpPr>
          <p:cNvPr id="12" name="Shape 8">
            <a:extLst xmlns:a="http://schemas.openxmlformats.org/drawingml/2006/main">
              <a:ext uri="{FF2B5EF4-FFF2-40B4-BE49-F238E27FC236}">
                <a16:creationId xmlns:a16="http://schemas.microsoft.com/office/drawing/2014/main" id="{A9B3AB68-0AA7-4A5E-8FD4-C87D9A785368}"/>
              </a:ext>
            </a:extLst>
          </p:cNvPr>
          <p:cNvSpPr>
            <a:spLocks xmlns:a="http://schemas.openxmlformats.org/drawingml/2006/main" noGrp="1"/>
          </p:cNvSpPr>
          <p:nvPr/>
        </p:nvSpPr>
        <p:spPr>
          <a:xfrm xmlns:a="http://schemas.openxmlformats.org/drawingml/2006/main">
            <a:off x="508000" y="2159000"/>
            <a:ext cx="3587750" cy="50800"/>
          </a:xfrm>
          <a:prstGeom xmlns:a="http://schemas.openxmlformats.org/drawingml/2006/main" prst="rect">
            <a:avLst/>
          </a:prstGeom>
          <a:solidFill xmlns:a="http://schemas.openxmlformats.org/drawingml/2006/main">
            <a:srgbClr val="DA1884"/>
          </a:solidFill>
        </p:spPr>
        <p:txBody>
          <a:bodyPr xmlns:a="http://schemas.openxmlformats.org/drawingml/2006/main"/>
          <a:lstStyle xmlns:a="http://schemas.openxmlformats.org/drawingml/2006/main"/>
          <a:p xmlns:a="http://schemas.openxmlformats.org/drawingml/2006/main">
            <a:endParaRPr/>
          </a:p>
        </p:txBody>
      </p:sp>
      <p:sp>
        <p:nvSpPr>
          <p:cNvPr id="13" name="Text 9">
            <a:extLst xmlns:a="http://schemas.openxmlformats.org/drawingml/2006/main">
              <a:ext uri="{FF2B5EF4-FFF2-40B4-BE49-F238E27FC236}">
                <a16:creationId xmlns:a16="http://schemas.microsoft.com/office/drawing/2014/main" id="{F88B7705-28C2-4799-A9EA-707A0CB530C3}"/>
              </a:ext>
            </a:extLst>
          </p:cNvPr>
          <p:cNvSpPr>
            <a:spLocks xmlns:a="http://schemas.openxmlformats.org/drawingml/2006/main" noGrp="1"/>
          </p:cNvSpPr>
          <p:nvPr/>
        </p:nvSpPr>
        <p:spPr>
          <a:xfrm xmlns:a="http://schemas.openxmlformats.org/drawingml/2006/main">
            <a:off x="736600" y="2387600"/>
            <a:ext cx="3130550" cy="20701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15000"/>
              </a:lnSpc>
              <a:spcAft>
                <a:spcPts val="800"/>
              </a:spcAft>
              <a:buNone/>
            </a:pPr>
            <a:r>
              <a:rPr sz="1200" b="1">
                <a:solidFill>
                  <a:srgbClr val="DA1884"/>
                </a:solidFill>
                <a:latin typeface="Arial"/>
                <a:ea typeface="Arial"/>
                <a:cs typeface="Arial"/>
              </a:rPr>
              <a:t>01</a:t>
            </a:r>
            <a:endParaRPr sz="1200"/>
          </a:p>
          <a:p xmlns:a="http://schemas.openxmlformats.org/drawingml/2006/main">
            <a:pPr marL="0" indent="0">
              <a:lnSpc>
                <a:spcPct val="115000"/>
              </a:lnSpc>
              <a:spcAft>
                <a:spcPts val="800"/>
              </a:spcAft>
              <a:buNone/>
            </a:pPr>
            <a:r>
              <a:rPr sz="1500" b="1">
                <a:solidFill>
                  <a:srgbClr val="141414"/>
                </a:solidFill>
                <a:latin typeface="Arial"/>
                <a:ea typeface="Arial"/>
                <a:cs typeface="Arial"/>
              </a:rPr>
              <a:t>Choose per operation</a:t>
            </a:r>
            <a:endParaRPr sz="1200"/>
          </a:p>
          <a:p xmlns:a="http://schemas.openxmlformats.org/drawingml/2006/main">
            <a:pPr marL="0" indent="0">
              <a:lnSpc>
                <a:spcPct val="115000"/>
              </a:lnSpc>
              <a:buNone/>
            </a:pPr>
            <a:r>
              <a:rPr sz="1200">
                <a:solidFill>
                  <a:srgbClr val="333333"/>
                </a:solidFill>
                <a:latin typeface="Arial"/>
                <a:ea typeface="Arial"/>
                <a:cs typeface="Arial"/>
              </a:rPr>
              <a:t>REST for cacheable resources, GraphQL for related data, and gRPC for streams and service-to-service calls. Most systems use more than one.</a:t>
            </a:r>
            <a:endParaRPr sz="1200"/>
          </a:p>
        </p:txBody>
      </p:sp>
      <p:sp>
        <p:nvSpPr>
          <p:cNvPr id="14" name="Shape 10">
            <a:extLst xmlns:a="http://schemas.openxmlformats.org/drawingml/2006/main">
              <a:ext uri="{FF2B5EF4-FFF2-40B4-BE49-F238E27FC236}">
                <a16:creationId xmlns:a16="http://schemas.microsoft.com/office/drawing/2014/main" id="{D9AAAB53-9756-4FB7-95D9-D5B7094132F2}"/>
              </a:ext>
            </a:extLst>
          </p:cNvPr>
          <p:cNvSpPr>
            <a:spLocks xmlns:a="http://schemas.openxmlformats.org/drawingml/2006/main" noGrp="1"/>
          </p:cNvSpPr>
          <p:nvPr/>
        </p:nvSpPr>
        <p:spPr>
          <a:xfrm xmlns:a="http://schemas.openxmlformats.org/drawingml/2006/main">
            <a:off x="4298950" y="2159000"/>
            <a:ext cx="3587750" cy="2476500"/>
          </a:xfrm>
          <a:prstGeom xmlns:a="http://schemas.openxmlformats.org/drawingml/2006/main" prst="rect">
            <a:avLst/>
          </a:prstGeom>
          <a:solidFill xmlns:a="http://schemas.openxmlformats.org/drawingml/2006/main">
            <a:srgbClr val="F4F4F4"/>
          </a:solidFill>
          <a:effectLst xmlns:a="http://schemas.openxmlformats.org/drawingml/2006/main">
            <a:outerShdw blurRad="50800" dist="25400" dir="5400000" algn="bl" rotWithShape="0">
              <a:srgbClr val="000000">
                <a:alpha val="18000"/>
              </a:srgbClr>
            </a:outerShdw>
          </a:effectLst>
        </p:spPr>
        <p:txBody>
          <a:bodyPr xmlns:a="http://schemas.openxmlformats.org/drawingml/2006/main"/>
          <a:lstStyle xmlns:a="http://schemas.openxmlformats.org/drawingml/2006/main"/>
          <a:p xmlns:a="http://schemas.openxmlformats.org/drawingml/2006/main">
            <a:endParaRPr/>
          </a:p>
        </p:txBody>
      </p:sp>
      <p:sp>
        <p:nvSpPr>
          <p:cNvPr id="15" name="Shape 11">
            <a:extLst xmlns:a="http://schemas.openxmlformats.org/drawingml/2006/main">
              <a:ext uri="{FF2B5EF4-FFF2-40B4-BE49-F238E27FC236}">
                <a16:creationId xmlns:a16="http://schemas.microsoft.com/office/drawing/2014/main" id="{956362ED-7267-4A53-ACA1-5E30B5775E22}"/>
              </a:ext>
            </a:extLst>
          </p:cNvPr>
          <p:cNvSpPr>
            <a:spLocks xmlns:a="http://schemas.openxmlformats.org/drawingml/2006/main" noGrp="1"/>
          </p:cNvSpPr>
          <p:nvPr/>
        </p:nvSpPr>
        <p:spPr>
          <a:xfrm xmlns:a="http://schemas.openxmlformats.org/drawingml/2006/main">
            <a:off x="4298950" y="2159000"/>
            <a:ext cx="3587750" cy="50800"/>
          </a:xfrm>
          <a:prstGeom xmlns:a="http://schemas.openxmlformats.org/drawingml/2006/main" prst="rect">
            <a:avLst/>
          </a:prstGeom>
          <a:solidFill xmlns:a="http://schemas.openxmlformats.org/drawingml/2006/main">
            <a:srgbClr val="DA1884"/>
          </a:solidFill>
        </p:spPr>
        <p:txBody>
          <a:bodyPr xmlns:a="http://schemas.openxmlformats.org/drawingml/2006/main"/>
          <a:lstStyle xmlns:a="http://schemas.openxmlformats.org/drawingml/2006/main"/>
          <a:p xmlns:a="http://schemas.openxmlformats.org/drawingml/2006/main">
            <a:endParaRPr/>
          </a:p>
        </p:txBody>
      </p:sp>
      <p:sp>
        <p:nvSpPr>
          <p:cNvPr id="16" name="Text 12">
            <a:extLst xmlns:a="http://schemas.openxmlformats.org/drawingml/2006/main">
              <a:ext uri="{FF2B5EF4-FFF2-40B4-BE49-F238E27FC236}">
                <a16:creationId xmlns:a16="http://schemas.microsoft.com/office/drawing/2014/main" id="{D0A1996B-09B7-42D1-AF0E-5BACBCAAD88A}"/>
              </a:ext>
            </a:extLst>
          </p:cNvPr>
          <p:cNvSpPr>
            <a:spLocks xmlns:a="http://schemas.openxmlformats.org/drawingml/2006/main" noGrp="1"/>
          </p:cNvSpPr>
          <p:nvPr/>
        </p:nvSpPr>
        <p:spPr>
          <a:xfrm xmlns:a="http://schemas.openxmlformats.org/drawingml/2006/main">
            <a:off x="4527550" y="2387600"/>
            <a:ext cx="3130550" cy="20701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15000"/>
              </a:lnSpc>
              <a:spcAft>
                <a:spcPts val="800"/>
              </a:spcAft>
              <a:buNone/>
            </a:pPr>
            <a:r>
              <a:rPr sz="1200" b="1">
                <a:solidFill>
                  <a:srgbClr val="DA1884"/>
                </a:solidFill>
                <a:latin typeface="Arial"/>
                <a:ea typeface="Arial"/>
                <a:cs typeface="Arial"/>
              </a:rPr>
              <a:t>02</a:t>
            </a:r>
            <a:endParaRPr sz="1200"/>
          </a:p>
          <a:p xmlns:a="http://schemas.openxmlformats.org/drawingml/2006/main">
            <a:pPr marL="0" indent="0">
              <a:lnSpc>
                <a:spcPct val="115000"/>
              </a:lnSpc>
              <a:spcAft>
                <a:spcPts val="800"/>
              </a:spcAft>
              <a:buNone/>
            </a:pPr>
            <a:r>
              <a:rPr sz="1500" b="1">
                <a:solidFill>
                  <a:srgbClr val="141414"/>
                </a:solidFill>
                <a:latin typeface="Arial"/>
                <a:ea typeface="Arial"/>
                <a:cs typeface="Arial"/>
              </a:rPr>
              <a:t>Design the contract first</a:t>
            </a:r>
            <a:endParaRPr sz="1200"/>
          </a:p>
          <a:p xmlns:a="http://schemas.openxmlformats.org/drawingml/2006/main">
            <a:pPr marL="0" indent="0">
              <a:lnSpc>
                <a:spcPct val="115000"/>
              </a:lnSpc>
              <a:buNone/>
            </a:pPr>
            <a:r>
              <a:rPr sz="1200">
                <a:solidFill>
                  <a:srgbClr val="333333"/>
                </a:solidFill>
                <a:latin typeface="Arial"/>
                <a:ea typeface="Arial"/>
                <a:cs typeface="Arial"/>
              </a:rPr>
              <a:t>OpenAPI, SDL or .proto: the contract outlives any implementation and drives tooling, testing and code generation.</a:t>
            </a:r>
            <a:endParaRPr sz="1200"/>
          </a:p>
        </p:txBody>
      </p:sp>
      <p:sp>
        <p:nvSpPr>
          <p:cNvPr id="17" name="Shape 13">
            <a:extLst xmlns:a="http://schemas.openxmlformats.org/drawingml/2006/main">
              <a:ext uri="{FF2B5EF4-FFF2-40B4-BE49-F238E27FC236}">
                <a16:creationId xmlns:a16="http://schemas.microsoft.com/office/drawing/2014/main" id="{CA846D87-142B-4690-9D44-D334A3A18D20}"/>
              </a:ext>
            </a:extLst>
          </p:cNvPr>
          <p:cNvSpPr>
            <a:spLocks xmlns:a="http://schemas.openxmlformats.org/drawingml/2006/main" noGrp="1"/>
          </p:cNvSpPr>
          <p:nvPr/>
        </p:nvSpPr>
        <p:spPr>
          <a:xfrm xmlns:a="http://schemas.openxmlformats.org/drawingml/2006/main">
            <a:off x="8089900" y="2159000"/>
            <a:ext cx="3587750" cy="2476500"/>
          </a:xfrm>
          <a:prstGeom xmlns:a="http://schemas.openxmlformats.org/drawingml/2006/main" prst="rect">
            <a:avLst/>
          </a:prstGeom>
          <a:solidFill xmlns:a="http://schemas.openxmlformats.org/drawingml/2006/main">
            <a:srgbClr val="F4F4F4"/>
          </a:solidFill>
          <a:effectLst xmlns:a="http://schemas.openxmlformats.org/drawingml/2006/main">
            <a:outerShdw blurRad="50800" dist="25400" dir="5400000" algn="bl" rotWithShape="0">
              <a:srgbClr val="000000">
                <a:alpha val="18000"/>
              </a:srgbClr>
            </a:outerShdw>
          </a:effectLst>
        </p:spPr>
        <p:txBody>
          <a:bodyPr xmlns:a="http://schemas.openxmlformats.org/drawingml/2006/main"/>
          <a:lstStyle xmlns:a="http://schemas.openxmlformats.org/drawingml/2006/main"/>
          <a:p xmlns:a="http://schemas.openxmlformats.org/drawingml/2006/main">
            <a:endParaRPr/>
          </a:p>
        </p:txBody>
      </p:sp>
      <p:sp>
        <p:nvSpPr>
          <p:cNvPr id="18" name="Shape 14">
            <a:extLst xmlns:a="http://schemas.openxmlformats.org/drawingml/2006/main">
              <a:ext uri="{FF2B5EF4-FFF2-40B4-BE49-F238E27FC236}">
                <a16:creationId xmlns:a16="http://schemas.microsoft.com/office/drawing/2014/main" id="{5BB54F73-55F1-4918-AD7A-79049E9114B6}"/>
              </a:ext>
            </a:extLst>
          </p:cNvPr>
          <p:cNvSpPr>
            <a:spLocks xmlns:a="http://schemas.openxmlformats.org/drawingml/2006/main" noGrp="1"/>
          </p:cNvSpPr>
          <p:nvPr/>
        </p:nvSpPr>
        <p:spPr>
          <a:xfrm xmlns:a="http://schemas.openxmlformats.org/drawingml/2006/main">
            <a:off x="8089900" y="2159000"/>
            <a:ext cx="3587750" cy="50800"/>
          </a:xfrm>
          <a:prstGeom xmlns:a="http://schemas.openxmlformats.org/drawingml/2006/main" prst="rect">
            <a:avLst/>
          </a:prstGeom>
          <a:solidFill xmlns:a="http://schemas.openxmlformats.org/drawingml/2006/main">
            <a:srgbClr val="DA1884"/>
          </a:solidFill>
        </p:spPr>
        <p:txBody>
          <a:bodyPr xmlns:a="http://schemas.openxmlformats.org/drawingml/2006/main"/>
          <a:lstStyle xmlns:a="http://schemas.openxmlformats.org/drawingml/2006/main"/>
          <a:p xmlns:a="http://schemas.openxmlformats.org/drawingml/2006/main">
            <a:endParaRPr/>
          </a:p>
        </p:txBody>
      </p:sp>
      <p:sp>
        <p:nvSpPr>
          <p:cNvPr id="19" name="Text 15">
            <a:extLst xmlns:a="http://schemas.openxmlformats.org/drawingml/2006/main">
              <a:ext uri="{FF2B5EF4-FFF2-40B4-BE49-F238E27FC236}">
                <a16:creationId xmlns:a16="http://schemas.microsoft.com/office/drawing/2014/main" id="{7DDF12DF-D132-465A-8BE5-A7DFECC22726}"/>
              </a:ext>
            </a:extLst>
          </p:cNvPr>
          <p:cNvSpPr>
            <a:spLocks xmlns:a="http://schemas.openxmlformats.org/drawingml/2006/main" noGrp="1"/>
          </p:cNvSpPr>
          <p:nvPr/>
        </p:nvSpPr>
        <p:spPr>
          <a:xfrm xmlns:a="http://schemas.openxmlformats.org/drawingml/2006/main">
            <a:off x="8318500" y="2387600"/>
            <a:ext cx="3130550" cy="20701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15000"/>
              </a:lnSpc>
              <a:spcAft>
                <a:spcPts val="800"/>
              </a:spcAft>
              <a:buNone/>
            </a:pPr>
            <a:r>
              <a:rPr sz="1200" b="1">
                <a:solidFill>
                  <a:srgbClr val="DA1884"/>
                </a:solidFill>
                <a:latin typeface="Arial"/>
                <a:ea typeface="Arial"/>
                <a:cs typeface="Arial"/>
              </a:rPr>
              <a:t>03</a:t>
            </a:r>
            <a:endParaRPr sz="1200"/>
          </a:p>
          <a:p xmlns:a="http://schemas.openxmlformats.org/drawingml/2006/main">
            <a:pPr marL="0" indent="0">
              <a:lnSpc>
                <a:spcPct val="115000"/>
              </a:lnSpc>
              <a:spcAft>
                <a:spcPts val="800"/>
              </a:spcAft>
              <a:buNone/>
            </a:pPr>
            <a:r>
              <a:rPr sz="1500" b="1">
                <a:solidFill>
                  <a:srgbClr val="141414"/>
                </a:solidFill>
                <a:latin typeface="Arial"/>
                <a:ea typeface="Arial"/>
                <a:cs typeface="Arial"/>
              </a:rPr>
              <a:t>Measure the whole path</a:t>
            </a:r>
            <a:endParaRPr sz="1200"/>
          </a:p>
          <a:p xmlns:a="http://schemas.openxmlformats.org/drawingml/2006/main">
            <a:pPr marL="0" indent="0">
              <a:lnSpc>
                <a:spcPct val="115000"/>
              </a:lnSpc>
              <a:buNone/>
            </a:pPr>
            <a:r>
              <a:rPr sz="1200">
                <a:solidFill>
                  <a:srgbClr val="333333"/>
                </a:solidFill>
                <a:latin typeface="Arial"/>
                <a:ea typeface="Arial"/>
                <a:cs typeface="Arial"/>
              </a:rPr>
              <a:t>Round trips, payload size and caching decide real-world latency more than the protocol label does.</a:t>
            </a:r>
            <a:endParaRPr sz="1200"/>
          </a:p>
        </p:txBody>
      </p:sp>
      <p:sp>
        <p:nvSpPr>
          <p:cNvPr id="20" name="Shape 16">
            <a:extLst xmlns:a="http://schemas.openxmlformats.org/drawingml/2006/main">
              <a:ext uri="{FF2B5EF4-FFF2-40B4-BE49-F238E27FC236}">
                <a16:creationId xmlns:a16="http://schemas.microsoft.com/office/drawing/2014/main" id="{B84E948B-A010-41ED-AA63-BC1378A6CBCA}"/>
              </a:ext>
            </a:extLst>
          </p:cNvPr>
          <p:cNvSpPr>
            <a:spLocks xmlns:a="http://schemas.openxmlformats.org/drawingml/2006/main" noGrp="1"/>
          </p:cNvSpPr>
          <p:nvPr/>
        </p:nvSpPr>
        <p:spPr>
          <a:xfrm xmlns:a="http://schemas.openxmlformats.org/drawingml/2006/main">
            <a:off x="508000" y="4889500"/>
            <a:ext cx="11176000" cy="1079500"/>
          </a:xfrm>
          <a:prstGeom xmlns:a="http://schemas.openxmlformats.org/drawingml/2006/main" prst="rect">
            <a:avLst/>
          </a:prstGeom>
          <a:solidFill xmlns:a="http://schemas.openxmlformats.org/drawingml/2006/main">
            <a:srgbClr val="DA1884"/>
          </a:solidFill>
          <a:effectLst xmlns:a="http://schemas.openxmlformats.org/drawingml/2006/main">
            <a:outerShdw blurRad="50800" dist="25400" dir="5400000" algn="bl" rotWithShape="0">
              <a:srgbClr val="000000">
                <a:alpha val="18000"/>
              </a:srgbClr>
            </a:outerShdw>
          </a:effectLst>
        </p:spPr>
        <p:txBody>
          <a:bodyPr xmlns:a="http://schemas.openxmlformats.org/drawingml/2006/main"/>
          <a:lstStyle xmlns:a="http://schemas.openxmlformats.org/drawingml/2006/main"/>
          <a:p xmlns:a="http://schemas.openxmlformats.org/drawingml/2006/main">
            <a:endParaRPr/>
          </a:p>
        </p:txBody>
      </p:sp>
      <p:sp>
        <p:nvSpPr>
          <p:cNvPr id="21" name="Text 17">
            <a:extLst xmlns:a="http://schemas.openxmlformats.org/drawingml/2006/main">
              <a:ext uri="{FF2B5EF4-FFF2-40B4-BE49-F238E27FC236}">
                <a16:creationId xmlns:a16="http://schemas.microsoft.com/office/drawing/2014/main" id="{C412475B-8D5E-4DC7-B204-221724D9A572}"/>
              </a:ext>
            </a:extLst>
          </p:cNvPr>
          <p:cNvSpPr>
            <a:spLocks xmlns:a="http://schemas.openxmlformats.org/drawingml/2006/main" noGrp="1"/>
          </p:cNvSpPr>
          <p:nvPr/>
        </p:nvSpPr>
        <p:spPr>
          <a:xfrm xmlns:a="http://schemas.openxmlformats.org/drawingml/2006/main">
            <a:off x="787400" y="5080000"/>
            <a:ext cx="10668000"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1800" b="1">
                <a:solidFill>
                  <a:srgbClr val="FFFFFF"/>
                </a:solidFill>
                <a:latin typeface="Arial"/>
                <a:ea typeface="Arial"/>
                <a:cs typeface="Arial"/>
              </a:rPr>
              <a:t>“Three protocols. One question. The right call, made where you can see it.”</a:t>
            </a:r>
            <a:endParaRPr sz="1800"/>
          </a:p>
        </p:txBody>
      </p:sp>
      <p:sp>
        <p:nvSpPr>
          <p:cNvPr id="22" name="Text 18">
            <a:extLst xmlns:a="http://schemas.openxmlformats.org/drawingml/2006/main">
              <a:ext uri="{FF2B5EF4-FFF2-40B4-BE49-F238E27FC236}">
                <a16:creationId xmlns:a16="http://schemas.microsoft.com/office/drawing/2014/main" id="{EA9A4914-E1C1-4A01-B8B3-016377401A20}"/>
              </a:ext>
            </a:extLst>
          </p:cNvPr>
          <p:cNvSpPr>
            <a:spLocks xmlns:a="http://schemas.openxmlformats.org/drawingml/2006/main" noGrp="1"/>
          </p:cNvSpPr>
          <p:nvPr/>
        </p:nvSpPr>
        <p:spPr>
          <a:xfrm xmlns:a="http://schemas.openxmlformats.org/drawingml/2006/main">
            <a:off x="787400" y="5575300"/>
            <a:ext cx="10668000" cy="2159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1200">
                <a:solidFill>
                  <a:srgbClr val="FFFFFF"/>
                </a:solidFill>
                <a:latin typeface="Arial"/>
                <a:ea typeface="Arial"/>
                <a:cs typeface="Arial"/>
              </a:rPr>
              <a:t>Repository, runbook and measurements: [repository link]</a:t>
            </a:r>
            <a:endParaRPr sz="1200"/>
          </a:p>
        </p:txBody>
      </p:sp>
    </p:spTree>
    <p:extLst>
      <p:ext uri="{BB962C8B-B14F-4D97-AF65-F5344CB8AC3E}">
        <p14:creationId xmlns:p14="http://schemas.microsoft.com/office/powerpoint/2010/main" val="941591002"/>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0E267F15-F30F-40A6-A9D3-B2B106A1EE70}"/>
              </a:ext>
            </a:extLst>
          </p:cNvPr>
          <p:cNvSpPr>
            <a:spLocks xmlns:a="http://schemas.openxmlformats.org/drawingml/2006/main" noGrp="1"/>
          </p:cNvSpPr>
          <p:nvPr/>
        </p:nvSpPr>
        <p:spPr>
          <a:xfrm xmlns:a="http://schemas.openxmlformats.org/drawingml/2006/main">
            <a:off x="8128000" y="0"/>
            <a:ext cx="4064000" cy="6858000"/>
          </a:xfrm>
          <a:prstGeom xmlns:a="http://schemas.openxmlformats.org/drawingml/2006/main" prst="rect">
            <a:avLst/>
          </a:prstGeom>
          <a:solidFill xmlns:a="http://schemas.openxmlformats.org/drawingml/2006/main">
            <a:srgbClr val="DA1884"/>
          </a:solidFill>
        </p:spPr>
        <p:txBody>
          <a:bodyPr xmlns:a="http://schemas.openxmlformats.org/drawingml/2006/main"/>
          <a:lstStyle xmlns:a="http://schemas.openxmlformats.org/drawingml/2006/main"/>
          <a:p xmlns:a="http://schemas.openxmlformats.org/drawingml/2006/main">
            <a:endParaRPr/>
          </a:p>
        </p:txBody>
      </p:sp>
      <p:pic>
        <p:nvPicPr>
          <p:cNvPr id="3" name="Image 0">
            <a:extLst xmlns:a="http://schemas.openxmlformats.org/drawingml/2006/main">
              <a:ext uri="{FF2B5EF4-FFF2-40B4-BE49-F238E27FC236}">
                <a16:creationId xmlns:a16="http://schemas.microsoft.com/office/drawing/2014/main" id="{C22A01BB-37AF-4CEB-968C-D556BFE66967}"/>
              </a:ext>
            </a:extLst>
          </p:cNvPr>
          <p:cNvPicPr>
            <a:picLocks xmlns:a="http://schemas.openxmlformats.org/drawingml/2006/main" noChangeAspect="1"/>
          </p:cNvPicPr>
          <p:nvPr/>
        </p:nvPicPr>
        <p:blipFill>
          <a:blip xmlns:r="http://schemas.openxmlformats.org/officeDocument/2006/relationships" xmlns:a="http://schemas.openxmlformats.org/drawingml/2006/main" r:embed="R6f8c1c237dd84116"/>
          <a:stretch xmlns:a="http://schemas.openxmlformats.org/drawingml/2006/main">
            <a:fillRect l="0" t="0" r="0" b="0"/>
          </a:stretch>
        </p:blipFill>
        <p:spPr>
          <a:xfrm xmlns:a="http://schemas.openxmlformats.org/drawingml/2006/main">
            <a:off x="609600" y="825500"/>
            <a:ext cx="1905000" cy="787400"/>
          </a:xfrm>
          <a:prstGeom xmlns:a="http://schemas.openxmlformats.org/drawingml/2006/main" prst="rect">
            <a:avLst/>
          </a:prstGeom>
        </p:spPr>
      </p:pic>
      <p:sp>
        <p:nvSpPr>
          <p:cNvPr id="4" name="Text 1">
            <a:extLst xmlns:a="http://schemas.openxmlformats.org/drawingml/2006/main">
              <a:ext uri="{FF2B5EF4-FFF2-40B4-BE49-F238E27FC236}">
                <a16:creationId xmlns:a16="http://schemas.microsoft.com/office/drawing/2014/main" id="{743842D0-8028-4570-BECB-6900548DAACF}"/>
              </a:ext>
            </a:extLst>
          </p:cNvPr>
          <p:cNvSpPr>
            <a:spLocks xmlns:a="http://schemas.openxmlformats.org/drawingml/2006/main" noGrp="1"/>
          </p:cNvSpPr>
          <p:nvPr/>
        </p:nvSpPr>
        <p:spPr>
          <a:xfrm xmlns:a="http://schemas.openxmlformats.org/drawingml/2006/main">
            <a:off x="609600" y="2095500"/>
            <a:ext cx="69850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1300" b="1">
                <a:solidFill>
                  <a:srgbClr val="DA1884"/>
                </a:solidFill>
                <a:latin typeface="Arial"/>
                <a:ea typeface="Arial"/>
                <a:cs typeface="Arial"/>
              </a:rPr>
              <a:t>THANK YOU</a:t>
            </a:r>
            <a:endParaRPr sz="1300"/>
          </a:p>
        </p:txBody>
      </p:sp>
      <p:sp>
        <p:nvSpPr>
          <p:cNvPr id="5" name="Text 2">
            <a:extLst xmlns:a="http://schemas.openxmlformats.org/drawingml/2006/main">
              <a:ext uri="{FF2B5EF4-FFF2-40B4-BE49-F238E27FC236}">
                <a16:creationId xmlns:a16="http://schemas.microsoft.com/office/drawing/2014/main" id="{C74257D8-A5EC-4373-B6BC-17671808DDCA}"/>
              </a:ext>
            </a:extLst>
          </p:cNvPr>
          <p:cNvSpPr>
            <a:spLocks xmlns:a="http://schemas.openxmlformats.org/drawingml/2006/main" noGrp="1"/>
          </p:cNvSpPr>
          <p:nvPr/>
        </p:nvSpPr>
        <p:spPr>
          <a:xfrm xmlns:a="http://schemas.openxmlformats.org/drawingml/2006/main">
            <a:off x="609600" y="2413000"/>
            <a:ext cx="6985000" cy="889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6000" b="1">
                <a:solidFill>
                  <a:srgbClr val="141414"/>
                </a:solidFill>
                <a:latin typeface="Arial"/>
                <a:ea typeface="Arial"/>
                <a:cs typeface="Arial"/>
              </a:rPr>
              <a:t>/questions</a:t>
            </a:r>
            <a:endParaRPr sz="6000"/>
          </a:p>
        </p:txBody>
      </p:sp>
      <p:sp>
        <p:nvSpPr>
          <p:cNvPr id="6" name="Shape 3">
            <a:extLst xmlns:a="http://schemas.openxmlformats.org/drawingml/2006/main">
              <a:ext uri="{FF2B5EF4-FFF2-40B4-BE49-F238E27FC236}">
                <a16:creationId xmlns:a16="http://schemas.microsoft.com/office/drawing/2014/main" id="{36858F58-7B2C-4463-9D18-32D3BC0E9891}"/>
              </a:ext>
            </a:extLst>
          </p:cNvPr>
          <p:cNvSpPr>
            <a:spLocks xmlns:a="http://schemas.openxmlformats.org/drawingml/2006/main" noGrp="1"/>
          </p:cNvSpPr>
          <p:nvPr/>
        </p:nvSpPr>
        <p:spPr>
          <a:xfrm xmlns:a="http://schemas.openxmlformats.org/drawingml/2006/main">
            <a:off x="609600" y="3479800"/>
            <a:ext cx="1016000" cy="50800"/>
          </a:xfrm>
          <a:prstGeom xmlns:a="http://schemas.openxmlformats.org/drawingml/2006/main" prst="rect">
            <a:avLst/>
          </a:prstGeom>
          <a:solidFill xmlns:a="http://schemas.openxmlformats.org/drawingml/2006/main">
            <a:srgbClr val="DA1884"/>
          </a:solidFill>
        </p:spPr>
        <p:txBody>
          <a:bodyPr xmlns:a="http://schemas.openxmlformats.org/drawingml/2006/main"/>
          <a:lstStyle xmlns:a="http://schemas.openxmlformats.org/drawingml/2006/main"/>
          <a:p xmlns:a="http://schemas.openxmlformats.org/drawingml/2006/main">
            <a:endParaRPr/>
          </a:p>
        </p:txBody>
      </p:sp>
      <p:sp>
        <p:nvSpPr>
          <p:cNvPr id="7" name="Text 4">
            <a:extLst xmlns:a="http://schemas.openxmlformats.org/drawingml/2006/main">
              <a:ext uri="{FF2B5EF4-FFF2-40B4-BE49-F238E27FC236}">
                <a16:creationId xmlns:a16="http://schemas.microsoft.com/office/drawing/2014/main" id="{8AFCA576-603A-4C64-87C9-9314B8724D54}"/>
              </a:ext>
            </a:extLst>
          </p:cNvPr>
          <p:cNvSpPr>
            <a:spLocks xmlns:a="http://schemas.openxmlformats.org/drawingml/2006/main" noGrp="1"/>
          </p:cNvSpPr>
          <p:nvPr/>
        </p:nvSpPr>
        <p:spPr>
          <a:xfrm xmlns:a="http://schemas.openxmlformats.org/drawingml/2006/main">
            <a:off x="609600" y="3746500"/>
            <a:ext cx="6985000" cy="762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40000"/>
              </a:lnSpc>
              <a:buNone/>
            </a:pPr>
            <a:r>
              <a:rPr sz="1500" b="1">
                <a:solidFill>
                  <a:srgbClr val="333333"/>
                </a:solidFill>
                <a:latin typeface="Arial"/>
                <a:ea typeface="Arial"/>
                <a:cs typeface="Arial"/>
              </a:rPr>
              <a:t>[Presenter name]</a:t>
            </a:r>
            <a:r>
              <a:rPr sz="1500">
                <a:solidFill>
                  <a:srgbClr val="333333"/>
                </a:solidFill>
                <a:latin typeface="Arial"/>
                <a:ea typeface="Arial"/>
                <a:cs typeface="Arial"/>
              </a:rPr>
              <a:t>  |  [Title]</a:t>
            </a:r>
            <a:endParaRPr sz="1500"/>
          </a:p>
          <a:p xmlns:a="http://schemas.openxmlformats.org/drawingml/2006/main">
            <a:pPr marL="0" indent="0">
              <a:lnSpc>
                <a:spcPct val="140000"/>
              </a:lnSpc>
              <a:buNone/>
            </a:pPr>
            <a:r>
              <a:rPr sz="1500" b="1">
                <a:solidFill>
                  <a:srgbClr val="333333"/>
                </a:solidFill>
                <a:latin typeface="Arial"/>
                <a:ea typeface="Arial"/>
                <a:cs typeface="Arial"/>
              </a:rPr>
              <a:t>[Presenter name]</a:t>
            </a:r>
            <a:r>
              <a:rPr sz="1500">
                <a:solidFill>
                  <a:srgbClr val="333333"/>
                </a:solidFill>
                <a:latin typeface="Arial"/>
                <a:ea typeface="Arial"/>
                <a:cs typeface="Arial"/>
              </a:rPr>
              <a:t>  |  [Title]</a:t>
            </a:r>
            <a:endParaRPr sz="1500"/>
          </a:p>
        </p:txBody>
      </p:sp>
      <p:sp>
        <p:nvSpPr>
          <p:cNvPr id="8" name="Text 5">
            <a:extLst xmlns:a="http://schemas.openxmlformats.org/drawingml/2006/main">
              <a:ext uri="{FF2B5EF4-FFF2-40B4-BE49-F238E27FC236}">
                <a16:creationId xmlns:a16="http://schemas.microsoft.com/office/drawing/2014/main" id="{39DF1BDF-C64C-4DA2-A90C-EEE44803E12B}"/>
              </a:ext>
            </a:extLst>
          </p:cNvPr>
          <p:cNvSpPr>
            <a:spLocks xmlns:a="http://schemas.openxmlformats.org/drawingml/2006/main" noGrp="1"/>
          </p:cNvSpPr>
          <p:nvPr/>
        </p:nvSpPr>
        <p:spPr>
          <a:xfrm xmlns:a="http://schemas.openxmlformats.org/drawingml/2006/main">
            <a:off x="609600" y="6578600"/>
            <a:ext cx="7366000" cy="177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900">
                <a:solidFill>
                  <a:srgbClr val="9E9E9E"/>
                </a:solidFill>
                <a:latin typeface="Arial"/>
                <a:ea typeface="Arial"/>
                <a:cs typeface="Arial"/>
              </a:rPr>
              <a:t>Insight Proprietary &amp; Confidential.  Do Not Copy or Distribute.  © 2026 Insight.  All Rights Reserved.</a:t>
            </a:r>
            <a:endParaRPr sz="900"/>
          </a:p>
        </p:txBody>
      </p:sp>
      <p:sp>
        <p:nvSpPr>
          <p:cNvPr id="9" name="Text 6">
            <a:extLst xmlns:a="http://schemas.openxmlformats.org/drawingml/2006/main">
              <a:ext uri="{FF2B5EF4-FFF2-40B4-BE49-F238E27FC236}">
                <a16:creationId xmlns:a16="http://schemas.microsoft.com/office/drawing/2014/main" id="{07DA543E-90DF-4A38-A81B-432DAF4357DC}"/>
              </a:ext>
            </a:extLst>
          </p:cNvPr>
          <p:cNvSpPr>
            <a:spLocks xmlns:a="http://schemas.openxmlformats.org/drawingml/2006/main" noGrp="1"/>
          </p:cNvSpPr>
          <p:nvPr/>
        </p:nvSpPr>
        <p:spPr>
          <a:xfrm xmlns:a="http://schemas.openxmlformats.org/drawingml/2006/main">
            <a:off x="8636000" y="1587500"/>
            <a:ext cx="3048000" cy="1524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5000"/>
              </a:lnSpc>
              <a:buNone/>
            </a:pPr>
            <a:r>
              <a:rPr sz="3000" b="1">
                <a:solidFill>
                  <a:srgbClr val="FFFFFF"/>
                </a:solidFill>
                <a:latin typeface="Arial"/>
                <a:ea typeface="Arial"/>
                <a:cs typeface="Arial"/>
              </a:rPr>
              <a:t>Try it yourself.</a:t>
            </a:r>
            <a:endParaRPr sz="3000"/>
          </a:p>
        </p:txBody>
      </p:sp>
      <p:sp>
        <p:nvSpPr>
          <p:cNvPr id="10" name="Shape 7">
            <a:extLst xmlns:a="http://schemas.openxmlformats.org/drawingml/2006/main">
              <a:ext uri="{FF2B5EF4-FFF2-40B4-BE49-F238E27FC236}">
                <a16:creationId xmlns:a16="http://schemas.microsoft.com/office/drawing/2014/main" id="{84E5A3E4-3860-4F89-BD60-DAF3771FE8FE}"/>
              </a:ext>
            </a:extLst>
          </p:cNvPr>
          <p:cNvSpPr>
            <a:spLocks xmlns:a="http://schemas.openxmlformats.org/drawingml/2006/main" noGrp="1"/>
          </p:cNvSpPr>
          <p:nvPr/>
        </p:nvSpPr>
        <p:spPr>
          <a:xfrm xmlns:a="http://schemas.openxmlformats.org/drawingml/2006/main">
            <a:off x="8636000" y="3238500"/>
            <a:ext cx="508000" cy="38100"/>
          </a:xfrm>
          <a:prstGeom xmlns:a="http://schemas.openxmlformats.org/drawingml/2006/main" prst="rect">
            <a:avLst/>
          </a:prstGeom>
          <a:solidFill xmlns:a="http://schemas.openxmlformats.org/drawingml/2006/main">
            <a:srgbClr val="FFFFFF"/>
          </a:solidFill>
        </p:spPr>
        <p:txBody>
          <a:bodyPr xmlns:a="http://schemas.openxmlformats.org/drawingml/2006/main"/>
          <a:lstStyle xmlns:a="http://schemas.openxmlformats.org/drawingml/2006/main"/>
          <a:p xmlns:a="http://schemas.openxmlformats.org/drawingml/2006/main">
            <a:endParaRPr/>
          </a:p>
        </p:txBody>
      </p:sp>
      <p:sp>
        <p:nvSpPr>
          <p:cNvPr id="11" name="Text 8">
            <a:extLst xmlns:a="http://schemas.openxmlformats.org/drawingml/2006/main">
              <a:ext uri="{FF2B5EF4-FFF2-40B4-BE49-F238E27FC236}">
                <a16:creationId xmlns:a16="http://schemas.microsoft.com/office/drawing/2014/main" id="{523FAF2E-DA9B-460C-942E-6D817D374B3F}"/>
              </a:ext>
            </a:extLst>
          </p:cNvPr>
          <p:cNvSpPr>
            <a:spLocks xmlns:a="http://schemas.openxmlformats.org/drawingml/2006/main" noGrp="1"/>
          </p:cNvSpPr>
          <p:nvPr/>
        </p:nvSpPr>
        <p:spPr>
          <a:xfrm xmlns:a="http://schemas.openxmlformats.org/drawingml/2006/main">
            <a:off x="8636000" y="3492500"/>
            <a:ext cx="3048000" cy="203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1200" b="1">
                <a:solidFill>
                  <a:srgbClr val="FFFFFF"/>
                </a:solidFill>
                <a:latin typeface="Arial"/>
                <a:ea typeface="Arial"/>
                <a:cs typeface="Arial"/>
              </a:rPr>
              <a:t>01 · RUN</a:t>
            </a:r>
            <a:endParaRPr sz="1200"/>
          </a:p>
        </p:txBody>
      </p:sp>
      <p:sp>
        <p:nvSpPr>
          <p:cNvPr id="12" name="Text 9">
            <a:extLst xmlns:a="http://schemas.openxmlformats.org/drawingml/2006/main">
              <a:ext uri="{FF2B5EF4-FFF2-40B4-BE49-F238E27FC236}">
                <a16:creationId xmlns:a16="http://schemas.microsoft.com/office/drawing/2014/main" id="{E450D591-88CE-4272-B11E-276BEF284E76}"/>
              </a:ext>
            </a:extLst>
          </p:cNvPr>
          <p:cNvSpPr>
            <a:spLocks xmlns:a="http://schemas.openxmlformats.org/drawingml/2006/main" noGrp="1"/>
          </p:cNvSpPr>
          <p:nvPr/>
        </p:nvSpPr>
        <p:spPr>
          <a:xfrm xmlns:a="http://schemas.openxmlformats.org/drawingml/2006/main">
            <a:off x="8636000" y="3733800"/>
            <a:ext cx="3048000" cy="444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0000"/>
              </a:lnSpc>
              <a:buNone/>
            </a:pPr>
            <a:r>
              <a:rPr sz="1200">
                <a:solidFill>
                  <a:srgbClr val="FFFFFF"/>
                </a:solidFill>
                <a:latin typeface="Arial"/>
                <a:ea typeface="Arial"/>
                <a:cs typeface="Arial"/>
              </a:rPr>
              <a:t>docker compose up --build -d, then open localhost:3000.</a:t>
            </a:r>
            <a:endParaRPr sz="1200"/>
          </a:p>
        </p:txBody>
      </p:sp>
      <p:sp>
        <p:nvSpPr>
          <p:cNvPr id="13" name="Text 10">
            <a:extLst xmlns:a="http://schemas.openxmlformats.org/drawingml/2006/main">
              <a:ext uri="{FF2B5EF4-FFF2-40B4-BE49-F238E27FC236}">
                <a16:creationId xmlns:a16="http://schemas.microsoft.com/office/drawing/2014/main" id="{EC578E1A-05E6-4241-9A39-3CF1F855BEA1}"/>
              </a:ext>
            </a:extLst>
          </p:cNvPr>
          <p:cNvSpPr>
            <a:spLocks xmlns:a="http://schemas.openxmlformats.org/drawingml/2006/main" noGrp="1"/>
          </p:cNvSpPr>
          <p:nvPr/>
        </p:nvSpPr>
        <p:spPr>
          <a:xfrm xmlns:a="http://schemas.openxmlformats.org/drawingml/2006/main">
            <a:off x="8636000" y="4318000"/>
            <a:ext cx="3048000" cy="203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1200" b="1">
                <a:solidFill>
                  <a:srgbClr val="FFFFFF"/>
                </a:solidFill>
                <a:latin typeface="Arial"/>
                <a:ea typeface="Arial"/>
                <a:cs typeface="Arial"/>
              </a:rPr>
              <a:t>02 · ASK</a:t>
            </a:r>
            <a:endParaRPr sz="1200"/>
          </a:p>
        </p:txBody>
      </p:sp>
      <p:sp>
        <p:nvSpPr>
          <p:cNvPr id="14" name="Text 11">
            <a:extLst xmlns:a="http://schemas.openxmlformats.org/drawingml/2006/main">
              <a:ext uri="{FF2B5EF4-FFF2-40B4-BE49-F238E27FC236}">
                <a16:creationId xmlns:a16="http://schemas.microsoft.com/office/drawing/2014/main" id="{7A898B62-3966-4CAB-B5B6-612B144BD95C}"/>
              </a:ext>
            </a:extLst>
          </p:cNvPr>
          <p:cNvSpPr>
            <a:spLocks xmlns:a="http://schemas.openxmlformats.org/drawingml/2006/main" noGrp="1"/>
          </p:cNvSpPr>
          <p:nvPr/>
        </p:nvSpPr>
        <p:spPr>
          <a:xfrm xmlns:a="http://schemas.openxmlformats.org/drawingml/2006/main">
            <a:off x="8636000" y="4559300"/>
            <a:ext cx="3048000" cy="444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0000"/>
              </a:lnSpc>
              <a:buNone/>
            </a:pPr>
            <a:r>
              <a:rPr sz="1200">
                <a:solidFill>
                  <a:srgbClr val="FFFFFF"/>
                </a:solidFill>
                <a:latin typeface="Arial"/>
                <a:ea typeface="Arial"/>
                <a:cs typeface="Arial"/>
              </a:rPr>
              <a:t>Use the three guided prompts, then ask your own.</a:t>
            </a:r>
            <a:endParaRPr sz="1200"/>
          </a:p>
        </p:txBody>
      </p:sp>
      <p:sp>
        <p:nvSpPr>
          <p:cNvPr id="15" name="Text 12">
            <a:extLst xmlns:a="http://schemas.openxmlformats.org/drawingml/2006/main">
              <a:ext uri="{FF2B5EF4-FFF2-40B4-BE49-F238E27FC236}">
                <a16:creationId xmlns:a16="http://schemas.microsoft.com/office/drawing/2014/main" id="{CA37E6C3-0CF2-4F34-86A1-9603BC7ED0EE}"/>
              </a:ext>
            </a:extLst>
          </p:cNvPr>
          <p:cNvSpPr>
            <a:spLocks xmlns:a="http://schemas.openxmlformats.org/drawingml/2006/main" noGrp="1"/>
          </p:cNvSpPr>
          <p:nvPr/>
        </p:nvSpPr>
        <p:spPr>
          <a:xfrm xmlns:a="http://schemas.openxmlformats.org/drawingml/2006/main">
            <a:off x="8636000" y="5143500"/>
            <a:ext cx="3048000" cy="203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1200" b="1">
                <a:solidFill>
                  <a:srgbClr val="FFFFFF"/>
                </a:solidFill>
                <a:latin typeface="Arial"/>
                <a:ea typeface="Arial"/>
                <a:cs typeface="Arial"/>
              </a:rPr>
              <a:t>03 · INSPECT</a:t>
            </a:r>
            <a:endParaRPr sz="1200"/>
          </a:p>
        </p:txBody>
      </p:sp>
      <p:sp>
        <p:nvSpPr>
          <p:cNvPr id="16" name="Text 13">
            <a:extLst xmlns:a="http://schemas.openxmlformats.org/drawingml/2006/main">
              <a:ext uri="{FF2B5EF4-FFF2-40B4-BE49-F238E27FC236}">
                <a16:creationId xmlns:a16="http://schemas.microsoft.com/office/drawing/2014/main" id="{2B1E0D36-C0B2-4CA3-8687-188B418EEAF9}"/>
              </a:ext>
            </a:extLst>
          </p:cNvPr>
          <p:cNvSpPr>
            <a:spLocks xmlns:a="http://schemas.openxmlformats.org/drawingml/2006/main" noGrp="1"/>
          </p:cNvSpPr>
          <p:nvPr/>
        </p:nvSpPr>
        <p:spPr>
          <a:xfrm xmlns:a="http://schemas.openxmlformats.org/drawingml/2006/main">
            <a:off x="8636000" y="5384800"/>
            <a:ext cx="3048000" cy="444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0000"/>
              </a:lnSpc>
              <a:buNone/>
            </a:pPr>
            <a:r>
              <a:rPr sz="1200">
                <a:solidFill>
                  <a:srgbClr val="FFFFFF"/>
                </a:solidFill>
                <a:latin typeface="Arial"/>
                <a:ea typeface="Arial"/>
                <a:cs typeface="Arial"/>
              </a:rPr>
              <a:t>Open the inspector to see every payload and timing.</a:t>
            </a:r>
            <a:endParaRPr sz="1200"/>
          </a:p>
        </p:txBody>
      </p:sp>
      <p:sp>
        <p:nvSpPr>
          <p:cNvPr id="17" name="Text 14">
            <a:extLst xmlns:a="http://schemas.openxmlformats.org/drawingml/2006/main">
              <a:ext uri="{FF2B5EF4-FFF2-40B4-BE49-F238E27FC236}">
                <a16:creationId xmlns:a16="http://schemas.microsoft.com/office/drawing/2014/main" id="{9C54FFD7-ECAC-4E9C-A85F-3715F46A7868}"/>
              </a:ext>
            </a:extLst>
          </p:cNvPr>
          <p:cNvSpPr>
            <a:spLocks xmlns:a="http://schemas.openxmlformats.org/drawingml/2006/main" noGrp="1"/>
          </p:cNvSpPr>
          <p:nvPr/>
        </p:nvSpPr>
        <p:spPr>
          <a:xfrm xmlns:a="http://schemas.openxmlformats.org/drawingml/2006/main">
            <a:off x="10922000" y="6578600"/>
            <a:ext cx="762000" cy="177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ct val="110000"/>
              </a:lnSpc>
              <a:buNone/>
            </a:pPr>
            <a:r>
              <a:rPr sz="900">
                <a:solidFill>
                  <a:srgbClr val="FFFFFF"/>
                </a:solidFill>
                <a:latin typeface="Arial"/>
                <a:ea typeface="Arial"/>
                <a:cs typeface="Arial"/>
              </a:rPr>
              <a:t>20</a:t>
            </a:r>
            <a:endParaRPr sz="900"/>
          </a:p>
        </p:txBody>
      </p:sp>
    </p:spTree>
    <p:extLst>
      <p:ext uri="{BB962C8B-B14F-4D97-AF65-F5344CB8AC3E}">
        <p14:creationId xmlns:p14="http://schemas.microsoft.com/office/powerpoint/2010/main" val="1626473099"/>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46A75915-EFFA-482B-B09F-1F8BAD855F2D}"/>
              </a:ext>
            </a:extLst>
          </p:cNvPr>
          <p:cNvPicPr>
            <a:picLocks xmlns:a="http://schemas.openxmlformats.org/drawingml/2006/main" noChangeAspect="1"/>
          </p:cNvPicPr>
          <p:nvPr/>
        </p:nvPicPr>
        <p:blipFill>
          <a:blip xmlns:r="http://schemas.openxmlformats.org/officeDocument/2006/relationships" xmlns:a="http://schemas.openxmlformats.org/drawingml/2006/main" r:embed="R198fa9bf5ef84a4a"/>
          <a:stretch xmlns:a="http://schemas.openxmlformats.org/drawingml/2006/main">
            <a:fillRect l="0" t="0" r="0" b="0"/>
          </a:stretch>
        </p:blipFill>
        <p:spPr>
          <a:xfrm xmlns:a="http://schemas.openxmlformats.org/drawingml/2006/main">
            <a:off x="508000" y="152400"/>
            <a:ext cx="990600" cy="40640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B3902B20-C103-4964-B187-B215B8172EE7}"/>
              </a:ext>
            </a:extLst>
          </p:cNvPr>
          <p:cNvSpPr>
            <a:spLocks xmlns:a="http://schemas.openxmlformats.org/drawingml/2006/main" noGrp="1"/>
          </p:cNvSpPr>
          <p:nvPr/>
        </p:nvSpPr>
        <p:spPr>
          <a:xfrm xmlns:a="http://schemas.openxmlformats.org/drawingml/2006/main">
            <a:off x="3556000" y="406400"/>
            <a:ext cx="5080000" cy="190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110000"/>
              </a:lnSpc>
              <a:buNone/>
            </a:pPr>
            <a:r>
              <a:rPr sz="1000">
                <a:solidFill>
                  <a:srgbClr val="6B6B6B"/>
                </a:solidFill>
                <a:latin typeface="Arial"/>
                <a:ea typeface="Arial"/>
                <a:cs typeface="Arial"/>
              </a:rPr>
              <a:t>Protocol Studio  —  REST · GraphQL · gRPC</a:t>
            </a:r>
            <a:endParaRPr sz="1000"/>
          </a:p>
        </p:txBody>
      </p:sp>
      <p:sp>
        <p:nvSpPr>
          <p:cNvPr id="4" name="Text 1">
            <a:extLst xmlns:a="http://schemas.openxmlformats.org/drawingml/2006/main">
              <a:ext uri="{FF2B5EF4-FFF2-40B4-BE49-F238E27FC236}">
                <a16:creationId xmlns:a16="http://schemas.microsoft.com/office/drawing/2014/main" id="{EE3DC4EE-54BA-470B-91E6-6BE45EEAF4B6}"/>
              </a:ext>
            </a:extLst>
          </p:cNvPr>
          <p:cNvSpPr>
            <a:spLocks xmlns:a="http://schemas.openxmlformats.org/drawingml/2006/main" noGrp="1"/>
          </p:cNvSpPr>
          <p:nvPr/>
        </p:nvSpPr>
        <p:spPr>
          <a:xfrm xmlns:a="http://schemas.openxmlformats.org/drawingml/2006/main">
            <a:off x="6350000" y="406400"/>
            <a:ext cx="5334000" cy="190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ct val="110000"/>
              </a:lnSpc>
              <a:buNone/>
            </a:pPr>
            <a:r>
              <a:rPr sz="1000" b="1">
                <a:solidFill>
                  <a:srgbClr val="DA1884"/>
                </a:solidFill>
                <a:latin typeface="Arial"/>
                <a:ea typeface="Arial"/>
                <a:cs typeface="Arial"/>
              </a:rPr>
              <a:t>APPENDIX</a:t>
            </a:r>
            <a:endParaRPr sz="1000"/>
          </a:p>
        </p:txBody>
      </p:sp>
      <p:sp>
        <p:nvSpPr>
          <p:cNvPr id="5" name="Text 2">
            <a:extLst xmlns:a="http://schemas.openxmlformats.org/drawingml/2006/main">
              <a:ext uri="{FF2B5EF4-FFF2-40B4-BE49-F238E27FC236}">
                <a16:creationId xmlns:a16="http://schemas.microsoft.com/office/drawing/2014/main" id="{84D53D20-E1C1-4680-987F-AB3A54E4642E}"/>
              </a:ext>
            </a:extLst>
          </p:cNvPr>
          <p:cNvSpPr>
            <a:spLocks xmlns:a="http://schemas.openxmlformats.org/drawingml/2006/main" noGrp="1"/>
          </p:cNvSpPr>
          <p:nvPr/>
        </p:nvSpPr>
        <p:spPr>
          <a:xfrm xmlns:a="http://schemas.openxmlformats.org/drawingml/2006/main">
            <a:off x="508000" y="6578600"/>
            <a:ext cx="8890000" cy="177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900">
                <a:solidFill>
                  <a:srgbClr val="9E9E9E"/>
                </a:solidFill>
                <a:latin typeface="Arial"/>
                <a:ea typeface="Arial"/>
                <a:cs typeface="Arial"/>
              </a:rPr>
              <a:t>Insight Proprietary &amp; Confidential.  Do Not Copy or Distribute.  © 2026 Insight.  All Rights Reserved.</a:t>
            </a:r>
            <a:endParaRPr sz="900"/>
          </a:p>
        </p:txBody>
      </p:sp>
      <p:sp>
        <p:nvSpPr>
          <p:cNvPr id="6" name="Text 3">
            <a:extLst xmlns:a="http://schemas.openxmlformats.org/drawingml/2006/main">
              <a:ext uri="{FF2B5EF4-FFF2-40B4-BE49-F238E27FC236}">
                <a16:creationId xmlns:a16="http://schemas.microsoft.com/office/drawing/2014/main" id="{E9C446D0-66EE-4273-8F88-C67BD7EC89C1}"/>
              </a:ext>
            </a:extLst>
          </p:cNvPr>
          <p:cNvSpPr>
            <a:spLocks xmlns:a="http://schemas.openxmlformats.org/drawingml/2006/main" noGrp="1"/>
          </p:cNvSpPr>
          <p:nvPr/>
        </p:nvSpPr>
        <p:spPr>
          <a:xfrm xmlns:a="http://schemas.openxmlformats.org/drawingml/2006/main">
            <a:off x="10922000" y="6578600"/>
            <a:ext cx="762000" cy="177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ct val="110000"/>
              </a:lnSpc>
              <a:buNone/>
            </a:pPr>
            <a:r>
              <a:rPr sz="900">
                <a:solidFill>
                  <a:srgbClr val="9E9E9E"/>
                </a:solidFill>
                <a:latin typeface="Arial"/>
                <a:ea typeface="Arial"/>
                <a:cs typeface="Arial"/>
              </a:rPr>
              <a:t>21</a:t>
            </a:r>
            <a:endParaRPr sz="900"/>
          </a:p>
        </p:txBody>
      </p:sp>
      <p:sp>
        <p:nvSpPr>
          <p:cNvPr id="7" name="Text 4">
            <a:extLst xmlns:a="http://schemas.openxmlformats.org/drawingml/2006/main">
              <a:ext uri="{FF2B5EF4-FFF2-40B4-BE49-F238E27FC236}">
                <a16:creationId xmlns:a16="http://schemas.microsoft.com/office/drawing/2014/main" id="{BA620F38-CA22-4FD6-A3C5-715D74B84292}"/>
              </a:ext>
            </a:extLst>
          </p:cNvPr>
          <p:cNvSpPr>
            <a:spLocks xmlns:a="http://schemas.openxmlformats.org/drawingml/2006/main" noGrp="1"/>
          </p:cNvSpPr>
          <p:nvPr/>
        </p:nvSpPr>
        <p:spPr>
          <a:xfrm xmlns:a="http://schemas.openxmlformats.org/drawingml/2006/main">
            <a:off x="457200" y="1587500"/>
            <a:ext cx="5080000" cy="1651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90000"/>
              </a:lnSpc>
              <a:buNone/>
            </a:pPr>
            <a:r>
              <a:rPr sz="12000" b="1">
                <a:solidFill>
                  <a:srgbClr val="DA1884"/>
                </a:solidFill>
                <a:latin typeface="Arial"/>
                <a:ea typeface="Arial"/>
                <a:cs typeface="Arial"/>
              </a:rPr>
              <a:t>A</a:t>
            </a:r>
            <a:endParaRPr sz="12000"/>
          </a:p>
        </p:txBody>
      </p:sp>
      <p:sp>
        <p:nvSpPr>
          <p:cNvPr id="8" name="Text 5">
            <a:extLst xmlns:a="http://schemas.openxmlformats.org/drawingml/2006/main">
              <a:ext uri="{FF2B5EF4-FFF2-40B4-BE49-F238E27FC236}">
                <a16:creationId xmlns:a16="http://schemas.microsoft.com/office/drawing/2014/main" id="{7CC8E606-513E-45A7-8D91-1CF649EC6F17}"/>
              </a:ext>
            </a:extLst>
          </p:cNvPr>
          <p:cNvSpPr>
            <a:spLocks xmlns:a="http://schemas.openxmlformats.org/drawingml/2006/main" noGrp="1"/>
          </p:cNvSpPr>
          <p:nvPr/>
        </p:nvSpPr>
        <p:spPr>
          <a:xfrm xmlns:a="http://schemas.openxmlformats.org/drawingml/2006/main">
            <a:off x="508000" y="3302000"/>
            <a:ext cx="5207000" cy="1320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0000"/>
              </a:lnSpc>
              <a:buNone/>
            </a:pPr>
            <a:r>
              <a:rPr sz="4400" b="1">
                <a:solidFill>
                  <a:srgbClr val="141414"/>
                </a:solidFill>
                <a:latin typeface="Arial"/>
                <a:ea typeface="Arial"/>
                <a:cs typeface="Arial"/>
              </a:rPr>
              <a:t>Appendix: AI Routing</a:t>
            </a:r>
            <a:endParaRPr sz="4400"/>
          </a:p>
        </p:txBody>
      </p:sp>
      <p:sp>
        <p:nvSpPr>
          <p:cNvPr id="9" name="Shape 6">
            <a:extLst xmlns:a="http://schemas.openxmlformats.org/drawingml/2006/main">
              <a:ext uri="{FF2B5EF4-FFF2-40B4-BE49-F238E27FC236}">
                <a16:creationId xmlns:a16="http://schemas.microsoft.com/office/drawing/2014/main" id="{4ADC9082-3F99-4CE4-A9F3-1ABDE320B889}"/>
              </a:ext>
            </a:extLst>
          </p:cNvPr>
          <p:cNvSpPr>
            <a:spLocks xmlns:a="http://schemas.openxmlformats.org/drawingml/2006/main" noGrp="1"/>
          </p:cNvSpPr>
          <p:nvPr/>
        </p:nvSpPr>
        <p:spPr>
          <a:xfrm xmlns:a="http://schemas.openxmlformats.org/drawingml/2006/main">
            <a:off x="508000" y="4800600"/>
            <a:ext cx="1016000" cy="50800"/>
          </a:xfrm>
          <a:prstGeom xmlns:a="http://schemas.openxmlformats.org/drawingml/2006/main" prst="rect">
            <a:avLst/>
          </a:prstGeom>
          <a:solidFill xmlns:a="http://schemas.openxmlformats.org/drawingml/2006/main">
            <a:srgbClr val="DA1884"/>
          </a:solidFill>
        </p:spPr>
        <p:txBody>
          <a:bodyPr xmlns:a="http://schemas.openxmlformats.org/drawingml/2006/main"/>
          <a:lstStyle xmlns:a="http://schemas.openxmlformats.org/drawingml/2006/main"/>
          <a:p xmlns:a="http://schemas.openxmlformats.org/drawingml/2006/main">
            <a:endParaRPr/>
          </a:p>
        </p:txBody>
      </p:sp>
      <p:sp>
        <p:nvSpPr>
          <p:cNvPr id="10" name="Text 7">
            <a:extLst xmlns:a="http://schemas.openxmlformats.org/drawingml/2006/main">
              <a:ext uri="{FF2B5EF4-FFF2-40B4-BE49-F238E27FC236}">
                <a16:creationId xmlns:a16="http://schemas.microsoft.com/office/drawing/2014/main" id="{CC87DABB-2D85-4120-873F-2E1E423509F1}"/>
              </a:ext>
            </a:extLst>
          </p:cNvPr>
          <p:cNvSpPr>
            <a:spLocks xmlns:a="http://schemas.openxmlformats.org/drawingml/2006/main" noGrp="1"/>
          </p:cNvSpPr>
          <p:nvPr/>
        </p:nvSpPr>
        <p:spPr>
          <a:xfrm xmlns:a="http://schemas.openxmlformats.org/drawingml/2006/main">
            <a:off x="508000" y="5029200"/>
            <a:ext cx="5207000" cy="635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5000"/>
              </a:lnSpc>
              <a:buNone/>
            </a:pPr>
            <a:r>
              <a:rPr sz="1500">
                <a:solidFill>
                  <a:srgbClr val="6B6B6B"/>
                </a:solidFill>
                <a:latin typeface="Arial"/>
                <a:ea typeface="Arial"/>
                <a:cs typeface="Arial"/>
              </a:rPr>
              <a:t>Reference material: how Protocol Studio lets a model choose the protocol.</a:t>
            </a:r>
            <a:endParaRPr sz="1500"/>
          </a:p>
        </p:txBody>
      </p:sp>
      <p:sp>
        <p:nvSpPr>
          <p:cNvPr id="11" name="Shape 8">
            <a:extLst xmlns:a="http://schemas.openxmlformats.org/drawingml/2006/main">
              <a:ext uri="{FF2B5EF4-FFF2-40B4-BE49-F238E27FC236}">
                <a16:creationId xmlns:a16="http://schemas.microsoft.com/office/drawing/2014/main" id="{B6FD5BF5-5F4E-463D-9C5F-B307DB6860E9}"/>
              </a:ext>
            </a:extLst>
          </p:cNvPr>
          <p:cNvSpPr>
            <a:spLocks xmlns:a="http://schemas.openxmlformats.org/drawingml/2006/main" noGrp="1"/>
          </p:cNvSpPr>
          <p:nvPr/>
        </p:nvSpPr>
        <p:spPr>
          <a:xfrm xmlns:a="http://schemas.openxmlformats.org/drawingml/2006/main">
            <a:off x="6223000" y="2413000"/>
            <a:ext cx="5461000" cy="2540000"/>
          </a:xfrm>
          <a:prstGeom xmlns:a="http://schemas.openxmlformats.org/drawingml/2006/main" prst="rect">
            <a:avLst/>
          </a:prstGeom>
          <a:solidFill xmlns:a="http://schemas.openxmlformats.org/drawingml/2006/main">
            <a:srgbClr val="F4F4F4"/>
          </a:solidFill>
          <a:effectLst xmlns:a="http://schemas.openxmlformats.org/drawingml/2006/main">
            <a:outerShdw blurRad="50800" dist="25400" dir="5400000" algn="bl" rotWithShape="0">
              <a:srgbClr val="000000">
                <a:alpha val="18000"/>
              </a:srgbClr>
            </a:outerShdw>
          </a:effectLst>
        </p:spPr>
        <p:txBody>
          <a:bodyPr xmlns:a="http://schemas.openxmlformats.org/drawingml/2006/main"/>
          <a:lstStyle xmlns:a="http://schemas.openxmlformats.org/drawingml/2006/main"/>
          <a:p xmlns:a="http://schemas.openxmlformats.org/drawingml/2006/main">
            <a:endParaRPr/>
          </a:p>
        </p:txBody>
      </p:sp>
      <p:sp>
        <p:nvSpPr>
          <p:cNvPr id="12" name="Shape 9">
            <a:extLst xmlns:a="http://schemas.openxmlformats.org/drawingml/2006/main">
              <a:ext uri="{FF2B5EF4-FFF2-40B4-BE49-F238E27FC236}">
                <a16:creationId xmlns:a16="http://schemas.microsoft.com/office/drawing/2014/main" id="{64E850A2-2700-4B75-84E8-A1EC7B2924B7}"/>
              </a:ext>
            </a:extLst>
          </p:cNvPr>
          <p:cNvSpPr>
            <a:spLocks xmlns:a="http://schemas.openxmlformats.org/drawingml/2006/main" noGrp="1"/>
          </p:cNvSpPr>
          <p:nvPr/>
        </p:nvSpPr>
        <p:spPr>
          <a:xfrm xmlns:a="http://schemas.openxmlformats.org/drawingml/2006/main">
            <a:off x="6223000" y="2413000"/>
            <a:ext cx="5461000" cy="50800"/>
          </a:xfrm>
          <a:prstGeom xmlns:a="http://schemas.openxmlformats.org/drawingml/2006/main" prst="rect">
            <a:avLst/>
          </a:prstGeom>
          <a:solidFill xmlns:a="http://schemas.openxmlformats.org/drawingml/2006/main">
            <a:srgbClr val="DA1884"/>
          </a:solidFill>
        </p:spPr>
        <p:txBody>
          <a:bodyPr xmlns:a="http://schemas.openxmlformats.org/drawingml/2006/main"/>
          <a:lstStyle xmlns:a="http://schemas.openxmlformats.org/drawingml/2006/main"/>
          <a:p xmlns:a="http://schemas.openxmlformats.org/drawingml/2006/main">
            <a:endParaRPr/>
          </a:p>
        </p:txBody>
      </p:sp>
      <p:sp>
        <p:nvSpPr>
          <p:cNvPr id="13" name="Text 10">
            <a:extLst xmlns:a="http://schemas.openxmlformats.org/drawingml/2006/main">
              <a:ext uri="{FF2B5EF4-FFF2-40B4-BE49-F238E27FC236}">
                <a16:creationId xmlns:a16="http://schemas.microsoft.com/office/drawing/2014/main" id="{5EFE4CD9-1BDD-4530-8B19-04F4578F0E00}"/>
              </a:ext>
            </a:extLst>
          </p:cNvPr>
          <p:cNvSpPr>
            <a:spLocks xmlns:a="http://schemas.openxmlformats.org/drawingml/2006/main" noGrp="1"/>
          </p:cNvSpPr>
          <p:nvPr/>
        </p:nvSpPr>
        <p:spPr>
          <a:xfrm xmlns:a="http://schemas.openxmlformats.org/drawingml/2006/main">
            <a:off x="6477000" y="2641600"/>
            <a:ext cx="4953000" cy="2159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1200" b="1">
                <a:solidFill>
                  <a:srgbClr val="DA1884"/>
                </a:solidFill>
                <a:latin typeface="Arial"/>
                <a:ea typeface="Arial"/>
                <a:cs typeface="Arial"/>
              </a:rPr>
              <a:t>IN THIS SECTION</a:t>
            </a:r>
            <a:endParaRPr sz="1200"/>
          </a:p>
        </p:txBody>
      </p:sp>
      <p:sp>
        <p:nvSpPr>
          <p:cNvPr id="14" name="Text 11">
            <a:extLst xmlns:a="http://schemas.openxmlformats.org/drawingml/2006/main">
              <a:ext uri="{FF2B5EF4-FFF2-40B4-BE49-F238E27FC236}">
                <a16:creationId xmlns:a16="http://schemas.microsoft.com/office/drawing/2014/main" id="{2D0B0E6D-D892-46F8-B19A-6531FFFD1776}"/>
              </a:ext>
            </a:extLst>
          </p:cNvPr>
          <p:cNvSpPr>
            <a:spLocks xmlns:a="http://schemas.openxmlformats.org/drawingml/2006/main" noGrp="1"/>
          </p:cNvSpPr>
          <p:nvPr/>
        </p:nvSpPr>
        <p:spPr>
          <a:xfrm xmlns:a="http://schemas.openxmlformats.org/drawingml/2006/main">
            <a:off x="6477000" y="2997200"/>
            <a:ext cx="4953000" cy="406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333333"/>
                </a:solidFill>
                <a:latin typeface="Arial"/>
                <a:ea typeface="Arial"/>
                <a:cs typeface="Arial"/>
              </a:rPr>
              <a:t>Architecture: how a question becomes a protocol call</a:t>
            </a:r>
            <a:endParaRPr sz="1300"/>
          </a:p>
        </p:txBody>
      </p:sp>
      <p:sp>
        <p:nvSpPr>
          <p:cNvPr id="15" name="Text 12">
            <a:extLst xmlns:a="http://schemas.openxmlformats.org/drawingml/2006/main">
              <a:ext uri="{FF2B5EF4-FFF2-40B4-BE49-F238E27FC236}">
                <a16:creationId xmlns:a16="http://schemas.microsoft.com/office/drawing/2014/main" id="{8C6C4F66-68CD-4743-9696-3402BFA5EFBF}"/>
              </a:ext>
            </a:extLst>
          </p:cNvPr>
          <p:cNvSpPr>
            <a:spLocks xmlns:a="http://schemas.openxmlformats.org/drawingml/2006/main" noGrp="1"/>
          </p:cNvSpPr>
          <p:nvPr/>
        </p:nvSpPr>
        <p:spPr>
          <a:xfrm xmlns:a="http://schemas.openxmlformats.org/drawingml/2006/main">
            <a:off x="6477000" y="3479800"/>
            <a:ext cx="4953000" cy="406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333333"/>
                </a:solidFill>
                <a:latin typeface="Arial"/>
                <a:ea typeface="Arial"/>
                <a:cs typeface="Arial"/>
              </a:rPr>
              <a:t>Ollama: local tool calling on a 4B model</a:t>
            </a:r>
            <a:endParaRPr sz="1300"/>
          </a:p>
        </p:txBody>
      </p:sp>
      <p:sp>
        <p:nvSpPr>
          <p:cNvPr id="16" name="Text 13">
            <a:extLst xmlns:a="http://schemas.openxmlformats.org/drawingml/2006/main">
              <a:ext uri="{FF2B5EF4-FFF2-40B4-BE49-F238E27FC236}">
                <a16:creationId xmlns:a16="http://schemas.microsoft.com/office/drawing/2014/main" id="{9DDFAB72-0303-42C4-92DB-FF7349B3E2A0}"/>
              </a:ext>
            </a:extLst>
          </p:cNvPr>
          <p:cNvSpPr>
            <a:spLocks xmlns:a="http://schemas.openxmlformats.org/drawingml/2006/main" noGrp="1"/>
          </p:cNvSpPr>
          <p:nvPr/>
        </p:nvSpPr>
        <p:spPr>
          <a:xfrm xmlns:a="http://schemas.openxmlformats.org/drawingml/2006/main">
            <a:off x="6477000" y="3962400"/>
            <a:ext cx="4953000" cy="406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333333"/>
                </a:solidFill>
                <a:latin typeface="Arial"/>
                <a:ea typeface="Arial"/>
                <a:cs typeface="Arial"/>
              </a:rPr>
              <a:t>Jev: structured decisions with confidence</a:t>
            </a:r>
            <a:endParaRPr sz="1300"/>
          </a:p>
        </p:txBody>
      </p:sp>
      <p:sp>
        <p:nvSpPr>
          <p:cNvPr id="17" name="Text 14">
            <a:extLst xmlns:a="http://schemas.openxmlformats.org/drawingml/2006/main">
              <a:ext uri="{FF2B5EF4-FFF2-40B4-BE49-F238E27FC236}">
                <a16:creationId xmlns:a16="http://schemas.microsoft.com/office/drawing/2014/main" id="{2645A685-420A-4BD8-ABC3-3BCD223DB587}"/>
              </a:ext>
            </a:extLst>
          </p:cNvPr>
          <p:cNvSpPr>
            <a:spLocks xmlns:a="http://schemas.openxmlformats.org/drawingml/2006/main" noGrp="1"/>
          </p:cNvSpPr>
          <p:nvPr/>
        </p:nvSpPr>
        <p:spPr>
          <a:xfrm xmlns:a="http://schemas.openxmlformats.org/drawingml/2006/main">
            <a:off x="6477000" y="4445000"/>
            <a:ext cx="4953000" cy="406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333333"/>
                </a:solidFill>
                <a:latin typeface="Arial"/>
                <a:ea typeface="Arial"/>
                <a:cs typeface="Arial"/>
              </a:rPr>
              <a:t>Guardrails and measured latency</a:t>
            </a:r>
            <a:endParaRPr sz="1300"/>
          </a:p>
        </p:txBody>
      </p:sp>
    </p:spTree>
    <p:extLst>
      <p:ext uri="{BB962C8B-B14F-4D97-AF65-F5344CB8AC3E}">
        <p14:creationId xmlns:p14="http://schemas.microsoft.com/office/powerpoint/2010/main" val="1542391557"/>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7794F142-C1FF-4422-A2D6-735A7F129FC7}"/>
              </a:ext>
            </a:extLst>
          </p:cNvPr>
          <p:cNvPicPr>
            <a:picLocks xmlns:a="http://schemas.openxmlformats.org/drawingml/2006/main" noChangeAspect="1"/>
          </p:cNvPicPr>
          <p:nvPr/>
        </p:nvPicPr>
        <p:blipFill>
          <a:blip xmlns:r="http://schemas.openxmlformats.org/officeDocument/2006/relationships" xmlns:a="http://schemas.openxmlformats.org/drawingml/2006/main" r:embed="Ra33054d247de4d40"/>
          <a:stretch xmlns:a="http://schemas.openxmlformats.org/drawingml/2006/main">
            <a:fillRect l="0" t="0" r="0" b="0"/>
          </a:stretch>
        </p:blipFill>
        <p:spPr>
          <a:xfrm xmlns:a="http://schemas.openxmlformats.org/drawingml/2006/main">
            <a:off x="508000" y="152400"/>
            <a:ext cx="990600" cy="40640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708739DA-FB00-4B9D-BE46-A62E6BF67046}"/>
              </a:ext>
            </a:extLst>
          </p:cNvPr>
          <p:cNvSpPr>
            <a:spLocks xmlns:a="http://schemas.openxmlformats.org/drawingml/2006/main" noGrp="1"/>
          </p:cNvSpPr>
          <p:nvPr/>
        </p:nvSpPr>
        <p:spPr>
          <a:xfrm xmlns:a="http://schemas.openxmlformats.org/drawingml/2006/main">
            <a:off x="3556000" y="406400"/>
            <a:ext cx="5080000" cy="190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110000"/>
              </a:lnSpc>
              <a:buNone/>
            </a:pPr>
            <a:r>
              <a:rPr sz="1000">
                <a:solidFill>
                  <a:srgbClr val="6B6B6B"/>
                </a:solidFill>
                <a:latin typeface="Arial"/>
                <a:ea typeface="Arial"/>
                <a:cs typeface="Arial"/>
              </a:rPr>
              <a:t>Protocol Studio  —  REST · GraphQL · gRPC</a:t>
            </a:r>
            <a:endParaRPr sz="1000"/>
          </a:p>
        </p:txBody>
      </p:sp>
      <p:sp>
        <p:nvSpPr>
          <p:cNvPr id="4" name="Text 1">
            <a:extLst xmlns:a="http://schemas.openxmlformats.org/drawingml/2006/main">
              <a:ext uri="{FF2B5EF4-FFF2-40B4-BE49-F238E27FC236}">
                <a16:creationId xmlns:a16="http://schemas.microsoft.com/office/drawing/2014/main" id="{9F3D5ABD-C66A-4881-B5CE-8BF3B8466D61}"/>
              </a:ext>
            </a:extLst>
          </p:cNvPr>
          <p:cNvSpPr>
            <a:spLocks xmlns:a="http://schemas.openxmlformats.org/drawingml/2006/main" noGrp="1"/>
          </p:cNvSpPr>
          <p:nvPr/>
        </p:nvSpPr>
        <p:spPr>
          <a:xfrm xmlns:a="http://schemas.openxmlformats.org/drawingml/2006/main">
            <a:off x="6350000" y="406400"/>
            <a:ext cx="5334000" cy="190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ct val="110000"/>
              </a:lnSpc>
              <a:buNone/>
            </a:pPr>
            <a:r>
              <a:rPr sz="1000" b="1">
                <a:solidFill>
                  <a:srgbClr val="DA1884"/>
                </a:solidFill>
                <a:latin typeface="Arial"/>
                <a:ea typeface="Arial"/>
                <a:cs typeface="Arial"/>
              </a:rPr>
              <a:t>APPENDIX · AI ROUTING</a:t>
            </a:r>
            <a:endParaRPr sz="1000"/>
          </a:p>
        </p:txBody>
      </p:sp>
      <p:sp>
        <p:nvSpPr>
          <p:cNvPr id="5" name="Text 2">
            <a:extLst xmlns:a="http://schemas.openxmlformats.org/drawingml/2006/main">
              <a:ext uri="{FF2B5EF4-FFF2-40B4-BE49-F238E27FC236}">
                <a16:creationId xmlns:a16="http://schemas.microsoft.com/office/drawing/2014/main" id="{EADE2A5B-4BBB-4F96-96EB-34D3C3E4FDC1}"/>
              </a:ext>
            </a:extLst>
          </p:cNvPr>
          <p:cNvSpPr>
            <a:spLocks xmlns:a="http://schemas.openxmlformats.org/drawingml/2006/main" noGrp="1"/>
          </p:cNvSpPr>
          <p:nvPr/>
        </p:nvSpPr>
        <p:spPr>
          <a:xfrm xmlns:a="http://schemas.openxmlformats.org/drawingml/2006/main">
            <a:off x="508000" y="6578600"/>
            <a:ext cx="8890000" cy="177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900">
                <a:solidFill>
                  <a:srgbClr val="9E9E9E"/>
                </a:solidFill>
                <a:latin typeface="Arial"/>
                <a:ea typeface="Arial"/>
                <a:cs typeface="Arial"/>
              </a:rPr>
              <a:t>Insight Proprietary &amp; Confidential.  Do Not Copy or Distribute.  © 2026 Insight.  All Rights Reserved.</a:t>
            </a:r>
            <a:endParaRPr sz="900"/>
          </a:p>
        </p:txBody>
      </p:sp>
      <p:sp>
        <p:nvSpPr>
          <p:cNvPr id="6" name="Text 3">
            <a:extLst xmlns:a="http://schemas.openxmlformats.org/drawingml/2006/main">
              <a:ext uri="{FF2B5EF4-FFF2-40B4-BE49-F238E27FC236}">
                <a16:creationId xmlns:a16="http://schemas.microsoft.com/office/drawing/2014/main" id="{6FC6717D-198F-4866-AFA5-19CC0F371A26}"/>
              </a:ext>
            </a:extLst>
          </p:cNvPr>
          <p:cNvSpPr>
            <a:spLocks xmlns:a="http://schemas.openxmlformats.org/drawingml/2006/main" noGrp="1"/>
          </p:cNvSpPr>
          <p:nvPr/>
        </p:nvSpPr>
        <p:spPr>
          <a:xfrm xmlns:a="http://schemas.openxmlformats.org/drawingml/2006/main">
            <a:off x="10922000" y="6578600"/>
            <a:ext cx="762000" cy="177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ct val="110000"/>
              </a:lnSpc>
              <a:buNone/>
            </a:pPr>
            <a:r>
              <a:rPr sz="900">
                <a:solidFill>
                  <a:srgbClr val="9E9E9E"/>
                </a:solidFill>
                <a:latin typeface="Arial"/>
                <a:ea typeface="Arial"/>
                <a:cs typeface="Arial"/>
              </a:rPr>
              <a:t>22</a:t>
            </a:r>
            <a:endParaRPr sz="900"/>
          </a:p>
        </p:txBody>
      </p:sp>
      <p:sp>
        <p:nvSpPr>
          <p:cNvPr id="7" name="Text 4">
            <a:extLst xmlns:a="http://schemas.openxmlformats.org/drawingml/2006/main">
              <a:ext uri="{FF2B5EF4-FFF2-40B4-BE49-F238E27FC236}">
                <a16:creationId xmlns:a16="http://schemas.microsoft.com/office/drawing/2014/main" id="{BDEC8C38-DAEC-474A-897F-417A2762EEE5}"/>
              </a:ext>
            </a:extLst>
          </p:cNvPr>
          <p:cNvSpPr>
            <a:spLocks xmlns:a="http://schemas.openxmlformats.org/drawingml/2006/main" noGrp="1"/>
          </p:cNvSpPr>
          <p:nvPr/>
        </p:nvSpPr>
        <p:spPr>
          <a:xfrm xmlns:a="http://schemas.openxmlformats.org/drawingml/2006/main">
            <a:off x="508000" y="889000"/>
            <a:ext cx="11176000" cy="2159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1200" b="1">
                <a:solidFill>
                  <a:srgbClr val="DA1884"/>
                </a:solidFill>
                <a:latin typeface="Arial"/>
                <a:ea typeface="Arial"/>
                <a:cs typeface="Arial"/>
              </a:rPr>
              <a:t>ARCHITECTURE</a:t>
            </a:r>
            <a:endParaRPr sz="1200"/>
          </a:p>
        </p:txBody>
      </p:sp>
      <p:sp>
        <p:nvSpPr>
          <p:cNvPr id="8" name="Text 5">
            <a:extLst xmlns:a="http://schemas.openxmlformats.org/drawingml/2006/main">
              <a:ext uri="{FF2B5EF4-FFF2-40B4-BE49-F238E27FC236}">
                <a16:creationId xmlns:a16="http://schemas.microsoft.com/office/drawing/2014/main" id="{ACC1E391-13C7-4625-ADA6-53ED11A278CD}"/>
              </a:ext>
            </a:extLst>
          </p:cNvPr>
          <p:cNvSpPr>
            <a:spLocks xmlns:a="http://schemas.openxmlformats.org/drawingml/2006/main" noGrp="1"/>
          </p:cNvSpPr>
          <p:nvPr/>
        </p:nvSpPr>
        <p:spPr>
          <a:xfrm xmlns:a="http://schemas.openxmlformats.org/drawingml/2006/main">
            <a:off x="508000" y="1130300"/>
            <a:ext cx="11176000" cy="482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3000" b="1">
                <a:solidFill>
                  <a:srgbClr val="141414"/>
                </a:solidFill>
                <a:latin typeface="Arial"/>
                <a:ea typeface="Arial"/>
                <a:cs typeface="Arial"/>
              </a:rPr>
              <a:t>How Protocol Studio Routes a Question</a:t>
            </a:r>
            <a:endParaRPr sz="3000"/>
          </a:p>
        </p:txBody>
      </p:sp>
      <p:sp>
        <p:nvSpPr>
          <p:cNvPr id="9" name="Text 6">
            <a:extLst xmlns:a="http://schemas.openxmlformats.org/drawingml/2006/main">
              <a:ext uri="{FF2B5EF4-FFF2-40B4-BE49-F238E27FC236}">
                <a16:creationId xmlns:a16="http://schemas.microsoft.com/office/drawing/2014/main" id="{6CAE5D85-4F9C-43AD-9726-3A9007BB352C}"/>
              </a:ext>
            </a:extLst>
          </p:cNvPr>
          <p:cNvSpPr>
            <a:spLocks xmlns:a="http://schemas.openxmlformats.org/drawingml/2006/main" noGrp="1"/>
          </p:cNvSpPr>
          <p:nvPr/>
        </p:nvSpPr>
        <p:spPr>
          <a:xfrm xmlns:a="http://schemas.openxmlformats.org/drawingml/2006/main">
            <a:off x="508000" y="1663700"/>
            <a:ext cx="11176000"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1400">
                <a:solidFill>
                  <a:srgbClr val="6B6B6B"/>
                </a:solidFill>
                <a:latin typeface="Arial"/>
                <a:ea typeface="Arial"/>
                <a:cs typeface="Arial"/>
              </a:rPr>
              <a:t>One interface, IntentClassifier, with two implementations: Ollama by default and Jev optionally.</a:t>
            </a:r>
            <a:endParaRPr sz="1400"/>
          </a:p>
        </p:txBody>
      </p:sp>
      <p:sp>
        <p:nvSpPr>
          <p:cNvPr id="11" name="Shape 7">
            <a:extLst xmlns:a="http://schemas.openxmlformats.org/drawingml/2006/main">
              <a:ext uri="{FF2B5EF4-FFF2-40B4-BE49-F238E27FC236}">
                <a16:creationId xmlns:a16="http://schemas.microsoft.com/office/drawing/2014/main" id="{0308BA0F-49E7-45AE-A999-DDC051E96D5F}"/>
              </a:ext>
            </a:extLst>
          </p:cNvPr>
          <p:cNvSpPr>
            <a:spLocks xmlns:a="http://schemas.openxmlformats.org/drawingml/2006/main" noGrp="1"/>
          </p:cNvSpPr>
          <p:nvPr/>
        </p:nvSpPr>
        <p:spPr>
          <a:xfrm xmlns:a="http://schemas.openxmlformats.org/drawingml/2006/main">
            <a:off x="508000" y="2159000"/>
            <a:ext cx="1955800" cy="2540000"/>
          </a:xfrm>
          <a:prstGeom xmlns:a="http://schemas.openxmlformats.org/drawingml/2006/main" prst="rect">
            <a:avLst/>
          </a:prstGeom>
          <a:solidFill xmlns:a="http://schemas.openxmlformats.org/drawingml/2006/main">
            <a:srgbClr val="F4F4F4"/>
          </a:solidFill>
          <a:effectLst xmlns:a="http://schemas.openxmlformats.org/drawingml/2006/main">
            <a:outerShdw blurRad="50800" dist="25400" dir="5400000" algn="bl" rotWithShape="0">
              <a:srgbClr val="000000">
                <a:alpha val="18000"/>
              </a:srgbClr>
            </a:outerShdw>
          </a:effectLst>
        </p:spPr>
        <p:txBody>
          <a:bodyPr xmlns:a="http://schemas.openxmlformats.org/drawingml/2006/main"/>
          <a:lstStyle xmlns:a="http://schemas.openxmlformats.org/drawingml/2006/main"/>
          <a:p xmlns:a="http://schemas.openxmlformats.org/drawingml/2006/main">
            <a:endParaRPr/>
          </a:p>
        </p:txBody>
      </p:sp>
      <p:sp>
        <p:nvSpPr>
          <p:cNvPr id="12" name="Shape 8">
            <a:extLst xmlns:a="http://schemas.openxmlformats.org/drawingml/2006/main">
              <a:ext uri="{FF2B5EF4-FFF2-40B4-BE49-F238E27FC236}">
                <a16:creationId xmlns:a16="http://schemas.microsoft.com/office/drawing/2014/main" id="{07144C8F-9AA0-4B95-8BC1-B29DA531E378}"/>
              </a:ext>
            </a:extLst>
          </p:cNvPr>
          <p:cNvSpPr>
            <a:spLocks xmlns:a="http://schemas.openxmlformats.org/drawingml/2006/main" noGrp="1"/>
          </p:cNvSpPr>
          <p:nvPr/>
        </p:nvSpPr>
        <p:spPr>
          <a:xfrm xmlns:a="http://schemas.openxmlformats.org/drawingml/2006/main">
            <a:off x="508000" y="2159000"/>
            <a:ext cx="1955800" cy="50800"/>
          </a:xfrm>
          <a:prstGeom xmlns:a="http://schemas.openxmlformats.org/drawingml/2006/main" prst="rect">
            <a:avLst/>
          </a:prstGeom>
          <a:solidFill xmlns:a="http://schemas.openxmlformats.org/drawingml/2006/main">
            <a:srgbClr val="DA1884"/>
          </a:solidFill>
        </p:spPr>
        <p:txBody>
          <a:bodyPr xmlns:a="http://schemas.openxmlformats.org/drawingml/2006/main"/>
          <a:lstStyle xmlns:a="http://schemas.openxmlformats.org/drawingml/2006/main"/>
          <a:p xmlns:a="http://schemas.openxmlformats.org/drawingml/2006/main">
            <a:endParaRPr/>
          </a:p>
        </p:txBody>
      </p:sp>
      <p:sp>
        <p:nvSpPr>
          <p:cNvPr id="13" name="Text 9">
            <a:extLst xmlns:a="http://schemas.openxmlformats.org/drawingml/2006/main">
              <a:ext uri="{FF2B5EF4-FFF2-40B4-BE49-F238E27FC236}">
                <a16:creationId xmlns:a16="http://schemas.microsoft.com/office/drawing/2014/main" id="{5AA56A26-CBCE-4756-8C04-ADB350B4A543}"/>
              </a:ext>
            </a:extLst>
          </p:cNvPr>
          <p:cNvSpPr>
            <a:spLocks xmlns:a="http://schemas.openxmlformats.org/drawingml/2006/main" noGrp="1"/>
          </p:cNvSpPr>
          <p:nvPr/>
        </p:nvSpPr>
        <p:spPr>
          <a:xfrm xmlns:a="http://schemas.openxmlformats.org/drawingml/2006/main">
            <a:off x="673100" y="2362200"/>
            <a:ext cx="1625600" cy="2222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15000"/>
              </a:lnSpc>
              <a:spcAft>
                <a:spcPts val="800"/>
              </a:spcAft>
              <a:buNone/>
            </a:pPr>
            <a:r>
              <a:rPr sz="1200" b="1">
                <a:solidFill>
                  <a:srgbClr val="DA1884"/>
                </a:solidFill>
                <a:latin typeface="Arial"/>
                <a:ea typeface="Arial"/>
                <a:cs typeface="Arial"/>
              </a:rPr>
              <a:t>01 · ASK</a:t>
            </a:r>
            <a:endParaRPr sz="1200"/>
          </a:p>
          <a:p xmlns:a="http://schemas.openxmlformats.org/drawingml/2006/main">
            <a:pPr marL="0" indent="0">
              <a:lnSpc>
                <a:spcPct val="115000"/>
              </a:lnSpc>
              <a:spcAft>
                <a:spcPts val="800"/>
              </a:spcAft>
              <a:buNone/>
            </a:pPr>
            <a:r>
              <a:rPr sz="1300" b="1">
                <a:solidFill>
                  <a:srgbClr val="141414"/>
                </a:solidFill>
                <a:latin typeface="Arial"/>
                <a:ea typeface="Arial"/>
                <a:cs typeface="Arial"/>
              </a:rPr>
              <a:t>A plain question</a:t>
            </a:r>
            <a:endParaRPr sz="1200"/>
          </a:p>
          <a:p xmlns:a="http://schemas.openxmlformats.org/drawingml/2006/main">
            <a:pPr marL="0" indent="0">
              <a:lnSpc>
                <a:spcPct val="115000"/>
              </a:lnSpc>
              <a:buNone/>
            </a:pPr>
            <a:r>
              <a:rPr sz="1200">
                <a:solidFill>
                  <a:srgbClr val="333333"/>
                </a:solidFill>
                <a:latin typeface="Arial"/>
                <a:ea typeface="Arial"/>
                <a:cs typeface="Arial"/>
              </a:rPr>
              <a:t>The browser posts the message and recent turns to /api/chat.</a:t>
            </a:r>
            <a:endParaRPr sz="1200"/>
          </a:p>
        </p:txBody>
      </p:sp>
      <p:sp>
        <p:nvSpPr>
          <p:cNvPr id="14" name="Shape 10">
            <a:extLst xmlns:a="http://schemas.openxmlformats.org/drawingml/2006/main">
              <a:ext uri="{FF2B5EF4-FFF2-40B4-BE49-F238E27FC236}">
                <a16:creationId xmlns:a16="http://schemas.microsoft.com/office/drawing/2014/main" id="{0FABE742-F57C-4190-B153-D98BD17581C7}"/>
              </a:ext>
            </a:extLst>
          </p:cNvPr>
          <p:cNvSpPr>
            <a:spLocks xmlns:a="http://schemas.openxmlformats.org/drawingml/2006/main" noGrp="1"/>
          </p:cNvSpPr>
          <p:nvPr/>
        </p:nvSpPr>
        <p:spPr>
          <a:xfrm xmlns:a="http://schemas.openxmlformats.org/drawingml/2006/main">
            <a:off x="2520950" y="3352800"/>
            <a:ext cx="241300" cy="152400"/>
          </a:xfrm>
          <a:prstGeom xmlns:a="http://schemas.openxmlformats.org/drawingml/2006/main" prst="rightArrow">
            <a:avLst/>
          </a:prstGeom>
          <a:solidFill xmlns:a="http://schemas.openxmlformats.org/drawingml/2006/main">
            <a:srgbClr val="DA1884"/>
          </a:solidFill>
        </p:spPr>
        <p:txBody>
          <a:bodyPr xmlns:a="http://schemas.openxmlformats.org/drawingml/2006/main"/>
          <a:lstStyle xmlns:a="http://schemas.openxmlformats.org/drawingml/2006/main"/>
          <a:p xmlns:a="http://schemas.openxmlformats.org/drawingml/2006/main">
            <a:endParaRPr/>
          </a:p>
        </p:txBody>
      </p:sp>
      <p:sp>
        <p:nvSpPr>
          <p:cNvPr id="15" name="Shape 11">
            <a:extLst xmlns:a="http://schemas.openxmlformats.org/drawingml/2006/main">
              <a:ext uri="{FF2B5EF4-FFF2-40B4-BE49-F238E27FC236}">
                <a16:creationId xmlns:a16="http://schemas.microsoft.com/office/drawing/2014/main" id="{FC65BF2A-1ADE-4146-81E3-89D1D9A4AC9D}"/>
              </a:ext>
            </a:extLst>
          </p:cNvPr>
          <p:cNvSpPr>
            <a:spLocks xmlns:a="http://schemas.openxmlformats.org/drawingml/2006/main" noGrp="1"/>
          </p:cNvSpPr>
          <p:nvPr/>
        </p:nvSpPr>
        <p:spPr>
          <a:xfrm xmlns:a="http://schemas.openxmlformats.org/drawingml/2006/main">
            <a:off x="2813050" y="2159000"/>
            <a:ext cx="1955800" cy="2540000"/>
          </a:xfrm>
          <a:prstGeom xmlns:a="http://schemas.openxmlformats.org/drawingml/2006/main" prst="rect">
            <a:avLst/>
          </a:prstGeom>
          <a:solidFill xmlns:a="http://schemas.openxmlformats.org/drawingml/2006/main">
            <a:srgbClr val="F4F4F4"/>
          </a:solidFill>
          <a:effectLst xmlns:a="http://schemas.openxmlformats.org/drawingml/2006/main">
            <a:outerShdw blurRad="50800" dist="25400" dir="5400000" algn="bl" rotWithShape="0">
              <a:srgbClr val="000000">
                <a:alpha val="18000"/>
              </a:srgbClr>
            </a:outerShdw>
          </a:effectLst>
        </p:spPr>
        <p:txBody>
          <a:bodyPr xmlns:a="http://schemas.openxmlformats.org/drawingml/2006/main"/>
          <a:lstStyle xmlns:a="http://schemas.openxmlformats.org/drawingml/2006/main"/>
          <a:p xmlns:a="http://schemas.openxmlformats.org/drawingml/2006/main">
            <a:endParaRPr/>
          </a:p>
        </p:txBody>
      </p:sp>
      <p:sp>
        <p:nvSpPr>
          <p:cNvPr id="16" name="Shape 12">
            <a:extLst xmlns:a="http://schemas.openxmlformats.org/drawingml/2006/main">
              <a:ext uri="{FF2B5EF4-FFF2-40B4-BE49-F238E27FC236}">
                <a16:creationId xmlns:a16="http://schemas.microsoft.com/office/drawing/2014/main" id="{AD693990-E977-4753-B2A4-2E77D1F6FB29}"/>
              </a:ext>
            </a:extLst>
          </p:cNvPr>
          <p:cNvSpPr>
            <a:spLocks xmlns:a="http://schemas.openxmlformats.org/drawingml/2006/main" noGrp="1"/>
          </p:cNvSpPr>
          <p:nvPr/>
        </p:nvSpPr>
        <p:spPr>
          <a:xfrm xmlns:a="http://schemas.openxmlformats.org/drawingml/2006/main">
            <a:off x="2813050" y="2159000"/>
            <a:ext cx="1955800" cy="50800"/>
          </a:xfrm>
          <a:prstGeom xmlns:a="http://schemas.openxmlformats.org/drawingml/2006/main" prst="rect">
            <a:avLst/>
          </a:prstGeom>
          <a:solidFill xmlns:a="http://schemas.openxmlformats.org/drawingml/2006/main">
            <a:srgbClr val="DA1884"/>
          </a:solidFill>
        </p:spPr>
        <p:txBody>
          <a:bodyPr xmlns:a="http://schemas.openxmlformats.org/drawingml/2006/main"/>
          <a:lstStyle xmlns:a="http://schemas.openxmlformats.org/drawingml/2006/main"/>
          <a:p xmlns:a="http://schemas.openxmlformats.org/drawingml/2006/main">
            <a:endParaRPr/>
          </a:p>
        </p:txBody>
      </p:sp>
      <p:sp>
        <p:nvSpPr>
          <p:cNvPr id="17" name="Text 13">
            <a:extLst xmlns:a="http://schemas.openxmlformats.org/drawingml/2006/main">
              <a:ext uri="{FF2B5EF4-FFF2-40B4-BE49-F238E27FC236}">
                <a16:creationId xmlns:a16="http://schemas.microsoft.com/office/drawing/2014/main" id="{513032C7-55F2-4934-A432-FACFFC1D52AC}"/>
              </a:ext>
            </a:extLst>
          </p:cNvPr>
          <p:cNvSpPr>
            <a:spLocks xmlns:a="http://schemas.openxmlformats.org/drawingml/2006/main" noGrp="1"/>
          </p:cNvSpPr>
          <p:nvPr/>
        </p:nvSpPr>
        <p:spPr>
          <a:xfrm xmlns:a="http://schemas.openxmlformats.org/drawingml/2006/main">
            <a:off x="2978150" y="2362200"/>
            <a:ext cx="1625600" cy="2222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15000"/>
              </a:lnSpc>
              <a:spcAft>
                <a:spcPts val="800"/>
              </a:spcAft>
              <a:buNone/>
            </a:pPr>
            <a:r>
              <a:rPr sz="1200" b="1">
                <a:solidFill>
                  <a:srgbClr val="DA1884"/>
                </a:solidFill>
                <a:latin typeface="Arial"/>
                <a:ea typeface="Arial"/>
                <a:cs typeface="Arial"/>
              </a:rPr>
              <a:t>02 · CLASSIFY</a:t>
            </a:r>
            <a:endParaRPr sz="1200"/>
          </a:p>
          <a:p xmlns:a="http://schemas.openxmlformats.org/drawingml/2006/main">
            <a:pPr marL="0" indent="0">
              <a:lnSpc>
                <a:spcPct val="115000"/>
              </a:lnSpc>
              <a:spcAft>
                <a:spcPts val="800"/>
              </a:spcAft>
              <a:buNone/>
            </a:pPr>
            <a:r>
              <a:rPr sz="1300" b="1">
                <a:solidFill>
                  <a:srgbClr val="141414"/>
                </a:solidFill>
                <a:latin typeface="Arial"/>
                <a:ea typeface="Arial"/>
                <a:cs typeface="Arial"/>
              </a:rPr>
              <a:t>Ollama or Jev</a:t>
            </a:r>
            <a:endParaRPr sz="1200"/>
          </a:p>
          <a:p xmlns:a="http://schemas.openxmlformats.org/drawingml/2006/main">
            <a:pPr marL="0" indent="0">
              <a:lnSpc>
                <a:spcPct val="115000"/>
              </a:lnSpc>
              <a:buNone/>
            </a:pPr>
            <a:r>
              <a:rPr sz="1200">
                <a:solidFill>
                  <a:srgbClr val="333333"/>
                </a:solidFill>
                <a:latin typeface="Arial"/>
                <a:ea typeface="Arial"/>
                <a:cs typeface="Arial"/>
              </a:rPr>
              <a:t>Picks one protocol and one allowlisted catalog target.</a:t>
            </a:r>
            <a:endParaRPr sz="1200"/>
          </a:p>
        </p:txBody>
      </p:sp>
      <p:sp>
        <p:nvSpPr>
          <p:cNvPr id="18" name="Shape 14">
            <a:extLst xmlns:a="http://schemas.openxmlformats.org/drawingml/2006/main">
              <a:ext uri="{FF2B5EF4-FFF2-40B4-BE49-F238E27FC236}">
                <a16:creationId xmlns:a16="http://schemas.microsoft.com/office/drawing/2014/main" id="{E3C36FF3-B9A6-42D3-8D16-5665B30C6459}"/>
              </a:ext>
            </a:extLst>
          </p:cNvPr>
          <p:cNvSpPr>
            <a:spLocks xmlns:a="http://schemas.openxmlformats.org/drawingml/2006/main" noGrp="1"/>
          </p:cNvSpPr>
          <p:nvPr/>
        </p:nvSpPr>
        <p:spPr>
          <a:xfrm xmlns:a="http://schemas.openxmlformats.org/drawingml/2006/main">
            <a:off x="4826000" y="3352800"/>
            <a:ext cx="241300" cy="152400"/>
          </a:xfrm>
          <a:prstGeom xmlns:a="http://schemas.openxmlformats.org/drawingml/2006/main" prst="rightArrow">
            <a:avLst/>
          </a:prstGeom>
          <a:solidFill xmlns:a="http://schemas.openxmlformats.org/drawingml/2006/main">
            <a:srgbClr val="DA1884"/>
          </a:solidFill>
        </p:spPr>
        <p:txBody>
          <a:bodyPr xmlns:a="http://schemas.openxmlformats.org/drawingml/2006/main"/>
          <a:lstStyle xmlns:a="http://schemas.openxmlformats.org/drawingml/2006/main"/>
          <a:p xmlns:a="http://schemas.openxmlformats.org/drawingml/2006/main">
            <a:endParaRPr/>
          </a:p>
        </p:txBody>
      </p:sp>
      <p:sp>
        <p:nvSpPr>
          <p:cNvPr id="19" name="Shape 15">
            <a:extLst xmlns:a="http://schemas.openxmlformats.org/drawingml/2006/main">
              <a:ext uri="{FF2B5EF4-FFF2-40B4-BE49-F238E27FC236}">
                <a16:creationId xmlns:a16="http://schemas.microsoft.com/office/drawing/2014/main" id="{184DC0F4-6579-4EB6-838D-970EA9ECF1D8}"/>
              </a:ext>
            </a:extLst>
          </p:cNvPr>
          <p:cNvSpPr>
            <a:spLocks xmlns:a="http://schemas.openxmlformats.org/drawingml/2006/main" noGrp="1"/>
          </p:cNvSpPr>
          <p:nvPr/>
        </p:nvSpPr>
        <p:spPr>
          <a:xfrm xmlns:a="http://schemas.openxmlformats.org/drawingml/2006/main">
            <a:off x="5118100" y="2159000"/>
            <a:ext cx="1955800" cy="2540000"/>
          </a:xfrm>
          <a:prstGeom xmlns:a="http://schemas.openxmlformats.org/drawingml/2006/main" prst="rect">
            <a:avLst/>
          </a:prstGeom>
          <a:solidFill xmlns:a="http://schemas.openxmlformats.org/drawingml/2006/main">
            <a:srgbClr val="F4F4F4"/>
          </a:solidFill>
          <a:effectLst xmlns:a="http://schemas.openxmlformats.org/drawingml/2006/main">
            <a:outerShdw blurRad="50800" dist="25400" dir="5400000" algn="bl" rotWithShape="0">
              <a:srgbClr val="000000">
                <a:alpha val="18000"/>
              </a:srgbClr>
            </a:outerShdw>
          </a:effectLst>
        </p:spPr>
        <p:txBody>
          <a:bodyPr xmlns:a="http://schemas.openxmlformats.org/drawingml/2006/main"/>
          <a:lstStyle xmlns:a="http://schemas.openxmlformats.org/drawingml/2006/main"/>
          <a:p xmlns:a="http://schemas.openxmlformats.org/drawingml/2006/main">
            <a:endParaRPr/>
          </a:p>
        </p:txBody>
      </p:sp>
      <p:sp>
        <p:nvSpPr>
          <p:cNvPr id="20" name="Shape 16">
            <a:extLst xmlns:a="http://schemas.openxmlformats.org/drawingml/2006/main">
              <a:ext uri="{FF2B5EF4-FFF2-40B4-BE49-F238E27FC236}">
                <a16:creationId xmlns:a16="http://schemas.microsoft.com/office/drawing/2014/main" id="{6F175241-2202-4480-A2D0-E61D559024D5}"/>
              </a:ext>
            </a:extLst>
          </p:cNvPr>
          <p:cNvSpPr>
            <a:spLocks xmlns:a="http://schemas.openxmlformats.org/drawingml/2006/main" noGrp="1"/>
          </p:cNvSpPr>
          <p:nvPr/>
        </p:nvSpPr>
        <p:spPr>
          <a:xfrm xmlns:a="http://schemas.openxmlformats.org/drawingml/2006/main">
            <a:off x="5118100" y="2159000"/>
            <a:ext cx="1955800" cy="50800"/>
          </a:xfrm>
          <a:prstGeom xmlns:a="http://schemas.openxmlformats.org/drawingml/2006/main" prst="rect">
            <a:avLst/>
          </a:prstGeom>
          <a:solidFill xmlns:a="http://schemas.openxmlformats.org/drawingml/2006/main">
            <a:srgbClr val="DA1884"/>
          </a:solidFill>
        </p:spPr>
        <p:txBody>
          <a:bodyPr xmlns:a="http://schemas.openxmlformats.org/drawingml/2006/main"/>
          <a:lstStyle xmlns:a="http://schemas.openxmlformats.org/drawingml/2006/main"/>
          <a:p xmlns:a="http://schemas.openxmlformats.org/drawingml/2006/main">
            <a:endParaRPr/>
          </a:p>
        </p:txBody>
      </p:sp>
      <p:sp>
        <p:nvSpPr>
          <p:cNvPr id="21" name="Text 17">
            <a:extLst xmlns:a="http://schemas.openxmlformats.org/drawingml/2006/main">
              <a:ext uri="{FF2B5EF4-FFF2-40B4-BE49-F238E27FC236}">
                <a16:creationId xmlns:a16="http://schemas.microsoft.com/office/drawing/2014/main" id="{06CA712E-9E08-4BDA-BF3D-8A1ED11DE9DF}"/>
              </a:ext>
            </a:extLst>
          </p:cNvPr>
          <p:cNvSpPr>
            <a:spLocks xmlns:a="http://schemas.openxmlformats.org/drawingml/2006/main" noGrp="1"/>
          </p:cNvSpPr>
          <p:nvPr/>
        </p:nvSpPr>
        <p:spPr>
          <a:xfrm xmlns:a="http://schemas.openxmlformats.org/drawingml/2006/main">
            <a:off x="5283200" y="2362200"/>
            <a:ext cx="1625600" cy="2222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15000"/>
              </a:lnSpc>
              <a:spcAft>
                <a:spcPts val="800"/>
              </a:spcAft>
              <a:buNone/>
            </a:pPr>
            <a:r>
              <a:rPr sz="1200" b="1">
                <a:solidFill>
                  <a:srgbClr val="DA1884"/>
                </a:solidFill>
                <a:latin typeface="Arial"/>
                <a:ea typeface="Arial"/>
                <a:cs typeface="Arial"/>
              </a:rPr>
              <a:t>03 · DECIDE</a:t>
            </a:r>
            <a:endParaRPr sz="1200"/>
          </a:p>
          <a:p xmlns:a="http://schemas.openxmlformats.org/drawingml/2006/main">
            <a:pPr marL="0" indent="0">
              <a:lnSpc>
                <a:spcPct val="115000"/>
              </a:lnSpc>
              <a:spcAft>
                <a:spcPts val="800"/>
              </a:spcAft>
              <a:buNone/>
            </a:pPr>
            <a:r>
              <a:rPr sz="1300" b="1">
                <a:solidFill>
                  <a:srgbClr val="141414"/>
                </a:solidFill>
                <a:latin typeface="Arial"/>
                <a:ea typeface="Arial"/>
                <a:cs typeface="Arial"/>
              </a:rPr>
              <a:t>A typed decision</a:t>
            </a:r>
            <a:endParaRPr sz="1200"/>
          </a:p>
          <a:p xmlns:a="http://schemas.openxmlformats.org/drawingml/2006/main">
            <a:pPr marL="0" indent="0">
              <a:lnSpc>
                <a:spcPct val="115000"/>
              </a:lnSpc>
              <a:buNone/>
            </a:pPr>
            <a:r>
              <a:rPr sz="1200">
                <a:solidFill>
                  <a:srgbClr val="333333"/>
                </a:solidFill>
                <a:latin typeface="Arial"/>
                <a:ea typeface="Arial"/>
                <a:cs typeface="Arial"/>
              </a:rPr>
              <a:t>Only { protocol, target }: never a URL or query text.</a:t>
            </a:r>
            <a:endParaRPr sz="1200"/>
          </a:p>
        </p:txBody>
      </p:sp>
      <p:sp>
        <p:nvSpPr>
          <p:cNvPr id="22" name="Shape 18">
            <a:extLst xmlns:a="http://schemas.openxmlformats.org/drawingml/2006/main">
              <a:ext uri="{FF2B5EF4-FFF2-40B4-BE49-F238E27FC236}">
                <a16:creationId xmlns:a16="http://schemas.microsoft.com/office/drawing/2014/main" id="{3A49220C-46A0-4889-B738-0DB2605BB921}"/>
              </a:ext>
            </a:extLst>
          </p:cNvPr>
          <p:cNvSpPr>
            <a:spLocks xmlns:a="http://schemas.openxmlformats.org/drawingml/2006/main" noGrp="1"/>
          </p:cNvSpPr>
          <p:nvPr/>
        </p:nvSpPr>
        <p:spPr>
          <a:xfrm xmlns:a="http://schemas.openxmlformats.org/drawingml/2006/main">
            <a:off x="7131050" y="3352800"/>
            <a:ext cx="241300" cy="152400"/>
          </a:xfrm>
          <a:prstGeom xmlns:a="http://schemas.openxmlformats.org/drawingml/2006/main" prst="rightArrow">
            <a:avLst/>
          </a:prstGeom>
          <a:solidFill xmlns:a="http://schemas.openxmlformats.org/drawingml/2006/main">
            <a:srgbClr val="DA1884"/>
          </a:solidFill>
        </p:spPr>
        <p:txBody>
          <a:bodyPr xmlns:a="http://schemas.openxmlformats.org/drawingml/2006/main"/>
          <a:lstStyle xmlns:a="http://schemas.openxmlformats.org/drawingml/2006/main"/>
          <a:p xmlns:a="http://schemas.openxmlformats.org/drawingml/2006/main">
            <a:endParaRPr/>
          </a:p>
        </p:txBody>
      </p:sp>
      <p:sp>
        <p:nvSpPr>
          <p:cNvPr id="23" name="Shape 19">
            <a:extLst xmlns:a="http://schemas.openxmlformats.org/drawingml/2006/main">
              <a:ext uri="{FF2B5EF4-FFF2-40B4-BE49-F238E27FC236}">
                <a16:creationId xmlns:a16="http://schemas.microsoft.com/office/drawing/2014/main" id="{0066F6A7-5260-43C2-84F9-3FC1F40B154D}"/>
              </a:ext>
            </a:extLst>
          </p:cNvPr>
          <p:cNvSpPr>
            <a:spLocks xmlns:a="http://schemas.openxmlformats.org/drawingml/2006/main" noGrp="1"/>
          </p:cNvSpPr>
          <p:nvPr/>
        </p:nvSpPr>
        <p:spPr>
          <a:xfrm xmlns:a="http://schemas.openxmlformats.org/drawingml/2006/main">
            <a:off x="7423150" y="2159000"/>
            <a:ext cx="1955800" cy="2540000"/>
          </a:xfrm>
          <a:prstGeom xmlns:a="http://schemas.openxmlformats.org/drawingml/2006/main" prst="rect">
            <a:avLst/>
          </a:prstGeom>
          <a:solidFill xmlns:a="http://schemas.openxmlformats.org/drawingml/2006/main">
            <a:srgbClr val="F4F4F4"/>
          </a:solidFill>
          <a:effectLst xmlns:a="http://schemas.openxmlformats.org/drawingml/2006/main">
            <a:outerShdw blurRad="50800" dist="25400" dir="5400000" algn="bl" rotWithShape="0">
              <a:srgbClr val="000000">
                <a:alpha val="18000"/>
              </a:srgbClr>
            </a:outerShdw>
          </a:effectLst>
        </p:spPr>
        <p:txBody>
          <a:bodyPr xmlns:a="http://schemas.openxmlformats.org/drawingml/2006/main"/>
          <a:lstStyle xmlns:a="http://schemas.openxmlformats.org/drawingml/2006/main"/>
          <a:p xmlns:a="http://schemas.openxmlformats.org/drawingml/2006/main">
            <a:endParaRPr/>
          </a:p>
        </p:txBody>
      </p:sp>
      <p:sp>
        <p:nvSpPr>
          <p:cNvPr id="24" name="Shape 20">
            <a:extLst xmlns:a="http://schemas.openxmlformats.org/drawingml/2006/main">
              <a:ext uri="{FF2B5EF4-FFF2-40B4-BE49-F238E27FC236}">
                <a16:creationId xmlns:a16="http://schemas.microsoft.com/office/drawing/2014/main" id="{DBB5C735-63EB-4C5A-9D38-36234EE5C7BD}"/>
              </a:ext>
            </a:extLst>
          </p:cNvPr>
          <p:cNvSpPr>
            <a:spLocks xmlns:a="http://schemas.openxmlformats.org/drawingml/2006/main" noGrp="1"/>
          </p:cNvSpPr>
          <p:nvPr/>
        </p:nvSpPr>
        <p:spPr>
          <a:xfrm xmlns:a="http://schemas.openxmlformats.org/drawingml/2006/main">
            <a:off x="7423150" y="2159000"/>
            <a:ext cx="1955800" cy="50800"/>
          </a:xfrm>
          <a:prstGeom xmlns:a="http://schemas.openxmlformats.org/drawingml/2006/main" prst="rect">
            <a:avLst/>
          </a:prstGeom>
          <a:solidFill xmlns:a="http://schemas.openxmlformats.org/drawingml/2006/main">
            <a:srgbClr val="DA1884"/>
          </a:solidFill>
        </p:spPr>
        <p:txBody>
          <a:bodyPr xmlns:a="http://schemas.openxmlformats.org/drawingml/2006/main"/>
          <a:lstStyle xmlns:a="http://schemas.openxmlformats.org/drawingml/2006/main"/>
          <a:p xmlns:a="http://schemas.openxmlformats.org/drawingml/2006/main">
            <a:endParaRPr/>
          </a:p>
        </p:txBody>
      </p:sp>
      <p:sp>
        <p:nvSpPr>
          <p:cNvPr id="25" name="Text 21">
            <a:extLst xmlns:a="http://schemas.openxmlformats.org/drawingml/2006/main">
              <a:ext uri="{FF2B5EF4-FFF2-40B4-BE49-F238E27FC236}">
                <a16:creationId xmlns:a16="http://schemas.microsoft.com/office/drawing/2014/main" id="{2A600A50-A53B-4748-8527-06AD38E0BE0A}"/>
              </a:ext>
            </a:extLst>
          </p:cNvPr>
          <p:cNvSpPr>
            <a:spLocks xmlns:a="http://schemas.openxmlformats.org/drawingml/2006/main" noGrp="1"/>
          </p:cNvSpPr>
          <p:nvPr/>
        </p:nvSpPr>
        <p:spPr>
          <a:xfrm xmlns:a="http://schemas.openxmlformats.org/drawingml/2006/main">
            <a:off x="7588250" y="2362200"/>
            <a:ext cx="1625600" cy="2222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15000"/>
              </a:lnSpc>
              <a:spcAft>
                <a:spcPts val="800"/>
              </a:spcAft>
              <a:buNone/>
            </a:pPr>
            <a:r>
              <a:rPr sz="1200" b="1">
                <a:solidFill>
                  <a:srgbClr val="DA1884"/>
                </a:solidFill>
                <a:latin typeface="Arial"/>
                <a:ea typeface="Arial"/>
                <a:cs typeface="Arial"/>
              </a:rPr>
              <a:t>04 · EXECUTE</a:t>
            </a:r>
            <a:endParaRPr sz="1200"/>
          </a:p>
          <a:p xmlns:a="http://schemas.openxmlformats.org/drawingml/2006/main">
            <a:pPr marL="0" indent="0">
              <a:lnSpc>
                <a:spcPct val="115000"/>
              </a:lnSpc>
              <a:spcAft>
                <a:spcPts val="800"/>
              </a:spcAft>
              <a:buNone/>
            </a:pPr>
            <a:r>
              <a:rPr sz="1300" b="1">
                <a:solidFill>
                  <a:srgbClr val="141414"/>
                </a:solidFill>
                <a:latin typeface="Arial"/>
                <a:ea typeface="Arial"/>
                <a:cs typeface="Arial"/>
              </a:rPr>
              <a:t>Real transport</a:t>
            </a:r>
            <a:endParaRPr sz="1200"/>
          </a:p>
          <a:p xmlns:a="http://schemas.openxmlformats.org/drawingml/2006/main">
            <a:pPr marL="0" indent="0">
              <a:lnSpc>
                <a:spcPct val="115000"/>
              </a:lnSpc>
              <a:buNone/>
            </a:pPr>
            <a:r>
              <a:rPr sz="1200">
                <a:solidFill>
                  <a:srgbClr val="333333"/>
                </a:solidFill>
                <a:latin typeface="Arial"/>
                <a:ea typeface="Arial"/>
                <a:cs typeface="Arial"/>
              </a:rPr>
              <a:t>Calls its own REST, GraphQL or native gRPC endpoint.</a:t>
            </a:r>
            <a:endParaRPr sz="1200"/>
          </a:p>
        </p:txBody>
      </p:sp>
      <p:sp>
        <p:nvSpPr>
          <p:cNvPr id="26" name="Shape 22">
            <a:extLst xmlns:a="http://schemas.openxmlformats.org/drawingml/2006/main">
              <a:ext uri="{FF2B5EF4-FFF2-40B4-BE49-F238E27FC236}">
                <a16:creationId xmlns:a16="http://schemas.microsoft.com/office/drawing/2014/main" id="{0D488AA5-E30D-4B62-B95A-D18EA4122E54}"/>
              </a:ext>
            </a:extLst>
          </p:cNvPr>
          <p:cNvSpPr>
            <a:spLocks xmlns:a="http://schemas.openxmlformats.org/drawingml/2006/main" noGrp="1"/>
          </p:cNvSpPr>
          <p:nvPr/>
        </p:nvSpPr>
        <p:spPr>
          <a:xfrm xmlns:a="http://schemas.openxmlformats.org/drawingml/2006/main">
            <a:off x="9436100" y="3352800"/>
            <a:ext cx="241300" cy="152400"/>
          </a:xfrm>
          <a:prstGeom xmlns:a="http://schemas.openxmlformats.org/drawingml/2006/main" prst="rightArrow">
            <a:avLst/>
          </a:prstGeom>
          <a:solidFill xmlns:a="http://schemas.openxmlformats.org/drawingml/2006/main">
            <a:srgbClr val="DA1884"/>
          </a:solidFill>
        </p:spPr>
        <p:txBody>
          <a:bodyPr xmlns:a="http://schemas.openxmlformats.org/drawingml/2006/main"/>
          <a:lstStyle xmlns:a="http://schemas.openxmlformats.org/drawingml/2006/main"/>
          <a:p xmlns:a="http://schemas.openxmlformats.org/drawingml/2006/main">
            <a:endParaRPr/>
          </a:p>
        </p:txBody>
      </p:sp>
      <p:sp>
        <p:nvSpPr>
          <p:cNvPr id="27" name="Shape 23">
            <a:extLst xmlns:a="http://schemas.openxmlformats.org/drawingml/2006/main">
              <a:ext uri="{FF2B5EF4-FFF2-40B4-BE49-F238E27FC236}">
                <a16:creationId xmlns:a16="http://schemas.microsoft.com/office/drawing/2014/main" id="{07DC3B8E-C3BF-49B3-B230-CEC71BD9E0D6}"/>
              </a:ext>
            </a:extLst>
          </p:cNvPr>
          <p:cNvSpPr>
            <a:spLocks xmlns:a="http://schemas.openxmlformats.org/drawingml/2006/main" noGrp="1"/>
          </p:cNvSpPr>
          <p:nvPr/>
        </p:nvSpPr>
        <p:spPr>
          <a:xfrm xmlns:a="http://schemas.openxmlformats.org/drawingml/2006/main">
            <a:off x="9728200" y="2159000"/>
            <a:ext cx="1955800" cy="2540000"/>
          </a:xfrm>
          <a:prstGeom xmlns:a="http://schemas.openxmlformats.org/drawingml/2006/main" prst="rect">
            <a:avLst/>
          </a:prstGeom>
          <a:solidFill xmlns:a="http://schemas.openxmlformats.org/drawingml/2006/main">
            <a:srgbClr val="F4F4F4"/>
          </a:solidFill>
          <a:effectLst xmlns:a="http://schemas.openxmlformats.org/drawingml/2006/main">
            <a:outerShdw blurRad="50800" dist="25400" dir="5400000" algn="bl" rotWithShape="0">
              <a:srgbClr val="000000">
                <a:alpha val="18000"/>
              </a:srgbClr>
            </a:outerShdw>
          </a:effectLst>
        </p:spPr>
        <p:txBody>
          <a:bodyPr xmlns:a="http://schemas.openxmlformats.org/drawingml/2006/main"/>
          <a:lstStyle xmlns:a="http://schemas.openxmlformats.org/drawingml/2006/main"/>
          <a:p xmlns:a="http://schemas.openxmlformats.org/drawingml/2006/main">
            <a:endParaRPr/>
          </a:p>
        </p:txBody>
      </p:sp>
      <p:sp>
        <p:nvSpPr>
          <p:cNvPr id="28" name="Shape 24">
            <a:extLst xmlns:a="http://schemas.openxmlformats.org/drawingml/2006/main">
              <a:ext uri="{FF2B5EF4-FFF2-40B4-BE49-F238E27FC236}">
                <a16:creationId xmlns:a16="http://schemas.microsoft.com/office/drawing/2014/main" id="{0584BE73-1DF8-44C5-B2E2-47EE187C1E62}"/>
              </a:ext>
            </a:extLst>
          </p:cNvPr>
          <p:cNvSpPr>
            <a:spLocks xmlns:a="http://schemas.openxmlformats.org/drawingml/2006/main" noGrp="1"/>
          </p:cNvSpPr>
          <p:nvPr/>
        </p:nvSpPr>
        <p:spPr>
          <a:xfrm xmlns:a="http://schemas.openxmlformats.org/drawingml/2006/main">
            <a:off x="9728200" y="2159000"/>
            <a:ext cx="1955800" cy="50800"/>
          </a:xfrm>
          <a:prstGeom xmlns:a="http://schemas.openxmlformats.org/drawingml/2006/main" prst="rect">
            <a:avLst/>
          </a:prstGeom>
          <a:solidFill xmlns:a="http://schemas.openxmlformats.org/drawingml/2006/main">
            <a:srgbClr val="DA1884"/>
          </a:solidFill>
        </p:spPr>
        <p:txBody>
          <a:bodyPr xmlns:a="http://schemas.openxmlformats.org/drawingml/2006/main"/>
          <a:lstStyle xmlns:a="http://schemas.openxmlformats.org/drawingml/2006/main"/>
          <a:p xmlns:a="http://schemas.openxmlformats.org/drawingml/2006/main">
            <a:endParaRPr/>
          </a:p>
        </p:txBody>
      </p:sp>
      <p:sp>
        <p:nvSpPr>
          <p:cNvPr id="29" name="Text 25">
            <a:extLst xmlns:a="http://schemas.openxmlformats.org/drawingml/2006/main">
              <a:ext uri="{FF2B5EF4-FFF2-40B4-BE49-F238E27FC236}">
                <a16:creationId xmlns:a16="http://schemas.microsoft.com/office/drawing/2014/main" id="{6ED3759D-36E4-4C73-99E8-52231C5A122E}"/>
              </a:ext>
            </a:extLst>
          </p:cNvPr>
          <p:cNvSpPr>
            <a:spLocks xmlns:a="http://schemas.openxmlformats.org/drawingml/2006/main" noGrp="1"/>
          </p:cNvSpPr>
          <p:nvPr/>
        </p:nvSpPr>
        <p:spPr>
          <a:xfrm xmlns:a="http://schemas.openxmlformats.org/drawingml/2006/main">
            <a:off x="9893300" y="2362200"/>
            <a:ext cx="1625600" cy="2222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15000"/>
              </a:lnSpc>
              <a:spcAft>
                <a:spcPts val="800"/>
              </a:spcAft>
              <a:buNone/>
            </a:pPr>
            <a:r>
              <a:rPr sz="1200" b="1">
                <a:solidFill>
                  <a:srgbClr val="DA1884"/>
                </a:solidFill>
                <a:latin typeface="Arial"/>
                <a:ea typeface="Arial"/>
                <a:cs typeface="Arial"/>
              </a:rPr>
              <a:t>05 · ANSWER</a:t>
            </a:r>
            <a:endParaRPr sz="1200"/>
          </a:p>
          <a:p xmlns:a="http://schemas.openxmlformats.org/drawingml/2006/main">
            <a:pPr marL="0" indent="0">
              <a:lnSpc>
                <a:spcPct val="115000"/>
              </a:lnSpc>
              <a:spcAft>
                <a:spcPts val="800"/>
              </a:spcAft>
              <a:buNone/>
            </a:pPr>
            <a:r>
              <a:rPr sz="1300" b="1">
                <a:solidFill>
                  <a:srgbClr val="141414"/>
                </a:solidFill>
                <a:latin typeface="Arial"/>
                <a:ea typeface="Arial"/>
                <a:cs typeface="Arial"/>
              </a:rPr>
              <a:t>Compose, inspect</a:t>
            </a:r>
            <a:endParaRPr sz="1200"/>
          </a:p>
          <a:p xmlns:a="http://schemas.openxmlformats.org/drawingml/2006/main">
            <a:pPr marL="0" indent="0">
              <a:lnSpc>
                <a:spcPct val="115000"/>
              </a:lnSpc>
              <a:buNone/>
            </a:pPr>
            <a:r>
              <a:rPr sz="1200">
                <a:solidFill>
                  <a:srgbClr val="333333"/>
                </a:solidFill>
                <a:latin typeface="Arial"/>
                <a:ea typeface="Arial"/>
                <a:cs typeface="Arial"/>
              </a:rPr>
              <a:t>Built from the response, with payloads and timings shown.</a:t>
            </a:r>
            <a:endParaRPr sz="1200"/>
          </a:p>
        </p:txBody>
      </p:sp>
      <p:sp>
        <p:nvSpPr>
          <p:cNvPr id="30" name="Shape 26">
            <a:extLst xmlns:a="http://schemas.openxmlformats.org/drawingml/2006/main">
              <a:ext uri="{FF2B5EF4-FFF2-40B4-BE49-F238E27FC236}">
                <a16:creationId xmlns:a16="http://schemas.microsoft.com/office/drawing/2014/main" id="{E33015F1-0097-4167-B17D-16A9D81D46F5}"/>
              </a:ext>
            </a:extLst>
          </p:cNvPr>
          <p:cNvSpPr>
            <a:spLocks xmlns:a="http://schemas.openxmlformats.org/drawingml/2006/main" noGrp="1"/>
          </p:cNvSpPr>
          <p:nvPr/>
        </p:nvSpPr>
        <p:spPr>
          <a:xfrm xmlns:a="http://schemas.openxmlformats.org/drawingml/2006/main">
            <a:off x="508000" y="5016500"/>
            <a:ext cx="11176000" cy="698500"/>
          </a:xfrm>
          <a:prstGeom xmlns:a="http://schemas.openxmlformats.org/drawingml/2006/main" prst="rect">
            <a:avLst/>
          </a:prstGeom>
          <a:solidFill xmlns:a="http://schemas.openxmlformats.org/drawingml/2006/main">
            <a:srgbClr val="F4F4F4"/>
          </a:solidFill>
          <a:effectLst xmlns:a="http://schemas.openxmlformats.org/drawingml/2006/main">
            <a:outerShdw blurRad="50800" dist="25400" dir="5400000" algn="bl" rotWithShape="0">
              <a:srgbClr val="000000">
                <a:alpha val="18000"/>
              </a:srgbClr>
            </a:outerShdw>
          </a:effectLst>
        </p:spPr>
        <p:txBody>
          <a:bodyPr xmlns:a="http://schemas.openxmlformats.org/drawingml/2006/main"/>
          <a:lstStyle xmlns:a="http://schemas.openxmlformats.org/drawingml/2006/main"/>
          <a:p xmlns:a="http://schemas.openxmlformats.org/drawingml/2006/main">
            <a:endParaRPr/>
          </a:p>
        </p:txBody>
      </p:sp>
      <p:sp>
        <p:nvSpPr>
          <p:cNvPr id="31" name="Shape 27">
            <a:extLst xmlns:a="http://schemas.openxmlformats.org/drawingml/2006/main">
              <a:ext uri="{FF2B5EF4-FFF2-40B4-BE49-F238E27FC236}">
                <a16:creationId xmlns:a16="http://schemas.microsoft.com/office/drawing/2014/main" id="{5FF2D3E4-7860-4D37-A6B9-4663C2F3685F}"/>
              </a:ext>
            </a:extLst>
          </p:cNvPr>
          <p:cNvSpPr>
            <a:spLocks xmlns:a="http://schemas.openxmlformats.org/drawingml/2006/main" noGrp="1"/>
          </p:cNvSpPr>
          <p:nvPr/>
        </p:nvSpPr>
        <p:spPr>
          <a:xfrm xmlns:a="http://schemas.openxmlformats.org/drawingml/2006/main">
            <a:off x="508000" y="5016500"/>
            <a:ext cx="76200" cy="698500"/>
          </a:xfrm>
          <a:prstGeom xmlns:a="http://schemas.openxmlformats.org/drawingml/2006/main" prst="rect">
            <a:avLst/>
          </a:prstGeom>
          <a:solidFill xmlns:a="http://schemas.openxmlformats.org/drawingml/2006/main">
            <a:srgbClr val="DA1884"/>
          </a:solidFill>
        </p:spPr>
        <p:txBody>
          <a:bodyPr xmlns:a="http://schemas.openxmlformats.org/drawingml/2006/main"/>
          <a:lstStyle xmlns:a="http://schemas.openxmlformats.org/drawingml/2006/main"/>
          <a:p xmlns:a="http://schemas.openxmlformats.org/drawingml/2006/main">
            <a:endParaRPr/>
          </a:p>
        </p:txBody>
      </p:sp>
      <p:sp>
        <p:nvSpPr>
          <p:cNvPr id="32" name="Text 28">
            <a:extLst xmlns:a="http://schemas.openxmlformats.org/drawingml/2006/main">
              <a:ext uri="{FF2B5EF4-FFF2-40B4-BE49-F238E27FC236}">
                <a16:creationId xmlns:a16="http://schemas.microsoft.com/office/drawing/2014/main" id="{3FBA6989-CC9A-464A-82F9-BA5D4161BD69}"/>
              </a:ext>
            </a:extLst>
          </p:cNvPr>
          <p:cNvSpPr>
            <a:spLocks xmlns:a="http://schemas.openxmlformats.org/drawingml/2006/main" noGrp="1"/>
          </p:cNvSpPr>
          <p:nvPr/>
        </p:nvSpPr>
        <p:spPr>
          <a:xfrm xmlns:a="http://schemas.openxmlformats.org/drawingml/2006/main">
            <a:off x="787400" y="5016500"/>
            <a:ext cx="10668000" cy="6985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200" b="1">
                <a:solidFill>
                  <a:srgbClr val="141414"/>
                </a:solidFill>
                <a:latin typeface="Arial"/>
                <a:ea typeface="Arial"/>
                <a:cs typeface="Arial"/>
              </a:rPr>
              <a:t>The model chooses the route. It never supplies the data.  </a:t>
            </a:r>
            <a:r>
              <a:rPr sz="1200">
                <a:solidFill>
                  <a:srgbClr val="141414"/>
                </a:solidFill>
                <a:latin typeface="Arial"/>
                <a:ea typeface="Arial"/>
                <a:cs typeface="Arial"/>
              </a:rPr>
              <a:t>Answers are composed deterministically from what the protocol returned, so a routing mistake is visible and no facts are invented.</a:t>
            </a:r>
            <a:endParaRPr sz="1200"/>
          </a:p>
        </p:txBody>
      </p:sp>
    </p:spTree>
    <p:extLst>
      <p:ext uri="{BB962C8B-B14F-4D97-AF65-F5344CB8AC3E}">
        <p14:creationId xmlns:p14="http://schemas.microsoft.com/office/powerpoint/2010/main" val="1689868734"/>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5D99CAAB-31CD-4124-9A6F-D47B18ECCF34}"/>
              </a:ext>
            </a:extLst>
          </p:cNvPr>
          <p:cNvPicPr>
            <a:picLocks xmlns:a="http://schemas.openxmlformats.org/drawingml/2006/main" noChangeAspect="1"/>
          </p:cNvPicPr>
          <p:nvPr/>
        </p:nvPicPr>
        <p:blipFill>
          <a:blip xmlns:r="http://schemas.openxmlformats.org/officeDocument/2006/relationships" xmlns:a="http://schemas.openxmlformats.org/drawingml/2006/main" r:embed="R0c40a82f4cb04f3c"/>
          <a:stretch xmlns:a="http://schemas.openxmlformats.org/drawingml/2006/main">
            <a:fillRect l="0" t="0" r="0" b="0"/>
          </a:stretch>
        </p:blipFill>
        <p:spPr>
          <a:xfrm xmlns:a="http://schemas.openxmlformats.org/drawingml/2006/main">
            <a:off x="508000" y="152400"/>
            <a:ext cx="990600" cy="40640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5B6ED3BF-8C9E-4A22-8EF7-FA9F4CB66E9F}"/>
              </a:ext>
            </a:extLst>
          </p:cNvPr>
          <p:cNvSpPr>
            <a:spLocks xmlns:a="http://schemas.openxmlformats.org/drawingml/2006/main" noGrp="1"/>
          </p:cNvSpPr>
          <p:nvPr/>
        </p:nvSpPr>
        <p:spPr>
          <a:xfrm xmlns:a="http://schemas.openxmlformats.org/drawingml/2006/main">
            <a:off x="3556000" y="406400"/>
            <a:ext cx="5080000" cy="190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110000"/>
              </a:lnSpc>
              <a:buNone/>
            </a:pPr>
            <a:r>
              <a:rPr sz="1000">
                <a:solidFill>
                  <a:srgbClr val="6B6B6B"/>
                </a:solidFill>
                <a:latin typeface="Arial"/>
                <a:ea typeface="Arial"/>
                <a:cs typeface="Arial"/>
              </a:rPr>
              <a:t>Protocol Studio  —  REST · GraphQL · gRPC</a:t>
            </a:r>
            <a:endParaRPr sz="1000"/>
          </a:p>
        </p:txBody>
      </p:sp>
      <p:sp>
        <p:nvSpPr>
          <p:cNvPr id="4" name="Text 1">
            <a:extLst xmlns:a="http://schemas.openxmlformats.org/drawingml/2006/main">
              <a:ext uri="{FF2B5EF4-FFF2-40B4-BE49-F238E27FC236}">
                <a16:creationId xmlns:a16="http://schemas.microsoft.com/office/drawing/2014/main" id="{6EE7371C-0711-459B-89D2-11BAA4AE7643}"/>
              </a:ext>
            </a:extLst>
          </p:cNvPr>
          <p:cNvSpPr>
            <a:spLocks xmlns:a="http://schemas.openxmlformats.org/drawingml/2006/main" noGrp="1"/>
          </p:cNvSpPr>
          <p:nvPr/>
        </p:nvSpPr>
        <p:spPr>
          <a:xfrm xmlns:a="http://schemas.openxmlformats.org/drawingml/2006/main">
            <a:off x="6350000" y="406400"/>
            <a:ext cx="5334000" cy="190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ct val="110000"/>
              </a:lnSpc>
              <a:buNone/>
            </a:pPr>
            <a:r>
              <a:rPr sz="1000" b="1">
                <a:solidFill>
                  <a:srgbClr val="DA1884"/>
                </a:solidFill>
                <a:latin typeface="Arial"/>
                <a:ea typeface="Arial"/>
                <a:cs typeface="Arial"/>
              </a:rPr>
              <a:t>APPENDIX · AI ROUTING</a:t>
            </a:r>
            <a:endParaRPr sz="1000"/>
          </a:p>
        </p:txBody>
      </p:sp>
      <p:sp>
        <p:nvSpPr>
          <p:cNvPr id="5" name="Text 2">
            <a:extLst xmlns:a="http://schemas.openxmlformats.org/drawingml/2006/main">
              <a:ext uri="{FF2B5EF4-FFF2-40B4-BE49-F238E27FC236}">
                <a16:creationId xmlns:a16="http://schemas.microsoft.com/office/drawing/2014/main" id="{88B66110-8C3D-42C0-BAFC-0DAF60E8EE35}"/>
              </a:ext>
            </a:extLst>
          </p:cNvPr>
          <p:cNvSpPr>
            <a:spLocks xmlns:a="http://schemas.openxmlformats.org/drawingml/2006/main" noGrp="1"/>
          </p:cNvSpPr>
          <p:nvPr/>
        </p:nvSpPr>
        <p:spPr>
          <a:xfrm xmlns:a="http://schemas.openxmlformats.org/drawingml/2006/main">
            <a:off x="508000" y="6578600"/>
            <a:ext cx="8890000" cy="177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900">
                <a:solidFill>
                  <a:srgbClr val="9E9E9E"/>
                </a:solidFill>
                <a:latin typeface="Arial"/>
                <a:ea typeface="Arial"/>
                <a:cs typeface="Arial"/>
              </a:rPr>
              <a:t>Insight Proprietary &amp; Confidential.  Do Not Copy or Distribute.  © 2026 Insight.  All Rights Reserved.</a:t>
            </a:r>
            <a:endParaRPr sz="900"/>
          </a:p>
        </p:txBody>
      </p:sp>
      <p:sp>
        <p:nvSpPr>
          <p:cNvPr id="6" name="Text 3">
            <a:extLst xmlns:a="http://schemas.openxmlformats.org/drawingml/2006/main">
              <a:ext uri="{FF2B5EF4-FFF2-40B4-BE49-F238E27FC236}">
                <a16:creationId xmlns:a16="http://schemas.microsoft.com/office/drawing/2014/main" id="{2631B7C3-0BA3-40A4-BA1E-04B44F2E4C40}"/>
              </a:ext>
            </a:extLst>
          </p:cNvPr>
          <p:cNvSpPr>
            <a:spLocks xmlns:a="http://schemas.openxmlformats.org/drawingml/2006/main" noGrp="1"/>
          </p:cNvSpPr>
          <p:nvPr/>
        </p:nvSpPr>
        <p:spPr>
          <a:xfrm xmlns:a="http://schemas.openxmlformats.org/drawingml/2006/main">
            <a:off x="10922000" y="6578600"/>
            <a:ext cx="762000" cy="177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ct val="110000"/>
              </a:lnSpc>
              <a:buNone/>
            </a:pPr>
            <a:r>
              <a:rPr sz="900">
                <a:solidFill>
                  <a:srgbClr val="9E9E9E"/>
                </a:solidFill>
                <a:latin typeface="Arial"/>
                <a:ea typeface="Arial"/>
                <a:cs typeface="Arial"/>
              </a:rPr>
              <a:t>23</a:t>
            </a:r>
            <a:endParaRPr sz="900"/>
          </a:p>
        </p:txBody>
      </p:sp>
      <p:sp>
        <p:nvSpPr>
          <p:cNvPr id="7" name="Text 4">
            <a:extLst xmlns:a="http://schemas.openxmlformats.org/drawingml/2006/main">
              <a:ext uri="{FF2B5EF4-FFF2-40B4-BE49-F238E27FC236}">
                <a16:creationId xmlns:a16="http://schemas.microsoft.com/office/drawing/2014/main" id="{5B38DACC-D53B-4DDB-8715-4AE8309BBBFB}"/>
              </a:ext>
            </a:extLst>
          </p:cNvPr>
          <p:cNvSpPr>
            <a:spLocks xmlns:a="http://schemas.openxmlformats.org/drawingml/2006/main" noGrp="1"/>
          </p:cNvSpPr>
          <p:nvPr/>
        </p:nvSpPr>
        <p:spPr>
          <a:xfrm xmlns:a="http://schemas.openxmlformats.org/drawingml/2006/main">
            <a:off x="508000" y="889000"/>
            <a:ext cx="11176000" cy="2159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1200" b="1">
                <a:solidFill>
                  <a:srgbClr val="DA1884"/>
                </a:solidFill>
                <a:latin typeface="Arial"/>
                <a:ea typeface="Arial"/>
                <a:cs typeface="Arial"/>
              </a:rPr>
              <a:t>AI ROUTING · OLLAMA</a:t>
            </a:r>
            <a:endParaRPr sz="1200"/>
          </a:p>
        </p:txBody>
      </p:sp>
      <p:sp>
        <p:nvSpPr>
          <p:cNvPr id="8" name="Text 5">
            <a:extLst xmlns:a="http://schemas.openxmlformats.org/drawingml/2006/main">
              <a:ext uri="{FF2B5EF4-FFF2-40B4-BE49-F238E27FC236}">
                <a16:creationId xmlns:a16="http://schemas.microsoft.com/office/drawing/2014/main" id="{A7E123C5-E1D6-4967-8CFB-EA85A51E1DDD}"/>
              </a:ext>
            </a:extLst>
          </p:cNvPr>
          <p:cNvSpPr>
            <a:spLocks xmlns:a="http://schemas.openxmlformats.org/drawingml/2006/main" noGrp="1"/>
          </p:cNvSpPr>
          <p:nvPr/>
        </p:nvSpPr>
        <p:spPr>
          <a:xfrm xmlns:a="http://schemas.openxmlformats.org/drawingml/2006/main">
            <a:off x="508000" y="1130300"/>
            <a:ext cx="11176000" cy="482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3000" b="1">
                <a:solidFill>
                  <a:srgbClr val="141414"/>
                </a:solidFill>
                <a:latin typeface="Arial"/>
                <a:ea typeface="Arial"/>
                <a:cs typeface="Arial"/>
              </a:rPr>
              <a:t>Local Routing with Ollama Tool Calling</a:t>
            </a:r>
            <a:endParaRPr sz="3000"/>
          </a:p>
        </p:txBody>
      </p:sp>
      <p:sp>
        <p:nvSpPr>
          <p:cNvPr id="9" name="Text 6">
            <a:extLst xmlns:a="http://schemas.openxmlformats.org/drawingml/2006/main">
              <a:ext uri="{FF2B5EF4-FFF2-40B4-BE49-F238E27FC236}">
                <a16:creationId xmlns:a16="http://schemas.microsoft.com/office/drawing/2014/main" id="{3F7689EC-1800-49C0-B821-82E393E0D79F}"/>
              </a:ext>
            </a:extLst>
          </p:cNvPr>
          <p:cNvSpPr>
            <a:spLocks xmlns:a="http://schemas.openxmlformats.org/drawingml/2006/main" noGrp="1"/>
          </p:cNvSpPr>
          <p:nvPr/>
        </p:nvSpPr>
        <p:spPr>
          <a:xfrm xmlns:a="http://schemas.openxmlformats.org/drawingml/2006/main">
            <a:off x="508000" y="1663700"/>
            <a:ext cx="11176000"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1400">
                <a:solidFill>
                  <a:srgbClr val="6B6B6B"/>
                </a:solidFill>
                <a:latin typeface="Arial"/>
                <a:ea typeface="Arial"/>
                <a:cs typeface="Arial"/>
              </a:rPr>
              <a:t>Genuine tool calling on a small local model: no API key and no cloud dependency.</a:t>
            </a:r>
            <a:endParaRPr sz="1400"/>
          </a:p>
        </p:txBody>
      </p:sp>
      <p:sp>
        <p:nvSpPr>
          <p:cNvPr id="11" name="Shape 7">
            <a:extLst xmlns:a="http://schemas.openxmlformats.org/drawingml/2006/main">
              <a:ext uri="{FF2B5EF4-FFF2-40B4-BE49-F238E27FC236}">
                <a16:creationId xmlns:a16="http://schemas.microsoft.com/office/drawing/2014/main" id="{81BB381C-B0B8-4062-9FF1-FE9F0C156A2E}"/>
              </a:ext>
            </a:extLst>
          </p:cNvPr>
          <p:cNvSpPr>
            <a:spLocks xmlns:a="http://schemas.openxmlformats.org/drawingml/2006/main" noGrp="1"/>
          </p:cNvSpPr>
          <p:nvPr/>
        </p:nvSpPr>
        <p:spPr>
          <a:xfrm xmlns:a="http://schemas.openxmlformats.org/drawingml/2006/main">
            <a:off x="508000" y="2159000"/>
            <a:ext cx="5588000" cy="3810000"/>
          </a:xfrm>
          <a:prstGeom xmlns:a="http://schemas.openxmlformats.org/drawingml/2006/main" prst="rect">
            <a:avLst/>
          </a:prstGeom>
          <a:solidFill xmlns:a="http://schemas.openxmlformats.org/drawingml/2006/main">
            <a:srgbClr val="1B1B1F"/>
          </a:solidFill>
          <a:effectLst xmlns:a="http://schemas.openxmlformats.org/drawingml/2006/main">
            <a:outerShdw blurRad="50800" dist="25400" dir="5400000" algn="bl" rotWithShape="0">
              <a:srgbClr val="000000">
                <a:alpha val="18000"/>
              </a:srgbClr>
            </a:outerShdw>
          </a:effectLst>
        </p:spPr>
        <p:txBody>
          <a:bodyPr xmlns:a="http://schemas.openxmlformats.org/drawingml/2006/main"/>
          <a:lstStyle xmlns:a="http://schemas.openxmlformats.org/drawingml/2006/main"/>
          <a:p xmlns:a="http://schemas.openxmlformats.org/drawingml/2006/main">
            <a:endParaRPr/>
          </a:p>
        </p:txBody>
      </p:sp>
      <p:sp>
        <p:nvSpPr>
          <p:cNvPr id="12" name="Shape 8">
            <a:extLst xmlns:a="http://schemas.openxmlformats.org/drawingml/2006/main">
              <a:ext uri="{FF2B5EF4-FFF2-40B4-BE49-F238E27FC236}">
                <a16:creationId xmlns:a16="http://schemas.microsoft.com/office/drawing/2014/main" id="{37BB79C8-61E3-46ED-A5CD-481848589D75}"/>
              </a:ext>
            </a:extLst>
          </p:cNvPr>
          <p:cNvSpPr>
            <a:spLocks xmlns:a="http://schemas.openxmlformats.org/drawingml/2006/main" noGrp="1"/>
          </p:cNvSpPr>
          <p:nvPr/>
        </p:nvSpPr>
        <p:spPr>
          <a:xfrm xmlns:a="http://schemas.openxmlformats.org/drawingml/2006/main">
            <a:off x="508000" y="2159000"/>
            <a:ext cx="5588000" cy="355600"/>
          </a:xfrm>
          <a:prstGeom xmlns:a="http://schemas.openxmlformats.org/drawingml/2006/main" prst="rect">
            <a:avLst/>
          </a:prstGeom>
          <a:solidFill xmlns:a="http://schemas.openxmlformats.org/drawingml/2006/main">
            <a:srgbClr val="DA1884"/>
          </a:solidFill>
        </p:spPr>
        <p:txBody>
          <a:bodyPr xmlns:a="http://schemas.openxmlformats.org/drawingml/2006/main"/>
          <a:lstStyle xmlns:a="http://schemas.openxmlformats.org/drawingml/2006/main"/>
          <a:p xmlns:a="http://schemas.openxmlformats.org/drawingml/2006/main">
            <a:endParaRPr/>
          </a:p>
        </p:txBody>
      </p:sp>
      <p:sp>
        <p:nvSpPr>
          <p:cNvPr id="13" name="Text 9">
            <a:extLst xmlns:a="http://schemas.openxmlformats.org/drawingml/2006/main">
              <a:ext uri="{FF2B5EF4-FFF2-40B4-BE49-F238E27FC236}">
                <a16:creationId xmlns:a16="http://schemas.microsoft.com/office/drawing/2014/main" id="{E58C6DEA-9ABE-4AB7-A165-19A224C1E022}"/>
              </a:ext>
            </a:extLst>
          </p:cNvPr>
          <p:cNvSpPr>
            <a:spLocks xmlns:a="http://schemas.openxmlformats.org/drawingml/2006/main" noGrp="1"/>
          </p:cNvSpPr>
          <p:nvPr/>
        </p:nvSpPr>
        <p:spPr>
          <a:xfrm xmlns:a="http://schemas.openxmlformats.org/drawingml/2006/main">
            <a:off x="711200" y="2159000"/>
            <a:ext cx="5181600" cy="355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200" b="1">
                <a:solidFill>
                  <a:srgbClr val="FFFFFF"/>
                </a:solidFill>
                <a:latin typeface="Arial"/>
                <a:ea typeface="Arial"/>
                <a:cs typeface="Arial"/>
              </a:rPr>
              <a:t>ONE TOOL PER PROTOCOL</a:t>
            </a:r>
            <a:endParaRPr sz="1200"/>
          </a:p>
        </p:txBody>
      </p:sp>
      <p:sp>
        <p:nvSpPr>
          <p:cNvPr id="14" name="Text 10">
            <a:extLst xmlns:a="http://schemas.openxmlformats.org/drawingml/2006/main">
              <a:ext uri="{FF2B5EF4-FFF2-40B4-BE49-F238E27FC236}">
                <a16:creationId xmlns:a16="http://schemas.microsoft.com/office/drawing/2014/main" id="{19988A27-7F15-493C-9472-0DC54CF95DE8}"/>
              </a:ext>
            </a:extLst>
          </p:cNvPr>
          <p:cNvSpPr>
            <a:spLocks xmlns:a="http://schemas.openxmlformats.org/drawingml/2006/main" noGrp="1"/>
          </p:cNvSpPr>
          <p:nvPr/>
        </p:nvSpPr>
        <p:spPr>
          <a:xfrm xmlns:a="http://schemas.openxmlformats.org/drawingml/2006/main">
            <a:off x="711200" y="2667000"/>
            <a:ext cx="5181600" cy="3149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20000"/>
              </a:lnSpc>
              <a:buNone/>
            </a:pPr>
            <a:r>
              <a:rPr sz="1200">
                <a:solidFill>
                  <a:srgbClr val="EDEDED"/>
                </a:solidFill>
                <a:latin typeface="Consolas"/>
                <a:ea typeface="Consolas"/>
                <a:cs typeface="Consolas"/>
              </a:rPr>
              <a:t>{</a:t>
            </a:r>
            <a:endParaRPr sz="1200"/>
          </a:p>
          <a:p xmlns:a="http://schemas.openxmlformats.org/drawingml/2006/main">
            <a:pPr marL="0" indent="0">
              <a:lnSpc>
                <a:spcPct val="120000"/>
              </a:lnSpc>
              <a:buNone/>
            </a:pPr>
            <a:r>
              <a:rPr sz="1200">
                <a:solidFill>
                  <a:srgbClr val="EDEDED"/>
                </a:solidFill>
                <a:latin typeface="Consolas"/>
                <a:ea typeface="Consolas"/>
                <a:cs typeface="Consolas"/>
              </a:rPr>
              <a:t>  "type": "function",</a:t>
            </a:r>
            <a:endParaRPr sz="1200"/>
          </a:p>
          <a:p xmlns:a="http://schemas.openxmlformats.org/drawingml/2006/main">
            <a:pPr marL="0" indent="0">
              <a:lnSpc>
                <a:spcPct val="120000"/>
              </a:lnSpc>
              <a:buNone/>
            </a:pPr>
            <a:r>
              <a:rPr sz="1200">
                <a:solidFill>
                  <a:srgbClr val="EDEDED"/>
                </a:solidFill>
                <a:latin typeface="Consolas"/>
                <a:ea typeface="Consolas"/>
                <a:cs typeface="Consolas"/>
              </a:rPr>
              <a:t>  "function": {</a:t>
            </a:r>
            <a:endParaRPr sz="1200"/>
          </a:p>
          <a:p xmlns:a="http://schemas.openxmlformats.org/drawingml/2006/main">
            <a:pPr marL="0" indent="0">
              <a:lnSpc>
                <a:spcPct val="120000"/>
              </a:lnSpc>
              <a:buNone/>
            </a:pPr>
            <a:r>
              <a:rPr sz="1200">
                <a:solidFill>
                  <a:srgbClr val="EDEDED"/>
                </a:solidFill>
                <a:latin typeface="Consolas"/>
                <a:ea typeface="Consolas"/>
                <a:cs typeface="Consolas"/>
              </a:rPr>
              <a:t>    "name": "GRAPHQL",</a:t>
            </a:r>
            <a:endParaRPr sz="1200"/>
          </a:p>
          <a:p xmlns:a="http://schemas.openxmlformats.org/drawingml/2006/main">
            <a:pPr marL="0" indent="0">
              <a:lnSpc>
                <a:spcPct val="120000"/>
              </a:lnSpc>
              <a:buNone/>
            </a:pPr>
            <a:r>
              <a:rPr sz="1200">
                <a:solidFill>
                  <a:srgbClr val="EDEDED"/>
                </a:solidFill>
                <a:latin typeface="Consolas"/>
                <a:ea typeface="Consolas"/>
                <a:cs typeface="Consolas"/>
              </a:rPr>
              <a:t>    "description": "A nested query brings…",</a:t>
            </a:r>
            <a:endParaRPr sz="1200"/>
          </a:p>
          <a:p xmlns:a="http://schemas.openxmlformats.org/drawingml/2006/main">
            <a:pPr marL="0" indent="0">
              <a:lnSpc>
                <a:spcPct val="120000"/>
              </a:lnSpc>
              <a:buNone/>
            </a:pPr>
            <a:r>
              <a:rPr sz="1200">
                <a:solidFill>
                  <a:srgbClr val="EDEDED"/>
                </a:solidFill>
                <a:latin typeface="Consolas"/>
                <a:ea typeface="Consolas"/>
                <a:cs typeface="Consolas"/>
              </a:rPr>
              <a:t>    "parameters": {</a:t>
            </a:r>
            <a:endParaRPr sz="1200"/>
          </a:p>
          <a:p xmlns:a="http://schemas.openxmlformats.org/drawingml/2006/main">
            <a:pPr marL="0" indent="0">
              <a:lnSpc>
                <a:spcPct val="120000"/>
              </a:lnSpc>
              <a:buNone/>
            </a:pPr>
            <a:r>
              <a:rPr sz="1200">
                <a:solidFill>
                  <a:srgbClr val="EDEDED"/>
                </a:solidFill>
                <a:latin typeface="Consolas"/>
                <a:ea typeface="Consolas"/>
                <a:cs typeface="Consolas"/>
              </a:rPr>
              <a:t>      "properties": { "target": {</a:t>
            </a:r>
            <a:endParaRPr sz="1200"/>
          </a:p>
          <a:p xmlns:a="http://schemas.openxmlformats.org/drawingml/2006/main">
            <a:pPr marL="0" indent="0">
              <a:lnSpc>
                <a:spcPct val="120000"/>
              </a:lnSpc>
              <a:buNone/>
            </a:pPr>
            <a:r>
              <a:rPr sz="1200">
                <a:solidFill>
                  <a:srgbClr val="EDEDED"/>
                </a:solidFill>
                <a:latin typeface="Consolas"/>
                <a:ea typeface="Consolas"/>
                <a:cs typeface="Consolas"/>
              </a:rPr>
              <a:t>        "type": "string",</a:t>
            </a:r>
            <a:endParaRPr sz="1200"/>
          </a:p>
          <a:p xmlns:a="http://schemas.openxmlformats.org/drawingml/2006/main">
            <a:pPr marL="0" indent="0">
              <a:lnSpc>
                <a:spcPct val="120000"/>
              </a:lnSpc>
              <a:buNone/>
            </a:pPr>
            <a:r>
              <a:rPr sz="1200">
                <a:solidFill>
                  <a:srgbClr val="EDEDED"/>
                </a:solidFill>
                <a:latin typeface="Consolas"/>
                <a:ea typeface="Consolas"/>
                <a:cs typeface="Consolas"/>
              </a:rPr>
              <a:t>        "enum": </a:t>
            </a:r>
            <a:r>
              <a:rPr sz="1200">
                <a:solidFill>
                  <a:srgbClr val="EDEDED"/>
                </a:solidFill>
                <a:latin typeface="Consolas"/>
                <a:ea typeface="Consolas"/>
                <a:cs typeface="Consolas"/>
              </a:rPr>
              <a:t>["cast:1", "crew:5:1", …]</a:t>
            </a:r>
            <a:endParaRPr sz="1200"/>
          </a:p>
          <a:p xmlns:a="http://schemas.openxmlformats.org/drawingml/2006/main">
            <a:pPr marL="0" indent="0">
              <a:lnSpc>
                <a:spcPct val="120000"/>
              </a:lnSpc>
              <a:buNone/>
            </a:pPr>
            <a:r>
              <a:rPr sz="1200">
                <a:solidFill>
                  <a:srgbClr val="EDEDED"/>
                </a:solidFill>
                <a:latin typeface="Consolas"/>
                <a:ea typeface="Consolas"/>
                <a:cs typeface="Consolas"/>
              </a:rPr>
              <a:t>      } },</a:t>
            </a:r>
            <a:endParaRPr sz="1200"/>
          </a:p>
          <a:p xmlns:a="http://schemas.openxmlformats.org/drawingml/2006/main">
            <a:pPr marL="0" indent="0">
              <a:lnSpc>
                <a:spcPct val="120000"/>
              </a:lnSpc>
              <a:buNone/>
            </a:pPr>
            <a:r>
              <a:rPr sz="1200">
                <a:solidFill>
                  <a:srgbClr val="EDEDED"/>
                </a:solidFill>
                <a:latin typeface="Consolas"/>
                <a:ea typeface="Consolas"/>
                <a:cs typeface="Consolas"/>
              </a:rPr>
              <a:t>      "required": ["target"]</a:t>
            </a:r>
            <a:endParaRPr sz="1200"/>
          </a:p>
          <a:p xmlns:a="http://schemas.openxmlformats.org/drawingml/2006/main">
            <a:pPr marL="0" indent="0">
              <a:lnSpc>
                <a:spcPct val="120000"/>
              </a:lnSpc>
              <a:buNone/>
            </a:pPr>
            <a:r>
              <a:rPr sz="1200">
                <a:solidFill>
                  <a:srgbClr val="EDEDED"/>
                </a:solidFill>
                <a:latin typeface="Consolas"/>
                <a:ea typeface="Consolas"/>
                <a:cs typeface="Consolas"/>
              </a:rPr>
              <a:t>} } }</a:t>
            </a:r>
            <a:endParaRPr sz="1200"/>
          </a:p>
        </p:txBody>
      </p:sp>
      <p:sp>
        <p:nvSpPr>
          <p:cNvPr id="15" name="Shape 11">
            <a:extLst xmlns:a="http://schemas.openxmlformats.org/drawingml/2006/main">
              <a:ext uri="{FF2B5EF4-FFF2-40B4-BE49-F238E27FC236}">
                <a16:creationId xmlns:a16="http://schemas.microsoft.com/office/drawing/2014/main" id="{46066D26-04E6-42B1-AE2C-DC69F87B48AB}"/>
              </a:ext>
            </a:extLst>
          </p:cNvPr>
          <p:cNvSpPr>
            <a:spLocks xmlns:a="http://schemas.openxmlformats.org/drawingml/2006/main" noGrp="1"/>
          </p:cNvSpPr>
          <p:nvPr/>
        </p:nvSpPr>
        <p:spPr>
          <a:xfrm xmlns:a="http://schemas.openxmlformats.org/drawingml/2006/main">
            <a:off x="6299200" y="2159000"/>
            <a:ext cx="5384800" cy="876300"/>
          </a:xfrm>
          <a:prstGeom xmlns:a="http://schemas.openxmlformats.org/drawingml/2006/main" prst="rect">
            <a:avLst/>
          </a:prstGeom>
          <a:solidFill xmlns:a="http://schemas.openxmlformats.org/drawingml/2006/main">
            <a:srgbClr val="F4F4F4"/>
          </a:solidFill>
          <a:effectLst xmlns:a="http://schemas.openxmlformats.org/drawingml/2006/main">
            <a:outerShdw blurRad="50800" dist="25400" dir="5400000" algn="bl" rotWithShape="0">
              <a:srgbClr val="000000">
                <a:alpha val="18000"/>
              </a:srgbClr>
            </a:outerShdw>
          </a:effectLst>
        </p:spPr>
        <p:txBody>
          <a:bodyPr xmlns:a="http://schemas.openxmlformats.org/drawingml/2006/main"/>
          <a:lstStyle xmlns:a="http://schemas.openxmlformats.org/drawingml/2006/main"/>
          <a:p xmlns:a="http://schemas.openxmlformats.org/drawingml/2006/main">
            <a:endParaRPr/>
          </a:p>
        </p:txBody>
      </p:sp>
      <p:sp>
        <p:nvSpPr>
          <p:cNvPr id="16" name="Shape 12">
            <a:extLst xmlns:a="http://schemas.openxmlformats.org/drawingml/2006/main">
              <a:ext uri="{FF2B5EF4-FFF2-40B4-BE49-F238E27FC236}">
                <a16:creationId xmlns:a16="http://schemas.microsoft.com/office/drawing/2014/main" id="{EC715924-4B0F-4577-99EF-7BF8E70DD9DD}"/>
              </a:ext>
            </a:extLst>
          </p:cNvPr>
          <p:cNvSpPr>
            <a:spLocks xmlns:a="http://schemas.openxmlformats.org/drawingml/2006/main" noGrp="1"/>
          </p:cNvSpPr>
          <p:nvPr/>
        </p:nvSpPr>
        <p:spPr>
          <a:xfrm xmlns:a="http://schemas.openxmlformats.org/drawingml/2006/main">
            <a:off x="6299200" y="2159000"/>
            <a:ext cx="63500" cy="876300"/>
          </a:xfrm>
          <a:prstGeom xmlns:a="http://schemas.openxmlformats.org/drawingml/2006/main" prst="rect">
            <a:avLst/>
          </a:prstGeom>
          <a:solidFill xmlns:a="http://schemas.openxmlformats.org/drawingml/2006/main">
            <a:srgbClr val="DA1884"/>
          </a:solidFill>
        </p:spPr>
        <p:txBody>
          <a:bodyPr xmlns:a="http://schemas.openxmlformats.org/drawingml/2006/main"/>
          <a:lstStyle xmlns:a="http://schemas.openxmlformats.org/drawingml/2006/main"/>
          <a:p xmlns:a="http://schemas.openxmlformats.org/drawingml/2006/main">
            <a:endParaRPr/>
          </a:p>
        </p:txBody>
      </p:sp>
      <p:sp>
        <p:nvSpPr>
          <p:cNvPr id="17" name="Text 13">
            <a:extLst xmlns:a="http://schemas.openxmlformats.org/drawingml/2006/main">
              <a:ext uri="{FF2B5EF4-FFF2-40B4-BE49-F238E27FC236}">
                <a16:creationId xmlns:a16="http://schemas.microsoft.com/office/drawing/2014/main" id="{12045AFB-A591-4049-ADF0-AB4512C4CD40}"/>
              </a:ext>
            </a:extLst>
          </p:cNvPr>
          <p:cNvSpPr>
            <a:spLocks xmlns:a="http://schemas.openxmlformats.org/drawingml/2006/main" noGrp="1"/>
          </p:cNvSpPr>
          <p:nvPr/>
        </p:nvSpPr>
        <p:spPr>
          <a:xfrm xmlns:a="http://schemas.openxmlformats.org/drawingml/2006/main">
            <a:off x="6527800" y="2311400"/>
            <a:ext cx="381000" cy="279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1600" b="1">
                <a:solidFill>
                  <a:srgbClr val="DA1884"/>
                </a:solidFill>
                <a:latin typeface="Arial"/>
                <a:ea typeface="Arial"/>
                <a:cs typeface="Arial"/>
              </a:rPr>
              <a:t>01</a:t>
            </a:r>
            <a:endParaRPr sz="1600"/>
          </a:p>
        </p:txBody>
      </p:sp>
      <p:sp>
        <p:nvSpPr>
          <p:cNvPr id="18" name="Text 14">
            <a:extLst xmlns:a="http://schemas.openxmlformats.org/drawingml/2006/main">
              <a:ext uri="{FF2B5EF4-FFF2-40B4-BE49-F238E27FC236}">
                <a16:creationId xmlns:a16="http://schemas.microsoft.com/office/drawing/2014/main" id="{C36D9E6A-433A-4130-8C59-25A7E99CF6A2}"/>
              </a:ext>
            </a:extLst>
          </p:cNvPr>
          <p:cNvSpPr>
            <a:spLocks xmlns:a="http://schemas.openxmlformats.org/drawingml/2006/main" noGrp="1"/>
          </p:cNvSpPr>
          <p:nvPr/>
        </p:nvSpPr>
        <p:spPr>
          <a:xfrm xmlns:a="http://schemas.openxmlformats.org/drawingml/2006/main">
            <a:off x="7035800" y="2311400"/>
            <a:ext cx="4445000" cy="6223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15000"/>
              </a:lnSpc>
              <a:spcAft>
                <a:spcPts val="400"/>
              </a:spcAft>
              <a:buNone/>
            </a:pPr>
            <a:r>
              <a:rPr sz="1300" b="1">
                <a:solidFill>
                  <a:srgbClr val="141414"/>
                </a:solidFill>
                <a:latin typeface="Arial"/>
                <a:ea typeface="Arial"/>
                <a:cs typeface="Arial"/>
              </a:rPr>
              <a:t>The tool name is the decision</a:t>
            </a:r>
            <a:endParaRPr sz="1300"/>
          </a:p>
          <a:p xmlns:a="http://schemas.openxmlformats.org/drawingml/2006/main">
            <a:pPr marL="0" indent="0">
              <a:lnSpc>
                <a:spcPct val="115000"/>
              </a:lnSpc>
              <a:buNone/>
            </a:pPr>
            <a:r>
              <a:rPr sz="1200">
                <a:solidFill>
                  <a:srgbClr val="333333"/>
                </a:solidFill>
                <a:latin typeface="Arial"/>
                <a:ea typeface="Arial"/>
                <a:cs typeface="Arial"/>
              </a:rPr>
              <a:t>REST, GRAPHQL or GRPC: the model must call exactly one.</a:t>
            </a:r>
            <a:endParaRPr sz="1300"/>
          </a:p>
        </p:txBody>
      </p:sp>
      <p:sp>
        <p:nvSpPr>
          <p:cNvPr id="19" name="Shape 15">
            <a:extLst xmlns:a="http://schemas.openxmlformats.org/drawingml/2006/main">
              <a:ext uri="{FF2B5EF4-FFF2-40B4-BE49-F238E27FC236}">
                <a16:creationId xmlns:a16="http://schemas.microsoft.com/office/drawing/2014/main" id="{252B00AF-0977-4966-8875-E06B92025B25}"/>
              </a:ext>
            </a:extLst>
          </p:cNvPr>
          <p:cNvSpPr>
            <a:spLocks xmlns:a="http://schemas.openxmlformats.org/drawingml/2006/main" noGrp="1"/>
          </p:cNvSpPr>
          <p:nvPr/>
        </p:nvSpPr>
        <p:spPr>
          <a:xfrm xmlns:a="http://schemas.openxmlformats.org/drawingml/2006/main">
            <a:off x="6299200" y="3124200"/>
            <a:ext cx="5384800" cy="876300"/>
          </a:xfrm>
          <a:prstGeom xmlns:a="http://schemas.openxmlformats.org/drawingml/2006/main" prst="rect">
            <a:avLst/>
          </a:prstGeom>
          <a:solidFill xmlns:a="http://schemas.openxmlformats.org/drawingml/2006/main">
            <a:srgbClr val="F4F4F4"/>
          </a:solidFill>
          <a:effectLst xmlns:a="http://schemas.openxmlformats.org/drawingml/2006/main">
            <a:outerShdw blurRad="50800" dist="25400" dir="5400000" algn="bl" rotWithShape="0">
              <a:srgbClr val="000000">
                <a:alpha val="18000"/>
              </a:srgbClr>
            </a:outerShdw>
          </a:effectLst>
        </p:spPr>
        <p:txBody>
          <a:bodyPr xmlns:a="http://schemas.openxmlformats.org/drawingml/2006/main"/>
          <a:lstStyle xmlns:a="http://schemas.openxmlformats.org/drawingml/2006/main"/>
          <a:p xmlns:a="http://schemas.openxmlformats.org/drawingml/2006/main">
            <a:endParaRPr/>
          </a:p>
        </p:txBody>
      </p:sp>
      <p:sp>
        <p:nvSpPr>
          <p:cNvPr id="20" name="Shape 16">
            <a:extLst xmlns:a="http://schemas.openxmlformats.org/drawingml/2006/main">
              <a:ext uri="{FF2B5EF4-FFF2-40B4-BE49-F238E27FC236}">
                <a16:creationId xmlns:a16="http://schemas.microsoft.com/office/drawing/2014/main" id="{B29AEFCD-64D4-4FAC-89EA-D8820F16A08A}"/>
              </a:ext>
            </a:extLst>
          </p:cNvPr>
          <p:cNvSpPr>
            <a:spLocks xmlns:a="http://schemas.openxmlformats.org/drawingml/2006/main" noGrp="1"/>
          </p:cNvSpPr>
          <p:nvPr/>
        </p:nvSpPr>
        <p:spPr>
          <a:xfrm xmlns:a="http://schemas.openxmlformats.org/drawingml/2006/main">
            <a:off x="6299200" y="3124200"/>
            <a:ext cx="63500" cy="876300"/>
          </a:xfrm>
          <a:prstGeom xmlns:a="http://schemas.openxmlformats.org/drawingml/2006/main" prst="rect">
            <a:avLst/>
          </a:prstGeom>
          <a:solidFill xmlns:a="http://schemas.openxmlformats.org/drawingml/2006/main">
            <a:srgbClr val="DA1884"/>
          </a:solidFill>
        </p:spPr>
        <p:txBody>
          <a:bodyPr xmlns:a="http://schemas.openxmlformats.org/drawingml/2006/main"/>
          <a:lstStyle xmlns:a="http://schemas.openxmlformats.org/drawingml/2006/main"/>
          <a:p xmlns:a="http://schemas.openxmlformats.org/drawingml/2006/main">
            <a:endParaRPr/>
          </a:p>
        </p:txBody>
      </p:sp>
      <p:sp>
        <p:nvSpPr>
          <p:cNvPr id="21" name="Text 17">
            <a:extLst xmlns:a="http://schemas.openxmlformats.org/drawingml/2006/main">
              <a:ext uri="{FF2B5EF4-FFF2-40B4-BE49-F238E27FC236}">
                <a16:creationId xmlns:a16="http://schemas.microsoft.com/office/drawing/2014/main" id="{DC1B0302-2E02-44C6-A673-509A4BBBD244}"/>
              </a:ext>
            </a:extLst>
          </p:cNvPr>
          <p:cNvSpPr>
            <a:spLocks xmlns:a="http://schemas.openxmlformats.org/drawingml/2006/main" noGrp="1"/>
          </p:cNvSpPr>
          <p:nvPr/>
        </p:nvSpPr>
        <p:spPr>
          <a:xfrm xmlns:a="http://schemas.openxmlformats.org/drawingml/2006/main">
            <a:off x="6527800" y="3276600"/>
            <a:ext cx="381000" cy="279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1600" b="1">
                <a:solidFill>
                  <a:srgbClr val="DA1884"/>
                </a:solidFill>
                <a:latin typeface="Arial"/>
                <a:ea typeface="Arial"/>
                <a:cs typeface="Arial"/>
              </a:rPr>
              <a:t>02</a:t>
            </a:r>
            <a:endParaRPr sz="1600"/>
          </a:p>
        </p:txBody>
      </p:sp>
      <p:sp>
        <p:nvSpPr>
          <p:cNvPr id="22" name="Text 18">
            <a:extLst xmlns:a="http://schemas.openxmlformats.org/drawingml/2006/main">
              <a:ext uri="{FF2B5EF4-FFF2-40B4-BE49-F238E27FC236}">
                <a16:creationId xmlns:a16="http://schemas.microsoft.com/office/drawing/2014/main" id="{54A31785-6E42-4FB4-929F-22B22A9D170B}"/>
              </a:ext>
            </a:extLst>
          </p:cNvPr>
          <p:cNvSpPr>
            <a:spLocks xmlns:a="http://schemas.openxmlformats.org/drawingml/2006/main" noGrp="1"/>
          </p:cNvSpPr>
          <p:nvPr/>
        </p:nvSpPr>
        <p:spPr>
          <a:xfrm xmlns:a="http://schemas.openxmlformats.org/drawingml/2006/main">
            <a:off x="7035800" y="3276600"/>
            <a:ext cx="4445000" cy="6223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15000"/>
              </a:lnSpc>
              <a:spcAft>
                <a:spcPts val="400"/>
              </a:spcAft>
              <a:buNone/>
            </a:pPr>
            <a:r>
              <a:rPr sz="1300" b="1">
                <a:solidFill>
                  <a:srgbClr val="141414"/>
                </a:solidFill>
                <a:latin typeface="Arial"/>
                <a:ea typeface="Arial"/>
                <a:cs typeface="Arial"/>
              </a:rPr>
              <a:t>Enum-bound targets</a:t>
            </a:r>
            <a:endParaRPr sz="1300"/>
          </a:p>
          <a:p xmlns:a="http://schemas.openxmlformats.org/drawingml/2006/main">
            <a:pPr marL="0" indent="0">
              <a:lnSpc>
                <a:spcPct val="115000"/>
              </a:lnSpc>
              <a:buNone/>
            </a:pPr>
            <a:r>
              <a:rPr sz="1200">
                <a:solidFill>
                  <a:srgbClr val="333333"/>
                </a:solidFill>
                <a:latin typeface="Arial"/>
                <a:ea typeface="Arial"/>
                <a:cs typeface="Arial"/>
              </a:rPr>
              <a:t>Character IDs and ship/film crew targets stay allowlisted.</a:t>
            </a:r>
            <a:endParaRPr sz="1300"/>
          </a:p>
        </p:txBody>
      </p:sp>
      <p:sp>
        <p:nvSpPr>
          <p:cNvPr id="23" name="Shape 19">
            <a:extLst xmlns:a="http://schemas.openxmlformats.org/drawingml/2006/main">
              <a:ext uri="{FF2B5EF4-FFF2-40B4-BE49-F238E27FC236}">
                <a16:creationId xmlns:a16="http://schemas.microsoft.com/office/drawing/2014/main" id="{99F730BA-549A-4831-A97D-64760CF8A1CC}"/>
              </a:ext>
            </a:extLst>
          </p:cNvPr>
          <p:cNvSpPr>
            <a:spLocks xmlns:a="http://schemas.openxmlformats.org/drawingml/2006/main" noGrp="1"/>
          </p:cNvSpPr>
          <p:nvPr/>
        </p:nvSpPr>
        <p:spPr>
          <a:xfrm xmlns:a="http://schemas.openxmlformats.org/drawingml/2006/main">
            <a:off x="6299200" y="4089400"/>
            <a:ext cx="5384800" cy="876300"/>
          </a:xfrm>
          <a:prstGeom xmlns:a="http://schemas.openxmlformats.org/drawingml/2006/main" prst="rect">
            <a:avLst/>
          </a:prstGeom>
          <a:solidFill xmlns:a="http://schemas.openxmlformats.org/drawingml/2006/main">
            <a:srgbClr val="F4F4F4"/>
          </a:solidFill>
          <a:effectLst xmlns:a="http://schemas.openxmlformats.org/drawingml/2006/main">
            <a:outerShdw blurRad="50800" dist="25400" dir="5400000" algn="bl" rotWithShape="0">
              <a:srgbClr val="000000">
                <a:alpha val="18000"/>
              </a:srgbClr>
            </a:outerShdw>
          </a:effectLst>
        </p:spPr>
        <p:txBody>
          <a:bodyPr xmlns:a="http://schemas.openxmlformats.org/drawingml/2006/main"/>
          <a:lstStyle xmlns:a="http://schemas.openxmlformats.org/drawingml/2006/main"/>
          <a:p xmlns:a="http://schemas.openxmlformats.org/drawingml/2006/main">
            <a:endParaRPr/>
          </a:p>
        </p:txBody>
      </p:sp>
      <p:sp>
        <p:nvSpPr>
          <p:cNvPr id="24" name="Shape 20">
            <a:extLst xmlns:a="http://schemas.openxmlformats.org/drawingml/2006/main">
              <a:ext uri="{FF2B5EF4-FFF2-40B4-BE49-F238E27FC236}">
                <a16:creationId xmlns:a16="http://schemas.microsoft.com/office/drawing/2014/main" id="{BDD54C9A-6AC8-4819-BB9D-448A72B5D729}"/>
              </a:ext>
            </a:extLst>
          </p:cNvPr>
          <p:cNvSpPr>
            <a:spLocks xmlns:a="http://schemas.openxmlformats.org/drawingml/2006/main" noGrp="1"/>
          </p:cNvSpPr>
          <p:nvPr/>
        </p:nvSpPr>
        <p:spPr>
          <a:xfrm xmlns:a="http://schemas.openxmlformats.org/drawingml/2006/main">
            <a:off x="6299200" y="4089400"/>
            <a:ext cx="63500" cy="876300"/>
          </a:xfrm>
          <a:prstGeom xmlns:a="http://schemas.openxmlformats.org/drawingml/2006/main" prst="rect">
            <a:avLst/>
          </a:prstGeom>
          <a:solidFill xmlns:a="http://schemas.openxmlformats.org/drawingml/2006/main">
            <a:srgbClr val="DA1884"/>
          </a:solidFill>
        </p:spPr>
        <p:txBody>
          <a:bodyPr xmlns:a="http://schemas.openxmlformats.org/drawingml/2006/main"/>
          <a:lstStyle xmlns:a="http://schemas.openxmlformats.org/drawingml/2006/main"/>
          <a:p xmlns:a="http://schemas.openxmlformats.org/drawingml/2006/main">
            <a:endParaRPr/>
          </a:p>
        </p:txBody>
      </p:sp>
      <p:sp>
        <p:nvSpPr>
          <p:cNvPr id="25" name="Text 21">
            <a:extLst xmlns:a="http://schemas.openxmlformats.org/drawingml/2006/main">
              <a:ext uri="{FF2B5EF4-FFF2-40B4-BE49-F238E27FC236}">
                <a16:creationId xmlns:a16="http://schemas.microsoft.com/office/drawing/2014/main" id="{7B25269B-7669-438D-BC8E-175FF2C1953B}"/>
              </a:ext>
            </a:extLst>
          </p:cNvPr>
          <p:cNvSpPr>
            <a:spLocks xmlns:a="http://schemas.openxmlformats.org/drawingml/2006/main" noGrp="1"/>
          </p:cNvSpPr>
          <p:nvPr/>
        </p:nvSpPr>
        <p:spPr>
          <a:xfrm xmlns:a="http://schemas.openxmlformats.org/drawingml/2006/main">
            <a:off x="6527800" y="4241800"/>
            <a:ext cx="381000" cy="279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1600" b="1">
                <a:solidFill>
                  <a:srgbClr val="DA1884"/>
                </a:solidFill>
                <a:latin typeface="Arial"/>
                <a:ea typeface="Arial"/>
                <a:cs typeface="Arial"/>
              </a:rPr>
              <a:t>03</a:t>
            </a:r>
            <a:endParaRPr sz="1600"/>
          </a:p>
        </p:txBody>
      </p:sp>
      <p:sp>
        <p:nvSpPr>
          <p:cNvPr id="26" name="Text 22">
            <a:extLst xmlns:a="http://schemas.openxmlformats.org/drawingml/2006/main">
              <a:ext uri="{FF2B5EF4-FFF2-40B4-BE49-F238E27FC236}">
                <a16:creationId xmlns:a16="http://schemas.microsoft.com/office/drawing/2014/main" id="{EEFA5503-6244-4F4C-9BE8-10C890EF714E}"/>
              </a:ext>
            </a:extLst>
          </p:cNvPr>
          <p:cNvSpPr>
            <a:spLocks xmlns:a="http://schemas.openxmlformats.org/drawingml/2006/main" noGrp="1"/>
          </p:cNvSpPr>
          <p:nvPr/>
        </p:nvSpPr>
        <p:spPr>
          <a:xfrm xmlns:a="http://schemas.openxmlformats.org/drawingml/2006/main">
            <a:off x="7035800" y="4241800"/>
            <a:ext cx="4445000" cy="6223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15000"/>
              </a:lnSpc>
              <a:spcAft>
                <a:spcPts val="400"/>
              </a:spcAft>
              <a:buNone/>
            </a:pPr>
            <a:r>
              <a:rPr sz="1300" b="1">
                <a:solidFill>
                  <a:srgbClr val="141414"/>
                </a:solidFill>
                <a:latin typeface="Arial"/>
                <a:ea typeface="Arial"/>
                <a:cs typeface="Arial"/>
              </a:rPr>
              <a:t>A pinned small model</a:t>
            </a:r>
            <a:endParaRPr sz="1300"/>
          </a:p>
          <a:p xmlns:a="http://schemas.openxmlformats.org/drawingml/2006/main">
            <a:pPr marL="0" indent="0">
              <a:lnSpc>
                <a:spcPct val="115000"/>
              </a:lnSpc>
              <a:buNone/>
            </a:pPr>
            <a:r>
              <a:rPr sz="1200">
                <a:solidFill>
                  <a:srgbClr val="333333"/>
                </a:solidFill>
                <a:latin typeface="Arial"/>
                <a:ea typeface="Arial"/>
                <a:cs typeface="Arial"/>
              </a:rPr>
              <a:t>qwen3:4b-instruct-2507 (q4_K_M), no thinking mode, runs locally.</a:t>
            </a:r>
            <a:endParaRPr sz="1300"/>
          </a:p>
        </p:txBody>
      </p:sp>
      <p:sp>
        <p:nvSpPr>
          <p:cNvPr id="27" name="Shape 23">
            <a:extLst xmlns:a="http://schemas.openxmlformats.org/drawingml/2006/main">
              <a:ext uri="{FF2B5EF4-FFF2-40B4-BE49-F238E27FC236}">
                <a16:creationId xmlns:a16="http://schemas.microsoft.com/office/drawing/2014/main" id="{2FEB3607-8619-45F8-8AF8-CCEAA7C15F6C}"/>
              </a:ext>
            </a:extLst>
          </p:cNvPr>
          <p:cNvSpPr>
            <a:spLocks xmlns:a="http://schemas.openxmlformats.org/drawingml/2006/main" noGrp="1"/>
          </p:cNvSpPr>
          <p:nvPr/>
        </p:nvSpPr>
        <p:spPr>
          <a:xfrm xmlns:a="http://schemas.openxmlformats.org/drawingml/2006/main">
            <a:off x="6299200" y="5054600"/>
            <a:ext cx="5384800" cy="876300"/>
          </a:xfrm>
          <a:prstGeom xmlns:a="http://schemas.openxmlformats.org/drawingml/2006/main" prst="rect">
            <a:avLst/>
          </a:prstGeom>
          <a:solidFill xmlns:a="http://schemas.openxmlformats.org/drawingml/2006/main">
            <a:srgbClr val="F4F4F4"/>
          </a:solidFill>
          <a:effectLst xmlns:a="http://schemas.openxmlformats.org/drawingml/2006/main">
            <a:outerShdw blurRad="50800" dist="25400" dir="5400000" algn="bl" rotWithShape="0">
              <a:srgbClr val="000000">
                <a:alpha val="18000"/>
              </a:srgbClr>
            </a:outerShdw>
          </a:effectLst>
        </p:spPr>
        <p:txBody>
          <a:bodyPr xmlns:a="http://schemas.openxmlformats.org/drawingml/2006/main"/>
          <a:lstStyle xmlns:a="http://schemas.openxmlformats.org/drawingml/2006/main"/>
          <a:p xmlns:a="http://schemas.openxmlformats.org/drawingml/2006/main">
            <a:endParaRPr/>
          </a:p>
        </p:txBody>
      </p:sp>
      <p:sp>
        <p:nvSpPr>
          <p:cNvPr id="28" name="Shape 24">
            <a:extLst xmlns:a="http://schemas.openxmlformats.org/drawingml/2006/main">
              <a:ext uri="{FF2B5EF4-FFF2-40B4-BE49-F238E27FC236}">
                <a16:creationId xmlns:a16="http://schemas.microsoft.com/office/drawing/2014/main" id="{7FB6BEEF-D117-4E23-9ED5-DAE0D2294892}"/>
              </a:ext>
            </a:extLst>
          </p:cNvPr>
          <p:cNvSpPr>
            <a:spLocks xmlns:a="http://schemas.openxmlformats.org/drawingml/2006/main" noGrp="1"/>
          </p:cNvSpPr>
          <p:nvPr/>
        </p:nvSpPr>
        <p:spPr>
          <a:xfrm xmlns:a="http://schemas.openxmlformats.org/drawingml/2006/main">
            <a:off x="6299200" y="5054600"/>
            <a:ext cx="63500" cy="876300"/>
          </a:xfrm>
          <a:prstGeom xmlns:a="http://schemas.openxmlformats.org/drawingml/2006/main" prst="rect">
            <a:avLst/>
          </a:prstGeom>
          <a:solidFill xmlns:a="http://schemas.openxmlformats.org/drawingml/2006/main">
            <a:srgbClr val="DA1884"/>
          </a:solidFill>
        </p:spPr>
        <p:txBody>
          <a:bodyPr xmlns:a="http://schemas.openxmlformats.org/drawingml/2006/main"/>
          <a:lstStyle xmlns:a="http://schemas.openxmlformats.org/drawingml/2006/main"/>
          <a:p xmlns:a="http://schemas.openxmlformats.org/drawingml/2006/main">
            <a:endParaRPr/>
          </a:p>
        </p:txBody>
      </p:sp>
      <p:sp>
        <p:nvSpPr>
          <p:cNvPr id="29" name="Text 25">
            <a:extLst xmlns:a="http://schemas.openxmlformats.org/drawingml/2006/main">
              <a:ext uri="{FF2B5EF4-FFF2-40B4-BE49-F238E27FC236}">
                <a16:creationId xmlns:a16="http://schemas.microsoft.com/office/drawing/2014/main" id="{4E9DC57D-28F8-4C3C-837B-56145043D73A}"/>
              </a:ext>
            </a:extLst>
          </p:cNvPr>
          <p:cNvSpPr>
            <a:spLocks xmlns:a="http://schemas.openxmlformats.org/drawingml/2006/main" noGrp="1"/>
          </p:cNvSpPr>
          <p:nvPr/>
        </p:nvSpPr>
        <p:spPr>
          <a:xfrm xmlns:a="http://schemas.openxmlformats.org/drawingml/2006/main">
            <a:off x="6527800" y="5207000"/>
            <a:ext cx="381000" cy="279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1600" b="1">
                <a:solidFill>
                  <a:srgbClr val="DA1884"/>
                </a:solidFill>
                <a:latin typeface="Arial"/>
                <a:ea typeface="Arial"/>
                <a:cs typeface="Arial"/>
              </a:rPr>
              <a:t>04</a:t>
            </a:r>
            <a:endParaRPr sz="1600"/>
          </a:p>
        </p:txBody>
      </p:sp>
      <p:sp>
        <p:nvSpPr>
          <p:cNvPr id="30" name="Text 26">
            <a:extLst xmlns:a="http://schemas.openxmlformats.org/drawingml/2006/main">
              <a:ext uri="{FF2B5EF4-FFF2-40B4-BE49-F238E27FC236}">
                <a16:creationId xmlns:a16="http://schemas.microsoft.com/office/drawing/2014/main" id="{BC4B3EDC-5378-46F0-A625-9131107026D9}"/>
              </a:ext>
            </a:extLst>
          </p:cNvPr>
          <p:cNvSpPr>
            <a:spLocks xmlns:a="http://schemas.openxmlformats.org/drawingml/2006/main" noGrp="1"/>
          </p:cNvSpPr>
          <p:nvPr/>
        </p:nvSpPr>
        <p:spPr>
          <a:xfrm xmlns:a="http://schemas.openxmlformats.org/drawingml/2006/main">
            <a:off x="7035800" y="5207000"/>
            <a:ext cx="4445000" cy="6223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15000"/>
              </a:lnSpc>
              <a:spcAft>
                <a:spcPts val="400"/>
              </a:spcAft>
              <a:buNone/>
            </a:pPr>
            <a:r>
              <a:rPr sz="1300" b="1">
                <a:solidFill>
                  <a:srgbClr val="141414"/>
                </a:solidFill>
                <a:latin typeface="Arial"/>
                <a:ea typeface="Arial"/>
                <a:cs typeface="Arial"/>
              </a:rPr>
              <a:t>Tuned for latency</a:t>
            </a:r>
            <a:endParaRPr sz="1300"/>
          </a:p>
          <a:p xmlns:a="http://schemas.openxmlformats.org/drawingml/2006/main">
            <a:pPr marL="0" indent="0">
              <a:lnSpc>
                <a:spcPct val="115000"/>
              </a:lnSpc>
              <a:buNone/>
            </a:pPr>
            <a:r>
              <a:rPr sz="1200">
                <a:solidFill>
                  <a:srgbClr val="333333"/>
                </a:solidFill>
                <a:latin typeface="Arial"/>
                <a:ea typeface="Arial"/>
                <a:cs typeface="Arial"/>
              </a:rPr>
              <a:t>Temperature 0, 96-token cap, 30-minute keep-alive, startup warm-up.</a:t>
            </a:r>
            <a:endParaRPr sz="1300"/>
          </a:p>
        </p:txBody>
      </p:sp>
    </p:spTree>
    <p:extLst>
      <p:ext uri="{BB962C8B-B14F-4D97-AF65-F5344CB8AC3E}">
        <p14:creationId xmlns:p14="http://schemas.microsoft.com/office/powerpoint/2010/main" val="2566526"/>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B6B00A07-BB4B-43B8-9FB0-2ABA9EDDACF0}"/>
              </a:ext>
            </a:extLst>
          </p:cNvPr>
          <p:cNvPicPr>
            <a:picLocks xmlns:a="http://schemas.openxmlformats.org/drawingml/2006/main" noChangeAspect="1"/>
          </p:cNvPicPr>
          <p:nvPr/>
        </p:nvPicPr>
        <p:blipFill>
          <a:blip xmlns:r="http://schemas.openxmlformats.org/officeDocument/2006/relationships" xmlns:a="http://schemas.openxmlformats.org/drawingml/2006/main" r:embed="R313ac5b76ee844c5"/>
          <a:stretch xmlns:a="http://schemas.openxmlformats.org/drawingml/2006/main">
            <a:fillRect l="0" t="0" r="0" b="0"/>
          </a:stretch>
        </p:blipFill>
        <p:spPr>
          <a:xfrm xmlns:a="http://schemas.openxmlformats.org/drawingml/2006/main">
            <a:off x="508000" y="152400"/>
            <a:ext cx="990600" cy="40640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81CC15C1-A146-4240-BEC4-FECFD98DAB0B}"/>
              </a:ext>
            </a:extLst>
          </p:cNvPr>
          <p:cNvSpPr>
            <a:spLocks xmlns:a="http://schemas.openxmlformats.org/drawingml/2006/main" noGrp="1"/>
          </p:cNvSpPr>
          <p:nvPr/>
        </p:nvSpPr>
        <p:spPr>
          <a:xfrm xmlns:a="http://schemas.openxmlformats.org/drawingml/2006/main">
            <a:off x="3556000" y="406400"/>
            <a:ext cx="5080000" cy="190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110000"/>
              </a:lnSpc>
              <a:buNone/>
            </a:pPr>
            <a:r>
              <a:rPr sz="1000">
                <a:solidFill>
                  <a:srgbClr val="6B6B6B"/>
                </a:solidFill>
                <a:latin typeface="Arial"/>
                <a:ea typeface="Arial"/>
                <a:cs typeface="Arial"/>
              </a:rPr>
              <a:t>Protocol Studio  —  REST · GraphQL · gRPC</a:t>
            </a:r>
            <a:endParaRPr sz="1000"/>
          </a:p>
        </p:txBody>
      </p:sp>
      <p:sp>
        <p:nvSpPr>
          <p:cNvPr id="4" name="Text 1">
            <a:extLst xmlns:a="http://schemas.openxmlformats.org/drawingml/2006/main">
              <a:ext uri="{FF2B5EF4-FFF2-40B4-BE49-F238E27FC236}">
                <a16:creationId xmlns:a16="http://schemas.microsoft.com/office/drawing/2014/main" id="{CD7F9CFB-A567-49ED-8B0B-0447313C57A4}"/>
              </a:ext>
            </a:extLst>
          </p:cNvPr>
          <p:cNvSpPr>
            <a:spLocks xmlns:a="http://schemas.openxmlformats.org/drawingml/2006/main" noGrp="1"/>
          </p:cNvSpPr>
          <p:nvPr/>
        </p:nvSpPr>
        <p:spPr>
          <a:xfrm xmlns:a="http://schemas.openxmlformats.org/drawingml/2006/main">
            <a:off x="6350000" y="406400"/>
            <a:ext cx="5334000" cy="190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ct val="110000"/>
              </a:lnSpc>
              <a:buNone/>
            </a:pPr>
            <a:r>
              <a:rPr sz="1000" b="1">
                <a:solidFill>
                  <a:srgbClr val="DA1884"/>
                </a:solidFill>
                <a:latin typeface="Arial"/>
                <a:ea typeface="Arial"/>
                <a:cs typeface="Arial"/>
              </a:rPr>
              <a:t>APPENDIX · AI ROUTING</a:t>
            </a:r>
            <a:endParaRPr sz="1000"/>
          </a:p>
        </p:txBody>
      </p:sp>
      <p:sp>
        <p:nvSpPr>
          <p:cNvPr id="5" name="Text 2">
            <a:extLst xmlns:a="http://schemas.openxmlformats.org/drawingml/2006/main">
              <a:ext uri="{FF2B5EF4-FFF2-40B4-BE49-F238E27FC236}">
                <a16:creationId xmlns:a16="http://schemas.microsoft.com/office/drawing/2014/main" id="{769D02C9-BEBE-43C1-A8CF-72182960F636}"/>
              </a:ext>
            </a:extLst>
          </p:cNvPr>
          <p:cNvSpPr>
            <a:spLocks xmlns:a="http://schemas.openxmlformats.org/drawingml/2006/main" noGrp="1"/>
          </p:cNvSpPr>
          <p:nvPr/>
        </p:nvSpPr>
        <p:spPr>
          <a:xfrm xmlns:a="http://schemas.openxmlformats.org/drawingml/2006/main">
            <a:off x="508000" y="6578600"/>
            <a:ext cx="8890000" cy="177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900">
                <a:solidFill>
                  <a:srgbClr val="9E9E9E"/>
                </a:solidFill>
                <a:latin typeface="Arial"/>
                <a:ea typeface="Arial"/>
                <a:cs typeface="Arial"/>
              </a:rPr>
              <a:t>Insight Proprietary &amp; Confidential.  Do Not Copy or Distribute.  © 2026 Insight.  All Rights Reserved.</a:t>
            </a:r>
            <a:endParaRPr sz="900"/>
          </a:p>
        </p:txBody>
      </p:sp>
      <p:sp>
        <p:nvSpPr>
          <p:cNvPr id="6" name="Text 3">
            <a:extLst xmlns:a="http://schemas.openxmlformats.org/drawingml/2006/main">
              <a:ext uri="{FF2B5EF4-FFF2-40B4-BE49-F238E27FC236}">
                <a16:creationId xmlns:a16="http://schemas.microsoft.com/office/drawing/2014/main" id="{4F738A52-3673-4C90-9985-DE2AF09BBD8D}"/>
              </a:ext>
            </a:extLst>
          </p:cNvPr>
          <p:cNvSpPr>
            <a:spLocks xmlns:a="http://schemas.openxmlformats.org/drawingml/2006/main" noGrp="1"/>
          </p:cNvSpPr>
          <p:nvPr/>
        </p:nvSpPr>
        <p:spPr>
          <a:xfrm xmlns:a="http://schemas.openxmlformats.org/drawingml/2006/main">
            <a:off x="10922000" y="6578600"/>
            <a:ext cx="762000" cy="177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ct val="110000"/>
              </a:lnSpc>
              <a:buNone/>
            </a:pPr>
            <a:r>
              <a:rPr sz="900">
                <a:solidFill>
                  <a:srgbClr val="9E9E9E"/>
                </a:solidFill>
                <a:latin typeface="Arial"/>
                <a:ea typeface="Arial"/>
                <a:cs typeface="Arial"/>
              </a:rPr>
              <a:t>24</a:t>
            </a:r>
            <a:endParaRPr sz="900"/>
          </a:p>
        </p:txBody>
      </p:sp>
      <p:sp>
        <p:nvSpPr>
          <p:cNvPr id="7" name="Text 4">
            <a:extLst xmlns:a="http://schemas.openxmlformats.org/drawingml/2006/main">
              <a:ext uri="{FF2B5EF4-FFF2-40B4-BE49-F238E27FC236}">
                <a16:creationId xmlns:a16="http://schemas.microsoft.com/office/drawing/2014/main" id="{50CDC538-1437-44D9-8EC5-DD48F414FFE2}"/>
              </a:ext>
            </a:extLst>
          </p:cNvPr>
          <p:cNvSpPr>
            <a:spLocks xmlns:a="http://schemas.openxmlformats.org/drawingml/2006/main" noGrp="1"/>
          </p:cNvSpPr>
          <p:nvPr/>
        </p:nvSpPr>
        <p:spPr>
          <a:xfrm xmlns:a="http://schemas.openxmlformats.org/drawingml/2006/main">
            <a:off x="508000" y="889000"/>
            <a:ext cx="11176000" cy="2159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1200" b="1">
                <a:solidFill>
                  <a:srgbClr val="DA1884"/>
                </a:solidFill>
                <a:latin typeface="Arial"/>
                <a:ea typeface="Arial"/>
                <a:cs typeface="Arial"/>
              </a:rPr>
              <a:t>AI ROUTING · JEV</a:t>
            </a:r>
            <a:endParaRPr sz="1200"/>
          </a:p>
        </p:txBody>
      </p:sp>
      <p:sp>
        <p:nvSpPr>
          <p:cNvPr id="8" name="Text 5">
            <a:extLst xmlns:a="http://schemas.openxmlformats.org/drawingml/2006/main">
              <a:ext uri="{FF2B5EF4-FFF2-40B4-BE49-F238E27FC236}">
                <a16:creationId xmlns:a16="http://schemas.microsoft.com/office/drawing/2014/main" id="{A44C8830-FD59-48CB-8768-C2ABA2FC8FD4}"/>
              </a:ext>
            </a:extLst>
          </p:cNvPr>
          <p:cNvSpPr>
            <a:spLocks xmlns:a="http://schemas.openxmlformats.org/drawingml/2006/main" noGrp="1"/>
          </p:cNvSpPr>
          <p:nvPr/>
        </p:nvSpPr>
        <p:spPr>
          <a:xfrm xmlns:a="http://schemas.openxmlformats.org/drawingml/2006/main">
            <a:off x="508000" y="1130300"/>
            <a:ext cx="11176000" cy="482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3000" b="1">
                <a:solidFill>
                  <a:srgbClr val="141414"/>
                </a:solidFill>
                <a:latin typeface="Arial"/>
                <a:ea typeface="Arial"/>
                <a:cs typeface="Arial"/>
              </a:rPr>
              <a:t>Jev: A Decision Model, Not a Text Generator</a:t>
            </a:r>
            <a:endParaRPr sz="3000"/>
          </a:p>
        </p:txBody>
      </p:sp>
      <p:sp>
        <p:nvSpPr>
          <p:cNvPr id="9" name="Text 6">
            <a:extLst xmlns:a="http://schemas.openxmlformats.org/drawingml/2006/main">
              <a:ext uri="{FF2B5EF4-FFF2-40B4-BE49-F238E27FC236}">
                <a16:creationId xmlns:a16="http://schemas.microsoft.com/office/drawing/2014/main" id="{96FD63C0-00F6-47E3-817F-7AF5C19BBFF4}"/>
              </a:ext>
            </a:extLst>
          </p:cNvPr>
          <p:cNvSpPr>
            <a:spLocks xmlns:a="http://schemas.openxmlformats.org/drawingml/2006/main" noGrp="1"/>
          </p:cNvSpPr>
          <p:nvPr/>
        </p:nvSpPr>
        <p:spPr>
          <a:xfrm xmlns:a="http://schemas.openxmlformats.org/drawingml/2006/main">
            <a:off x="508000" y="1663700"/>
            <a:ext cx="11176000"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1400">
                <a:solidFill>
                  <a:srgbClr val="6B6B6B"/>
                </a:solidFill>
                <a:latin typeface="Arial"/>
                <a:ea typeface="Arial"/>
                <a:cs typeface="Arial"/>
              </a:rPr>
              <a:t>Two typed Choice questions replace free-form generation, which suits a small, closed decision space.</a:t>
            </a:r>
            <a:endParaRPr sz="1400"/>
          </a:p>
        </p:txBody>
      </p:sp>
      <p:sp>
        <p:nvSpPr>
          <p:cNvPr id="11" name="Shape 7">
            <a:extLst xmlns:a="http://schemas.openxmlformats.org/drawingml/2006/main">
              <a:ext uri="{FF2B5EF4-FFF2-40B4-BE49-F238E27FC236}">
                <a16:creationId xmlns:a16="http://schemas.microsoft.com/office/drawing/2014/main" id="{D68ABAC7-8565-4B67-BFF1-EF801DBC2E18}"/>
              </a:ext>
            </a:extLst>
          </p:cNvPr>
          <p:cNvSpPr>
            <a:spLocks xmlns:a="http://schemas.openxmlformats.org/drawingml/2006/main" noGrp="1"/>
          </p:cNvSpPr>
          <p:nvPr/>
        </p:nvSpPr>
        <p:spPr>
          <a:xfrm xmlns:a="http://schemas.openxmlformats.org/drawingml/2006/main">
            <a:off x="508000" y="2159000"/>
            <a:ext cx="5588000" cy="3810000"/>
          </a:xfrm>
          <a:prstGeom xmlns:a="http://schemas.openxmlformats.org/drawingml/2006/main" prst="rect">
            <a:avLst/>
          </a:prstGeom>
          <a:solidFill xmlns:a="http://schemas.openxmlformats.org/drawingml/2006/main">
            <a:srgbClr val="1B1B1F"/>
          </a:solidFill>
          <a:effectLst xmlns:a="http://schemas.openxmlformats.org/drawingml/2006/main">
            <a:outerShdw blurRad="50800" dist="25400" dir="5400000" algn="bl" rotWithShape="0">
              <a:srgbClr val="000000">
                <a:alpha val="18000"/>
              </a:srgbClr>
            </a:outerShdw>
          </a:effectLst>
        </p:spPr>
        <p:txBody>
          <a:bodyPr xmlns:a="http://schemas.openxmlformats.org/drawingml/2006/main"/>
          <a:lstStyle xmlns:a="http://schemas.openxmlformats.org/drawingml/2006/main"/>
          <a:p xmlns:a="http://schemas.openxmlformats.org/drawingml/2006/main">
            <a:endParaRPr/>
          </a:p>
        </p:txBody>
      </p:sp>
      <p:sp>
        <p:nvSpPr>
          <p:cNvPr id="12" name="Shape 8">
            <a:extLst xmlns:a="http://schemas.openxmlformats.org/drawingml/2006/main">
              <a:ext uri="{FF2B5EF4-FFF2-40B4-BE49-F238E27FC236}">
                <a16:creationId xmlns:a16="http://schemas.microsoft.com/office/drawing/2014/main" id="{57CFAC12-2FA4-4F2F-808E-C1373AD697AD}"/>
              </a:ext>
            </a:extLst>
          </p:cNvPr>
          <p:cNvSpPr>
            <a:spLocks xmlns:a="http://schemas.openxmlformats.org/drawingml/2006/main" noGrp="1"/>
          </p:cNvSpPr>
          <p:nvPr/>
        </p:nvSpPr>
        <p:spPr>
          <a:xfrm xmlns:a="http://schemas.openxmlformats.org/drawingml/2006/main">
            <a:off x="508000" y="2159000"/>
            <a:ext cx="5588000" cy="355600"/>
          </a:xfrm>
          <a:prstGeom xmlns:a="http://schemas.openxmlformats.org/drawingml/2006/main" prst="rect">
            <a:avLst/>
          </a:prstGeom>
          <a:solidFill xmlns:a="http://schemas.openxmlformats.org/drawingml/2006/main">
            <a:srgbClr val="DA1884"/>
          </a:solidFill>
        </p:spPr>
        <p:txBody>
          <a:bodyPr xmlns:a="http://schemas.openxmlformats.org/drawingml/2006/main"/>
          <a:lstStyle xmlns:a="http://schemas.openxmlformats.org/drawingml/2006/main"/>
          <a:p xmlns:a="http://schemas.openxmlformats.org/drawingml/2006/main">
            <a:endParaRPr/>
          </a:p>
        </p:txBody>
      </p:sp>
      <p:sp>
        <p:nvSpPr>
          <p:cNvPr id="13" name="Text 9">
            <a:extLst xmlns:a="http://schemas.openxmlformats.org/drawingml/2006/main">
              <a:ext uri="{FF2B5EF4-FFF2-40B4-BE49-F238E27FC236}">
                <a16:creationId xmlns:a16="http://schemas.microsoft.com/office/drawing/2014/main" id="{2C4F7059-5583-4B98-9D43-AF914C10124C}"/>
              </a:ext>
            </a:extLst>
          </p:cNvPr>
          <p:cNvSpPr>
            <a:spLocks xmlns:a="http://schemas.openxmlformats.org/drawingml/2006/main" noGrp="1"/>
          </p:cNvSpPr>
          <p:nvPr/>
        </p:nvSpPr>
        <p:spPr>
          <a:xfrm xmlns:a="http://schemas.openxmlformats.org/drawingml/2006/main">
            <a:off x="711200" y="2159000"/>
            <a:ext cx="5181600" cy="355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200" b="1">
                <a:solidFill>
                  <a:srgbClr val="FFFFFF"/>
                </a:solidFill>
                <a:latin typeface="Arial"/>
                <a:ea typeface="Arial"/>
                <a:cs typeface="Arial"/>
              </a:rPr>
              <a:t>POST /V1/SYSTEMONE</a:t>
            </a:r>
            <a:endParaRPr sz="1200"/>
          </a:p>
        </p:txBody>
      </p:sp>
      <p:sp>
        <p:nvSpPr>
          <p:cNvPr id="14" name="Text 10">
            <a:extLst xmlns:a="http://schemas.openxmlformats.org/drawingml/2006/main">
              <a:ext uri="{FF2B5EF4-FFF2-40B4-BE49-F238E27FC236}">
                <a16:creationId xmlns:a16="http://schemas.microsoft.com/office/drawing/2014/main" id="{0AF6C7B9-0A46-4187-A850-611272263008}"/>
              </a:ext>
            </a:extLst>
          </p:cNvPr>
          <p:cNvSpPr>
            <a:spLocks xmlns:a="http://schemas.openxmlformats.org/drawingml/2006/main" noGrp="1"/>
          </p:cNvSpPr>
          <p:nvPr/>
        </p:nvSpPr>
        <p:spPr>
          <a:xfrm xmlns:a="http://schemas.openxmlformats.org/drawingml/2006/main">
            <a:off x="711200" y="2667000"/>
            <a:ext cx="5181600" cy="3149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20000"/>
              </a:lnSpc>
              <a:buNone/>
            </a:pPr>
            <a:r>
              <a:rPr sz="1200">
                <a:solidFill>
                  <a:srgbClr val="EDEDED"/>
                </a:solidFill>
                <a:latin typeface="Consolas"/>
                <a:ea typeface="Consolas"/>
                <a:cs typeface="Consolas"/>
              </a:rPr>
              <a:t>{</a:t>
            </a:r>
            <a:endParaRPr sz="1200"/>
          </a:p>
          <a:p xmlns:a="http://schemas.openxmlformats.org/drawingml/2006/main">
            <a:pPr marL="0" indent="0">
              <a:lnSpc>
                <a:spcPct val="120000"/>
              </a:lnSpc>
              <a:buNone/>
            </a:pPr>
            <a:r>
              <a:rPr sz="1200">
                <a:solidFill>
                  <a:srgbClr val="EDEDED"/>
                </a:solidFill>
                <a:latin typeface="Consolas"/>
                <a:ea typeface="Consolas"/>
                <a:cs typeface="Consolas"/>
              </a:rPr>
              <a:t>  "model": "jev-latest",</a:t>
            </a:r>
            <a:endParaRPr sz="1200"/>
          </a:p>
          <a:p xmlns:a="http://schemas.openxmlformats.org/drawingml/2006/main">
            <a:pPr marL="0" indent="0">
              <a:lnSpc>
                <a:spcPct val="120000"/>
              </a:lnSpc>
              <a:buNone/>
            </a:pPr>
            <a:r>
              <a:rPr sz="1200">
                <a:solidFill>
                  <a:srgbClr val="EDEDED"/>
                </a:solidFill>
                <a:latin typeface="Consolas"/>
                <a:ea typeface="Consolas"/>
                <a:cs typeface="Consolas"/>
              </a:rPr>
              <a:t>  "state": { "message": "…",</a:t>
            </a:r>
            <a:endParaRPr sz="1200"/>
          </a:p>
          <a:p xmlns:a="http://schemas.openxmlformats.org/drawingml/2006/main">
            <a:pPr marL="0" indent="0">
              <a:lnSpc>
                <a:spcPct val="120000"/>
              </a:lnSpc>
              <a:buNone/>
            </a:pPr>
            <a:r>
              <a:rPr sz="1200">
                <a:solidFill>
                  <a:srgbClr val="EDEDED"/>
                </a:solidFill>
                <a:latin typeface="Consolas"/>
                <a:ea typeface="Consolas"/>
                <a:cs typeface="Consolas"/>
              </a:rPr>
              <a:t>             "history": [ … ] },</a:t>
            </a:r>
            <a:endParaRPr sz="1200"/>
          </a:p>
          <a:p xmlns:a="http://schemas.openxmlformats.org/drawingml/2006/main">
            <a:pPr marL="0" indent="0">
              <a:lnSpc>
                <a:spcPct val="120000"/>
              </a:lnSpc>
              <a:buNone/>
            </a:pPr>
            <a:r>
              <a:rPr sz="1200">
                <a:solidFill>
                  <a:srgbClr val="EDEDED"/>
                </a:solidFill>
                <a:latin typeface="Consolas"/>
                <a:ea typeface="Consolas"/>
                <a:cs typeface="Consolas"/>
              </a:rPr>
              <a:t>  "questions": {</a:t>
            </a:r>
            <a:endParaRPr sz="1200"/>
          </a:p>
          <a:p xmlns:a="http://schemas.openxmlformats.org/drawingml/2006/main">
            <a:pPr marL="0" indent="0">
              <a:lnSpc>
                <a:spcPct val="120000"/>
              </a:lnSpc>
              <a:buNone/>
            </a:pPr>
            <a:r>
              <a:rPr sz="1200">
                <a:solidFill>
                  <a:srgbClr val="EDEDED"/>
                </a:solidFill>
                <a:latin typeface="Consolas"/>
                <a:ea typeface="Consolas"/>
                <a:cs typeface="Consolas"/>
              </a:rPr>
              <a:t>    "protocol": { "type": "choice",</a:t>
            </a:r>
            <a:endParaRPr sz="1200"/>
          </a:p>
          <a:p xmlns:a="http://schemas.openxmlformats.org/drawingml/2006/main">
            <a:pPr marL="0" indent="0">
              <a:lnSpc>
                <a:spcPct val="120000"/>
              </a:lnSpc>
              <a:buNone/>
            </a:pPr>
            <a:r>
              <a:rPr sz="1200">
                <a:solidFill>
                  <a:srgbClr val="EDEDED"/>
                </a:solidFill>
                <a:latin typeface="Consolas"/>
                <a:ea typeface="Consolas"/>
                <a:cs typeface="Consolas"/>
              </a:rPr>
              <a:t>      "criteria": { "REST": "…",</a:t>
            </a:r>
            <a:endParaRPr sz="1200"/>
          </a:p>
          <a:p xmlns:a="http://schemas.openxmlformats.org/drawingml/2006/main">
            <a:pPr marL="0" indent="0">
              <a:lnSpc>
                <a:spcPct val="120000"/>
              </a:lnSpc>
              <a:buNone/>
            </a:pPr>
            <a:r>
              <a:rPr sz="1200">
                <a:solidFill>
                  <a:srgbClr val="EDEDED"/>
                </a:solidFill>
                <a:latin typeface="Consolas"/>
                <a:ea typeface="Consolas"/>
                <a:cs typeface="Consolas"/>
              </a:rPr>
              <a:t>        "GRAPHQL": "…", "GRPC": "…" } },</a:t>
            </a:r>
            <a:endParaRPr sz="1200"/>
          </a:p>
          <a:p xmlns:a="http://schemas.openxmlformats.org/drawingml/2006/main">
            <a:pPr marL="0" indent="0">
              <a:lnSpc>
                <a:spcPct val="120000"/>
              </a:lnSpc>
              <a:buNone/>
            </a:pPr>
            <a:r>
              <a:rPr sz="1200">
                <a:solidFill>
                  <a:srgbClr val="EDEDED"/>
                </a:solidFill>
                <a:latin typeface="Consolas"/>
                <a:ea typeface="Consolas"/>
                <a:cs typeface="Consolas"/>
              </a:rPr>
              <a:t>    "target": { "type": "choice",</a:t>
            </a:r>
            <a:endParaRPr sz="1200"/>
          </a:p>
          <a:p xmlns:a="http://schemas.openxmlformats.org/drawingml/2006/main">
            <a:pPr marL="0" indent="0">
              <a:lnSpc>
                <a:spcPct val="120000"/>
              </a:lnSpc>
              <a:buNone/>
            </a:pPr>
            <a:r>
              <a:rPr sz="1200">
                <a:solidFill>
                  <a:srgbClr val="EDEDED"/>
                </a:solidFill>
                <a:latin typeface="Consolas"/>
                <a:ea typeface="Consolas"/>
                <a:cs typeface="Consolas"/>
              </a:rPr>
              <a:t>      "criteria": { "ship:5": "…" } }</a:t>
            </a:r>
            <a:endParaRPr sz="1200"/>
          </a:p>
          <a:p xmlns:a="http://schemas.openxmlformats.org/drawingml/2006/main">
            <a:pPr marL="0" indent="0">
              <a:lnSpc>
                <a:spcPct val="120000"/>
              </a:lnSpc>
              <a:buNone/>
            </a:pPr>
            <a:r>
              <a:rPr sz="1200">
                <a:solidFill>
                  <a:srgbClr val="EDEDED"/>
                </a:solidFill>
                <a:latin typeface="Consolas"/>
                <a:ea typeface="Consolas"/>
                <a:cs typeface="Consolas"/>
              </a:rPr>
              <a:t>  }</a:t>
            </a:r>
            <a:endParaRPr sz="1200"/>
          </a:p>
          <a:p xmlns:a="http://schemas.openxmlformats.org/drawingml/2006/main">
            <a:pPr marL="0" indent="0">
              <a:lnSpc>
                <a:spcPct val="120000"/>
              </a:lnSpc>
              <a:buNone/>
            </a:pPr>
            <a:r>
              <a:rPr sz="1200">
                <a:solidFill>
                  <a:srgbClr val="EDEDED"/>
                </a:solidFill>
                <a:latin typeface="Consolas"/>
                <a:ea typeface="Consolas"/>
                <a:cs typeface="Consolas"/>
              </a:rPr>
              <a:t>}</a:t>
            </a:r>
            <a:endParaRPr sz="1200"/>
          </a:p>
        </p:txBody>
      </p:sp>
      <p:sp>
        <p:nvSpPr>
          <p:cNvPr id="15" name="Shape 11">
            <a:extLst xmlns:a="http://schemas.openxmlformats.org/drawingml/2006/main">
              <a:ext uri="{FF2B5EF4-FFF2-40B4-BE49-F238E27FC236}">
                <a16:creationId xmlns:a16="http://schemas.microsoft.com/office/drawing/2014/main" id="{A8E0C2CC-5DA0-44CE-8D3A-62D42C03590E}"/>
              </a:ext>
            </a:extLst>
          </p:cNvPr>
          <p:cNvSpPr>
            <a:spLocks xmlns:a="http://schemas.openxmlformats.org/drawingml/2006/main" noGrp="1"/>
          </p:cNvSpPr>
          <p:nvPr/>
        </p:nvSpPr>
        <p:spPr>
          <a:xfrm xmlns:a="http://schemas.openxmlformats.org/drawingml/2006/main">
            <a:off x="6299200" y="2159000"/>
            <a:ext cx="5384800" cy="1168400"/>
          </a:xfrm>
          <a:prstGeom xmlns:a="http://schemas.openxmlformats.org/drawingml/2006/main" prst="rect">
            <a:avLst/>
          </a:prstGeom>
          <a:solidFill xmlns:a="http://schemas.openxmlformats.org/drawingml/2006/main">
            <a:srgbClr val="F4F4F4"/>
          </a:solidFill>
          <a:effectLst xmlns:a="http://schemas.openxmlformats.org/drawingml/2006/main">
            <a:outerShdw blurRad="50800" dist="25400" dir="5400000" algn="bl" rotWithShape="0">
              <a:srgbClr val="000000">
                <a:alpha val="18000"/>
              </a:srgbClr>
            </a:outerShdw>
          </a:effectLst>
        </p:spPr>
        <p:txBody>
          <a:bodyPr xmlns:a="http://schemas.openxmlformats.org/drawingml/2006/main"/>
          <a:lstStyle xmlns:a="http://schemas.openxmlformats.org/drawingml/2006/main"/>
          <a:p xmlns:a="http://schemas.openxmlformats.org/drawingml/2006/main">
            <a:endParaRPr/>
          </a:p>
        </p:txBody>
      </p:sp>
      <p:sp>
        <p:nvSpPr>
          <p:cNvPr id="16" name="Shape 12">
            <a:extLst xmlns:a="http://schemas.openxmlformats.org/drawingml/2006/main">
              <a:ext uri="{FF2B5EF4-FFF2-40B4-BE49-F238E27FC236}">
                <a16:creationId xmlns:a16="http://schemas.microsoft.com/office/drawing/2014/main" id="{79A1CEEE-B111-404C-9CC7-0210D66A10EC}"/>
              </a:ext>
            </a:extLst>
          </p:cNvPr>
          <p:cNvSpPr>
            <a:spLocks xmlns:a="http://schemas.openxmlformats.org/drawingml/2006/main" noGrp="1"/>
          </p:cNvSpPr>
          <p:nvPr/>
        </p:nvSpPr>
        <p:spPr>
          <a:xfrm xmlns:a="http://schemas.openxmlformats.org/drawingml/2006/main">
            <a:off x="6299200" y="2159000"/>
            <a:ext cx="63500" cy="1168400"/>
          </a:xfrm>
          <a:prstGeom xmlns:a="http://schemas.openxmlformats.org/drawingml/2006/main" prst="rect">
            <a:avLst/>
          </a:prstGeom>
          <a:solidFill xmlns:a="http://schemas.openxmlformats.org/drawingml/2006/main">
            <a:srgbClr val="DA1884"/>
          </a:solidFill>
        </p:spPr>
        <p:txBody>
          <a:bodyPr xmlns:a="http://schemas.openxmlformats.org/drawingml/2006/main"/>
          <a:lstStyle xmlns:a="http://schemas.openxmlformats.org/drawingml/2006/main"/>
          <a:p xmlns:a="http://schemas.openxmlformats.org/drawingml/2006/main">
            <a:endParaRPr/>
          </a:p>
        </p:txBody>
      </p:sp>
      <p:sp>
        <p:nvSpPr>
          <p:cNvPr id="17" name="Text 13">
            <a:extLst xmlns:a="http://schemas.openxmlformats.org/drawingml/2006/main">
              <a:ext uri="{FF2B5EF4-FFF2-40B4-BE49-F238E27FC236}">
                <a16:creationId xmlns:a16="http://schemas.microsoft.com/office/drawing/2014/main" id="{9558E863-4CC7-4EAF-83ED-0310A90480BC}"/>
              </a:ext>
            </a:extLst>
          </p:cNvPr>
          <p:cNvSpPr>
            <a:spLocks xmlns:a="http://schemas.openxmlformats.org/drawingml/2006/main" noGrp="1"/>
          </p:cNvSpPr>
          <p:nvPr/>
        </p:nvSpPr>
        <p:spPr>
          <a:xfrm xmlns:a="http://schemas.openxmlformats.org/drawingml/2006/main">
            <a:off x="6527800" y="2311400"/>
            <a:ext cx="381000" cy="279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1600" b="1">
                <a:solidFill>
                  <a:srgbClr val="DA1884"/>
                </a:solidFill>
                <a:latin typeface="Arial"/>
                <a:ea typeface="Arial"/>
                <a:cs typeface="Arial"/>
              </a:rPr>
              <a:t>01</a:t>
            </a:r>
            <a:endParaRPr sz="1600"/>
          </a:p>
        </p:txBody>
      </p:sp>
      <p:sp>
        <p:nvSpPr>
          <p:cNvPr id="18" name="Text 14">
            <a:extLst xmlns:a="http://schemas.openxmlformats.org/drawingml/2006/main">
              <a:ext uri="{FF2B5EF4-FFF2-40B4-BE49-F238E27FC236}">
                <a16:creationId xmlns:a16="http://schemas.microsoft.com/office/drawing/2014/main" id="{C818EADA-6396-4668-A33B-31B6B8DBA288}"/>
              </a:ext>
            </a:extLst>
          </p:cNvPr>
          <p:cNvSpPr>
            <a:spLocks xmlns:a="http://schemas.openxmlformats.org/drawingml/2006/main" noGrp="1"/>
          </p:cNvSpPr>
          <p:nvPr/>
        </p:nvSpPr>
        <p:spPr>
          <a:xfrm xmlns:a="http://schemas.openxmlformats.org/drawingml/2006/main">
            <a:off x="7035800" y="2311400"/>
            <a:ext cx="44450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15000"/>
              </a:lnSpc>
              <a:spcAft>
                <a:spcPts val="400"/>
              </a:spcAft>
              <a:buNone/>
            </a:pPr>
            <a:r>
              <a:rPr sz="1300" b="1">
                <a:solidFill>
                  <a:srgbClr val="141414"/>
                </a:solidFill>
                <a:latin typeface="Arial"/>
                <a:ea typeface="Arial"/>
                <a:cs typeface="Arial"/>
              </a:rPr>
              <a:t>Answers, not prose</a:t>
            </a:r>
            <a:endParaRPr sz="1300"/>
          </a:p>
          <a:p xmlns:a="http://schemas.openxmlformats.org/drawingml/2006/main">
            <a:pPr marL="0" indent="0">
              <a:lnSpc>
                <a:spcPct val="115000"/>
              </a:lnSpc>
              <a:buNone/>
            </a:pPr>
            <a:r>
              <a:rPr sz="1200">
                <a:solidFill>
                  <a:srgbClr val="333333"/>
                </a:solidFill>
                <a:latin typeface="Arial"/>
                <a:ea typeface="Arial"/>
                <a:cs typeface="Arial"/>
              </a:rPr>
              <a:t>Each question returns a choice with confidence and probabilities, shown in the inspector.</a:t>
            </a:r>
            <a:endParaRPr sz="1300"/>
          </a:p>
        </p:txBody>
      </p:sp>
      <p:sp>
        <p:nvSpPr>
          <p:cNvPr id="19" name="Shape 15">
            <a:extLst xmlns:a="http://schemas.openxmlformats.org/drawingml/2006/main">
              <a:ext uri="{FF2B5EF4-FFF2-40B4-BE49-F238E27FC236}">
                <a16:creationId xmlns:a16="http://schemas.microsoft.com/office/drawing/2014/main" id="{BC749F26-F96C-4719-9BE0-50D8FA83AC80}"/>
              </a:ext>
            </a:extLst>
          </p:cNvPr>
          <p:cNvSpPr>
            <a:spLocks xmlns:a="http://schemas.openxmlformats.org/drawingml/2006/main" noGrp="1"/>
          </p:cNvSpPr>
          <p:nvPr/>
        </p:nvSpPr>
        <p:spPr>
          <a:xfrm xmlns:a="http://schemas.openxmlformats.org/drawingml/2006/main">
            <a:off x="6299200" y="3454400"/>
            <a:ext cx="5384800" cy="1168400"/>
          </a:xfrm>
          <a:prstGeom xmlns:a="http://schemas.openxmlformats.org/drawingml/2006/main" prst="rect">
            <a:avLst/>
          </a:prstGeom>
          <a:solidFill xmlns:a="http://schemas.openxmlformats.org/drawingml/2006/main">
            <a:srgbClr val="F4F4F4"/>
          </a:solidFill>
          <a:effectLst xmlns:a="http://schemas.openxmlformats.org/drawingml/2006/main">
            <a:outerShdw blurRad="50800" dist="25400" dir="5400000" algn="bl" rotWithShape="0">
              <a:srgbClr val="000000">
                <a:alpha val="18000"/>
              </a:srgbClr>
            </a:outerShdw>
          </a:effectLst>
        </p:spPr>
        <p:txBody>
          <a:bodyPr xmlns:a="http://schemas.openxmlformats.org/drawingml/2006/main"/>
          <a:lstStyle xmlns:a="http://schemas.openxmlformats.org/drawingml/2006/main"/>
          <a:p xmlns:a="http://schemas.openxmlformats.org/drawingml/2006/main">
            <a:endParaRPr/>
          </a:p>
        </p:txBody>
      </p:sp>
      <p:sp>
        <p:nvSpPr>
          <p:cNvPr id="20" name="Shape 16">
            <a:extLst xmlns:a="http://schemas.openxmlformats.org/drawingml/2006/main">
              <a:ext uri="{FF2B5EF4-FFF2-40B4-BE49-F238E27FC236}">
                <a16:creationId xmlns:a16="http://schemas.microsoft.com/office/drawing/2014/main" id="{36499EBC-4DAF-42B1-A6AF-6A52922CB81C}"/>
              </a:ext>
            </a:extLst>
          </p:cNvPr>
          <p:cNvSpPr>
            <a:spLocks xmlns:a="http://schemas.openxmlformats.org/drawingml/2006/main" noGrp="1"/>
          </p:cNvSpPr>
          <p:nvPr/>
        </p:nvSpPr>
        <p:spPr>
          <a:xfrm xmlns:a="http://schemas.openxmlformats.org/drawingml/2006/main">
            <a:off x="6299200" y="3454400"/>
            <a:ext cx="63500" cy="1168400"/>
          </a:xfrm>
          <a:prstGeom xmlns:a="http://schemas.openxmlformats.org/drawingml/2006/main" prst="rect">
            <a:avLst/>
          </a:prstGeom>
          <a:solidFill xmlns:a="http://schemas.openxmlformats.org/drawingml/2006/main">
            <a:srgbClr val="DA1884"/>
          </a:solidFill>
        </p:spPr>
        <p:txBody>
          <a:bodyPr xmlns:a="http://schemas.openxmlformats.org/drawingml/2006/main"/>
          <a:lstStyle xmlns:a="http://schemas.openxmlformats.org/drawingml/2006/main"/>
          <a:p xmlns:a="http://schemas.openxmlformats.org/drawingml/2006/main">
            <a:endParaRPr/>
          </a:p>
        </p:txBody>
      </p:sp>
      <p:sp>
        <p:nvSpPr>
          <p:cNvPr id="21" name="Text 17">
            <a:extLst xmlns:a="http://schemas.openxmlformats.org/drawingml/2006/main">
              <a:ext uri="{FF2B5EF4-FFF2-40B4-BE49-F238E27FC236}">
                <a16:creationId xmlns:a16="http://schemas.microsoft.com/office/drawing/2014/main" id="{F7AAC9A4-5725-4B2F-8517-046F4C3D8B6F}"/>
              </a:ext>
            </a:extLst>
          </p:cNvPr>
          <p:cNvSpPr>
            <a:spLocks xmlns:a="http://schemas.openxmlformats.org/drawingml/2006/main" noGrp="1"/>
          </p:cNvSpPr>
          <p:nvPr/>
        </p:nvSpPr>
        <p:spPr>
          <a:xfrm xmlns:a="http://schemas.openxmlformats.org/drawingml/2006/main">
            <a:off x="6527800" y="3606800"/>
            <a:ext cx="381000" cy="279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1600" b="1">
                <a:solidFill>
                  <a:srgbClr val="DA1884"/>
                </a:solidFill>
                <a:latin typeface="Arial"/>
                <a:ea typeface="Arial"/>
                <a:cs typeface="Arial"/>
              </a:rPr>
              <a:t>02</a:t>
            </a:r>
            <a:endParaRPr sz="1600"/>
          </a:p>
        </p:txBody>
      </p:sp>
      <p:sp>
        <p:nvSpPr>
          <p:cNvPr id="22" name="Text 18">
            <a:extLst xmlns:a="http://schemas.openxmlformats.org/drawingml/2006/main">
              <a:ext uri="{FF2B5EF4-FFF2-40B4-BE49-F238E27FC236}">
                <a16:creationId xmlns:a16="http://schemas.microsoft.com/office/drawing/2014/main" id="{007F1C75-A907-4543-94D1-D40F47370562}"/>
              </a:ext>
            </a:extLst>
          </p:cNvPr>
          <p:cNvSpPr>
            <a:spLocks xmlns:a="http://schemas.openxmlformats.org/drawingml/2006/main" noGrp="1"/>
          </p:cNvSpPr>
          <p:nvPr/>
        </p:nvSpPr>
        <p:spPr>
          <a:xfrm xmlns:a="http://schemas.openxmlformats.org/drawingml/2006/main">
            <a:off x="7035800" y="3606800"/>
            <a:ext cx="44450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15000"/>
              </a:lnSpc>
              <a:spcAft>
                <a:spcPts val="400"/>
              </a:spcAft>
              <a:buNone/>
            </a:pPr>
            <a:r>
              <a:rPr sz="1300" b="1">
                <a:solidFill>
                  <a:srgbClr val="141414"/>
                </a:solidFill>
                <a:latin typeface="Arial"/>
                <a:ea typeface="Arial"/>
                <a:cs typeface="Arial"/>
              </a:rPr>
              <a:t>Same contract as Ollama</a:t>
            </a:r>
            <a:endParaRPr sz="1300"/>
          </a:p>
          <a:p xmlns:a="http://schemas.openxmlformats.org/drawingml/2006/main">
            <a:pPr marL="0" indent="0">
              <a:lnSpc>
                <a:spcPct val="115000"/>
              </a:lnSpc>
              <a:buNone/>
            </a:pPr>
            <a:r>
              <a:rPr sz="1200">
                <a:solidFill>
                  <a:srgbClr val="333333"/>
                </a:solidFill>
                <a:latin typeface="Arial"/>
                <a:ea typeface="Arial"/>
                <a:cs typeface="Arial"/>
              </a:rPr>
              <a:t>Plugs in behind IntentClassifier with AI_PROVIDER=jev.</a:t>
            </a:r>
            <a:endParaRPr sz="1300"/>
          </a:p>
        </p:txBody>
      </p:sp>
      <p:sp>
        <p:nvSpPr>
          <p:cNvPr id="23" name="Shape 19">
            <a:extLst xmlns:a="http://schemas.openxmlformats.org/drawingml/2006/main">
              <a:ext uri="{FF2B5EF4-FFF2-40B4-BE49-F238E27FC236}">
                <a16:creationId xmlns:a16="http://schemas.microsoft.com/office/drawing/2014/main" id="{92DC9C74-A84D-4CBE-846E-D46FD0301719}"/>
              </a:ext>
            </a:extLst>
          </p:cNvPr>
          <p:cNvSpPr>
            <a:spLocks xmlns:a="http://schemas.openxmlformats.org/drawingml/2006/main" noGrp="1"/>
          </p:cNvSpPr>
          <p:nvPr/>
        </p:nvSpPr>
        <p:spPr>
          <a:xfrm xmlns:a="http://schemas.openxmlformats.org/drawingml/2006/main">
            <a:off x="6299200" y="4749800"/>
            <a:ext cx="5384800" cy="1168400"/>
          </a:xfrm>
          <a:prstGeom xmlns:a="http://schemas.openxmlformats.org/drawingml/2006/main" prst="rect">
            <a:avLst/>
          </a:prstGeom>
          <a:solidFill xmlns:a="http://schemas.openxmlformats.org/drawingml/2006/main">
            <a:srgbClr val="F4F4F4"/>
          </a:solidFill>
          <a:effectLst xmlns:a="http://schemas.openxmlformats.org/drawingml/2006/main">
            <a:outerShdw blurRad="50800" dist="25400" dir="5400000" algn="bl" rotWithShape="0">
              <a:srgbClr val="000000">
                <a:alpha val="18000"/>
              </a:srgbClr>
            </a:outerShdw>
          </a:effectLst>
        </p:spPr>
        <p:txBody>
          <a:bodyPr xmlns:a="http://schemas.openxmlformats.org/drawingml/2006/main"/>
          <a:lstStyle xmlns:a="http://schemas.openxmlformats.org/drawingml/2006/main"/>
          <a:p xmlns:a="http://schemas.openxmlformats.org/drawingml/2006/main">
            <a:endParaRPr/>
          </a:p>
        </p:txBody>
      </p:sp>
      <p:sp>
        <p:nvSpPr>
          <p:cNvPr id="24" name="Shape 20">
            <a:extLst xmlns:a="http://schemas.openxmlformats.org/drawingml/2006/main">
              <a:ext uri="{FF2B5EF4-FFF2-40B4-BE49-F238E27FC236}">
                <a16:creationId xmlns:a16="http://schemas.microsoft.com/office/drawing/2014/main" id="{6F57ED7D-283B-4294-B6CB-F1CAD1BF8A10}"/>
              </a:ext>
            </a:extLst>
          </p:cNvPr>
          <p:cNvSpPr>
            <a:spLocks xmlns:a="http://schemas.openxmlformats.org/drawingml/2006/main" noGrp="1"/>
          </p:cNvSpPr>
          <p:nvPr/>
        </p:nvSpPr>
        <p:spPr>
          <a:xfrm xmlns:a="http://schemas.openxmlformats.org/drawingml/2006/main">
            <a:off x="6299200" y="4749800"/>
            <a:ext cx="63500" cy="1168400"/>
          </a:xfrm>
          <a:prstGeom xmlns:a="http://schemas.openxmlformats.org/drawingml/2006/main" prst="rect">
            <a:avLst/>
          </a:prstGeom>
          <a:solidFill xmlns:a="http://schemas.openxmlformats.org/drawingml/2006/main">
            <a:srgbClr val="DA1884"/>
          </a:solidFill>
        </p:spPr>
        <p:txBody>
          <a:bodyPr xmlns:a="http://schemas.openxmlformats.org/drawingml/2006/main"/>
          <a:lstStyle xmlns:a="http://schemas.openxmlformats.org/drawingml/2006/main"/>
          <a:p xmlns:a="http://schemas.openxmlformats.org/drawingml/2006/main">
            <a:endParaRPr/>
          </a:p>
        </p:txBody>
      </p:sp>
      <p:sp>
        <p:nvSpPr>
          <p:cNvPr id="25" name="Text 21">
            <a:extLst xmlns:a="http://schemas.openxmlformats.org/drawingml/2006/main">
              <a:ext uri="{FF2B5EF4-FFF2-40B4-BE49-F238E27FC236}">
                <a16:creationId xmlns:a16="http://schemas.microsoft.com/office/drawing/2014/main" id="{6E9BC272-1C19-4F2E-98E7-C3E47802AD41}"/>
              </a:ext>
            </a:extLst>
          </p:cNvPr>
          <p:cNvSpPr>
            <a:spLocks xmlns:a="http://schemas.openxmlformats.org/drawingml/2006/main" noGrp="1"/>
          </p:cNvSpPr>
          <p:nvPr/>
        </p:nvSpPr>
        <p:spPr>
          <a:xfrm xmlns:a="http://schemas.openxmlformats.org/drawingml/2006/main">
            <a:off x="6527800" y="4902200"/>
            <a:ext cx="381000" cy="279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1600" b="1">
                <a:solidFill>
                  <a:srgbClr val="DA1884"/>
                </a:solidFill>
                <a:latin typeface="Arial"/>
                <a:ea typeface="Arial"/>
                <a:cs typeface="Arial"/>
              </a:rPr>
              <a:t>03</a:t>
            </a:r>
            <a:endParaRPr sz="1600"/>
          </a:p>
        </p:txBody>
      </p:sp>
      <p:sp>
        <p:nvSpPr>
          <p:cNvPr id="26" name="Text 22">
            <a:extLst xmlns:a="http://schemas.openxmlformats.org/drawingml/2006/main">
              <a:ext uri="{FF2B5EF4-FFF2-40B4-BE49-F238E27FC236}">
                <a16:creationId xmlns:a16="http://schemas.microsoft.com/office/drawing/2014/main" id="{2AEC2539-5CEF-42C3-A912-B92426250F6C}"/>
              </a:ext>
            </a:extLst>
          </p:cNvPr>
          <p:cNvSpPr>
            <a:spLocks xmlns:a="http://schemas.openxmlformats.org/drawingml/2006/main" noGrp="1"/>
          </p:cNvSpPr>
          <p:nvPr/>
        </p:nvSpPr>
        <p:spPr>
          <a:xfrm xmlns:a="http://schemas.openxmlformats.org/drawingml/2006/main">
            <a:off x="7035800" y="4902200"/>
            <a:ext cx="44450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15000"/>
              </a:lnSpc>
              <a:spcAft>
                <a:spcPts val="400"/>
              </a:spcAft>
              <a:buNone/>
            </a:pPr>
            <a:r>
              <a:rPr sz="1300" b="1">
                <a:solidFill>
                  <a:srgbClr val="141414"/>
                </a:solidFill>
                <a:latin typeface="Arial"/>
                <a:ea typeface="Arial"/>
                <a:cs typeface="Arial"/>
              </a:rPr>
              <a:t>Hosted by TypeSafe</a:t>
            </a:r>
            <a:endParaRPr sz="1300"/>
          </a:p>
          <a:p xmlns:a="http://schemas.openxmlformats.org/drawingml/2006/main">
            <a:pPr marL="0" indent="0">
              <a:lnSpc>
                <a:spcPct val="115000"/>
              </a:lnSpc>
              <a:buNone/>
            </a:pPr>
            <a:r>
              <a:rPr sz="1200">
                <a:solidFill>
                  <a:srgbClr val="333333"/>
                </a:solidFill>
                <a:latin typeface="Arial"/>
                <a:ea typeface="Arial"/>
                <a:cs typeface="Arial"/>
              </a:rPr>
              <a:t>Needs internet and TYPESAFE_API_KEY, and the key never leaves the server.</a:t>
            </a:r>
            <a:endParaRPr sz="1300"/>
          </a:p>
        </p:txBody>
      </p:sp>
    </p:spTree>
    <p:extLst>
      <p:ext uri="{BB962C8B-B14F-4D97-AF65-F5344CB8AC3E}">
        <p14:creationId xmlns:p14="http://schemas.microsoft.com/office/powerpoint/2010/main" val="141594073"/>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351AB158-1EFC-4C37-8CCE-8E7C4A935064}"/>
              </a:ext>
            </a:extLst>
          </p:cNvPr>
          <p:cNvPicPr>
            <a:picLocks xmlns:a="http://schemas.openxmlformats.org/drawingml/2006/main" noChangeAspect="1"/>
          </p:cNvPicPr>
          <p:nvPr/>
        </p:nvPicPr>
        <p:blipFill>
          <a:blip xmlns:r="http://schemas.openxmlformats.org/officeDocument/2006/relationships" xmlns:a="http://schemas.openxmlformats.org/drawingml/2006/main" r:embed="Rb7a2db8325ef4c39"/>
          <a:stretch xmlns:a="http://schemas.openxmlformats.org/drawingml/2006/main">
            <a:fillRect l="0" t="0" r="0" b="0"/>
          </a:stretch>
        </p:blipFill>
        <p:spPr>
          <a:xfrm xmlns:a="http://schemas.openxmlformats.org/drawingml/2006/main">
            <a:off x="508000" y="152400"/>
            <a:ext cx="990600" cy="40640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EB4C9F4B-A5D1-4719-B7D6-68487D55B04F}"/>
              </a:ext>
            </a:extLst>
          </p:cNvPr>
          <p:cNvSpPr>
            <a:spLocks xmlns:a="http://schemas.openxmlformats.org/drawingml/2006/main" noGrp="1"/>
          </p:cNvSpPr>
          <p:nvPr/>
        </p:nvSpPr>
        <p:spPr>
          <a:xfrm xmlns:a="http://schemas.openxmlformats.org/drawingml/2006/main">
            <a:off x="3556000" y="406400"/>
            <a:ext cx="5080000" cy="190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110000"/>
              </a:lnSpc>
              <a:buNone/>
            </a:pPr>
            <a:r>
              <a:rPr sz="1000">
                <a:solidFill>
                  <a:srgbClr val="6B6B6B"/>
                </a:solidFill>
                <a:latin typeface="Arial"/>
                <a:ea typeface="Arial"/>
                <a:cs typeface="Arial"/>
              </a:rPr>
              <a:t>Protocol Studio  —  REST · GraphQL · gRPC</a:t>
            </a:r>
            <a:endParaRPr sz="1000"/>
          </a:p>
        </p:txBody>
      </p:sp>
      <p:sp>
        <p:nvSpPr>
          <p:cNvPr id="4" name="Text 1">
            <a:extLst xmlns:a="http://schemas.openxmlformats.org/drawingml/2006/main">
              <a:ext uri="{FF2B5EF4-FFF2-40B4-BE49-F238E27FC236}">
                <a16:creationId xmlns:a16="http://schemas.microsoft.com/office/drawing/2014/main" id="{86CF376C-CAED-4253-8B91-5C75F0AE9544}"/>
              </a:ext>
            </a:extLst>
          </p:cNvPr>
          <p:cNvSpPr>
            <a:spLocks xmlns:a="http://schemas.openxmlformats.org/drawingml/2006/main" noGrp="1"/>
          </p:cNvSpPr>
          <p:nvPr/>
        </p:nvSpPr>
        <p:spPr>
          <a:xfrm xmlns:a="http://schemas.openxmlformats.org/drawingml/2006/main">
            <a:off x="6350000" y="406400"/>
            <a:ext cx="5334000" cy="190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ct val="110000"/>
              </a:lnSpc>
              <a:buNone/>
            </a:pPr>
            <a:r>
              <a:rPr sz="1000" b="1">
                <a:solidFill>
                  <a:srgbClr val="DA1884"/>
                </a:solidFill>
                <a:latin typeface="Arial"/>
                <a:ea typeface="Arial"/>
                <a:cs typeface="Arial"/>
              </a:rPr>
              <a:t>APPENDIX · AI ROUTING</a:t>
            </a:r>
            <a:endParaRPr sz="1000"/>
          </a:p>
        </p:txBody>
      </p:sp>
      <p:sp>
        <p:nvSpPr>
          <p:cNvPr id="5" name="Text 2">
            <a:extLst xmlns:a="http://schemas.openxmlformats.org/drawingml/2006/main">
              <a:ext uri="{FF2B5EF4-FFF2-40B4-BE49-F238E27FC236}">
                <a16:creationId xmlns:a16="http://schemas.microsoft.com/office/drawing/2014/main" id="{0FC368FE-91A2-4EF6-860E-8947079951CE}"/>
              </a:ext>
            </a:extLst>
          </p:cNvPr>
          <p:cNvSpPr>
            <a:spLocks xmlns:a="http://schemas.openxmlformats.org/drawingml/2006/main" noGrp="1"/>
          </p:cNvSpPr>
          <p:nvPr/>
        </p:nvSpPr>
        <p:spPr>
          <a:xfrm xmlns:a="http://schemas.openxmlformats.org/drawingml/2006/main">
            <a:off x="508000" y="6578600"/>
            <a:ext cx="8890000" cy="177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900">
                <a:solidFill>
                  <a:srgbClr val="9E9E9E"/>
                </a:solidFill>
                <a:latin typeface="Arial"/>
                <a:ea typeface="Arial"/>
                <a:cs typeface="Arial"/>
              </a:rPr>
              <a:t>Insight Proprietary &amp; Confidential.  Do Not Copy or Distribute.  © 2026 Insight.  All Rights Reserved.</a:t>
            </a:r>
            <a:endParaRPr sz="900"/>
          </a:p>
        </p:txBody>
      </p:sp>
      <p:sp>
        <p:nvSpPr>
          <p:cNvPr id="6" name="Text 3">
            <a:extLst xmlns:a="http://schemas.openxmlformats.org/drawingml/2006/main">
              <a:ext uri="{FF2B5EF4-FFF2-40B4-BE49-F238E27FC236}">
                <a16:creationId xmlns:a16="http://schemas.microsoft.com/office/drawing/2014/main" id="{714F76C2-91AF-4F45-9D20-8DA68ADE2FB6}"/>
              </a:ext>
            </a:extLst>
          </p:cNvPr>
          <p:cNvSpPr>
            <a:spLocks xmlns:a="http://schemas.openxmlformats.org/drawingml/2006/main" noGrp="1"/>
          </p:cNvSpPr>
          <p:nvPr/>
        </p:nvSpPr>
        <p:spPr>
          <a:xfrm xmlns:a="http://schemas.openxmlformats.org/drawingml/2006/main">
            <a:off x="10922000" y="6578600"/>
            <a:ext cx="762000" cy="177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ct val="110000"/>
              </a:lnSpc>
              <a:buNone/>
            </a:pPr>
            <a:r>
              <a:rPr sz="900">
                <a:solidFill>
                  <a:srgbClr val="9E9E9E"/>
                </a:solidFill>
                <a:latin typeface="Arial"/>
                <a:ea typeface="Arial"/>
                <a:cs typeface="Arial"/>
              </a:rPr>
              <a:t>25</a:t>
            </a:r>
            <a:endParaRPr sz="900"/>
          </a:p>
        </p:txBody>
      </p:sp>
      <p:sp>
        <p:nvSpPr>
          <p:cNvPr id="7" name="Text 4">
            <a:extLst xmlns:a="http://schemas.openxmlformats.org/drawingml/2006/main">
              <a:ext uri="{FF2B5EF4-FFF2-40B4-BE49-F238E27FC236}">
                <a16:creationId xmlns:a16="http://schemas.microsoft.com/office/drawing/2014/main" id="{7B74C271-4D2E-4432-B36B-D474C2EA1B2B}"/>
              </a:ext>
            </a:extLst>
          </p:cNvPr>
          <p:cNvSpPr>
            <a:spLocks xmlns:a="http://schemas.openxmlformats.org/drawingml/2006/main" noGrp="1"/>
          </p:cNvSpPr>
          <p:nvPr/>
        </p:nvSpPr>
        <p:spPr>
          <a:xfrm xmlns:a="http://schemas.openxmlformats.org/drawingml/2006/main">
            <a:off x="508000" y="889000"/>
            <a:ext cx="11176000" cy="2159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1200" b="1">
                <a:solidFill>
                  <a:srgbClr val="DA1884"/>
                </a:solidFill>
                <a:latin typeface="Arial"/>
                <a:ea typeface="Arial"/>
                <a:cs typeface="Arial"/>
              </a:rPr>
              <a:t>CHOOSING A ROUTER</a:t>
            </a:r>
            <a:endParaRPr sz="1200"/>
          </a:p>
        </p:txBody>
      </p:sp>
      <p:sp>
        <p:nvSpPr>
          <p:cNvPr id="8" name="Text 5">
            <a:extLst xmlns:a="http://schemas.openxmlformats.org/drawingml/2006/main">
              <a:ext uri="{FF2B5EF4-FFF2-40B4-BE49-F238E27FC236}">
                <a16:creationId xmlns:a16="http://schemas.microsoft.com/office/drawing/2014/main" id="{710A7F92-5356-45D3-AEF2-278502A2E0A4}"/>
              </a:ext>
            </a:extLst>
          </p:cNvPr>
          <p:cNvSpPr>
            <a:spLocks xmlns:a="http://schemas.openxmlformats.org/drawingml/2006/main" noGrp="1"/>
          </p:cNvSpPr>
          <p:nvPr/>
        </p:nvSpPr>
        <p:spPr>
          <a:xfrm xmlns:a="http://schemas.openxmlformats.org/drawingml/2006/main">
            <a:off x="508000" y="1130300"/>
            <a:ext cx="11176000" cy="482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3000" b="1">
                <a:solidFill>
                  <a:srgbClr val="141414"/>
                </a:solidFill>
                <a:latin typeface="Arial"/>
                <a:ea typeface="Arial"/>
                <a:cs typeface="Arial"/>
              </a:rPr>
              <a:t>Ollama vs Jev</a:t>
            </a:r>
            <a:endParaRPr sz="3000"/>
          </a:p>
        </p:txBody>
      </p:sp>
      <p:sp>
        <p:nvSpPr>
          <p:cNvPr id="9" name="Text 6">
            <a:extLst xmlns:a="http://schemas.openxmlformats.org/drawingml/2006/main">
              <a:ext uri="{FF2B5EF4-FFF2-40B4-BE49-F238E27FC236}">
                <a16:creationId xmlns:a16="http://schemas.microsoft.com/office/drawing/2014/main" id="{6D01B983-8DF4-45FE-8CC7-E1A21733523F}"/>
              </a:ext>
            </a:extLst>
          </p:cNvPr>
          <p:cNvSpPr>
            <a:spLocks xmlns:a="http://schemas.openxmlformats.org/drawingml/2006/main" noGrp="1"/>
          </p:cNvSpPr>
          <p:nvPr/>
        </p:nvSpPr>
        <p:spPr>
          <a:xfrm xmlns:a="http://schemas.openxmlformats.org/drawingml/2006/main">
            <a:off x="508000" y="1663700"/>
            <a:ext cx="11176000"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1400">
                <a:solidFill>
                  <a:srgbClr val="6B6B6B"/>
                </a:solidFill>
                <a:latin typeface="Arial"/>
                <a:ea typeface="Arial"/>
                <a:cs typeface="Arial"/>
              </a:rPr>
              <a:t>Two ways to make the same decision. Swap between them with one environment variable.</a:t>
            </a:r>
            <a:endParaRPr sz="1400"/>
          </a:p>
        </p:txBody>
      </p:sp>
      <p:graphicFrame>
        <p:nvGraphicFramePr>
          <p:cNvPr id="26" name="Table 0">
            <a:extLst xmlns:a="http://schemas.openxmlformats.org/drawingml/2006/main">
              <a:ext uri="{FF2B5EF4-FFF2-40B4-BE49-F238E27FC236}">
                <a16:creationId xmlns:a16="http://schemas.microsoft.com/office/drawing/2014/main" id="{DCCA6A1B-8561-457A-B52F-B442B90DA76A}"/>
              </a:ext>
            </a:extLst>
          </p:cNvPr>
          <p:cNvGraphicFramePr/>
          <p:nvPr/>
        </p:nvGraphicFramePr>
        <p:xfrm>
          <a:off xmlns:a="http://schemas.openxmlformats.org/drawingml/2006/main" x="508000" y="2159000"/>
          <a:ext xmlns:a="http://schemas.openxmlformats.org/drawingml/2006/main" cx="11176000" cy="914400"/>
        </p:xfrm>
        <a:graphic xmlns:a="http://schemas.openxmlformats.org/drawingml/2006/main">
          <a:graphicData uri="http://schemas.openxmlformats.org/drawingml/2006/table">
            <a:tbl>
              <a:tblPr/>
              <a:tblGrid>
                <a:gridCol w="2458720"/>
                <a:gridCol w="4358640"/>
                <a:gridCol w="4358640"/>
              </a:tblGrid>
              <a:tr h="393700">
                <a:tc>
                  <a:txBody>
                    <a:bodyPr/>
                    <a:lstStyle/>
                    <a:p>
                      <a:pPr marL="0" indent="0">
                        <a:buNone/>
                      </a:pPr>
                      <a:endParaRPr sz="13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DA1884"/>
                    </a:solidFill>
                  </a:tcPr>
                </a:tc>
                <a:tc>
                  <a:txBody>
                    <a:bodyPr/>
                    <a:lstStyle/>
                    <a:p>
                      <a:pPr marL="0" indent="0">
                        <a:buNone/>
                      </a:pPr>
                      <a:r>
                        <a:rPr sz="1300" b="1">
                          <a:solidFill>
                            <a:srgbClr val="FFFFFF"/>
                          </a:solidFill>
                          <a:latin typeface="Arial"/>
                          <a:ea typeface="Arial"/>
                          <a:cs typeface="Arial"/>
                        </a:rPr>
                        <a:t>Ollama (default)</a:t>
                      </a:r>
                      <a:endParaRPr sz="13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DA1884"/>
                    </a:solidFill>
                  </a:tcPr>
                </a:tc>
                <a:tc>
                  <a:txBody>
                    <a:bodyPr/>
                    <a:lstStyle/>
                    <a:p>
                      <a:pPr marL="0" indent="0">
                        <a:buNone/>
                      </a:pPr>
                      <a:r>
                        <a:rPr sz="1300" b="1">
                          <a:solidFill>
                            <a:srgbClr val="FFFFFF"/>
                          </a:solidFill>
                          <a:latin typeface="Arial"/>
                          <a:ea typeface="Arial"/>
                          <a:cs typeface="Arial"/>
                        </a:rPr>
                        <a:t>Jev (optional)</a:t>
                      </a:r>
                      <a:endParaRPr sz="13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DA1884"/>
                    </a:solidFill>
                  </a:tcPr>
                </a:tc>
              </a:tr>
              <a:tr h="393700">
                <a:tc>
                  <a:txBody>
                    <a:bodyPr/>
                    <a:lstStyle/>
                    <a:p>
                      <a:pPr marL="0" indent="0">
                        <a:buNone/>
                      </a:pPr>
                      <a:r>
                        <a:rPr sz="1300" b="1">
                          <a:solidFill>
                            <a:srgbClr val="141414"/>
                          </a:solidFill>
                          <a:latin typeface="Arial"/>
                          <a:ea typeface="Arial"/>
                          <a:cs typeface="Arial"/>
                        </a:rPr>
                        <a:t>Mechanism</a:t>
                      </a:r>
                      <a:endParaRPr sz="13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4F4F4"/>
                    </a:solidFill>
                  </a:tcPr>
                </a:tc>
                <a:tc>
                  <a:txBody>
                    <a:bodyPr/>
                    <a:lstStyle/>
                    <a:p>
                      <a:pPr marL="0" indent="0">
                        <a:buNone/>
                      </a:pPr>
                      <a:r>
                        <a:rPr sz="1300">
                          <a:solidFill>
                            <a:srgbClr val="333333"/>
                          </a:solidFill>
                          <a:latin typeface="Arial"/>
                          <a:ea typeface="Arial"/>
                          <a:cs typeface="Arial"/>
                        </a:rPr>
                        <a:t>LLM tool calling across three tool schemas</a:t>
                      </a:r>
                      <a:endParaRPr sz="13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4F4F4"/>
                    </a:solidFill>
                  </a:tcPr>
                </a:tc>
                <a:tc>
                  <a:txBody>
                    <a:bodyPr/>
                    <a:lstStyle/>
                    <a:p>
                      <a:pPr marL="0" indent="0">
                        <a:buNone/>
                      </a:pPr>
                      <a:r>
                        <a:rPr sz="1300">
                          <a:solidFill>
                            <a:srgbClr val="333333"/>
                          </a:solidFill>
                          <a:latin typeface="Arial"/>
                          <a:ea typeface="Arial"/>
                          <a:cs typeface="Arial"/>
                        </a:rPr>
                        <a:t>Two typed Choice questions</a:t>
                      </a:r>
                      <a:endParaRPr sz="13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4F4F4"/>
                    </a:solidFill>
                  </a:tcPr>
                </a:tc>
              </a:tr>
              <a:tr h="393700">
                <a:tc>
                  <a:txBody>
                    <a:bodyPr/>
                    <a:lstStyle/>
                    <a:p>
                      <a:pPr marL="0" indent="0">
                        <a:buNone/>
                      </a:pPr>
                      <a:r>
                        <a:rPr sz="1300" b="1">
                          <a:solidFill>
                            <a:srgbClr val="141414"/>
                          </a:solidFill>
                          <a:latin typeface="Arial"/>
                          <a:ea typeface="Arial"/>
                          <a:cs typeface="Arial"/>
                        </a:rPr>
                        <a:t>Where it runs</a:t>
                      </a:r>
                      <a:endParaRPr sz="13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FFFFF"/>
                    </a:solidFill>
                  </a:tcPr>
                </a:tc>
                <a:tc>
                  <a:txBody>
                    <a:bodyPr/>
                    <a:lstStyle/>
                    <a:p>
                      <a:pPr marL="0" indent="0">
                        <a:buNone/>
                      </a:pPr>
                      <a:r>
                        <a:rPr sz="1300">
                          <a:solidFill>
                            <a:srgbClr val="333333"/>
                          </a:solidFill>
                          <a:latin typeface="Arial"/>
                          <a:ea typeface="Arial"/>
                          <a:cs typeface="Arial"/>
                        </a:rPr>
                        <a:t>Locally, in Docker or native on the host</a:t>
                      </a:r>
                      <a:endParaRPr sz="13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FFFFF"/>
                    </a:solidFill>
                  </a:tcPr>
                </a:tc>
                <a:tc>
                  <a:txBody>
                    <a:bodyPr/>
                    <a:lstStyle/>
                    <a:p>
                      <a:pPr marL="0" indent="0">
                        <a:buNone/>
                      </a:pPr>
                      <a:r>
                        <a:rPr sz="1300">
                          <a:solidFill>
                            <a:srgbClr val="333333"/>
                          </a:solidFill>
                          <a:latin typeface="Arial"/>
                          <a:ea typeface="Arial"/>
                          <a:cs typeface="Arial"/>
                        </a:rPr>
                        <a:t>Hosted TypeSafe API</a:t>
                      </a:r>
                      <a:endParaRPr sz="13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FFFFF"/>
                    </a:solidFill>
                  </a:tcPr>
                </a:tc>
              </a:tr>
              <a:tr h="393700">
                <a:tc>
                  <a:txBody>
                    <a:bodyPr/>
                    <a:lstStyle/>
                    <a:p>
                      <a:pPr marL="0" indent="0">
                        <a:buNone/>
                      </a:pPr>
                      <a:r>
                        <a:rPr sz="1300" b="1">
                          <a:solidFill>
                            <a:srgbClr val="141414"/>
                          </a:solidFill>
                          <a:latin typeface="Arial"/>
                          <a:ea typeface="Arial"/>
                          <a:cs typeface="Arial"/>
                        </a:rPr>
                        <a:t>Output</a:t>
                      </a:r>
                      <a:endParaRPr sz="13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4F4F4"/>
                    </a:solidFill>
                  </a:tcPr>
                </a:tc>
                <a:tc>
                  <a:txBody>
                    <a:bodyPr/>
                    <a:lstStyle/>
                    <a:p>
                      <a:pPr marL="0" indent="0">
                        <a:buNone/>
                      </a:pPr>
                      <a:r>
                        <a:rPr sz="1300">
                          <a:solidFill>
                            <a:srgbClr val="333333"/>
                          </a:solidFill>
                          <a:latin typeface="Arial"/>
                          <a:ea typeface="Arial"/>
                          <a:cs typeface="Arial"/>
                        </a:rPr>
                        <a:t>One tool call plus an enum target</a:t>
                      </a:r>
                      <a:endParaRPr sz="13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4F4F4"/>
                    </a:solidFill>
                  </a:tcPr>
                </a:tc>
                <a:tc>
                  <a:txBody>
                    <a:bodyPr/>
                    <a:lstStyle/>
                    <a:p>
                      <a:pPr marL="0" indent="0">
                        <a:buNone/>
                      </a:pPr>
                      <a:r>
                        <a:rPr sz="1300">
                          <a:solidFill>
                            <a:srgbClr val="333333"/>
                          </a:solidFill>
                          <a:latin typeface="Arial"/>
                          <a:ea typeface="Arial"/>
                          <a:cs typeface="Arial"/>
                        </a:rPr>
                        <a:t>A choice per question</a:t>
                      </a:r>
                      <a:endParaRPr sz="13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4F4F4"/>
                    </a:solidFill>
                  </a:tcPr>
                </a:tc>
              </a:tr>
              <a:tr h="393700">
                <a:tc>
                  <a:txBody>
                    <a:bodyPr/>
                    <a:lstStyle/>
                    <a:p>
                      <a:pPr marL="0" indent="0">
                        <a:buNone/>
                      </a:pPr>
                      <a:r>
                        <a:rPr sz="1300" b="1">
                          <a:solidFill>
                            <a:srgbClr val="141414"/>
                          </a:solidFill>
                          <a:latin typeface="Arial"/>
                          <a:ea typeface="Arial"/>
                          <a:cs typeface="Arial"/>
                        </a:rPr>
                        <a:t>Confidence</a:t>
                      </a:r>
                      <a:endParaRPr sz="13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FFFFF"/>
                    </a:solidFill>
                  </a:tcPr>
                </a:tc>
                <a:tc>
                  <a:txBody>
                    <a:bodyPr/>
                    <a:lstStyle/>
                    <a:p>
                      <a:pPr marL="0" indent="0">
                        <a:buNone/>
                      </a:pPr>
                      <a:r>
                        <a:rPr sz="1300">
                          <a:solidFill>
                            <a:srgbClr val="333333"/>
                          </a:solidFill>
                          <a:latin typeface="Arial"/>
                          <a:ea typeface="Arial"/>
                          <a:cs typeface="Arial"/>
                        </a:rPr>
                        <a:t>None reported, and none invented</a:t>
                      </a:r>
                      <a:endParaRPr sz="13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FFFFF"/>
                    </a:solidFill>
                  </a:tcPr>
                </a:tc>
                <a:tc>
                  <a:txBody>
                    <a:bodyPr/>
                    <a:lstStyle/>
                    <a:p>
                      <a:pPr marL="0" indent="0">
                        <a:buNone/>
                      </a:pPr>
                      <a:r>
                        <a:rPr sz="1300">
                          <a:solidFill>
                            <a:srgbClr val="333333"/>
                          </a:solidFill>
                          <a:latin typeface="Arial"/>
                          <a:ea typeface="Arial"/>
                          <a:cs typeface="Arial"/>
                        </a:rPr>
                        <a:t>Confidence and probabilities</a:t>
                      </a:r>
                      <a:endParaRPr sz="13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FFFFF"/>
                    </a:solidFill>
                  </a:tcPr>
                </a:tc>
              </a:tr>
              <a:tr h="393700">
                <a:tc>
                  <a:txBody>
                    <a:bodyPr/>
                    <a:lstStyle/>
                    <a:p>
                      <a:pPr marL="0" indent="0">
                        <a:buNone/>
                      </a:pPr>
                      <a:r>
                        <a:rPr sz="1300" b="1">
                          <a:solidFill>
                            <a:srgbClr val="141414"/>
                          </a:solidFill>
                          <a:latin typeface="Arial"/>
                          <a:ea typeface="Arial"/>
                          <a:cs typeface="Arial"/>
                        </a:rPr>
                        <a:t>Setup</a:t>
                      </a:r>
                      <a:endParaRPr sz="13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4F4F4"/>
                    </a:solidFill>
                  </a:tcPr>
                </a:tc>
                <a:tc>
                  <a:txBody>
                    <a:bodyPr/>
                    <a:lstStyle/>
                    <a:p>
                      <a:pPr marL="0" indent="0">
                        <a:buNone/>
                      </a:pPr>
                      <a:r>
                        <a:rPr sz="1300">
                          <a:solidFill>
                            <a:srgbClr val="333333"/>
                          </a:solidFill>
                          <a:latin typeface="Arial"/>
                          <a:ea typeface="Arial"/>
                          <a:cs typeface="Arial"/>
                        </a:rPr>
                        <a:t>Pull a model of several GB once</a:t>
                      </a:r>
                      <a:endParaRPr sz="13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4F4F4"/>
                    </a:solidFill>
                  </a:tcPr>
                </a:tc>
                <a:tc>
                  <a:txBody>
                    <a:bodyPr/>
                    <a:lstStyle/>
                    <a:p>
                      <a:pPr marL="0" indent="0">
                        <a:buNone/>
                      </a:pPr>
                      <a:r>
                        <a:rPr sz="1300">
                          <a:solidFill>
                            <a:srgbClr val="333333"/>
                          </a:solidFill>
                          <a:latin typeface="Arial"/>
                          <a:ea typeface="Arial"/>
                          <a:cs typeface="Arial"/>
                        </a:rPr>
                        <a:t>API key and internet access</a:t>
                      </a:r>
                      <a:endParaRPr sz="13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4F4F4"/>
                    </a:solidFill>
                  </a:tcPr>
                </a:tc>
              </a:tr>
              <a:tr h="393700">
                <a:tc>
                  <a:txBody>
                    <a:bodyPr/>
                    <a:lstStyle/>
                    <a:p>
                      <a:pPr marL="0" indent="0">
                        <a:buNone/>
                      </a:pPr>
                      <a:r>
                        <a:rPr sz="1300" b="1">
                          <a:solidFill>
                            <a:srgbClr val="141414"/>
                          </a:solidFill>
                          <a:latin typeface="Arial"/>
                          <a:ea typeface="Arial"/>
                          <a:cs typeface="Arial"/>
                        </a:rPr>
                        <a:t>Best for</a:t>
                      </a:r>
                      <a:endParaRPr sz="13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FFFFF"/>
                    </a:solidFill>
                  </a:tcPr>
                </a:tc>
                <a:tc>
                  <a:txBody>
                    <a:bodyPr/>
                    <a:lstStyle/>
                    <a:p>
                      <a:pPr marL="0" indent="0">
                        <a:buNone/>
                      </a:pPr>
                      <a:r>
                        <a:rPr sz="1300">
                          <a:solidFill>
                            <a:srgbClr val="333333"/>
                          </a:solidFill>
                          <a:latin typeface="Arial"/>
                          <a:ea typeface="Arial"/>
                          <a:cs typeface="Arial"/>
                        </a:rPr>
                        <a:t>Offline demos and data residency</a:t>
                      </a:r>
                      <a:endParaRPr sz="13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FFFFF"/>
                    </a:solidFill>
                  </a:tcPr>
                </a:tc>
                <a:tc>
                  <a:txBody>
                    <a:bodyPr/>
                    <a:lstStyle/>
                    <a:p>
                      <a:pPr marL="0" indent="0">
                        <a:buNone/>
                      </a:pPr>
                      <a:r>
                        <a:rPr sz="1300">
                          <a:solidFill>
                            <a:srgbClr val="333333"/>
                          </a:solidFill>
                          <a:latin typeface="Arial"/>
                          <a:ea typeface="Arial"/>
                          <a:cs typeface="Arial"/>
                        </a:rPr>
                        <a:t>Closed decisions that need calibrated confidence</a:t>
                      </a:r>
                      <a:endParaRPr sz="1300">
                        <a:latin typeface="Arial"/>
                        <a:ea typeface="Arial"/>
                        <a:cs typeface="Arial"/>
                      </a:endParaRPr>
                    </a:p>
                  </a:txBody>
                  <a:tcPr marL="109728" marR="109728" marT="54864" marB="54864" anchor="ctr">
                    <a:lnL w="9525" cmpd="sng">
                      <a:solidFill>
                        <a:srgbClr val="D1D1D1"/>
                      </a:solidFill>
                      <a:prstDash val="solid"/>
                    </a:lnL>
                    <a:lnR w="9525" cmpd="sng">
                      <a:solidFill>
                        <a:srgbClr val="D1D1D1"/>
                      </a:solidFill>
                      <a:prstDash val="solid"/>
                    </a:lnR>
                    <a:lnT w="9525" cmpd="sng">
                      <a:solidFill>
                        <a:srgbClr val="D1D1D1"/>
                      </a:solidFill>
                      <a:prstDash val="solid"/>
                    </a:lnT>
                    <a:lnB w="9525" cmpd="sng">
                      <a:solidFill>
                        <a:srgbClr val="D1D1D1"/>
                      </a:solidFill>
                      <a:prstDash val="solid"/>
                    </a:lnB>
                    <a:solidFill>
                      <a:srgbClr val="FFFFFF"/>
                    </a:solidFill>
                  </a:tcPr>
                </a:tc>
              </a:tr>
            </a:tbl>
          </a:graphicData>
        </a:graphic>
      </p:graphicFrame>
      <p:sp>
        <p:nvSpPr>
          <p:cNvPr id="12" name="Shape 7">
            <a:extLst xmlns:a="http://schemas.openxmlformats.org/drawingml/2006/main">
              <a:ext uri="{FF2B5EF4-FFF2-40B4-BE49-F238E27FC236}">
                <a16:creationId xmlns:a16="http://schemas.microsoft.com/office/drawing/2014/main" id="{5736922F-9442-46CF-A0C9-2D330F5F399E}"/>
              </a:ext>
            </a:extLst>
          </p:cNvPr>
          <p:cNvSpPr>
            <a:spLocks xmlns:a="http://schemas.openxmlformats.org/drawingml/2006/main" noGrp="1"/>
          </p:cNvSpPr>
          <p:nvPr/>
        </p:nvSpPr>
        <p:spPr>
          <a:xfrm xmlns:a="http://schemas.openxmlformats.org/drawingml/2006/main">
            <a:off x="508000" y="5270500"/>
            <a:ext cx="11176000" cy="635000"/>
          </a:xfrm>
          <a:prstGeom xmlns:a="http://schemas.openxmlformats.org/drawingml/2006/main" prst="rect">
            <a:avLst/>
          </a:prstGeom>
          <a:solidFill xmlns:a="http://schemas.openxmlformats.org/drawingml/2006/main">
            <a:srgbClr val="F4F4F4"/>
          </a:solidFill>
          <a:effectLst xmlns:a="http://schemas.openxmlformats.org/drawingml/2006/main">
            <a:outerShdw blurRad="50800" dist="25400" dir="5400000" algn="bl" rotWithShape="0">
              <a:srgbClr val="000000">
                <a:alpha val="18000"/>
              </a:srgbClr>
            </a:outerShdw>
          </a:effectLst>
        </p:spPr>
        <p:txBody>
          <a:bodyPr xmlns:a="http://schemas.openxmlformats.org/drawingml/2006/main"/>
          <a:lstStyle xmlns:a="http://schemas.openxmlformats.org/drawingml/2006/main"/>
          <a:p xmlns:a="http://schemas.openxmlformats.org/drawingml/2006/main">
            <a:endParaRPr/>
          </a:p>
        </p:txBody>
      </p:sp>
      <p:sp>
        <p:nvSpPr>
          <p:cNvPr id="13" name="Shape 8">
            <a:extLst xmlns:a="http://schemas.openxmlformats.org/drawingml/2006/main">
              <a:ext uri="{FF2B5EF4-FFF2-40B4-BE49-F238E27FC236}">
                <a16:creationId xmlns:a16="http://schemas.microsoft.com/office/drawing/2014/main" id="{37EADFCD-3355-4392-902C-BB073F267027}"/>
              </a:ext>
            </a:extLst>
          </p:cNvPr>
          <p:cNvSpPr>
            <a:spLocks xmlns:a="http://schemas.openxmlformats.org/drawingml/2006/main" noGrp="1"/>
          </p:cNvSpPr>
          <p:nvPr/>
        </p:nvSpPr>
        <p:spPr>
          <a:xfrm xmlns:a="http://schemas.openxmlformats.org/drawingml/2006/main">
            <a:off x="508000" y="5270500"/>
            <a:ext cx="76200" cy="635000"/>
          </a:xfrm>
          <a:prstGeom xmlns:a="http://schemas.openxmlformats.org/drawingml/2006/main" prst="rect">
            <a:avLst/>
          </a:prstGeom>
          <a:solidFill xmlns:a="http://schemas.openxmlformats.org/drawingml/2006/main">
            <a:srgbClr val="DA1884"/>
          </a:solidFill>
        </p:spPr>
        <p:txBody>
          <a:bodyPr xmlns:a="http://schemas.openxmlformats.org/drawingml/2006/main"/>
          <a:lstStyle xmlns:a="http://schemas.openxmlformats.org/drawingml/2006/main"/>
          <a:p xmlns:a="http://schemas.openxmlformats.org/drawingml/2006/main">
            <a:endParaRPr/>
          </a:p>
        </p:txBody>
      </p:sp>
      <p:sp>
        <p:nvSpPr>
          <p:cNvPr id="14" name="Text 9">
            <a:extLst xmlns:a="http://schemas.openxmlformats.org/drawingml/2006/main">
              <a:ext uri="{FF2B5EF4-FFF2-40B4-BE49-F238E27FC236}">
                <a16:creationId xmlns:a16="http://schemas.microsoft.com/office/drawing/2014/main" id="{58C24E94-20A2-49C2-AB0D-4E6AC3C0BC19}"/>
              </a:ext>
            </a:extLst>
          </p:cNvPr>
          <p:cNvSpPr>
            <a:spLocks xmlns:a="http://schemas.openxmlformats.org/drawingml/2006/main" noGrp="1"/>
          </p:cNvSpPr>
          <p:nvPr/>
        </p:nvSpPr>
        <p:spPr>
          <a:xfrm xmlns:a="http://schemas.openxmlformats.org/drawingml/2006/main">
            <a:off x="787400" y="5270500"/>
            <a:ext cx="10668000" cy="635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200" b="1">
                <a:solidFill>
                  <a:srgbClr val="141414"/>
                </a:solidFill>
                <a:latin typeface="Arial"/>
                <a:ea typeface="Arial"/>
                <a:cs typeface="Arial"/>
              </a:rPr>
              <a:t>Presenter overrides  </a:t>
            </a:r>
            <a:r>
              <a:rPr sz="1200">
                <a:solidFill>
                  <a:srgbClr val="141414"/>
                </a:solidFill>
                <a:latin typeface="Arial"/>
                <a:ea typeface="Arial"/>
                <a:cs typeface="Arial"/>
              </a:rPr>
              <a:t>bypass the model entirely for one question, and the UI says so. They are never passed off as AI classification.</a:t>
            </a:r>
            <a:endParaRPr sz="1200"/>
          </a:p>
        </p:txBody>
      </p:sp>
    </p:spTree>
    <p:extLst>
      <p:ext uri="{BB962C8B-B14F-4D97-AF65-F5344CB8AC3E}">
        <p14:creationId xmlns:p14="http://schemas.microsoft.com/office/powerpoint/2010/main" val="1571419563"/>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F22032A1-6D24-404F-8F2F-BDEFFA9B76EC}"/>
              </a:ext>
            </a:extLst>
          </p:cNvPr>
          <p:cNvPicPr>
            <a:picLocks xmlns:a="http://schemas.openxmlformats.org/drawingml/2006/main" noChangeAspect="1"/>
          </p:cNvPicPr>
          <p:nvPr/>
        </p:nvPicPr>
        <p:blipFill>
          <a:blip xmlns:r="http://schemas.openxmlformats.org/officeDocument/2006/relationships" xmlns:a="http://schemas.openxmlformats.org/drawingml/2006/main" r:embed="Rcf36543bc11e4877"/>
          <a:stretch xmlns:a="http://schemas.openxmlformats.org/drawingml/2006/main">
            <a:fillRect l="0" t="0" r="0" b="0"/>
          </a:stretch>
        </p:blipFill>
        <p:spPr>
          <a:xfrm xmlns:a="http://schemas.openxmlformats.org/drawingml/2006/main">
            <a:off x="508000" y="152400"/>
            <a:ext cx="990600" cy="40640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80CD4954-2194-4699-A838-4375C5B87534}"/>
              </a:ext>
            </a:extLst>
          </p:cNvPr>
          <p:cNvSpPr>
            <a:spLocks xmlns:a="http://schemas.openxmlformats.org/drawingml/2006/main" noGrp="1"/>
          </p:cNvSpPr>
          <p:nvPr/>
        </p:nvSpPr>
        <p:spPr>
          <a:xfrm xmlns:a="http://schemas.openxmlformats.org/drawingml/2006/main">
            <a:off x="3556000" y="406400"/>
            <a:ext cx="5080000" cy="190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110000"/>
              </a:lnSpc>
              <a:buNone/>
            </a:pPr>
            <a:r>
              <a:rPr sz="1000">
                <a:solidFill>
                  <a:srgbClr val="6B6B6B"/>
                </a:solidFill>
                <a:latin typeface="Arial"/>
                <a:ea typeface="Arial"/>
                <a:cs typeface="Arial"/>
              </a:rPr>
              <a:t>Protocol Studio  —  REST · GraphQL · gRPC</a:t>
            </a:r>
            <a:endParaRPr sz="1000"/>
          </a:p>
        </p:txBody>
      </p:sp>
      <p:sp>
        <p:nvSpPr>
          <p:cNvPr id="4" name="Text 1">
            <a:extLst xmlns:a="http://schemas.openxmlformats.org/drawingml/2006/main">
              <a:ext uri="{FF2B5EF4-FFF2-40B4-BE49-F238E27FC236}">
                <a16:creationId xmlns:a16="http://schemas.microsoft.com/office/drawing/2014/main" id="{0E83E5A5-96CD-43E5-AC7A-69509123217C}"/>
              </a:ext>
            </a:extLst>
          </p:cNvPr>
          <p:cNvSpPr>
            <a:spLocks xmlns:a="http://schemas.openxmlformats.org/drawingml/2006/main" noGrp="1"/>
          </p:cNvSpPr>
          <p:nvPr/>
        </p:nvSpPr>
        <p:spPr>
          <a:xfrm xmlns:a="http://schemas.openxmlformats.org/drawingml/2006/main">
            <a:off x="6350000" y="406400"/>
            <a:ext cx="5334000" cy="190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ct val="110000"/>
              </a:lnSpc>
              <a:buNone/>
            </a:pPr>
            <a:r>
              <a:rPr sz="1000" b="1">
                <a:solidFill>
                  <a:srgbClr val="DA1884"/>
                </a:solidFill>
                <a:latin typeface="Arial"/>
                <a:ea typeface="Arial"/>
                <a:cs typeface="Arial"/>
              </a:rPr>
              <a:t>APPENDIX · AI ROUTING</a:t>
            </a:r>
            <a:endParaRPr sz="1000"/>
          </a:p>
        </p:txBody>
      </p:sp>
      <p:sp>
        <p:nvSpPr>
          <p:cNvPr id="5" name="Text 2">
            <a:extLst xmlns:a="http://schemas.openxmlformats.org/drawingml/2006/main">
              <a:ext uri="{FF2B5EF4-FFF2-40B4-BE49-F238E27FC236}">
                <a16:creationId xmlns:a16="http://schemas.microsoft.com/office/drawing/2014/main" id="{9813930D-52C7-4CA9-8014-0439E2D40F49}"/>
              </a:ext>
            </a:extLst>
          </p:cNvPr>
          <p:cNvSpPr>
            <a:spLocks xmlns:a="http://schemas.openxmlformats.org/drawingml/2006/main" noGrp="1"/>
          </p:cNvSpPr>
          <p:nvPr/>
        </p:nvSpPr>
        <p:spPr>
          <a:xfrm xmlns:a="http://schemas.openxmlformats.org/drawingml/2006/main">
            <a:off x="508000" y="6578600"/>
            <a:ext cx="8890000" cy="177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900">
                <a:solidFill>
                  <a:srgbClr val="9E9E9E"/>
                </a:solidFill>
                <a:latin typeface="Arial"/>
                <a:ea typeface="Arial"/>
                <a:cs typeface="Arial"/>
              </a:rPr>
              <a:t>Insight Proprietary &amp; Confidential.  Do Not Copy or Distribute.  © 2026 Insight.  All Rights Reserved.</a:t>
            </a:r>
            <a:endParaRPr sz="900"/>
          </a:p>
        </p:txBody>
      </p:sp>
      <p:sp>
        <p:nvSpPr>
          <p:cNvPr id="6" name="Text 3">
            <a:extLst xmlns:a="http://schemas.openxmlformats.org/drawingml/2006/main">
              <a:ext uri="{FF2B5EF4-FFF2-40B4-BE49-F238E27FC236}">
                <a16:creationId xmlns:a16="http://schemas.microsoft.com/office/drawing/2014/main" id="{B475B50E-6599-4334-B47A-9A6BEAE10C1D}"/>
              </a:ext>
            </a:extLst>
          </p:cNvPr>
          <p:cNvSpPr>
            <a:spLocks xmlns:a="http://schemas.openxmlformats.org/drawingml/2006/main" noGrp="1"/>
          </p:cNvSpPr>
          <p:nvPr/>
        </p:nvSpPr>
        <p:spPr>
          <a:xfrm xmlns:a="http://schemas.openxmlformats.org/drawingml/2006/main">
            <a:off x="10922000" y="6578600"/>
            <a:ext cx="762000" cy="177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ct val="110000"/>
              </a:lnSpc>
              <a:buNone/>
            </a:pPr>
            <a:r>
              <a:rPr sz="900">
                <a:solidFill>
                  <a:srgbClr val="9E9E9E"/>
                </a:solidFill>
                <a:latin typeface="Arial"/>
                <a:ea typeface="Arial"/>
                <a:cs typeface="Arial"/>
              </a:rPr>
              <a:t>26</a:t>
            </a:r>
            <a:endParaRPr sz="900"/>
          </a:p>
        </p:txBody>
      </p:sp>
      <p:sp>
        <p:nvSpPr>
          <p:cNvPr id="7" name="Text 4">
            <a:extLst xmlns:a="http://schemas.openxmlformats.org/drawingml/2006/main">
              <a:ext uri="{FF2B5EF4-FFF2-40B4-BE49-F238E27FC236}">
                <a16:creationId xmlns:a16="http://schemas.microsoft.com/office/drawing/2014/main" id="{A721C629-3964-49CF-BD44-FB4F90E1E2BE}"/>
              </a:ext>
            </a:extLst>
          </p:cNvPr>
          <p:cNvSpPr>
            <a:spLocks xmlns:a="http://schemas.openxmlformats.org/drawingml/2006/main" noGrp="1"/>
          </p:cNvSpPr>
          <p:nvPr/>
        </p:nvSpPr>
        <p:spPr>
          <a:xfrm xmlns:a="http://schemas.openxmlformats.org/drawingml/2006/main">
            <a:off x="508000" y="889000"/>
            <a:ext cx="11176000" cy="2159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1200" b="1">
                <a:solidFill>
                  <a:srgbClr val="DA1884"/>
                </a:solidFill>
                <a:latin typeface="Arial"/>
                <a:ea typeface="Arial"/>
                <a:cs typeface="Arial"/>
              </a:rPr>
              <a:t>GUARDRAILS</a:t>
            </a:r>
            <a:endParaRPr sz="1200"/>
          </a:p>
        </p:txBody>
      </p:sp>
      <p:sp>
        <p:nvSpPr>
          <p:cNvPr id="8" name="Text 5">
            <a:extLst xmlns:a="http://schemas.openxmlformats.org/drawingml/2006/main">
              <a:ext uri="{FF2B5EF4-FFF2-40B4-BE49-F238E27FC236}">
                <a16:creationId xmlns:a16="http://schemas.microsoft.com/office/drawing/2014/main" id="{074286E7-F8A4-4632-8ECF-8502EC7F07D2}"/>
              </a:ext>
            </a:extLst>
          </p:cNvPr>
          <p:cNvSpPr>
            <a:spLocks xmlns:a="http://schemas.openxmlformats.org/drawingml/2006/main" noGrp="1"/>
          </p:cNvSpPr>
          <p:nvPr/>
        </p:nvSpPr>
        <p:spPr>
          <a:xfrm xmlns:a="http://schemas.openxmlformats.org/drawingml/2006/main">
            <a:off x="508000" y="1130300"/>
            <a:ext cx="11176000" cy="482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3000" b="1">
                <a:solidFill>
                  <a:srgbClr val="141414"/>
                </a:solidFill>
                <a:latin typeface="Arial"/>
                <a:ea typeface="Arial"/>
                <a:cs typeface="Arial"/>
              </a:rPr>
              <a:t>Five Rules That Keep the Router Honest</a:t>
            </a:r>
            <a:endParaRPr sz="3000"/>
          </a:p>
        </p:txBody>
      </p:sp>
      <p:sp>
        <p:nvSpPr>
          <p:cNvPr id="9" name="Text 6">
            <a:extLst xmlns:a="http://schemas.openxmlformats.org/drawingml/2006/main">
              <a:ext uri="{FF2B5EF4-FFF2-40B4-BE49-F238E27FC236}">
                <a16:creationId xmlns:a16="http://schemas.microsoft.com/office/drawing/2014/main" id="{243A53D1-7F41-48CE-AD1F-87922BE74597}"/>
              </a:ext>
            </a:extLst>
          </p:cNvPr>
          <p:cNvSpPr>
            <a:spLocks xmlns:a="http://schemas.openxmlformats.org/drawingml/2006/main" noGrp="1"/>
          </p:cNvSpPr>
          <p:nvPr/>
        </p:nvSpPr>
        <p:spPr>
          <a:xfrm xmlns:a="http://schemas.openxmlformats.org/drawingml/2006/main">
            <a:off x="508000" y="1663700"/>
            <a:ext cx="11176000"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1400">
                <a:solidFill>
                  <a:srgbClr val="6B6B6B"/>
                </a:solidFill>
                <a:latin typeface="Arial"/>
                <a:ea typeface="Arial"/>
                <a:cs typeface="Arial"/>
              </a:rPr>
              <a:t>The model gets a narrow job, and the system makes every choice it makes visible.</a:t>
            </a:r>
            <a:endParaRPr sz="1400"/>
          </a:p>
        </p:txBody>
      </p:sp>
      <p:sp>
        <p:nvSpPr>
          <p:cNvPr id="11" name="Shape 7">
            <a:extLst xmlns:a="http://schemas.openxmlformats.org/drawingml/2006/main">
              <a:ext uri="{FF2B5EF4-FFF2-40B4-BE49-F238E27FC236}">
                <a16:creationId xmlns:a16="http://schemas.microsoft.com/office/drawing/2014/main" id="{5CC767F1-587C-4AEA-8C93-5036F2B84ED6}"/>
              </a:ext>
            </a:extLst>
          </p:cNvPr>
          <p:cNvSpPr>
            <a:spLocks xmlns:a="http://schemas.openxmlformats.org/drawingml/2006/main" noGrp="1"/>
          </p:cNvSpPr>
          <p:nvPr/>
        </p:nvSpPr>
        <p:spPr>
          <a:xfrm xmlns:a="http://schemas.openxmlformats.org/drawingml/2006/main">
            <a:off x="508000" y="2159000"/>
            <a:ext cx="11176000" cy="698500"/>
          </a:xfrm>
          <a:prstGeom xmlns:a="http://schemas.openxmlformats.org/drawingml/2006/main" prst="rect">
            <a:avLst/>
          </a:prstGeom>
          <a:solidFill xmlns:a="http://schemas.openxmlformats.org/drawingml/2006/main">
            <a:srgbClr val="F4F4F4"/>
          </a:solidFill>
          <a:effectLst xmlns:a="http://schemas.openxmlformats.org/drawingml/2006/main">
            <a:outerShdw blurRad="50800" dist="25400" dir="5400000" algn="bl" rotWithShape="0">
              <a:srgbClr val="000000">
                <a:alpha val="18000"/>
              </a:srgbClr>
            </a:outerShdw>
          </a:effectLst>
        </p:spPr>
        <p:txBody>
          <a:bodyPr xmlns:a="http://schemas.openxmlformats.org/drawingml/2006/main"/>
          <a:lstStyle xmlns:a="http://schemas.openxmlformats.org/drawingml/2006/main"/>
          <a:p xmlns:a="http://schemas.openxmlformats.org/drawingml/2006/main">
            <a:endParaRPr/>
          </a:p>
        </p:txBody>
      </p:sp>
      <p:sp>
        <p:nvSpPr>
          <p:cNvPr id="12" name="Shape 8">
            <a:extLst xmlns:a="http://schemas.openxmlformats.org/drawingml/2006/main">
              <a:ext uri="{FF2B5EF4-FFF2-40B4-BE49-F238E27FC236}">
                <a16:creationId xmlns:a16="http://schemas.microsoft.com/office/drawing/2014/main" id="{6F48AF79-2B21-4D97-B2C7-9679649861EA}"/>
              </a:ext>
            </a:extLst>
          </p:cNvPr>
          <p:cNvSpPr>
            <a:spLocks xmlns:a="http://schemas.openxmlformats.org/drawingml/2006/main" noGrp="1"/>
          </p:cNvSpPr>
          <p:nvPr/>
        </p:nvSpPr>
        <p:spPr>
          <a:xfrm xmlns:a="http://schemas.openxmlformats.org/drawingml/2006/main">
            <a:off x="508000" y="2159000"/>
            <a:ext cx="63500" cy="698500"/>
          </a:xfrm>
          <a:prstGeom xmlns:a="http://schemas.openxmlformats.org/drawingml/2006/main" prst="rect">
            <a:avLst/>
          </a:prstGeom>
          <a:solidFill xmlns:a="http://schemas.openxmlformats.org/drawingml/2006/main">
            <a:srgbClr val="DA1884"/>
          </a:solidFill>
        </p:spPr>
        <p:txBody>
          <a:bodyPr xmlns:a="http://schemas.openxmlformats.org/drawingml/2006/main"/>
          <a:lstStyle xmlns:a="http://schemas.openxmlformats.org/drawingml/2006/main"/>
          <a:p xmlns:a="http://schemas.openxmlformats.org/drawingml/2006/main">
            <a:endParaRPr/>
          </a:p>
        </p:txBody>
      </p:sp>
      <p:sp>
        <p:nvSpPr>
          <p:cNvPr id="13" name="Text 9">
            <a:extLst xmlns:a="http://schemas.openxmlformats.org/drawingml/2006/main">
              <a:ext uri="{FF2B5EF4-FFF2-40B4-BE49-F238E27FC236}">
                <a16:creationId xmlns:a16="http://schemas.microsoft.com/office/drawing/2014/main" id="{4AE506BE-E91D-4632-BE84-0C3A4B9B30ED}"/>
              </a:ext>
            </a:extLst>
          </p:cNvPr>
          <p:cNvSpPr>
            <a:spLocks xmlns:a="http://schemas.openxmlformats.org/drawingml/2006/main" noGrp="1"/>
          </p:cNvSpPr>
          <p:nvPr/>
        </p:nvSpPr>
        <p:spPr>
          <a:xfrm xmlns:a="http://schemas.openxmlformats.org/drawingml/2006/main">
            <a:off x="787400" y="2159000"/>
            <a:ext cx="482600" cy="6985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800" b="1">
                <a:solidFill>
                  <a:srgbClr val="DA1884"/>
                </a:solidFill>
                <a:latin typeface="Arial"/>
                <a:ea typeface="Arial"/>
                <a:cs typeface="Arial"/>
              </a:rPr>
              <a:t>01</a:t>
            </a:r>
            <a:endParaRPr sz="1800"/>
          </a:p>
        </p:txBody>
      </p:sp>
      <p:sp>
        <p:nvSpPr>
          <p:cNvPr id="14" name="Text 10">
            <a:extLst xmlns:a="http://schemas.openxmlformats.org/drawingml/2006/main">
              <a:ext uri="{FF2B5EF4-FFF2-40B4-BE49-F238E27FC236}">
                <a16:creationId xmlns:a16="http://schemas.microsoft.com/office/drawing/2014/main" id="{A8405A81-F68B-4E9C-BC57-00F5C8486EAC}"/>
              </a:ext>
            </a:extLst>
          </p:cNvPr>
          <p:cNvSpPr>
            <a:spLocks xmlns:a="http://schemas.openxmlformats.org/drawingml/2006/main" noGrp="1"/>
          </p:cNvSpPr>
          <p:nvPr/>
        </p:nvSpPr>
        <p:spPr>
          <a:xfrm xmlns:a="http://schemas.openxmlformats.org/drawingml/2006/main">
            <a:off x="1397000" y="2159000"/>
            <a:ext cx="2540000" cy="6985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300" b="1">
                <a:solidFill>
                  <a:srgbClr val="141414"/>
                </a:solidFill>
                <a:latin typeface="Arial"/>
                <a:ea typeface="Arial"/>
                <a:cs typeface="Arial"/>
              </a:rPr>
              <a:t>Allowlisted targets</a:t>
            </a:r>
            <a:endParaRPr sz="1300"/>
          </a:p>
        </p:txBody>
      </p:sp>
      <p:sp>
        <p:nvSpPr>
          <p:cNvPr id="15" name="Text 11">
            <a:extLst xmlns:a="http://schemas.openxmlformats.org/drawingml/2006/main">
              <a:ext uri="{FF2B5EF4-FFF2-40B4-BE49-F238E27FC236}">
                <a16:creationId xmlns:a16="http://schemas.microsoft.com/office/drawing/2014/main" id="{24D8170A-D8DC-4401-842F-F545545889B9}"/>
              </a:ext>
            </a:extLst>
          </p:cNvPr>
          <p:cNvSpPr>
            <a:spLocks xmlns:a="http://schemas.openxmlformats.org/drawingml/2006/main" noGrp="1"/>
          </p:cNvSpPr>
          <p:nvPr/>
        </p:nvSpPr>
        <p:spPr>
          <a:xfrm xmlns:a="http://schemas.openxmlformats.org/drawingml/2006/main">
            <a:off x="4140200" y="2159000"/>
            <a:ext cx="4470400" cy="6985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200">
                <a:solidFill>
                  <a:srgbClr val="333333"/>
                </a:solidFill>
                <a:latin typeface="Arial"/>
                <a:ea typeface="Arial"/>
                <a:cs typeface="Arial"/>
              </a:rPr>
              <a:t>Models choose catalog IDs through an enum or criteria, never URLs, queries or service names.</a:t>
            </a:r>
            <a:endParaRPr sz="1200"/>
          </a:p>
        </p:txBody>
      </p:sp>
      <p:sp>
        <p:nvSpPr>
          <p:cNvPr id="16" name="Text 12">
            <a:extLst xmlns:a="http://schemas.openxmlformats.org/drawingml/2006/main">
              <a:ext uri="{FF2B5EF4-FFF2-40B4-BE49-F238E27FC236}">
                <a16:creationId xmlns:a16="http://schemas.microsoft.com/office/drawing/2014/main" id="{709962A9-BAA3-4C1C-A055-3E5D5C8A5A6B}"/>
              </a:ext>
            </a:extLst>
          </p:cNvPr>
          <p:cNvSpPr>
            <a:spLocks xmlns:a="http://schemas.openxmlformats.org/drawingml/2006/main" noGrp="1"/>
          </p:cNvSpPr>
          <p:nvPr/>
        </p:nvSpPr>
        <p:spPr>
          <a:xfrm xmlns:a="http://schemas.openxmlformats.org/drawingml/2006/main">
            <a:off x="8763000" y="2159000"/>
            <a:ext cx="2667000" cy="6985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200" i="1">
                <a:solidFill>
                  <a:srgbClr val="6B6B6B"/>
                </a:solidFill>
                <a:latin typeface="Arial"/>
                <a:ea typeface="Arial"/>
                <a:cs typeface="Arial"/>
              </a:rPr>
              <a:t>Blocks injected or hallucinated calls</a:t>
            </a:r>
            <a:endParaRPr sz="1200"/>
          </a:p>
        </p:txBody>
      </p:sp>
      <p:sp>
        <p:nvSpPr>
          <p:cNvPr id="17" name="Shape 13">
            <a:extLst xmlns:a="http://schemas.openxmlformats.org/drawingml/2006/main">
              <a:ext uri="{FF2B5EF4-FFF2-40B4-BE49-F238E27FC236}">
                <a16:creationId xmlns:a16="http://schemas.microsoft.com/office/drawing/2014/main" id="{41C0DA14-0E3A-4AF1-A410-0BCE4EFF32DE}"/>
              </a:ext>
            </a:extLst>
          </p:cNvPr>
          <p:cNvSpPr>
            <a:spLocks xmlns:a="http://schemas.openxmlformats.org/drawingml/2006/main" noGrp="1"/>
          </p:cNvSpPr>
          <p:nvPr/>
        </p:nvSpPr>
        <p:spPr>
          <a:xfrm xmlns:a="http://schemas.openxmlformats.org/drawingml/2006/main">
            <a:off x="508000" y="2946400"/>
            <a:ext cx="11176000" cy="698500"/>
          </a:xfrm>
          <a:prstGeom xmlns:a="http://schemas.openxmlformats.org/drawingml/2006/main" prst="rect">
            <a:avLst/>
          </a:prstGeom>
          <a:solidFill xmlns:a="http://schemas.openxmlformats.org/drawingml/2006/main">
            <a:srgbClr val="FFFFFF"/>
          </a:solidFill>
          <a:effectLst xmlns:a="http://schemas.openxmlformats.org/drawingml/2006/main">
            <a:outerShdw blurRad="50800" dist="25400" dir="5400000" algn="bl" rotWithShape="0">
              <a:srgbClr val="000000">
                <a:alpha val="18000"/>
              </a:srgbClr>
            </a:outerShdw>
          </a:effectLst>
        </p:spPr>
        <p:txBody>
          <a:bodyPr xmlns:a="http://schemas.openxmlformats.org/drawingml/2006/main"/>
          <a:lstStyle xmlns:a="http://schemas.openxmlformats.org/drawingml/2006/main"/>
          <a:p xmlns:a="http://schemas.openxmlformats.org/drawingml/2006/main">
            <a:endParaRPr/>
          </a:p>
        </p:txBody>
      </p:sp>
      <p:sp>
        <p:nvSpPr>
          <p:cNvPr id="18" name="Shape 14">
            <a:extLst xmlns:a="http://schemas.openxmlformats.org/drawingml/2006/main">
              <a:ext uri="{FF2B5EF4-FFF2-40B4-BE49-F238E27FC236}">
                <a16:creationId xmlns:a16="http://schemas.microsoft.com/office/drawing/2014/main" id="{8CE26BFF-E90F-43E0-8D08-5AC6E9558516}"/>
              </a:ext>
            </a:extLst>
          </p:cNvPr>
          <p:cNvSpPr>
            <a:spLocks xmlns:a="http://schemas.openxmlformats.org/drawingml/2006/main" noGrp="1"/>
          </p:cNvSpPr>
          <p:nvPr/>
        </p:nvSpPr>
        <p:spPr>
          <a:xfrm xmlns:a="http://schemas.openxmlformats.org/drawingml/2006/main">
            <a:off x="508000" y="2946400"/>
            <a:ext cx="63500" cy="698500"/>
          </a:xfrm>
          <a:prstGeom xmlns:a="http://schemas.openxmlformats.org/drawingml/2006/main" prst="rect">
            <a:avLst/>
          </a:prstGeom>
          <a:solidFill xmlns:a="http://schemas.openxmlformats.org/drawingml/2006/main">
            <a:srgbClr val="DA1884"/>
          </a:solidFill>
        </p:spPr>
        <p:txBody>
          <a:bodyPr xmlns:a="http://schemas.openxmlformats.org/drawingml/2006/main"/>
          <a:lstStyle xmlns:a="http://schemas.openxmlformats.org/drawingml/2006/main"/>
          <a:p xmlns:a="http://schemas.openxmlformats.org/drawingml/2006/main">
            <a:endParaRPr/>
          </a:p>
        </p:txBody>
      </p:sp>
      <p:sp>
        <p:nvSpPr>
          <p:cNvPr id="19" name="Text 15">
            <a:extLst xmlns:a="http://schemas.openxmlformats.org/drawingml/2006/main">
              <a:ext uri="{FF2B5EF4-FFF2-40B4-BE49-F238E27FC236}">
                <a16:creationId xmlns:a16="http://schemas.microsoft.com/office/drawing/2014/main" id="{8AEE11B6-74B6-4039-851E-0A6BF2A0BA5E}"/>
              </a:ext>
            </a:extLst>
          </p:cNvPr>
          <p:cNvSpPr>
            <a:spLocks xmlns:a="http://schemas.openxmlformats.org/drawingml/2006/main" noGrp="1"/>
          </p:cNvSpPr>
          <p:nvPr/>
        </p:nvSpPr>
        <p:spPr>
          <a:xfrm xmlns:a="http://schemas.openxmlformats.org/drawingml/2006/main">
            <a:off x="787400" y="2946400"/>
            <a:ext cx="482600" cy="6985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800" b="1">
                <a:solidFill>
                  <a:srgbClr val="DA1884"/>
                </a:solidFill>
                <a:latin typeface="Arial"/>
                <a:ea typeface="Arial"/>
                <a:cs typeface="Arial"/>
              </a:rPr>
              <a:t>02</a:t>
            </a:r>
            <a:endParaRPr sz="1800"/>
          </a:p>
        </p:txBody>
      </p:sp>
      <p:sp>
        <p:nvSpPr>
          <p:cNvPr id="20" name="Text 16">
            <a:extLst xmlns:a="http://schemas.openxmlformats.org/drawingml/2006/main">
              <a:ext uri="{FF2B5EF4-FFF2-40B4-BE49-F238E27FC236}">
                <a16:creationId xmlns:a16="http://schemas.microsoft.com/office/drawing/2014/main" id="{349B41FB-444D-4160-A836-D60D77353BF7}"/>
              </a:ext>
            </a:extLst>
          </p:cNvPr>
          <p:cNvSpPr>
            <a:spLocks xmlns:a="http://schemas.openxmlformats.org/drawingml/2006/main" noGrp="1"/>
          </p:cNvSpPr>
          <p:nvPr/>
        </p:nvSpPr>
        <p:spPr>
          <a:xfrm xmlns:a="http://schemas.openxmlformats.org/drawingml/2006/main">
            <a:off x="1397000" y="2946400"/>
            <a:ext cx="2540000" cy="6985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300" b="1">
                <a:solidFill>
                  <a:srgbClr val="141414"/>
                </a:solidFill>
                <a:latin typeface="Arial"/>
                <a:ea typeface="Arial"/>
                <a:cs typeface="Arial"/>
              </a:rPr>
              <a:t>No hidden fallback</a:t>
            </a:r>
            <a:endParaRPr sz="1300"/>
          </a:p>
        </p:txBody>
      </p:sp>
      <p:sp>
        <p:nvSpPr>
          <p:cNvPr id="21" name="Text 17">
            <a:extLst xmlns:a="http://schemas.openxmlformats.org/drawingml/2006/main">
              <a:ext uri="{FF2B5EF4-FFF2-40B4-BE49-F238E27FC236}">
                <a16:creationId xmlns:a16="http://schemas.microsoft.com/office/drawing/2014/main" id="{13BA3276-785F-4C6A-8E39-D13044BC4DAB}"/>
              </a:ext>
            </a:extLst>
          </p:cNvPr>
          <p:cNvSpPr>
            <a:spLocks xmlns:a="http://schemas.openxmlformats.org/drawingml/2006/main" noGrp="1"/>
          </p:cNvSpPr>
          <p:nvPr/>
        </p:nvSpPr>
        <p:spPr>
          <a:xfrm xmlns:a="http://schemas.openxmlformats.org/drawingml/2006/main">
            <a:off x="4140200" y="2946400"/>
            <a:ext cx="4470400" cy="6985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200">
                <a:solidFill>
                  <a:srgbClr val="333333"/>
                </a:solidFill>
                <a:latin typeface="Arial"/>
                <a:ea typeface="Arial"/>
                <a:cs typeface="Arial"/>
              </a:rPr>
              <a:t>Invalid output or an unavailable provider shows an error. Nothing is keyword-routed and labeled as AI.</a:t>
            </a:r>
            <a:endParaRPr sz="1200"/>
          </a:p>
        </p:txBody>
      </p:sp>
      <p:sp>
        <p:nvSpPr>
          <p:cNvPr id="22" name="Text 18">
            <a:extLst xmlns:a="http://schemas.openxmlformats.org/drawingml/2006/main">
              <a:ext uri="{FF2B5EF4-FFF2-40B4-BE49-F238E27FC236}">
                <a16:creationId xmlns:a16="http://schemas.microsoft.com/office/drawing/2014/main" id="{6A6DCFA9-F60A-4208-9996-92C0E6218A00}"/>
              </a:ext>
            </a:extLst>
          </p:cNvPr>
          <p:cNvSpPr>
            <a:spLocks xmlns:a="http://schemas.openxmlformats.org/drawingml/2006/main" noGrp="1"/>
          </p:cNvSpPr>
          <p:nvPr/>
        </p:nvSpPr>
        <p:spPr>
          <a:xfrm xmlns:a="http://schemas.openxmlformats.org/drawingml/2006/main">
            <a:off x="8763000" y="2946400"/>
            <a:ext cx="2667000" cy="6985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200" i="1">
                <a:solidFill>
                  <a:srgbClr val="6B6B6B"/>
                </a:solidFill>
                <a:latin typeface="Arial"/>
                <a:ea typeface="Arial"/>
                <a:cs typeface="Arial"/>
              </a:rPr>
              <a:t>What you see is what the model did</a:t>
            </a:r>
            <a:endParaRPr sz="1200"/>
          </a:p>
        </p:txBody>
      </p:sp>
      <p:sp>
        <p:nvSpPr>
          <p:cNvPr id="23" name="Shape 19">
            <a:extLst xmlns:a="http://schemas.openxmlformats.org/drawingml/2006/main">
              <a:ext uri="{FF2B5EF4-FFF2-40B4-BE49-F238E27FC236}">
                <a16:creationId xmlns:a16="http://schemas.microsoft.com/office/drawing/2014/main" id="{6DF9F421-E78C-42D2-A52E-653C698790D7}"/>
              </a:ext>
            </a:extLst>
          </p:cNvPr>
          <p:cNvSpPr>
            <a:spLocks xmlns:a="http://schemas.openxmlformats.org/drawingml/2006/main" noGrp="1"/>
          </p:cNvSpPr>
          <p:nvPr/>
        </p:nvSpPr>
        <p:spPr>
          <a:xfrm xmlns:a="http://schemas.openxmlformats.org/drawingml/2006/main">
            <a:off x="508000" y="3733800"/>
            <a:ext cx="11176000" cy="698500"/>
          </a:xfrm>
          <a:prstGeom xmlns:a="http://schemas.openxmlformats.org/drawingml/2006/main" prst="rect">
            <a:avLst/>
          </a:prstGeom>
          <a:solidFill xmlns:a="http://schemas.openxmlformats.org/drawingml/2006/main">
            <a:srgbClr val="F4F4F4"/>
          </a:solidFill>
          <a:effectLst xmlns:a="http://schemas.openxmlformats.org/drawingml/2006/main">
            <a:outerShdw blurRad="50800" dist="25400" dir="5400000" algn="bl" rotWithShape="0">
              <a:srgbClr val="000000">
                <a:alpha val="18000"/>
              </a:srgbClr>
            </a:outerShdw>
          </a:effectLst>
        </p:spPr>
        <p:txBody>
          <a:bodyPr xmlns:a="http://schemas.openxmlformats.org/drawingml/2006/main"/>
          <a:lstStyle xmlns:a="http://schemas.openxmlformats.org/drawingml/2006/main"/>
          <a:p xmlns:a="http://schemas.openxmlformats.org/drawingml/2006/main">
            <a:endParaRPr/>
          </a:p>
        </p:txBody>
      </p:sp>
      <p:sp>
        <p:nvSpPr>
          <p:cNvPr id="24" name="Shape 20">
            <a:extLst xmlns:a="http://schemas.openxmlformats.org/drawingml/2006/main">
              <a:ext uri="{FF2B5EF4-FFF2-40B4-BE49-F238E27FC236}">
                <a16:creationId xmlns:a16="http://schemas.microsoft.com/office/drawing/2014/main" id="{1BD8156E-C59E-4F52-99FC-A103D59D34CB}"/>
              </a:ext>
            </a:extLst>
          </p:cNvPr>
          <p:cNvSpPr>
            <a:spLocks xmlns:a="http://schemas.openxmlformats.org/drawingml/2006/main" noGrp="1"/>
          </p:cNvSpPr>
          <p:nvPr/>
        </p:nvSpPr>
        <p:spPr>
          <a:xfrm xmlns:a="http://schemas.openxmlformats.org/drawingml/2006/main">
            <a:off x="508000" y="3733800"/>
            <a:ext cx="63500" cy="698500"/>
          </a:xfrm>
          <a:prstGeom xmlns:a="http://schemas.openxmlformats.org/drawingml/2006/main" prst="rect">
            <a:avLst/>
          </a:prstGeom>
          <a:solidFill xmlns:a="http://schemas.openxmlformats.org/drawingml/2006/main">
            <a:srgbClr val="DA1884"/>
          </a:solidFill>
        </p:spPr>
        <p:txBody>
          <a:bodyPr xmlns:a="http://schemas.openxmlformats.org/drawingml/2006/main"/>
          <a:lstStyle xmlns:a="http://schemas.openxmlformats.org/drawingml/2006/main"/>
          <a:p xmlns:a="http://schemas.openxmlformats.org/drawingml/2006/main">
            <a:endParaRPr/>
          </a:p>
        </p:txBody>
      </p:sp>
      <p:sp>
        <p:nvSpPr>
          <p:cNvPr id="25" name="Text 21">
            <a:extLst xmlns:a="http://schemas.openxmlformats.org/drawingml/2006/main">
              <a:ext uri="{FF2B5EF4-FFF2-40B4-BE49-F238E27FC236}">
                <a16:creationId xmlns:a16="http://schemas.microsoft.com/office/drawing/2014/main" id="{3915DD33-31C4-4106-B4D0-3B5D3C5A83A6}"/>
              </a:ext>
            </a:extLst>
          </p:cNvPr>
          <p:cNvSpPr>
            <a:spLocks xmlns:a="http://schemas.openxmlformats.org/drawingml/2006/main" noGrp="1"/>
          </p:cNvSpPr>
          <p:nvPr/>
        </p:nvSpPr>
        <p:spPr>
          <a:xfrm xmlns:a="http://schemas.openxmlformats.org/drawingml/2006/main">
            <a:off x="787400" y="3733800"/>
            <a:ext cx="482600" cy="6985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800" b="1">
                <a:solidFill>
                  <a:srgbClr val="DA1884"/>
                </a:solidFill>
                <a:latin typeface="Arial"/>
                <a:ea typeface="Arial"/>
                <a:cs typeface="Arial"/>
              </a:rPr>
              <a:t>03</a:t>
            </a:r>
            <a:endParaRPr sz="1800"/>
          </a:p>
        </p:txBody>
      </p:sp>
      <p:sp>
        <p:nvSpPr>
          <p:cNvPr id="26" name="Text 22">
            <a:extLst xmlns:a="http://schemas.openxmlformats.org/drawingml/2006/main">
              <a:ext uri="{FF2B5EF4-FFF2-40B4-BE49-F238E27FC236}">
                <a16:creationId xmlns:a16="http://schemas.microsoft.com/office/drawing/2014/main" id="{4F3AD437-A381-4660-A69D-3CEFE4FC5536}"/>
              </a:ext>
            </a:extLst>
          </p:cNvPr>
          <p:cNvSpPr>
            <a:spLocks xmlns:a="http://schemas.openxmlformats.org/drawingml/2006/main" noGrp="1"/>
          </p:cNvSpPr>
          <p:nvPr/>
        </p:nvSpPr>
        <p:spPr>
          <a:xfrm xmlns:a="http://schemas.openxmlformats.org/drawingml/2006/main">
            <a:off x="1397000" y="3733800"/>
            <a:ext cx="2540000" cy="6985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300" b="1">
                <a:solidFill>
                  <a:srgbClr val="141414"/>
                </a:solidFill>
                <a:latin typeface="Arial"/>
                <a:ea typeface="Arial"/>
                <a:cs typeface="Arial"/>
              </a:rPr>
              <a:t>Labeled overrides</a:t>
            </a:r>
            <a:endParaRPr sz="1300"/>
          </a:p>
        </p:txBody>
      </p:sp>
      <p:sp>
        <p:nvSpPr>
          <p:cNvPr id="27" name="Text 23">
            <a:extLst xmlns:a="http://schemas.openxmlformats.org/drawingml/2006/main">
              <a:ext uri="{FF2B5EF4-FFF2-40B4-BE49-F238E27FC236}">
                <a16:creationId xmlns:a16="http://schemas.microsoft.com/office/drawing/2014/main" id="{F8ED7268-2EEE-476A-87EB-0B4C86BEED36}"/>
              </a:ext>
            </a:extLst>
          </p:cNvPr>
          <p:cNvSpPr>
            <a:spLocks xmlns:a="http://schemas.openxmlformats.org/drawingml/2006/main" noGrp="1"/>
          </p:cNvSpPr>
          <p:nvPr/>
        </p:nvSpPr>
        <p:spPr>
          <a:xfrm xmlns:a="http://schemas.openxmlformats.org/drawingml/2006/main">
            <a:off x="4140200" y="3733800"/>
            <a:ext cx="4470400" cy="6985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200">
                <a:solidFill>
                  <a:srgbClr val="333333"/>
                </a:solidFill>
                <a:latin typeface="Arial"/>
                <a:ea typeface="Arial"/>
                <a:cs typeface="Arial"/>
              </a:rPr>
              <a:t>Presenter overrides apply to one question, then the router resets to Auto.</a:t>
            </a:r>
            <a:endParaRPr sz="1200"/>
          </a:p>
        </p:txBody>
      </p:sp>
      <p:sp>
        <p:nvSpPr>
          <p:cNvPr id="28" name="Text 24">
            <a:extLst xmlns:a="http://schemas.openxmlformats.org/drawingml/2006/main">
              <a:ext uri="{FF2B5EF4-FFF2-40B4-BE49-F238E27FC236}">
                <a16:creationId xmlns:a16="http://schemas.microsoft.com/office/drawing/2014/main" id="{0D4594D9-E66D-4007-A8DF-B5E076C5A844}"/>
              </a:ext>
            </a:extLst>
          </p:cNvPr>
          <p:cNvSpPr>
            <a:spLocks xmlns:a="http://schemas.openxmlformats.org/drawingml/2006/main" noGrp="1"/>
          </p:cNvSpPr>
          <p:nvPr/>
        </p:nvSpPr>
        <p:spPr>
          <a:xfrm xmlns:a="http://schemas.openxmlformats.org/drawingml/2006/main">
            <a:off x="8763000" y="3733800"/>
            <a:ext cx="2667000" cy="6985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200" i="1">
                <a:solidFill>
                  <a:srgbClr val="6B6B6B"/>
                </a:solidFill>
                <a:latin typeface="Arial"/>
                <a:ea typeface="Arial"/>
                <a:cs typeface="Arial"/>
              </a:rPr>
              <a:t>Demos never stall on a cold model</a:t>
            </a:r>
            <a:endParaRPr sz="1200"/>
          </a:p>
        </p:txBody>
      </p:sp>
      <p:sp>
        <p:nvSpPr>
          <p:cNvPr id="29" name="Shape 25">
            <a:extLst xmlns:a="http://schemas.openxmlformats.org/drawingml/2006/main">
              <a:ext uri="{FF2B5EF4-FFF2-40B4-BE49-F238E27FC236}">
                <a16:creationId xmlns:a16="http://schemas.microsoft.com/office/drawing/2014/main" id="{FF066EEB-DEE4-48C9-A9FA-D4D53D06BE49}"/>
              </a:ext>
            </a:extLst>
          </p:cNvPr>
          <p:cNvSpPr>
            <a:spLocks xmlns:a="http://schemas.openxmlformats.org/drawingml/2006/main" noGrp="1"/>
          </p:cNvSpPr>
          <p:nvPr/>
        </p:nvSpPr>
        <p:spPr>
          <a:xfrm xmlns:a="http://schemas.openxmlformats.org/drawingml/2006/main">
            <a:off x="508000" y="4521200"/>
            <a:ext cx="11176000" cy="698500"/>
          </a:xfrm>
          <a:prstGeom xmlns:a="http://schemas.openxmlformats.org/drawingml/2006/main" prst="rect">
            <a:avLst/>
          </a:prstGeom>
          <a:solidFill xmlns:a="http://schemas.openxmlformats.org/drawingml/2006/main">
            <a:srgbClr val="FFFFFF"/>
          </a:solidFill>
          <a:effectLst xmlns:a="http://schemas.openxmlformats.org/drawingml/2006/main">
            <a:outerShdw blurRad="50800" dist="25400" dir="5400000" algn="bl" rotWithShape="0">
              <a:srgbClr val="000000">
                <a:alpha val="18000"/>
              </a:srgbClr>
            </a:outerShdw>
          </a:effectLst>
        </p:spPr>
        <p:txBody>
          <a:bodyPr xmlns:a="http://schemas.openxmlformats.org/drawingml/2006/main"/>
          <a:lstStyle xmlns:a="http://schemas.openxmlformats.org/drawingml/2006/main"/>
          <a:p xmlns:a="http://schemas.openxmlformats.org/drawingml/2006/main">
            <a:endParaRPr/>
          </a:p>
        </p:txBody>
      </p:sp>
      <p:sp>
        <p:nvSpPr>
          <p:cNvPr id="30" name="Shape 26">
            <a:extLst xmlns:a="http://schemas.openxmlformats.org/drawingml/2006/main">
              <a:ext uri="{FF2B5EF4-FFF2-40B4-BE49-F238E27FC236}">
                <a16:creationId xmlns:a16="http://schemas.microsoft.com/office/drawing/2014/main" id="{C4A90BB3-463E-410E-A877-B25F3C91EBAB}"/>
              </a:ext>
            </a:extLst>
          </p:cNvPr>
          <p:cNvSpPr>
            <a:spLocks xmlns:a="http://schemas.openxmlformats.org/drawingml/2006/main" noGrp="1"/>
          </p:cNvSpPr>
          <p:nvPr/>
        </p:nvSpPr>
        <p:spPr>
          <a:xfrm xmlns:a="http://schemas.openxmlformats.org/drawingml/2006/main">
            <a:off x="508000" y="4521200"/>
            <a:ext cx="63500" cy="698500"/>
          </a:xfrm>
          <a:prstGeom xmlns:a="http://schemas.openxmlformats.org/drawingml/2006/main" prst="rect">
            <a:avLst/>
          </a:prstGeom>
          <a:solidFill xmlns:a="http://schemas.openxmlformats.org/drawingml/2006/main">
            <a:srgbClr val="DA1884"/>
          </a:solidFill>
        </p:spPr>
        <p:txBody>
          <a:bodyPr xmlns:a="http://schemas.openxmlformats.org/drawingml/2006/main"/>
          <a:lstStyle xmlns:a="http://schemas.openxmlformats.org/drawingml/2006/main"/>
          <a:p xmlns:a="http://schemas.openxmlformats.org/drawingml/2006/main">
            <a:endParaRPr/>
          </a:p>
        </p:txBody>
      </p:sp>
      <p:sp>
        <p:nvSpPr>
          <p:cNvPr id="31" name="Text 27">
            <a:extLst xmlns:a="http://schemas.openxmlformats.org/drawingml/2006/main">
              <a:ext uri="{FF2B5EF4-FFF2-40B4-BE49-F238E27FC236}">
                <a16:creationId xmlns:a16="http://schemas.microsoft.com/office/drawing/2014/main" id="{B16C81A8-9506-4FE9-88B8-BF99BFED61D7}"/>
              </a:ext>
            </a:extLst>
          </p:cNvPr>
          <p:cNvSpPr>
            <a:spLocks xmlns:a="http://schemas.openxmlformats.org/drawingml/2006/main" noGrp="1"/>
          </p:cNvSpPr>
          <p:nvPr/>
        </p:nvSpPr>
        <p:spPr>
          <a:xfrm xmlns:a="http://schemas.openxmlformats.org/drawingml/2006/main">
            <a:off x="787400" y="4521200"/>
            <a:ext cx="482600" cy="6985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800" b="1">
                <a:solidFill>
                  <a:srgbClr val="DA1884"/>
                </a:solidFill>
                <a:latin typeface="Arial"/>
                <a:ea typeface="Arial"/>
                <a:cs typeface="Arial"/>
              </a:rPr>
              <a:t>04</a:t>
            </a:r>
            <a:endParaRPr sz="1800"/>
          </a:p>
        </p:txBody>
      </p:sp>
      <p:sp>
        <p:nvSpPr>
          <p:cNvPr id="32" name="Text 28">
            <a:extLst xmlns:a="http://schemas.openxmlformats.org/drawingml/2006/main">
              <a:ext uri="{FF2B5EF4-FFF2-40B4-BE49-F238E27FC236}">
                <a16:creationId xmlns:a16="http://schemas.microsoft.com/office/drawing/2014/main" id="{A9FBF281-C395-4744-8185-1DBA702AEE3A}"/>
              </a:ext>
            </a:extLst>
          </p:cNvPr>
          <p:cNvSpPr>
            <a:spLocks xmlns:a="http://schemas.openxmlformats.org/drawingml/2006/main" noGrp="1"/>
          </p:cNvSpPr>
          <p:nvPr/>
        </p:nvSpPr>
        <p:spPr>
          <a:xfrm xmlns:a="http://schemas.openxmlformats.org/drawingml/2006/main">
            <a:off x="1397000" y="4521200"/>
            <a:ext cx="2540000" cy="6985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300" b="1">
                <a:solidFill>
                  <a:srgbClr val="141414"/>
                </a:solidFill>
                <a:latin typeface="Arial"/>
                <a:ea typeface="Arial"/>
                <a:cs typeface="Arial"/>
              </a:rPr>
              <a:t>Grounded answers</a:t>
            </a:r>
            <a:endParaRPr sz="1300"/>
          </a:p>
        </p:txBody>
      </p:sp>
      <p:sp>
        <p:nvSpPr>
          <p:cNvPr id="33" name="Text 29">
            <a:extLst xmlns:a="http://schemas.openxmlformats.org/drawingml/2006/main">
              <a:ext uri="{FF2B5EF4-FFF2-40B4-BE49-F238E27FC236}">
                <a16:creationId xmlns:a16="http://schemas.microsoft.com/office/drawing/2014/main" id="{A8A9DFDE-5BCA-4198-B450-6B663E752DF4}"/>
              </a:ext>
            </a:extLst>
          </p:cNvPr>
          <p:cNvSpPr>
            <a:spLocks xmlns:a="http://schemas.openxmlformats.org/drawingml/2006/main" noGrp="1"/>
          </p:cNvSpPr>
          <p:nvPr/>
        </p:nvSpPr>
        <p:spPr>
          <a:xfrm xmlns:a="http://schemas.openxmlformats.org/drawingml/2006/main">
            <a:off x="4140200" y="4521200"/>
            <a:ext cx="4470400" cy="6985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200">
                <a:solidFill>
                  <a:srgbClr val="333333"/>
                </a:solidFill>
                <a:latin typeface="Arial"/>
                <a:ea typeface="Arial"/>
                <a:cs typeface="Arial"/>
              </a:rPr>
              <a:t>Every answer is composed from the actual transport response.</a:t>
            </a:r>
            <a:endParaRPr sz="1200"/>
          </a:p>
        </p:txBody>
      </p:sp>
      <p:sp>
        <p:nvSpPr>
          <p:cNvPr id="34" name="Text 30">
            <a:extLst xmlns:a="http://schemas.openxmlformats.org/drawingml/2006/main">
              <a:ext uri="{FF2B5EF4-FFF2-40B4-BE49-F238E27FC236}">
                <a16:creationId xmlns:a16="http://schemas.microsoft.com/office/drawing/2014/main" id="{0B4A4DCB-5388-4CFE-9995-8B3F2079C4CC}"/>
              </a:ext>
            </a:extLst>
          </p:cNvPr>
          <p:cNvSpPr>
            <a:spLocks xmlns:a="http://schemas.openxmlformats.org/drawingml/2006/main" noGrp="1"/>
          </p:cNvSpPr>
          <p:nvPr/>
        </p:nvSpPr>
        <p:spPr>
          <a:xfrm xmlns:a="http://schemas.openxmlformats.org/drawingml/2006/main">
            <a:off x="8763000" y="4521200"/>
            <a:ext cx="2667000" cy="6985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200" i="1">
                <a:solidFill>
                  <a:srgbClr val="6B6B6B"/>
                </a:solidFill>
                <a:latin typeface="Arial"/>
                <a:ea typeface="Arial"/>
                <a:cs typeface="Arial"/>
              </a:rPr>
              <a:t>No invented facts</a:t>
            </a:r>
            <a:endParaRPr sz="1200"/>
          </a:p>
        </p:txBody>
      </p:sp>
      <p:sp>
        <p:nvSpPr>
          <p:cNvPr id="35" name="Shape 31">
            <a:extLst xmlns:a="http://schemas.openxmlformats.org/drawingml/2006/main">
              <a:ext uri="{FF2B5EF4-FFF2-40B4-BE49-F238E27FC236}">
                <a16:creationId xmlns:a16="http://schemas.microsoft.com/office/drawing/2014/main" id="{18E08CDC-1124-43E1-89EB-ADE6A5CB315C}"/>
              </a:ext>
            </a:extLst>
          </p:cNvPr>
          <p:cNvSpPr>
            <a:spLocks xmlns:a="http://schemas.openxmlformats.org/drawingml/2006/main" noGrp="1"/>
          </p:cNvSpPr>
          <p:nvPr/>
        </p:nvSpPr>
        <p:spPr>
          <a:xfrm xmlns:a="http://schemas.openxmlformats.org/drawingml/2006/main">
            <a:off x="508000" y="5308600"/>
            <a:ext cx="11176000" cy="698500"/>
          </a:xfrm>
          <a:prstGeom xmlns:a="http://schemas.openxmlformats.org/drawingml/2006/main" prst="rect">
            <a:avLst/>
          </a:prstGeom>
          <a:solidFill xmlns:a="http://schemas.openxmlformats.org/drawingml/2006/main">
            <a:srgbClr val="F4F4F4"/>
          </a:solidFill>
          <a:effectLst xmlns:a="http://schemas.openxmlformats.org/drawingml/2006/main">
            <a:outerShdw blurRad="50800" dist="25400" dir="5400000" algn="bl" rotWithShape="0">
              <a:srgbClr val="000000">
                <a:alpha val="18000"/>
              </a:srgbClr>
            </a:outerShdw>
          </a:effectLst>
        </p:spPr>
        <p:txBody>
          <a:bodyPr xmlns:a="http://schemas.openxmlformats.org/drawingml/2006/main"/>
          <a:lstStyle xmlns:a="http://schemas.openxmlformats.org/drawingml/2006/main"/>
          <a:p xmlns:a="http://schemas.openxmlformats.org/drawingml/2006/main">
            <a:endParaRPr/>
          </a:p>
        </p:txBody>
      </p:sp>
      <p:sp>
        <p:nvSpPr>
          <p:cNvPr id="36" name="Shape 32">
            <a:extLst xmlns:a="http://schemas.openxmlformats.org/drawingml/2006/main">
              <a:ext uri="{FF2B5EF4-FFF2-40B4-BE49-F238E27FC236}">
                <a16:creationId xmlns:a16="http://schemas.microsoft.com/office/drawing/2014/main" id="{53DF0165-B3E0-4271-9A8E-48163BA1423B}"/>
              </a:ext>
            </a:extLst>
          </p:cNvPr>
          <p:cNvSpPr>
            <a:spLocks xmlns:a="http://schemas.openxmlformats.org/drawingml/2006/main" noGrp="1"/>
          </p:cNvSpPr>
          <p:nvPr/>
        </p:nvSpPr>
        <p:spPr>
          <a:xfrm xmlns:a="http://schemas.openxmlformats.org/drawingml/2006/main">
            <a:off x="508000" y="5308600"/>
            <a:ext cx="63500" cy="698500"/>
          </a:xfrm>
          <a:prstGeom xmlns:a="http://schemas.openxmlformats.org/drawingml/2006/main" prst="rect">
            <a:avLst/>
          </a:prstGeom>
          <a:solidFill xmlns:a="http://schemas.openxmlformats.org/drawingml/2006/main">
            <a:srgbClr val="DA1884"/>
          </a:solidFill>
        </p:spPr>
        <p:txBody>
          <a:bodyPr xmlns:a="http://schemas.openxmlformats.org/drawingml/2006/main"/>
          <a:lstStyle xmlns:a="http://schemas.openxmlformats.org/drawingml/2006/main"/>
          <a:p xmlns:a="http://schemas.openxmlformats.org/drawingml/2006/main">
            <a:endParaRPr/>
          </a:p>
        </p:txBody>
      </p:sp>
      <p:sp>
        <p:nvSpPr>
          <p:cNvPr id="37" name="Text 33">
            <a:extLst xmlns:a="http://schemas.openxmlformats.org/drawingml/2006/main">
              <a:ext uri="{FF2B5EF4-FFF2-40B4-BE49-F238E27FC236}">
                <a16:creationId xmlns:a16="http://schemas.microsoft.com/office/drawing/2014/main" id="{0B9378D1-E3D0-4A14-824D-7ADA9E0A663A}"/>
              </a:ext>
            </a:extLst>
          </p:cNvPr>
          <p:cNvSpPr>
            <a:spLocks xmlns:a="http://schemas.openxmlformats.org/drawingml/2006/main" noGrp="1"/>
          </p:cNvSpPr>
          <p:nvPr/>
        </p:nvSpPr>
        <p:spPr>
          <a:xfrm xmlns:a="http://schemas.openxmlformats.org/drawingml/2006/main">
            <a:off x="787400" y="5308600"/>
            <a:ext cx="482600" cy="6985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800" b="1">
                <a:solidFill>
                  <a:srgbClr val="DA1884"/>
                </a:solidFill>
                <a:latin typeface="Arial"/>
                <a:ea typeface="Arial"/>
                <a:cs typeface="Arial"/>
              </a:rPr>
              <a:t>05</a:t>
            </a:r>
            <a:endParaRPr sz="1800"/>
          </a:p>
        </p:txBody>
      </p:sp>
      <p:sp>
        <p:nvSpPr>
          <p:cNvPr id="38" name="Text 34">
            <a:extLst xmlns:a="http://schemas.openxmlformats.org/drawingml/2006/main">
              <a:ext uri="{FF2B5EF4-FFF2-40B4-BE49-F238E27FC236}">
                <a16:creationId xmlns:a16="http://schemas.microsoft.com/office/drawing/2014/main" id="{421F3DBF-073A-4768-BD05-7A5F23D88093}"/>
              </a:ext>
            </a:extLst>
          </p:cNvPr>
          <p:cNvSpPr>
            <a:spLocks xmlns:a="http://schemas.openxmlformats.org/drawingml/2006/main" noGrp="1"/>
          </p:cNvSpPr>
          <p:nvPr/>
        </p:nvSpPr>
        <p:spPr>
          <a:xfrm xmlns:a="http://schemas.openxmlformats.org/drawingml/2006/main">
            <a:off x="1397000" y="5308600"/>
            <a:ext cx="2540000" cy="6985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300" b="1">
                <a:solidFill>
                  <a:srgbClr val="141414"/>
                </a:solidFill>
                <a:latin typeface="Arial"/>
                <a:ea typeface="Arial"/>
                <a:cs typeface="Arial"/>
              </a:rPr>
              <a:t>Secrets stay server-side</a:t>
            </a:r>
            <a:endParaRPr sz="1300"/>
          </a:p>
        </p:txBody>
      </p:sp>
      <p:sp>
        <p:nvSpPr>
          <p:cNvPr id="39" name="Text 35">
            <a:extLst xmlns:a="http://schemas.openxmlformats.org/drawingml/2006/main">
              <a:ext uri="{FF2B5EF4-FFF2-40B4-BE49-F238E27FC236}">
                <a16:creationId xmlns:a16="http://schemas.microsoft.com/office/drawing/2014/main" id="{77BC26EE-AD30-4001-A2F6-BC8F72B606AA}"/>
              </a:ext>
            </a:extLst>
          </p:cNvPr>
          <p:cNvSpPr>
            <a:spLocks xmlns:a="http://schemas.openxmlformats.org/drawingml/2006/main" noGrp="1"/>
          </p:cNvSpPr>
          <p:nvPr/>
        </p:nvSpPr>
        <p:spPr>
          <a:xfrm xmlns:a="http://schemas.openxmlformats.org/drawingml/2006/main">
            <a:off x="4140200" y="5308600"/>
            <a:ext cx="4470400" cy="6985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200">
                <a:solidFill>
                  <a:srgbClr val="333333"/>
                </a:solidFill>
                <a:latin typeface="Arial"/>
                <a:ea typeface="Arial"/>
                <a:cs typeface="Arial"/>
              </a:rPr>
              <a:t>Keys and auth headers never reach the browser. Ports bind to loopback.</a:t>
            </a:r>
            <a:endParaRPr sz="1200"/>
          </a:p>
        </p:txBody>
      </p:sp>
      <p:sp>
        <p:nvSpPr>
          <p:cNvPr id="40" name="Text 36">
            <a:extLst xmlns:a="http://schemas.openxmlformats.org/drawingml/2006/main">
              <a:ext uri="{FF2B5EF4-FFF2-40B4-BE49-F238E27FC236}">
                <a16:creationId xmlns:a16="http://schemas.microsoft.com/office/drawing/2014/main" id="{BE36CE0D-88F0-49B6-A137-BDCC999D5E07}"/>
              </a:ext>
            </a:extLst>
          </p:cNvPr>
          <p:cNvSpPr>
            <a:spLocks xmlns:a="http://schemas.openxmlformats.org/drawingml/2006/main" noGrp="1"/>
          </p:cNvSpPr>
          <p:nvPr/>
        </p:nvSpPr>
        <p:spPr>
          <a:xfrm xmlns:a="http://schemas.openxmlformats.org/drawingml/2006/main">
            <a:off x="8763000" y="5308600"/>
            <a:ext cx="2667000" cy="6985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200" i="1">
                <a:solidFill>
                  <a:srgbClr val="6B6B6B"/>
                </a:solidFill>
                <a:latin typeface="Arial"/>
                <a:ea typeface="Arial"/>
                <a:cs typeface="Arial"/>
              </a:rPr>
              <a:t>Safe local-first defaults</a:t>
            </a:r>
            <a:endParaRPr sz="1200"/>
          </a:p>
        </p:txBody>
      </p:sp>
    </p:spTree>
    <p:extLst>
      <p:ext uri="{BB962C8B-B14F-4D97-AF65-F5344CB8AC3E}">
        <p14:creationId xmlns:p14="http://schemas.microsoft.com/office/powerpoint/2010/main" val="1325290549"/>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27CD1ABD-36FF-4DEF-96A8-14111852EA46}"/>
              </a:ext>
            </a:extLst>
          </p:cNvPr>
          <p:cNvPicPr>
            <a:picLocks xmlns:a="http://schemas.openxmlformats.org/drawingml/2006/main" noChangeAspect="1"/>
          </p:cNvPicPr>
          <p:nvPr/>
        </p:nvPicPr>
        <p:blipFill>
          <a:blip xmlns:r="http://schemas.openxmlformats.org/officeDocument/2006/relationships" xmlns:a="http://schemas.openxmlformats.org/drawingml/2006/main" r:embed="R01780dbd6451453e"/>
          <a:stretch xmlns:a="http://schemas.openxmlformats.org/drawingml/2006/main">
            <a:fillRect l="0" t="0" r="0" b="0"/>
          </a:stretch>
        </p:blipFill>
        <p:spPr>
          <a:xfrm xmlns:a="http://schemas.openxmlformats.org/drawingml/2006/main">
            <a:off x="508000" y="152400"/>
            <a:ext cx="990600" cy="40640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DD4A6E2C-7300-49FD-8680-657A401E7565}"/>
              </a:ext>
            </a:extLst>
          </p:cNvPr>
          <p:cNvSpPr>
            <a:spLocks xmlns:a="http://schemas.openxmlformats.org/drawingml/2006/main" noGrp="1"/>
          </p:cNvSpPr>
          <p:nvPr/>
        </p:nvSpPr>
        <p:spPr>
          <a:xfrm xmlns:a="http://schemas.openxmlformats.org/drawingml/2006/main">
            <a:off x="3556000" y="406400"/>
            <a:ext cx="5080000" cy="190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ct val="110000"/>
              </a:lnSpc>
              <a:buNone/>
            </a:pPr>
            <a:r>
              <a:rPr sz="1000">
                <a:solidFill>
                  <a:srgbClr val="6B6B6B"/>
                </a:solidFill>
                <a:latin typeface="Arial"/>
                <a:ea typeface="Arial"/>
                <a:cs typeface="Arial"/>
              </a:rPr>
              <a:t>Protocol Studio  —  REST · GraphQL · gRPC</a:t>
            </a:r>
            <a:endParaRPr sz="1000"/>
          </a:p>
        </p:txBody>
      </p:sp>
      <p:sp>
        <p:nvSpPr>
          <p:cNvPr id="4" name="Text 1">
            <a:extLst xmlns:a="http://schemas.openxmlformats.org/drawingml/2006/main">
              <a:ext uri="{FF2B5EF4-FFF2-40B4-BE49-F238E27FC236}">
                <a16:creationId xmlns:a16="http://schemas.microsoft.com/office/drawing/2014/main" id="{93172DAB-1383-4A71-B5AE-6F56CB4EF813}"/>
              </a:ext>
            </a:extLst>
          </p:cNvPr>
          <p:cNvSpPr>
            <a:spLocks xmlns:a="http://schemas.openxmlformats.org/drawingml/2006/main" noGrp="1"/>
          </p:cNvSpPr>
          <p:nvPr/>
        </p:nvSpPr>
        <p:spPr>
          <a:xfrm xmlns:a="http://schemas.openxmlformats.org/drawingml/2006/main">
            <a:off x="6350000" y="406400"/>
            <a:ext cx="5334000" cy="190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ct val="110000"/>
              </a:lnSpc>
              <a:buNone/>
            </a:pPr>
            <a:r>
              <a:rPr sz="1000" b="1">
                <a:solidFill>
                  <a:srgbClr val="DA1884"/>
                </a:solidFill>
                <a:latin typeface="Arial"/>
                <a:ea typeface="Arial"/>
                <a:cs typeface="Arial"/>
              </a:rPr>
              <a:t>APPENDIX · AI ROUTING</a:t>
            </a:r>
            <a:endParaRPr sz="1000"/>
          </a:p>
        </p:txBody>
      </p:sp>
      <p:sp>
        <p:nvSpPr>
          <p:cNvPr id="5" name="Text 2">
            <a:extLst xmlns:a="http://schemas.openxmlformats.org/drawingml/2006/main">
              <a:ext uri="{FF2B5EF4-FFF2-40B4-BE49-F238E27FC236}">
                <a16:creationId xmlns:a16="http://schemas.microsoft.com/office/drawing/2014/main" id="{96E90D5E-8A71-4D24-9711-BCC178F70AC8}"/>
              </a:ext>
            </a:extLst>
          </p:cNvPr>
          <p:cNvSpPr>
            <a:spLocks xmlns:a="http://schemas.openxmlformats.org/drawingml/2006/main" noGrp="1"/>
          </p:cNvSpPr>
          <p:nvPr/>
        </p:nvSpPr>
        <p:spPr>
          <a:xfrm xmlns:a="http://schemas.openxmlformats.org/drawingml/2006/main">
            <a:off x="508000" y="6578600"/>
            <a:ext cx="8890000" cy="177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900">
                <a:solidFill>
                  <a:srgbClr val="9E9E9E"/>
                </a:solidFill>
                <a:latin typeface="Arial"/>
                <a:ea typeface="Arial"/>
                <a:cs typeface="Arial"/>
              </a:rPr>
              <a:t>Insight Proprietary &amp; Confidential.  Do Not Copy or Distribute.  © 2026 Insight.  All Rights Reserved.</a:t>
            </a:r>
            <a:endParaRPr sz="900"/>
          </a:p>
        </p:txBody>
      </p:sp>
      <p:sp>
        <p:nvSpPr>
          <p:cNvPr id="6" name="Text 3">
            <a:extLst xmlns:a="http://schemas.openxmlformats.org/drawingml/2006/main">
              <a:ext uri="{FF2B5EF4-FFF2-40B4-BE49-F238E27FC236}">
                <a16:creationId xmlns:a16="http://schemas.microsoft.com/office/drawing/2014/main" id="{51AD27EB-B3C3-4DFE-81C0-4125B1219818}"/>
              </a:ext>
            </a:extLst>
          </p:cNvPr>
          <p:cNvSpPr>
            <a:spLocks xmlns:a="http://schemas.openxmlformats.org/drawingml/2006/main" noGrp="1"/>
          </p:cNvSpPr>
          <p:nvPr/>
        </p:nvSpPr>
        <p:spPr>
          <a:xfrm xmlns:a="http://schemas.openxmlformats.org/drawingml/2006/main">
            <a:off x="10922000" y="6578600"/>
            <a:ext cx="762000" cy="177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ct val="110000"/>
              </a:lnSpc>
              <a:buNone/>
            </a:pPr>
            <a:r>
              <a:rPr sz="900">
                <a:solidFill>
                  <a:srgbClr val="9E9E9E"/>
                </a:solidFill>
                <a:latin typeface="Arial"/>
                <a:ea typeface="Arial"/>
                <a:cs typeface="Arial"/>
              </a:rPr>
              <a:t>27</a:t>
            </a:r>
            <a:endParaRPr sz="900"/>
          </a:p>
        </p:txBody>
      </p:sp>
      <p:sp>
        <p:nvSpPr>
          <p:cNvPr id="7" name="Text 4">
            <a:extLst xmlns:a="http://schemas.openxmlformats.org/drawingml/2006/main">
              <a:ext uri="{FF2B5EF4-FFF2-40B4-BE49-F238E27FC236}">
                <a16:creationId xmlns:a16="http://schemas.microsoft.com/office/drawing/2014/main" id="{54130017-F214-41C7-B444-DDE8C7F96802}"/>
              </a:ext>
            </a:extLst>
          </p:cNvPr>
          <p:cNvSpPr>
            <a:spLocks xmlns:a="http://schemas.openxmlformats.org/drawingml/2006/main" noGrp="1"/>
          </p:cNvSpPr>
          <p:nvPr/>
        </p:nvSpPr>
        <p:spPr>
          <a:xfrm xmlns:a="http://schemas.openxmlformats.org/drawingml/2006/main">
            <a:off x="508000" y="889000"/>
            <a:ext cx="11176000" cy="2159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1200" b="1">
                <a:solidFill>
                  <a:srgbClr val="DA1884"/>
                </a:solidFill>
                <a:latin typeface="Arial"/>
                <a:ea typeface="Arial"/>
                <a:cs typeface="Arial"/>
              </a:rPr>
              <a:t>MEASURED, NOT PROMISED</a:t>
            </a:r>
            <a:endParaRPr sz="1200"/>
          </a:p>
        </p:txBody>
      </p:sp>
      <p:sp>
        <p:nvSpPr>
          <p:cNvPr id="8" name="Text 5">
            <a:extLst xmlns:a="http://schemas.openxmlformats.org/drawingml/2006/main">
              <a:ext uri="{FF2B5EF4-FFF2-40B4-BE49-F238E27FC236}">
                <a16:creationId xmlns:a16="http://schemas.microsoft.com/office/drawing/2014/main" id="{E7891520-3841-41ED-9085-CE34A723788C}"/>
              </a:ext>
            </a:extLst>
          </p:cNvPr>
          <p:cNvSpPr>
            <a:spLocks xmlns:a="http://schemas.openxmlformats.org/drawingml/2006/main" noGrp="1"/>
          </p:cNvSpPr>
          <p:nvPr/>
        </p:nvSpPr>
        <p:spPr>
          <a:xfrm xmlns:a="http://schemas.openxmlformats.org/drawingml/2006/main">
            <a:off x="508000" y="1130300"/>
            <a:ext cx="11176000" cy="482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3000" b="1">
                <a:solidFill>
                  <a:srgbClr val="141414"/>
                </a:solidFill>
                <a:latin typeface="Arial"/>
                <a:ea typeface="Arial"/>
                <a:cs typeface="Arial"/>
              </a:rPr>
              <a:t>What the Router Costs</a:t>
            </a:r>
            <a:endParaRPr sz="3000"/>
          </a:p>
        </p:txBody>
      </p:sp>
      <p:sp>
        <p:nvSpPr>
          <p:cNvPr id="9" name="Text 6">
            <a:extLst xmlns:a="http://schemas.openxmlformats.org/drawingml/2006/main">
              <a:ext uri="{FF2B5EF4-FFF2-40B4-BE49-F238E27FC236}">
                <a16:creationId xmlns:a16="http://schemas.microsoft.com/office/drawing/2014/main" id="{FEB99F2D-1690-426E-BEB2-919E83659D89}"/>
              </a:ext>
            </a:extLst>
          </p:cNvPr>
          <p:cNvSpPr>
            <a:spLocks xmlns:a="http://schemas.openxmlformats.org/drawingml/2006/main" noGrp="1"/>
          </p:cNvSpPr>
          <p:nvPr/>
        </p:nvSpPr>
        <p:spPr>
          <a:xfrm xmlns:a="http://schemas.openxmlformats.org/drawingml/2006/main">
            <a:off x="508000" y="1663700"/>
            <a:ext cx="11176000"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1400">
                <a:solidFill>
                  <a:srgbClr val="6B6B6B"/>
                </a:solidFill>
                <a:latin typeface="Arial"/>
                <a:ea typeface="Arial"/>
                <a:cs typeface="Arial"/>
              </a:rPr>
              <a:t>Historical baseline with the earlier catalog. Warm, sequential runs with native Ollama on Apple Silicon.</a:t>
            </a:r>
            <a:endParaRPr sz="1400"/>
          </a:p>
        </p:txBody>
      </p:sp>
      <p:sp>
        <p:nvSpPr>
          <p:cNvPr id="11" name="Shape 7">
            <a:extLst xmlns:a="http://schemas.openxmlformats.org/drawingml/2006/main">
              <a:ext uri="{FF2B5EF4-FFF2-40B4-BE49-F238E27FC236}">
                <a16:creationId xmlns:a16="http://schemas.microsoft.com/office/drawing/2014/main" id="{4EB0AD1E-3674-4F22-9927-FB27C35425D2}"/>
              </a:ext>
            </a:extLst>
          </p:cNvPr>
          <p:cNvSpPr>
            <a:spLocks xmlns:a="http://schemas.openxmlformats.org/drawingml/2006/main" noGrp="1"/>
          </p:cNvSpPr>
          <p:nvPr/>
        </p:nvSpPr>
        <p:spPr>
          <a:xfrm xmlns:a="http://schemas.openxmlformats.org/drawingml/2006/main">
            <a:off x="508000" y="2159000"/>
            <a:ext cx="3587750" cy="1549400"/>
          </a:xfrm>
          <a:prstGeom xmlns:a="http://schemas.openxmlformats.org/drawingml/2006/main" prst="rect">
            <a:avLst/>
          </a:prstGeom>
          <a:solidFill xmlns:a="http://schemas.openxmlformats.org/drawingml/2006/main">
            <a:srgbClr val="F4F4F4"/>
          </a:solidFill>
          <a:effectLst xmlns:a="http://schemas.openxmlformats.org/drawingml/2006/main">
            <a:outerShdw blurRad="50800" dist="25400" dir="5400000" algn="bl" rotWithShape="0">
              <a:srgbClr val="000000">
                <a:alpha val="18000"/>
              </a:srgbClr>
            </a:outerShdw>
          </a:effectLst>
        </p:spPr>
        <p:txBody>
          <a:bodyPr xmlns:a="http://schemas.openxmlformats.org/drawingml/2006/main"/>
          <a:lstStyle xmlns:a="http://schemas.openxmlformats.org/drawingml/2006/main"/>
          <a:p xmlns:a="http://schemas.openxmlformats.org/drawingml/2006/main">
            <a:endParaRPr/>
          </a:p>
        </p:txBody>
      </p:sp>
      <p:sp>
        <p:nvSpPr>
          <p:cNvPr id="12" name="Shape 8">
            <a:extLst xmlns:a="http://schemas.openxmlformats.org/drawingml/2006/main">
              <a:ext uri="{FF2B5EF4-FFF2-40B4-BE49-F238E27FC236}">
                <a16:creationId xmlns:a16="http://schemas.microsoft.com/office/drawing/2014/main" id="{89F88EE6-CBD4-4260-B10A-C864AF57632D}"/>
              </a:ext>
            </a:extLst>
          </p:cNvPr>
          <p:cNvSpPr>
            <a:spLocks xmlns:a="http://schemas.openxmlformats.org/drawingml/2006/main" noGrp="1"/>
          </p:cNvSpPr>
          <p:nvPr/>
        </p:nvSpPr>
        <p:spPr>
          <a:xfrm xmlns:a="http://schemas.openxmlformats.org/drawingml/2006/main">
            <a:off x="508000" y="2159000"/>
            <a:ext cx="3587750" cy="50800"/>
          </a:xfrm>
          <a:prstGeom xmlns:a="http://schemas.openxmlformats.org/drawingml/2006/main" prst="rect">
            <a:avLst/>
          </a:prstGeom>
          <a:solidFill xmlns:a="http://schemas.openxmlformats.org/drawingml/2006/main">
            <a:srgbClr val="DA1884"/>
          </a:solidFill>
        </p:spPr>
        <p:txBody>
          <a:bodyPr xmlns:a="http://schemas.openxmlformats.org/drawingml/2006/main"/>
          <a:lstStyle xmlns:a="http://schemas.openxmlformats.org/drawingml/2006/main"/>
          <a:p xmlns:a="http://schemas.openxmlformats.org/drawingml/2006/main">
            <a:endParaRPr/>
          </a:p>
        </p:txBody>
      </p:sp>
      <p:sp>
        <p:nvSpPr>
          <p:cNvPr id="13" name="Text 9">
            <a:extLst xmlns:a="http://schemas.openxmlformats.org/drawingml/2006/main">
              <a:ext uri="{FF2B5EF4-FFF2-40B4-BE49-F238E27FC236}">
                <a16:creationId xmlns:a16="http://schemas.microsoft.com/office/drawing/2014/main" id="{AA29B48B-595E-4114-8CC1-43FF38BFF862}"/>
              </a:ext>
            </a:extLst>
          </p:cNvPr>
          <p:cNvSpPr>
            <a:spLocks xmlns:a="http://schemas.openxmlformats.org/drawingml/2006/main" noGrp="1"/>
          </p:cNvSpPr>
          <p:nvPr/>
        </p:nvSpPr>
        <p:spPr>
          <a:xfrm xmlns:a="http://schemas.openxmlformats.org/drawingml/2006/main">
            <a:off x="736600" y="2349500"/>
            <a:ext cx="3130550" cy="2159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1200" b="1">
                <a:solidFill>
                  <a:srgbClr val="DA1884"/>
                </a:solidFill>
                <a:latin typeface="Arial"/>
                <a:ea typeface="Arial"/>
                <a:cs typeface="Arial"/>
              </a:rPr>
              <a:t>REST</a:t>
            </a:r>
            <a:endParaRPr sz="1200"/>
          </a:p>
        </p:txBody>
      </p:sp>
      <p:sp>
        <p:nvSpPr>
          <p:cNvPr id="14" name="Text 10">
            <a:extLst xmlns:a="http://schemas.openxmlformats.org/drawingml/2006/main">
              <a:ext uri="{FF2B5EF4-FFF2-40B4-BE49-F238E27FC236}">
                <a16:creationId xmlns:a16="http://schemas.microsoft.com/office/drawing/2014/main" id="{606CE8FA-BA28-46F5-9953-3C2CC5B73A06}"/>
              </a:ext>
            </a:extLst>
          </p:cNvPr>
          <p:cNvSpPr>
            <a:spLocks xmlns:a="http://schemas.openxmlformats.org/drawingml/2006/main" noGrp="1"/>
          </p:cNvSpPr>
          <p:nvPr/>
        </p:nvSpPr>
        <p:spPr>
          <a:xfrm xmlns:a="http://schemas.openxmlformats.org/drawingml/2006/main">
            <a:off x="736600" y="2616200"/>
            <a:ext cx="3130550" cy="635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4000" b="1">
                <a:solidFill>
                  <a:srgbClr val="141414"/>
                </a:solidFill>
                <a:latin typeface="Arial"/>
                <a:ea typeface="Arial"/>
                <a:cs typeface="Arial"/>
              </a:rPr>
              <a:t>1.11 s</a:t>
            </a:r>
            <a:endParaRPr sz="4000"/>
          </a:p>
        </p:txBody>
      </p:sp>
      <p:sp>
        <p:nvSpPr>
          <p:cNvPr id="15" name="Text 11">
            <a:extLst xmlns:a="http://schemas.openxmlformats.org/drawingml/2006/main">
              <a:ext uri="{FF2B5EF4-FFF2-40B4-BE49-F238E27FC236}">
                <a16:creationId xmlns:a16="http://schemas.microsoft.com/office/drawing/2014/main" id="{32765C5A-F4A2-40C9-844E-11AB5676E133}"/>
              </a:ext>
            </a:extLst>
          </p:cNvPr>
          <p:cNvSpPr>
            <a:spLocks xmlns:a="http://schemas.openxmlformats.org/drawingml/2006/main" noGrp="1"/>
          </p:cNvSpPr>
          <p:nvPr/>
        </p:nvSpPr>
        <p:spPr>
          <a:xfrm xmlns:a="http://schemas.openxmlformats.org/drawingml/2006/main">
            <a:off x="736600" y="3327400"/>
            <a:ext cx="3130550" cy="2159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1200">
                <a:solidFill>
                  <a:srgbClr val="6B6B6B"/>
                </a:solidFill>
                <a:latin typeface="Arial"/>
                <a:ea typeface="Arial"/>
                <a:cs typeface="Arial"/>
              </a:rPr>
              <a:t>median complete response</a:t>
            </a:r>
            <a:endParaRPr sz="1200"/>
          </a:p>
        </p:txBody>
      </p:sp>
      <p:sp>
        <p:nvSpPr>
          <p:cNvPr id="16" name="Shape 12">
            <a:extLst xmlns:a="http://schemas.openxmlformats.org/drawingml/2006/main">
              <a:ext uri="{FF2B5EF4-FFF2-40B4-BE49-F238E27FC236}">
                <a16:creationId xmlns:a16="http://schemas.microsoft.com/office/drawing/2014/main" id="{FC722FB4-4D4C-4BCE-888B-3262714ADA6E}"/>
              </a:ext>
            </a:extLst>
          </p:cNvPr>
          <p:cNvSpPr>
            <a:spLocks xmlns:a="http://schemas.openxmlformats.org/drawingml/2006/main" noGrp="1"/>
          </p:cNvSpPr>
          <p:nvPr/>
        </p:nvSpPr>
        <p:spPr>
          <a:xfrm xmlns:a="http://schemas.openxmlformats.org/drawingml/2006/main">
            <a:off x="4298950" y="2159000"/>
            <a:ext cx="3587750" cy="1549400"/>
          </a:xfrm>
          <a:prstGeom xmlns:a="http://schemas.openxmlformats.org/drawingml/2006/main" prst="rect">
            <a:avLst/>
          </a:prstGeom>
          <a:solidFill xmlns:a="http://schemas.openxmlformats.org/drawingml/2006/main">
            <a:srgbClr val="F4F4F4"/>
          </a:solidFill>
          <a:effectLst xmlns:a="http://schemas.openxmlformats.org/drawingml/2006/main">
            <a:outerShdw blurRad="50800" dist="25400" dir="5400000" algn="bl" rotWithShape="0">
              <a:srgbClr val="000000">
                <a:alpha val="18000"/>
              </a:srgbClr>
            </a:outerShdw>
          </a:effectLst>
        </p:spPr>
        <p:txBody>
          <a:bodyPr xmlns:a="http://schemas.openxmlformats.org/drawingml/2006/main"/>
          <a:lstStyle xmlns:a="http://schemas.openxmlformats.org/drawingml/2006/main"/>
          <a:p xmlns:a="http://schemas.openxmlformats.org/drawingml/2006/main">
            <a:endParaRPr/>
          </a:p>
        </p:txBody>
      </p:sp>
      <p:sp>
        <p:nvSpPr>
          <p:cNvPr id="17" name="Shape 13">
            <a:extLst xmlns:a="http://schemas.openxmlformats.org/drawingml/2006/main">
              <a:ext uri="{FF2B5EF4-FFF2-40B4-BE49-F238E27FC236}">
                <a16:creationId xmlns:a16="http://schemas.microsoft.com/office/drawing/2014/main" id="{B8D69AA5-B6AC-41CA-83DB-550E47277087}"/>
              </a:ext>
            </a:extLst>
          </p:cNvPr>
          <p:cNvSpPr>
            <a:spLocks xmlns:a="http://schemas.openxmlformats.org/drawingml/2006/main" noGrp="1"/>
          </p:cNvSpPr>
          <p:nvPr/>
        </p:nvSpPr>
        <p:spPr>
          <a:xfrm xmlns:a="http://schemas.openxmlformats.org/drawingml/2006/main">
            <a:off x="4298950" y="2159000"/>
            <a:ext cx="3587750" cy="50800"/>
          </a:xfrm>
          <a:prstGeom xmlns:a="http://schemas.openxmlformats.org/drawingml/2006/main" prst="rect">
            <a:avLst/>
          </a:prstGeom>
          <a:solidFill xmlns:a="http://schemas.openxmlformats.org/drawingml/2006/main">
            <a:srgbClr val="DA1884"/>
          </a:solidFill>
        </p:spPr>
        <p:txBody>
          <a:bodyPr xmlns:a="http://schemas.openxmlformats.org/drawingml/2006/main"/>
          <a:lstStyle xmlns:a="http://schemas.openxmlformats.org/drawingml/2006/main"/>
          <a:p xmlns:a="http://schemas.openxmlformats.org/drawingml/2006/main">
            <a:endParaRPr/>
          </a:p>
        </p:txBody>
      </p:sp>
      <p:sp>
        <p:nvSpPr>
          <p:cNvPr id="18" name="Text 14">
            <a:extLst xmlns:a="http://schemas.openxmlformats.org/drawingml/2006/main">
              <a:ext uri="{FF2B5EF4-FFF2-40B4-BE49-F238E27FC236}">
                <a16:creationId xmlns:a16="http://schemas.microsoft.com/office/drawing/2014/main" id="{05F55FF6-7B52-4B8C-800B-69C9DD4CC4DE}"/>
              </a:ext>
            </a:extLst>
          </p:cNvPr>
          <p:cNvSpPr>
            <a:spLocks xmlns:a="http://schemas.openxmlformats.org/drawingml/2006/main" noGrp="1"/>
          </p:cNvSpPr>
          <p:nvPr/>
        </p:nvSpPr>
        <p:spPr>
          <a:xfrm xmlns:a="http://schemas.openxmlformats.org/drawingml/2006/main">
            <a:off x="4527550" y="2349500"/>
            <a:ext cx="3130550" cy="2159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1200" b="1">
                <a:solidFill>
                  <a:srgbClr val="DA1884"/>
                </a:solidFill>
                <a:latin typeface="Arial"/>
                <a:ea typeface="Arial"/>
                <a:cs typeface="Arial"/>
              </a:rPr>
              <a:t>GRAPHQL</a:t>
            </a:r>
            <a:endParaRPr sz="1200"/>
          </a:p>
        </p:txBody>
      </p:sp>
      <p:sp>
        <p:nvSpPr>
          <p:cNvPr id="19" name="Text 15">
            <a:extLst xmlns:a="http://schemas.openxmlformats.org/drawingml/2006/main">
              <a:ext uri="{FF2B5EF4-FFF2-40B4-BE49-F238E27FC236}">
                <a16:creationId xmlns:a16="http://schemas.microsoft.com/office/drawing/2014/main" id="{27520F4C-2893-42DE-AA16-A4181237728E}"/>
              </a:ext>
            </a:extLst>
          </p:cNvPr>
          <p:cNvSpPr>
            <a:spLocks xmlns:a="http://schemas.openxmlformats.org/drawingml/2006/main" noGrp="1"/>
          </p:cNvSpPr>
          <p:nvPr/>
        </p:nvSpPr>
        <p:spPr>
          <a:xfrm xmlns:a="http://schemas.openxmlformats.org/drawingml/2006/main">
            <a:off x="4527550" y="2616200"/>
            <a:ext cx="3130550" cy="635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4000" b="1">
                <a:solidFill>
                  <a:srgbClr val="141414"/>
                </a:solidFill>
                <a:latin typeface="Arial"/>
                <a:ea typeface="Arial"/>
                <a:cs typeface="Arial"/>
              </a:rPr>
              <a:t>1.26 s</a:t>
            </a:r>
            <a:endParaRPr sz="4000"/>
          </a:p>
        </p:txBody>
      </p:sp>
      <p:sp>
        <p:nvSpPr>
          <p:cNvPr id="20" name="Text 16">
            <a:extLst xmlns:a="http://schemas.openxmlformats.org/drawingml/2006/main">
              <a:ext uri="{FF2B5EF4-FFF2-40B4-BE49-F238E27FC236}">
                <a16:creationId xmlns:a16="http://schemas.microsoft.com/office/drawing/2014/main" id="{E41A5137-B4B4-4B64-8567-7BB68CA428FD}"/>
              </a:ext>
            </a:extLst>
          </p:cNvPr>
          <p:cNvSpPr>
            <a:spLocks xmlns:a="http://schemas.openxmlformats.org/drawingml/2006/main" noGrp="1"/>
          </p:cNvSpPr>
          <p:nvPr/>
        </p:nvSpPr>
        <p:spPr>
          <a:xfrm xmlns:a="http://schemas.openxmlformats.org/drawingml/2006/main">
            <a:off x="4527550" y="3327400"/>
            <a:ext cx="3130550" cy="2159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1200">
                <a:solidFill>
                  <a:srgbClr val="6B6B6B"/>
                </a:solidFill>
                <a:latin typeface="Arial"/>
                <a:ea typeface="Arial"/>
                <a:cs typeface="Arial"/>
              </a:rPr>
              <a:t>median complete response</a:t>
            </a:r>
            <a:endParaRPr sz="1200"/>
          </a:p>
        </p:txBody>
      </p:sp>
      <p:sp>
        <p:nvSpPr>
          <p:cNvPr id="21" name="Shape 17">
            <a:extLst xmlns:a="http://schemas.openxmlformats.org/drawingml/2006/main">
              <a:ext uri="{FF2B5EF4-FFF2-40B4-BE49-F238E27FC236}">
                <a16:creationId xmlns:a16="http://schemas.microsoft.com/office/drawing/2014/main" id="{E9B03E46-A7E0-4E2D-BCB7-D4F235CDAB36}"/>
              </a:ext>
            </a:extLst>
          </p:cNvPr>
          <p:cNvSpPr>
            <a:spLocks xmlns:a="http://schemas.openxmlformats.org/drawingml/2006/main" noGrp="1"/>
          </p:cNvSpPr>
          <p:nvPr/>
        </p:nvSpPr>
        <p:spPr>
          <a:xfrm xmlns:a="http://schemas.openxmlformats.org/drawingml/2006/main">
            <a:off x="8089900" y="2159000"/>
            <a:ext cx="3587750" cy="1549400"/>
          </a:xfrm>
          <a:prstGeom xmlns:a="http://schemas.openxmlformats.org/drawingml/2006/main" prst="rect">
            <a:avLst/>
          </a:prstGeom>
          <a:solidFill xmlns:a="http://schemas.openxmlformats.org/drawingml/2006/main">
            <a:srgbClr val="F4F4F4"/>
          </a:solidFill>
          <a:effectLst xmlns:a="http://schemas.openxmlformats.org/drawingml/2006/main">
            <a:outerShdw blurRad="50800" dist="25400" dir="5400000" algn="bl" rotWithShape="0">
              <a:srgbClr val="000000">
                <a:alpha val="18000"/>
              </a:srgbClr>
            </a:outerShdw>
          </a:effectLst>
        </p:spPr>
        <p:txBody>
          <a:bodyPr xmlns:a="http://schemas.openxmlformats.org/drawingml/2006/main"/>
          <a:lstStyle xmlns:a="http://schemas.openxmlformats.org/drawingml/2006/main"/>
          <a:p xmlns:a="http://schemas.openxmlformats.org/drawingml/2006/main">
            <a:endParaRPr/>
          </a:p>
        </p:txBody>
      </p:sp>
      <p:sp>
        <p:nvSpPr>
          <p:cNvPr id="22" name="Shape 18">
            <a:extLst xmlns:a="http://schemas.openxmlformats.org/drawingml/2006/main">
              <a:ext uri="{FF2B5EF4-FFF2-40B4-BE49-F238E27FC236}">
                <a16:creationId xmlns:a16="http://schemas.microsoft.com/office/drawing/2014/main" id="{FB8BB179-73C0-4F88-BDC6-A7F7CB992C66}"/>
              </a:ext>
            </a:extLst>
          </p:cNvPr>
          <p:cNvSpPr>
            <a:spLocks xmlns:a="http://schemas.openxmlformats.org/drawingml/2006/main" noGrp="1"/>
          </p:cNvSpPr>
          <p:nvPr/>
        </p:nvSpPr>
        <p:spPr>
          <a:xfrm xmlns:a="http://schemas.openxmlformats.org/drawingml/2006/main">
            <a:off x="8089900" y="2159000"/>
            <a:ext cx="3587750" cy="50800"/>
          </a:xfrm>
          <a:prstGeom xmlns:a="http://schemas.openxmlformats.org/drawingml/2006/main" prst="rect">
            <a:avLst/>
          </a:prstGeom>
          <a:solidFill xmlns:a="http://schemas.openxmlformats.org/drawingml/2006/main">
            <a:srgbClr val="DA1884"/>
          </a:solidFill>
        </p:spPr>
        <p:txBody>
          <a:bodyPr xmlns:a="http://schemas.openxmlformats.org/drawingml/2006/main"/>
          <a:lstStyle xmlns:a="http://schemas.openxmlformats.org/drawingml/2006/main"/>
          <a:p xmlns:a="http://schemas.openxmlformats.org/drawingml/2006/main">
            <a:endParaRPr/>
          </a:p>
        </p:txBody>
      </p:sp>
      <p:sp>
        <p:nvSpPr>
          <p:cNvPr id="23" name="Text 19">
            <a:extLst xmlns:a="http://schemas.openxmlformats.org/drawingml/2006/main">
              <a:ext uri="{FF2B5EF4-FFF2-40B4-BE49-F238E27FC236}">
                <a16:creationId xmlns:a16="http://schemas.microsoft.com/office/drawing/2014/main" id="{42D26352-AEEF-4DDF-8ABC-8249AC0DD910}"/>
              </a:ext>
            </a:extLst>
          </p:cNvPr>
          <p:cNvSpPr>
            <a:spLocks xmlns:a="http://schemas.openxmlformats.org/drawingml/2006/main" noGrp="1"/>
          </p:cNvSpPr>
          <p:nvPr/>
        </p:nvSpPr>
        <p:spPr>
          <a:xfrm xmlns:a="http://schemas.openxmlformats.org/drawingml/2006/main">
            <a:off x="8318500" y="2349500"/>
            <a:ext cx="3130550" cy="2159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1200" b="1">
                <a:solidFill>
                  <a:srgbClr val="DA1884"/>
                </a:solidFill>
                <a:latin typeface="Arial"/>
                <a:ea typeface="Arial"/>
                <a:cs typeface="Arial"/>
              </a:rPr>
              <a:t>GRPC</a:t>
            </a:r>
            <a:endParaRPr sz="1200"/>
          </a:p>
        </p:txBody>
      </p:sp>
      <p:sp>
        <p:nvSpPr>
          <p:cNvPr id="24" name="Text 20">
            <a:extLst xmlns:a="http://schemas.openxmlformats.org/drawingml/2006/main">
              <a:ext uri="{FF2B5EF4-FFF2-40B4-BE49-F238E27FC236}">
                <a16:creationId xmlns:a16="http://schemas.microsoft.com/office/drawing/2014/main" id="{DA6B6A92-1963-457C-8E48-5B9D1D472924}"/>
              </a:ext>
            </a:extLst>
          </p:cNvPr>
          <p:cNvSpPr>
            <a:spLocks xmlns:a="http://schemas.openxmlformats.org/drawingml/2006/main" noGrp="1"/>
          </p:cNvSpPr>
          <p:nvPr/>
        </p:nvSpPr>
        <p:spPr>
          <a:xfrm xmlns:a="http://schemas.openxmlformats.org/drawingml/2006/main">
            <a:off x="8318500" y="2616200"/>
            <a:ext cx="3130550" cy="635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4000" b="1">
                <a:solidFill>
                  <a:srgbClr val="141414"/>
                </a:solidFill>
                <a:latin typeface="Arial"/>
                <a:ea typeface="Arial"/>
                <a:cs typeface="Arial"/>
              </a:rPr>
              <a:t>1.86 s</a:t>
            </a:r>
            <a:endParaRPr sz="4000"/>
          </a:p>
        </p:txBody>
      </p:sp>
      <p:sp>
        <p:nvSpPr>
          <p:cNvPr id="25" name="Text 21">
            <a:extLst xmlns:a="http://schemas.openxmlformats.org/drawingml/2006/main">
              <a:ext uri="{FF2B5EF4-FFF2-40B4-BE49-F238E27FC236}">
                <a16:creationId xmlns:a16="http://schemas.microsoft.com/office/drawing/2014/main" id="{BB124006-21FA-4554-A96A-4A52D07D15E6}"/>
              </a:ext>
            </a:extLst>
          </p:cNvPr>
          <p:cNvSpPr>
            <a:spLocks xmlns:a="http://schemas.openxmlformats.org/drawingml/2006/main" noGrp="1"/>
          </p:cNvSpPr>
          <p:nvPr/>
        </p:nvSpPr>
        <p:spPr>
          <a:xfrm xmlns:a="http://schemas.openxmlformats.org/drawingml/2006/main">
            <a:off x="8318500" y="3327400"/>
            <a:ext cx="3130550" cy="2159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1200">
                <a:solidFill>
                  <a:srgbClr val="6B6B6B"/>
                </a:solidFill>
                <a:latin typeface="Arial"/>
                <a:ea typeface="Arial"/>
                <a:cs typeface="Arial"/>
              </a:rPr>
              <a:t>includes three streamed snapshots</a:t>
            </a:r>
            <a:endParaRPr sz="1200"/>
          </a:p>
        </p:txBody>
      </p:sp>
      <p:sp>
        <p:nvSpPr>
          <p:cNvPr id="26" name="Text 22">
            <a:extLst xmlns:a="http://schemas.openxmlformats.org/drawingml/2006/main">
              <a:ext uri="{FF2B5EF4-FFF2-40B4-BE49-F238E27FC236}">
                <a16:creationId xmlns:a16="http://schemas.microsoft.com/office/drawing/2014/main" id="{8DC2CCC9-69B3-469E-A3A1-7D5E10A074BA}"/>
              </a:ext>
            </a:extLst>
          </p:cNvPr>
          <p:cNvSpPr>
            <a:spLocks xmlns:a="http://schemas.openxmlformats.org/drawingml/2006/main" noGrp="1"/>
          </p:cNvSpPr>
          <p:nvPr/>
        </p:nvSpPr>
        <p:spPr>
          <a:xfrm xmlns:a="http://schemas.openxmlformats.org/drawingml/2006/main">
            <a:off x="508000" y="3911600"/>
            <a:ext cx="11176000" cy="2159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DA1884"/>
                </a:solidFill>
                <a:latin typeface="Arial"/>
                <a:ea typeface="Arial"/>
                <a:cs typeface="Arial"/>
              </a:rPr>
              <a:t>■ Routing (model)</a:t>
            </a:r>
            <a:r>
              <a:rPr sz="1200" b="1">
                <a:solidFill>
                  <a:srgbClr val="6B6B6B"/>
                </a:solidFill>
                <a:latin typeface="Arial"/>
                <a:ea typeface="Arial"/>
                <a:cs typeface="Arial"/>
              </a:rPr>
              <a:t>     ■ Protocol execution</a:t>
            </a:r>
            <a:r>
              <a:rPr sz="1200">
                <a:solidFill>
                  <a:srgbClr val="6B6B6B"/>
                </a:solidFill>
                <a:latin typeface="Arial"/>
                <a:ea typeface="Arial"/>
                <a:cs typeface="Arial"/>
              </a:rPr>
              <a:t>     (round 3 sample)</a:t>
            </a:r>
            <a:endParaRPr sz="1200"/>
          </a:p>
        </p:txBody>
      </p:sp>
      <p:sp>
        <p:nvSpPr>
          <p:cNvPr id="27" name="Text 23">
            <a:extLst xmlns:a="http://schemas.openxmlformats.org/drawingml/2006/main">
              <a:ext uri="{FF2B5EF4-FFF2-40B4-BE49-F238E27FC236}">
                <a16:creationId xmlns:a16="http://schemas.microsoft.com/office/drawing/2014/main" id="{CBD621E4-E852-4032-888D-F70CFB270318}"/>
              </a:ext>
            </a:extLst>
          </p:cNvPr>
          <p:cNvSpPr>
            <a:spLocks xmlns:a="http://schemas.openxmlformats.org/drawingml/2006/main" noGrp="1"/>
          </p:cNvSpPr>
          <p:nvPr/>
        </p:nvSpPr>
        <p:spPr>
          <a:xfrm xmlns:a="http://schemas.openxmlformats.org/drawingml/2006/main">
            <a:off x="508000" y="4229100"/>
            <a:ext cx="952500" cy="254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200" b="1">
                <a:solidFill>
                  <a:srgbClr val="141414"/>
                </a:solidFill>
                <a:latin typeface="Arial"/>
                <a:ea typeface="Arial"/>
                <a:cs typeface="Arial"/>
              </a:rPr>
              <a:t>REST</a:t>
            </a:r>
            <a:endParaRPr sz="1200"/>
          </a:p>
        </p:txBody>
      </p:sp>
      <p:sp>
        <p:nvSpPr>
          <p:cNvPr id="28" name="Shape 24">
            <a:extLst xmlns:a="http://schemas.openxmlformats.org/drawingml/2006/main">
              <a:ext uri="{FF2B5EF4-FFF2-40B4-BE49-F238E27FC236}">
                <a16:creationId xmlns:a16="http://schemas.microsoft.com/office/drawing/2014/main" id="{DBE286C9-C95B-46A3-8B23-5B42EDA6CFB5}"/>
              </a:ext>
            </a:extLst>
          </p:cNvPr>
          <p:cNvSpPr>
            <a:spLocks xmlns:a="http://schemas.openxmlformats.org/drawingml/2006/main" noGrp="1"/>
          </p:cNvSpPr>
          <p:nvPr/>
        </p:nvSpPr>
        <p:spPr>
          <a:xfrm xmlns:a="http://schemas.openxmlformats.org/drawingml/2006/main">
            <a:off x="1612900" y="4229100"/>
            <a:ext cx="3606800" cy="254000"/>
          </a:xfrm>
          <a:prstGeom xmlns:a="http://schemas.openxmlformats.org/drawingml/2006/main" prst="rect">
            <a:avLst/>
          </a:prstGeom>
          <a:solidFill xmlns:a="http://schemas.openxmlformats.org/drawingml/2006/main">
            <a:srgbClr val="DA1884"/>
          </a:solidFill>
        </p:spPr>
        <p:txBody>
          <a:bodyPr xmlns:a="http://schemas.openxmlformats.org/drawingml/2006/main"/>
          <a:lstStyle xmlns:a="http://schemas.openxmlformats.org/drawingml/2006/main"/>
          <a:p xmlns:a="http://schemas.openxmlformats.org/drawingml/2006/main">
            <a:endParaRPr/>
          </a:p>
        </p:txBody>
      </p:sp>
      <p:sp>
        <p:nvSpPr>
          <p:cNvPr id="29" name="Shape 25">
            <a:extLst xmlns:a="http://schemas.openxmlformats.org/drawingml/2006/main">
              <a:ext uri="{FF2B5EF4-FFF2-40B4-BE49-F238E27FC236}">
                <a16:creationId xmlns:a16="http://schemas.microsoft.com/office/drawing/2014/main" id="{B7A6CD35-324A-49C0-BA59-730FA764210B}"/>
              </a:ext>
            </a:extLst>
          </p:cNvPr>
          <p:cNvSpPr>
            <a:spLocks xmlns:a="http://schemas.openxmlformats.org/drawingml/2006/main" noGrp="1"/>
          </p:cNvSpPr>
          <p:nvPr/>
        </p:nvSpPr>
        <p:spPr>
          <a:xfrm xmlns:a="http://schemas.openxmlformats.org/drawingml/2006/main">
            <a:off x="5219700" y="4229100"/>
            <a:ext cx="25400" cy="254000"/>
          </a:xfrm>
          <a:prstGeom xmlns:a="http://schemas.openxmlformats.org/drawingml/2006/main" prst="rect">
            <a:avLst/>
          </a:prstGeom>
          <a:solidFill xmlns:a="http://schemas.openxmlformats.org/drawingml/2006/main">
            <a:srgbClr val="6B6B6B"/>
          </a:solidFill>
        </p:spPr>
        <p:txBody>
          <a:bodyPr xmlns:a="http://schemas.openxmlformats.org/drawingml/2006/main"/>
          <a:lstStyle xmlns:a="http://schemas.openxmlformats.org/drawingml/2006/main"/>
          <a:p xmlns:a="http://schemas.openxmlformats.org/drawingml/2006/main">
            <a:endParaRPr/>
          </a:p>
        </p:txBody>
      </p:sp>
      <p:sp>
        <p:nvSpPr>
          <p:cNvPr id="30" name="Text 26">
            <a:extLst xmlns:a="http://schemas.openxmlformats.org/drawingml/2006/main">
              <a:ext uri="{FF2B5EF4-FFF2-40B4-BE49-F238E27FC236}">
                <a16:creationId xmlns:a16="http://schemas.microsoft.com/office/drawing/2014/main" id="{5344CA83-2EB4-4286-A0BF-98C51DFDBBE1}"/>
              </a:ext>
            </a:extLst>
          </p:cNvPr>
          <p:cNvSpPr>
            <a:spLocks xmlns:a="http://schemas.openxmlformats.org/drawingml/2006/main" noGrp="1"/>
          </p:cNvSpPr>
          <p:nvPr/>
        </p:nvSpPr>
        <p:spPr>
          <a:xfrm xmlns:a="http://schemas.openxmlformats.org/drawingml/2006/main">
            <a:off x="5397500" y="4229100"/>
            <a:ext cx="3810000" cy="254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200">
                <a:solidFill>
                  <a:srgbClr val="333333"/>
                </a:solidFill>
                <a:latin typeface="Arial"/>
                <a:ea typeface="Arial"/>
                <a:cs typeface="Arial"/>
              </a:rPr>
              <a:t>1,093 ms routing + 4 ms protocol</a:t>
            </a:r>
            <a:endParaRPr sz="1200"/>
          </a:p>
        </p:txBody>
      </p:sp>
      <p:sp>
        <p:nvSpPr>
          <p:cNvPr id="31" name="Text 27">
            <a:extLst xmlns:a="http://schemas.openxmlformats.org/drawingml/2006/main">
              <a:ext uri="{FF2B5EF4-FFF2-40B4-BE49-F238E27FC236}">
                <a16:creationId xmlns:a16="http://schemas.microsoft.com/office/drawing/2014/main" id="{D4A65D30-D43E-414D-AC65-76CD421501CD}"/>
              </a:ext>
            </a:extLst>
          </p:cNvPr>
          <p:cNvSpPr>
            <a:spLocks xmlns:a="http://schemas.openxmlformats.org/drawingml/2006/main" noGrp="1"/>
          </p:cNvSpPr>
          <p:nvPr/>
        </p:nvSpPr>
        <p:spPr>
          <a:xfrm xmlns:a="http://schemas.openxmlformats.org/drawingml/2006/main">
            <a:off x="508000" y="4597400"/>
            <a:ext cx="952500" cy="254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200" b="1">
                <a:solidFill>
                  <a:srgbClr val="141414"/>
                </a:solidFill>
                <a:latin typeface="Arial"/>
                <a:ea typeface="Arial"/>
                <a:cs typeface="Arial"/>
              </a:rPr>
              <a:t>GraphQL</a:t>
            </a:r>
            <a:endParaRPr sz="1200"/>
          </a:p>
        </p:txBody>
      </p:sp>
      <p:sp>
        <p:nvSpPr>
          <p:cNvPr id="32" name="Shape 28">
            <a:extLst xmlns:a="http://schemas.openxmlformats.org/drawingml/2006/main">
              <a:ext uri="{FF2B5EF4-FFF2-40B4-BE49-F238E27FC236}">
                <a16:creationId xmlns:a16="http://schemas.microsoft.com/office/drawing/2014/main" id="{E1B6BAC4-2216-4C14-9D1B-085E256BD8AC}"/>
              </a:ext>
            </a:extLst>
          </p:cNvPr>
          <p:cNvSpPr>
            <a:spLocks xmlns:a="http://schemas.openxmlformats.org/drawingml/2006/main" noGrp="1"/>
          </p:cNvSpPr>
          <p:nvPr/>
        </p:nvSpPr>
        <p:spPr>
          <a:xfrm xmlns:a="http://schemas.openxmlformats.org/drawingml/2006/main">
            <a:off x="1612900" y="4597400"/>
            <a:ext cx="4095750" cy="254000"/>
          </a:xfrm>
          <a:prstGeom xmlns:a="http://schemas.openxmlformats.org/drawingml/2006/main" prst="rect">
            <a:avLst/>
          </a:prstGeom>
          <a:solidFill xmlns:a="http://schemas.openxmlformats.org/drawingml/2006/main">
            <a:srgbClr val="DA1884"/>
          </a:solidFill>
        </p:spPr>
        <p:txBody>
          <a:bodyPr xmlns:a="http://schemas.openxmlformats.org/drawingml/2006/main"/>
          <a:lstStyle xmlns:a="http://schemas.openxmlformats.org/drawingml/2006/main"/>
          <a:p xmlns:a="http://schemas.openxmlformats.org/drawingml/2006/main">
            <a:endParaRPr/>
          </a:p>
        </p:txBody>
      </p:sp>
      <p:sp>
        <p:nvSpPr>
          <p:cNvPr id="33" name="Shape 29">
            <a:extLst xmlns:a="http://schemas.openxmlformats.org/drawingml/2006/main">
              <a:ext uri="{FF2B5EF4-FFF2-40B4-BE49-F238E27FC236}">
                <a16:creationId xmlns:a16="http://schemas.microsoft.com/office/drawing/2014/main" id="{F402B9F7-E823-4BFC-9F65-500BCB300164}"/>
              </a:ext>
            </a:extLst>
          </p:cNvPr>
          <p:cNvSpPr>
            <a:spLocks xmlns:a="http://schemas.openxmlformats.org/drawingml/2006/main" noGrp="1"/>
          </p:cNvSpPr>
          <p:nvPr/>
        </p:nvSpPr>
        <p:spPr>
          <a:xfrm xmlns:a="http://schemas.openxmlformats.org/drawingml/2006/main">
            <a:off x="5708650" y="4597400"/>
            <a:ext cx="25400" cy="254000"/>
          </a:xfrm>
          <a:prstGeom xmlns:a="http://schemas.openxmlformats.org/drawingml/2006/main" prst="rect">
            <a:avLst/>
          </a:prstGeom>
          <a:solidFill xmlns:a="http://schemas.openxmlformats.org/drawingml/2006/main">
            <a:srgbClr val="6B6B6B"/>
          </a:solidFill>
        </p:spPr>
        <p:txBody>
          <a:bodyPr xmlns:a="http://schemas.openxmlformats.org/drawingml/2006/main"/>
          <a:lstStyle xmlns:a="http://schemas.openxmlformats.org/drawingml/2006/main"/>
          <a:p xmlns:a="http://schemas.openxmlformats.org/drawingml/2006/main">
            <a:endParaRPr/>
          </a:p>
        </p:txBody>
      </p:sp>
      <p:sp>
        <p:nvSpPr>
          <p:cNvPr id="34" name="Text 30">
            <a:extLst xmlns:a="http://schemas.openxmlformats.org/drawingml/2006/main">
              <a:ext uri="{FF2B5EF4-FFF2-40B4-BE49-F238E27FC236}">
                <a16:creationId xmlns:a16="http://schemas.microsoft.com/office/drawing/2014/main" id="{D4DAF64D-21BC-4551-8D07-7777CCCCE7DE}"/>
              </a:ext>
            </a:extLst>
          </p:cNvPr>
          <p:cNvSpPr>
            <a:spLocks xmlns:a="http://schemas.openxmlformats.org/drawingml/2006/main" noGrp="1"/>
          </p:cNvSpPr>
          <p:nvPr/>
        </p:nvSpPr>
        <p:spPr>
          <a:xfrm xmlns:a="http://schemas.openxmlformats.org/drawingml/2006/main">
            <a:off x="5886450" y="4597400"/>
            <a:ext cx="3810000" cy="254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200">
                <a:solidFill>
                  <a:srgbClr val="333333"/>
                </a:solidFill>
                <a:latin typeface="Arial"/>
                <a:ea typeface="Arial"/>
                <a:cs typeface="Arial"/>
              </a:rPr>
              <a:t>1,241 ms routing + 7 ms protocol</a:t>
            </a:r>
            <a:endParaRPr sz="1200"/>
          </a:p>
        </p:txBody>
      </p:sp>
      <p:sp>
        <p:nvSpPr>
          <p:cNvPr id="35" name="Text 31">
            <a:extLst xmlns:a="http://schemas.openxmlformats.org/drawingml/2006/main">
              <a:ext uri="{FF2B5EF4-FFF2-40B4-BE49-F238E27FC236}">
                <a16:creationId xmlns:a16="http://schemas.microsoft.com/office/drawing/2014/main" id="{9A1380A6-7BB4-405D-BB32-0F10E04F041E}"/>
              </a:ext>
            </a:extLst>
          </p:cNvPr>
          <p:cNvSpPr>
            <a:spLocks xmlns:a="http://schemas.openxmlformats.org/drawingml/2006/main" noGrp="1"/>
          </p:cNvSpPr>
          <p:nvPr/>
        </p:nvSpPr>
        <p:spPr>
          <a:xfrm xmlns:a="http://schemas.openxmlformats.org/drawingml/2006/main">
            <a:off x="508000" y="4965700"/>
            <a:ext cx="952500" cy="254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200" b="1">
                <a:solidFill>
                  <a:srgbClr val="141414"/>
                </a:solidFill>
                <a:latin typeface="Arial"/>
                <a:ea typeface="Arial"/>
                <a:cs typeface="Arial"/>
              </a:rPr>
              <a:t>gRPC</a:t>
            </a:r>
            <a:endParaRPr sz="1200"/>
          </a:p>
        </p:txBody>
      </p:sp>
      <p:sp>
        <p:nvSpPr>
          <p:cNvPr id="36" name="Shape 32">
            <a:extLst xmlns:a="http://schemas.openxmlformats.org/drawingml/2006/main">
              <a:ext uri="{FF2B5EF4-FFF2-40B4-BE49-F238E27FC236}">
                <a16:creationId xmlns:a16="http://schemas.microsoft.com/office/drawing/2014/main" id="{CF6911C9-2903-4BA1-97C2-947A4FB5B029}"/>
              </a:ext>
            </a:extLst>
          </p:cNvPr>
          <p:cNvSpPr>
            <a:spLocks xmlns:a="http://schemas.openxmlformats.org/drawingml/2006/main" noGrp="1"/>
          </p:cNvSpPr>
          <p:nvPr/>
        </p:nvSpPr>
        <p:spPr>
          <a:xfrm xmlns:a="http://schemas.openxmlformats.org/drawingml/2006/main">
            <a:off x="1612900" y="4965700"/>
            <a:ext cx="3670300" cy="254000"/>
          </a:xfrm>
          <a:prstGeom xmlns:a="http://schemas.openxmlformats.org/drawingml/2006/main" prst="rect">
            <a:avLst/>
          </a:prstGeom>
          <a:solidFill xmlns:a="http://schemas.openxmlformats.org/drawingml/2006/main">
            <a:srgbClr val="DA1884"/>
          </a:solidFill>
        </p:spPr>
        <p:txBody>
          <a:bodyPr xmlns:a="http://schemas.openxmlformats.org/drawingml/2006/main"/>
          <a:lstStyle xmlns:a="http://schemas.openxmlformats.org/drawingml/2006/main"/>
          <a:p xmlns:a="http://schemas.openxmlformats.org/drawingml/2006/main">
            <a:endParaRPr/>
          </a:p>
        </p:txBody>
      </p:sp>
      <p:sp>
        <p:nvSpPr>
          <p:cNvPr id="37" name="Shape 33">
            <a:extLst xmlns:a="http://schemas.openxmlformats.org/drawingml/2006/main">
              <a:ext uri="{FF2B5EF4-FFF2-40B4-BE49-F238E27FC236}">
                <a16:creationId xmlns:a16="http://schemas.microsoft.com/office/drawing/2014/main" id="{72622EAE-5FE6-42FF-BEEB-F9559A17A664}"/>
              </a:ext>
            </a:extLst>
          </p:cNvPr>
          <p:cNvSpPr>
            <a:spLocks xmlns:a="http://schemas.openxmlformats.org/drawingml/2006/main" noGrp="1"/>
          </p:cNvSpPr>
          <p:nvPr/>
        </p:nvSpPr>
        <p:spPr>
          <a:xfrm xmlns:a="http://schemas.openxmlformats.org/drawingml/2006/main">
            <a:off x="5283200" y="4965700"/>
            <a:ext cx="2362200" cy="254000"/>
          </a:xfrm>
          <a:prstGeom xmlns:a="http://schemas.openxmlformats.org/drawingml/2006/main" prst="rect">
            <a:avLst/>
          </a:prstGeom>
          <a:solidFill xmlns:a="http://schemas.openxmlformats.org/drawingml/2006/main">
            <a:srgbClr val="6B6B6B"/>
          </a:solidFill>
        </p:spPr>
        <p:txBody>
          <a:bodyPr xmlns:a="http://schemas.openxmlformats.org/drawingml/2006/main"/>
          <a:lstStyle xmlns:a="http://schemas.openxmlformats.org/drawingml/2006/main"/>
          <a:p xmlns:a="http://schemas.openxmlformats.org/drawingml/2006/main">
            <a:endParaRPr/>
          </a:p>
        </p:txBody>
      </p:sp>
      <p:sp>
        <p:nvSpPr>
          <p:cNvPr id="38" name="Text 34">
            <a:extLst xmlns:a="http://schemas.openxmlformats.org/drawingml/2006/main">
              <a:ext uri="{FF2B5EF4-FFF2-40B4-BE49-F238E27FC236}">
                <a16:creationId xmlns:a16="http://schemas.microsoft.com/office/drawing/2014/main" id="{511B91BA-F9B3-43FD-9C4D-A667CA775550}"/>
              </a:ext>
            </a:extLst>
          </p:cNvPr>
          <p:cNvSpPr>
            <a:spLocks xmlns:a="http://schemas.openxmlformats.org/drawingml/2006/main" noGrp="1"/>
          </p:cNvSpPr>
          <p:nvPr/>
        </p:nvSpPr>
        <p:spPr>
          <a:xfrm xmlns:a="http://schemas.openxmlformats.org/drawingml/2006/main">
            <a:off x="7797800" y="4965700"/>
            <a:ext cx="3810000" cy="254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200">
                <a:solidFill>
                  <a:srgbClr val="333333"/>
                </a:solidFill>
                <a:latin typeface="Arial"/>
                <a:ea typeface="Arial"/>
                <a:cs typeface="Arial"/>
              </a:rPr>
              <a:t>1,112 ms routing + 716 ms stream*</a:t>
            </a:r>
            <a:endParaRPr sz="1200"/>
          </a:p>
        </p:txBody>
      </p:sp>
      <p:sp>
        <p:nvSpPr>
          <p:cNvPr id="39" name="Text 35">
            <a:extLst xmlns:a="http://schemas.openxmlformats.org/drawingml/2006/main">
              <a:ext uri="{FF2B5EF4-FFF2-40B4-BE49-F238E27FC236}">
                <a16:creationId xmlns:a16="http://schemas.microsoft.com/office/drawing/2014/main" id="{CF485B8E-CC61-49CF-902D-F9FC2A0C27CE}"/>
              </a:ext>
            </a:extLst>
          </p:cNvPr>
          <p:cNvSpPr>
            <a:spLocks xmlns:a="http://schemas.openxmlformats.org/drawingml/2006/main" noGrp="1"/>
          </p:cNvSpPr>
          <p:nvPr/>
        </p:nvSpPr>
        <p:spPr>
          <a:xfrm xmlns:a="http://schemas.openxmlformats.org/drawingml/2006/main">
            <a:off x="508000" y="5461000"/>
            <a:ext cx="11176000" cy="508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0000"/>
              </a:lnSpc>
              <a:buNone/>
            </a:pPr>
            <a:r>
              <a:rPr sz="1200">
                <a:solidFill>
                  <a:srgbClr val="6B6B6B"/>
                </a:solidFill>
                <a:latin typeface="Arial"/>
                <a:ea typeface="Arial"/>
                <a:cs typeface="Arial"/>
              </a:rPr>
              <a:t>* includes 700 ms of deliberate pacing between stream requests. Three runs per protocol; this is a request diagnostic, not a load test or protocol benchmark.</a:t>
            </a:r>
            <a:endParaRPr sz="1200"/>
          </a:p>
        </p:txBody>
      </p:sp>
    </p:spTree>
    <p:extLst>
      <p:ext uri="{BB962C8B-B14F-4D97-AF65-F5344CB8AC3E}">
        <p14:creationId xmlns:p14="http://schemas.microsoft.com/office/powerpoint/2010/main" val="883562575"/>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2026-10-04T22:22:57.7470000Z</dcterms:created>
  <dcterms:modified xsi:type="dcterms:W3CDTF">2026-10-04T22:22:57.7470000Z</dcterms:modified>
</coreProperties>
</file>