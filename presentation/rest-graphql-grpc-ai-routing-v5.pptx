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6CC67404.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0C_15543F0B.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0E_2F6E05A0.xml" ContentType="application/vnd.ms-powerpoint.comments+xml"/>
  <Override PartName="/ppt/notesSlides/notesSlide16.xml" ContentType="application/vnd.openxmlformats-officedocument.presentationml.notesSlide+xml"/>
  <Override PartName="/ppt/comments/modernComment_10F_32BC5957.xml" ContentType="application/vnd.ms-powerpoint.comments+xml"/>
  <Override PartName="/ppt/notesSlides/notesSlide17.xml" ContentType="application/vnd.openxmlformats-officedocument.presentationml.notesSlide+xml"/>
  <Override PartName="/ppt/comments/modernComment_110_4B0BD525.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0C35E52-AC13-A436-6686-0B6764E2623F}" name="Chetan Galgali" initials="C" userId="S::Chetan.Galgali@insight.com::d7c75ae0-963a-43c5-9a74-b8770f56b0b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20"/>
    <p:restoredTop sz="86644"/>
  </p:normalViewPr>
  <p:slideViewPr>
    <p:cSldViewPr snapToGrid="0" snapToObjects="1">
      <p:cViewPr varScale="1">
        <p:scale>
          <a:sx n="105" d="100"/>
          <a:sy n="105" d="100"/>
        </p:scale>
        <p:origin x="5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omments/modernComment_10C_15543F0B.xml><?xml version="1.0" encoding="utf-8"?>
<p188:cmLst xmlns:a="http://schemas.openxmlformats.org/drawingml/2006/main" xmlns:r="http://schemas.openxmlformats.org/officeDocument/2006/relationships" xmlns:p188="http://schemas.microsoft.com/office/powerpoint/2018/8/main">
  <p188:cm id="{18818254-84C9-1A4D-966B-220E2C3A9C44}" authorId="{30C35E52-AC13-A436-6686-0B6764E2623F}" created="2026-10-08T20:22:39.969">
    <pc:sldMkLst xmlns:pc="http://schemas.microsoft.com/office/powerpoint/2013/main/command">
      <pc:docMk/>
      <pc:sldMk cId="357842699" sldId="268"/>
    </pc:sldMkLst>
    <p188:txBody>
      <a:bodyPr/>
      <a:lstStyle/>
      <a:p>
        <a:r>
          <a:rPr lang="en-US"/>
          <a:t>Add a logging or some visual to showcase how responses are streamed back
Same thing in the backend - add logging to show the response</a:t>
        </a:r>
      </a:p>
    </p188:txBody>
  </p188:cm>
</p188:cmLst>
</file>

<file path=ppt/comments/modernComment_10E_2F6E05A0.xml><?xml version="1.0" encoding="utf-8"?>
<p188:cmLst xmlns:a="http://schemas.openxmlformats.org/drawingml/2006/main" xmlns:r="http://schemas.openxmlformats.org/officeDocument/2006/relationships" xmlns:p188="http://schemas.microsoft.com/office/powerpoint/2018/8/main">
  <p188:cm id="{CD269548-1CFC-B045-9C51-C480D0A24557}" authorId="{30C35E52-AC13-A436-6686-0B6764E2623F}" created="2026-10-08T20:23:43.869">
    <pc:sldMkLst xmlns:pc="http://schemas.microsoft.com/office/powerpoint/2013/main/command">
      <pc:docMk/>
      <pc:sldMk cId="795739552" sldId="270"/>
    </pc:sldMkLst>
    <p188:txBody>
      <a:bodyPr/>
      <a:lstStyle/>
      <a:p>
        <a:r>
          <a:rPr lang="en-US"/>
          <a:t>@Chetan - will start here
</a:t>
        </a:r>
      </a:p>
    </p188:txBody>
  </p188:cm>
</p188:cmLst>
</file>

<file path=ppt/comments/modernComment_10F_32BC5957.xml><?xml version="1.0" encoding="utf-8"?>
<p188:cmLst xmlns:a="http://schemas.openxmlformats.org/drawingml/2006/main" xmlns:r="http://schemas.openxmlformats.org/officeDocument/2006/relationships" xmlns:p188="http://schemas.microsoft.com/office/powerpoint/2018/8/main">
  <p188:cm id="{941C0D7F-30B4-9049-AD1B-44963E308B94}" authorId="{30C35E52-AC13-A436-6686-0B6764E2623F}" created="2026-10-08T20:26:17.763">
    <pc:sldMkLst xmlns:pc="http://schemas.microsoft.com/office/powerpoint/2013/main/command">
      <pc:docMk/>
      <pc:sldMk cId="851204439" sldId="271"/>
    </pc:sldMkLst>
    <p188:txBody>
      <a:bodyPr/>
      <a:lstStyle/>
      <a:p>
        <a:r>
          <a:rPr lang="en-US"/>
          <a:t>Dont even show this slide. Directly jump into the code</a:t>
        </a:r>
      </a:p>
    </p188:txBody>
  </p188:cm>
</p188:cmLst>
</file>

<file path=ppt/comments/modernComment_100_6CC67404.xml><?xml version="1.0" encoding="utf-8"?>
<p188:cmLst xmlns:a="http://schemas.openxmlformats.org/drawingml/2006/main" xmlns:r="http://schemas.openxmlformats.org/officeDocument/2006/relationships" xmlns:p188="http://schemas.microsoft.com/office/powerpoint/2018/8/main">
  <p188:cm id="{F5ACA150-C8BD-7B46-9E67-4EBAED79B357}" authorId="{30C35E52-AC13-A436-6686-0B6764E2623F}" status="resolved" created="2026-10-08T20:12:06.434" complete="100000">
    <ac:txMkLst xmlns:ac="http://schemas.microsoft.com/office/drawing/2013/main/command">
      <pc:docMk xmlns:pc="http://schemas.microsoft.com/office/powerpoint/2013/main/command"/>
      <pc:sldMk xmlns:pc="http://schemas.microsoft.com/office/powerpoint/2013/main/command" cId="1824945156" sldId="256"/>
      <ac:spMk id="10" creationId="{09A5BA9F-BF66-4223-8B7A-531B9F168E56}"/>
      <ac:txMk cp="0">
        <ac:context len="28" hash="1267279807"/>
      </ac:txMk>
    </ac:txMkLst>
    <p188:pos x="1371600" y="228600"/>
    <p188:txBody>
      <a:bodyPr/>
      <a:lstStyle/>
      <a:p>
        <a:r>
          <a:rPr lang="en-US"/>
          <a:t>Add the conference name</a:t>
        </a:r>
      </a:p>
    </p188:txBody>
  </p188:cm>
  <p188:cm id="{0061D9EC-F51B-B04E-AC67-97A9480DED29}" authorId="{30C35E52-AC13-A436-6686-0B6764E2623F}" status="resolved" created="2026-10-08T20:12:47.781" complete="100000">
    <ac:txMkLst xmlns:ac="http://schemas.microsoft.com/office/drawing/2013/main/command">
      <pc:docMk xmlns:pc="http://schemas.microsoft.com/office/powerpoint/2013/main/command"/>
      <pc:sldMk xmlns:pc="http://schemas.microsoft.com/office/powerpoint/2013/main/command" cId="1824945156" sldId="256"/>
      <ac:spMk id="9" creationId="{51C42803-AD44-41C4-9AB0-5DA8E6196539}"/>
      <ac:txMk cp="0" len="26">
        <ac:context len="222" hash="4139588301"/>
      </ac:txMk>
    </ac:txMkLst>
    <p188:pos x="901700" y="228600"/>
    <p188:txBody>
      <a:bodyPr/>
      <a:lstStyle/>
      <a:p>
        <a:r>
          <a:rPr lang="en-US"/>
          <a:t>300 sounds more advanced. Lets say its Intermediate</a:t>
        </a:r>
      </a:p>
    </p188:txBody>
  </p188:cm>
  <p188:cm id="{A69304F6-0B07-084C-9F98-5641FA7C8A46}" authorId="{30C35E52-AC13-A436-6686-0B6764E2623F}" created="2026-10-08T20:14:18.832">
    <pc:sldMkLst xmlns:pc="http://schemas.microsoft.com/office/powerpoint/2013/main/command">
      <pc:docMk/>
      <pc:sldMk cId="1824945156" sldId="256"/>
    </pc:sldMkLst>
    <p188:txBody>
      <a:bodyPr/>
      <a:lstStyle/>
      <a:p>
        <a:r>
          <a:rPr lang="en-US"/>
          <a:t>Add an intro to presenters and Insight</a:t>
        </a:r>
      </a:p>
    </p188:txBody>
  </p188:cm>
</p188:cmLst>
</file>

<file path=ppt/comments/modernComment_110_4B0BD525.xml><?xml version="1.0" encoding="utf-8"?>
<p188:cmLst xmlns:a="http://schemas.openxmlformats.org/drawingml/2006/main" xmlns:r="http://schemas.openxmlformats.org/officeDocument/2006/relationships" xmlns:p188="http://schemas.microsoft.com/office/powerpoint/2018/8/main">
  <p188:cm id="{C1B8EB38-1B9D-A548-A910-AC7E5CB22150}" authorId="{30C35E52-AC13-A436-6686-0B6764E2623F}" created="2026-10-08T20:32:22.740">
    <pc:sldMkLst xmlns:pc="http://schemas.microsoft.com/office/powerpoint/2013/main/command">
      <pc:docMk/>
      <pc:sldMk cId="1259066661" sldId="272"/>
    </pc:sldMkLst>
    <p188:txBody>
      <a:bodyPr/>
      <a:lstStyle/>
      <a:p>
        <a:r>
          <a:rPr lang="en-US"/>
          <a:t>Switch to Steve's client story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"Thank you all for being here. There is a lot on the agenda today, and we do not take your time lightly."</a:t>
            </a:r>
            <a:br>
              <a:rPr dirty="0"/>
            </a:br>
            <a:endParaRPr dirty="0"/>
          </a:p>
          <a:p>
            <a:br>
              <a:rPr dirty="0"/>
            </a:br>
            <a:endParaRPr dirty="0"/>
          </a:p>
          <a:p>
            <a:r>
              <a:rPr dirty="0"/>
              <a:t>"This is a 300-level session on REST, GraphQL and gRPC. Not a beginner overview, and not a vendor pitch."</a:t>
            </a:r>
            <a:br>
              <a:rPr dirty="0"/>
            </a:br>
            <a:endParaRPr dirty="0"/>
          </a:p>
          <a:p>
            <a:br>
              <a:rPr dirty="0"/>
            </a:br>
            <a:endParaRPr dirty="0"/>
          </a:p>
          <a:p>
            <a:r>
              <a:rPr dirty="0"/>
              <a:t>1. "We will look at where each protocol fits and where it strains."</a:t>
            </a:r>
            <a:br>
              <a:rPr dirty="0"/>
            </a:br>
            <a:endParaRPr dirty="0"/>
          </a:p>
          <a:p>
            <a:r>
              <a:rPr dirty="0"/>
              <a:t>2. "We will show all three running side by side in one application — real traffic, nothing mocked."</a:t>
            </a:r>
            <a:br>
              <a:rPr dirty="0"/>
            </a:br>
            <a:endParaRPr dirty="0"/>
          </a:p>
          <a:p>
            <a:r>
              <a:rPr dirty="0"/>
              <a:t>3. "And we will share what we have seen in the field, with clients who had to make this choice for real."</a:t>
            </a:r>
            <a:br>
              <a:rPr dirty="0"/>
            </a:br>
            <a:endParaRPr dirty="0"/>
          </a:p>
          <a:p>
            <a:br>
              <a:rPr dirty="0"/>
            </a:br>
            <a:endParaRPr dirty="0"/>
          </a:p>
          <a:p>
            <a:r>
              <a:rPr dirty="0"/>
              <a:t>BE CLEAR ABOUT THIS:</a:t>
            </a:r>
            <a:br>
              <a:rPr dirty="0"/>
            </a:br>
            <a:endParaRPr dirty="0"/>
          </a:p>
          <a:p>
            <a:r>
              <a:rPr dirty="0"/>
              <a:t>"There is no winner in this talk. The goal is to leave you with a way to choose, not a protocol to adopt."</a:t>
            </a:r>
            <a:br>
              <a:rPr dirty="0"/>
            </a:br>
            <a:endParaRPr dirty="0"/>
          </a:p>
          <a:p>
            <a:br>
              <a:rPr dirty="0"/>
            </a:br>
            <a:endParaRPr dirty="0"/>
          </a:p>
          <a:p>
            <a:r>
              <a:rPr dirty="0"/>
              <a:t>TRANSITION:</a:t>
            </a:r>
            <a:br>
              <a:rPr dirty="0"/>
            </a:br>
            <a:endParaRPr dirty="0"/>
          </a:p>
          <a:p>
            <a:r>
              <a:rPr dirty="0"/>
              <a:t>"Let me show you how the session is laid 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"Here is the shape of the session."</a:t>
            </a:r>
            <a:br>
              <a:rPr dirty="0"/>
            </a:br>
            <a:endParaRPr dirty="0"/>
          </a:p>
          <a:p>
            <a:br>
              <a:rPr dirty="0"/>
            </a:br>
            <a:endParaRPr dirty="0"/>
          </a:p>
          <a:p>
            <a:r>
              <a:rPr dirty="0"/>
              <a:t>1. "Section one is the landscape — why this choice is still contentious, how the three compare, and the data set we will use throughout."</a:t>
            </a:r>
            <a:br>
              <a:rPr dirty="0"/>
            </a:br>
            <a:endParaRPr dirty="0"/>
          </a:p>
          <a:p>
            <a:r>
              <a:rPr dirty="0"/>
              <a:t>2. "Section two is the protocols themselves. Each one gets two slides: the concept, then the working code."</a:t>
            </a:r>
            <a:br>
              <a:rPr dirty="0"/>
            </a:br>
            <a:endParaRPr dirty="0"/>
          </a:p>
          <a:p>
            <a:r>
              <a:rPr dirty="0"/>
              <a:t>3. "Section three is the live demo and two client stories from the field."</a:t>
            </a:r>
            <a:br>
              <a:rPr dirty="0"/>
            </a:br>
            <a:endParaRPr dirty="0"/>
          </a:p>
          <a:p>
            <a:r>
              <a:rPr dirty="0"/>
              <a:t>4. "There is an appendix on how the demo uses AI to route questions. We will cover it if time allows, or in Q&amp;A."</a:t>
            </a:r>
            <a:br>
              <a:rPr dirty="0"/>
            </a:br>
            <a:endParaRPr dirty="0"/>
          </a:p>
          <a:p>
            <a:br>
              <a:rPr dirty="0"/>
            </a:br>
            <a:endParaRPr dirty="0"/>
          </a:p>
          <a:p>
            <a:r>
              <a:rPr dirty="0"/>
              <a:t>BE CLEAR ABOUT THIS:</a:t>
            </a:r>
            <a:br>
              <a:rPr dirty="0"/>
            </a:br>
            <a:endParaRPr dirty="0"/>
          </a:p>
          <a:p>
            <a:r>
              <a:rPr dirty="0"/>
              <a:t>"Everything you see today runs. Every request in the demo is real HTTP, GraphQL or gRPC traffic you can inspect."</a:t>
            </a:r>
            <a:br>
              <a:rPr dirty="0"/>
            </a:br>
            <a:endParaRPr dirty="0"/>
          </a:p>
          <a:p>
            <a:br>
              <a:rPr dirty="0"/>
            </a:br>
            <a:endParaRPr dirty="0"/>
          </a:p>
          <a:p>
            <a:r>
              <a:rPr dirty="0"/>
              <a:t>TRANSITION:</a:t>
            </a:r>
            <a:br>
              <a:rPr dirty="0"/>
            </a:br>
            <a:endParaRPr dirty="0"/>
          </a:p>
          <a:p>
            <a:r>
              <a:rPr dirty="0"/>
              <a:t>"Let's start with the landscape."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"Section one: the landscape."</a:t>
            </a:r>
            <a:br/>
            <a:endParaRPr/>
          </a:p>
          <a:p>
            <a:br/>
            <a:endParaRPr/>
          </a:p>
          <a:p>
            <a:r>
              <a:t>"Three short slides here — the problem, the comparison, and the data we will use for every example."</a:t>
            </a:r>
            <a:br/>
            <a:endParaRPr/>
          </a:p>
          <a:p>
            <a:br/>
            <a:endParaRPr/>
          </a:p>
          <a:p>
            <a:r>
              <a:t>TRANSITION:</a:t>
            </a:r>
            <a:br/>
            <a:endParaRPr/>
          </a:p>
          <a:p>
            <a:r>
              <a:t>"First, why this is still a debate at 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"The standard for exchanging data between frontends, backends and integrations has always been contentious."</a:t>
            </a:r>
            <a:br/>
            <a:endParaRPr/>
          </a:p>
          <a:p>
            <a:br/>
            <a:endParaRPr/>
          </a:p>
          <a:p>
            <a:r>
              <a:t>1. "Every team has a default. Frontend teams reach for one thing, backend teams for another, integration teams for a third — and the contract becomes a negotiation."</a:t>
            </a:r>
            <a:br/>
            <a:endParaRPr/>
          </a:p>
          <a:p>
            <a:r>
              <a:t>2. "Each protocol has a sweet spot. Cacheable resources, client-shaped graphs and low-latency streams are genuinely different problems."</a:t>
            </a:r>
            <a:br/>
            <a:endParaRPr/>
          </a:p>
          <a:p>
            <a:r>
              <a:t>3. "So the practical answer is to choose per operation. Most systems we see in production run more than one protocol, deliberately."</a:t>
            </a:r>
            <a:br/>
            <a:endParaRPr/>
          </a:p>
          <a:p>
            <a:br/>
            <a:endParaRPr/>
          </a:p>
          <a:p>
            <a:r>
              <a:t>BE CLEAR ABOUT THIS:</a:t>
            </a:r>
            <a:br/>
            <a:endParaRPr/>
          </a:p>
          <a:p>
            <a:r>
              <a:t>"The question is not which protocol wins. It is which one fits the operation in front of you."</a:t>
            </a:r>
            <a:br/>
            <a:endParaRPr/>
          </a:p>
          <a:p>
            <a:br/>
            <a:endParaRPr/>
          </a:p>
          <a:p>
            <a:r>
              <a:t>TRANSITION:</a:t>
            </a:r>
            <a:br/>
            <a:endParaRPr/>
          </a:p>
          <a:p>
            <a:r>
              <a:t>"Let's put them side by side."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"Here are the same questions asked of all three."</a:t>
            </a:r>
            <a:br>
              <a:rPr dirty="0"/>
            </a:br>
            <a:endParaRPr dirty="0"/>
          </a:p>
          <a:p>
            <a:br>
              <a:rPr dirty="0"/>
            </a:br>
            <a:endParaRPr dirty="0"/>
          </a:p>
          <a:p>
            <a:r>
              <a:rPr dirty="0"/>
              <a:t>1. "Transport and payload: REST and GraphQL are HTTP and JSON. gRPC requires HTTP/2 and uses binary </a:t>
            </a:r>
            <a:r>
              <a:rPr dirty="0" err="1"/>
              <a:t>Protobuf</a:t>
            </a:r>
            <a:r>
              <a:rPr dirty="0"/>
              <a:t>."</a:t>
            </a:r>
            <a:br>
              <a:rPr dirty="0"/>
            </a:br>
            <a:endParaRPr dirty="0"/>
          </a:p>
          <a:p>
            <a:r>
              <a:rPr dirty="0"/>
              <a:t>2. "Contract: optional for REST with OpenAPI, required for GraphQL with its schema, and required for gRPC with the proto file."</a:t>
            </a:r>
            <a:br>
              <a:rPr dirty="0"/>
            </a:br>
            <a:endParaRPr dirty="0"/>
          </a:p>
          <a:p>
            <a:r>
              <a:rPr dirty="0"/>
              <a:t>3. "Caching is where REST is strongest — it gets HTTP and CDN caching for free. GraphQL and gRPC have to work harder."</a:t>
            </a:r>
            <a:br>
              <a:rPr dirty="0"/>
            </a:br>
            <a:endParaRPr dirty="0"/>
          </a:p>
          <a:p>
            <a:r>
              <a:rPr dirty="0"/>
              <a:t>4. "Streaming and browser support are where gRPC stands out, in both directions: it streams natively, but browsers need gRPC-Web or a bridge."</a:t>
            </a:r>
            <a:br>
              <a:rPr dirty="0"/>
            </a:br>
            <a:endParaRPr dirty="0"/>
          </a:p>
          <a:p>
            <a:br>
              <a:rPr dirty="0"/>
            </a:br>
            <a:endParaRPr dirty="0"/>
          </a:p>
          <a:p>
            <a:r>
              <a:rPr dirty="0"/>
              <a:t>BE CLEAR ABOUT THIS:</a:t>
            </a:r>
            <a:br>
              <a:rPr dirty="0"/>
            </a:br>
            <a:endParaRPr dirty="0"/>
          </a:p>
          <a:p>
            <a:r>
              <a:rPr dirty="0"/>
              <a:t>"Two corrections from last year's version of this table: GraphQL does stream, through subscriptions, and gRPC does not run natively in a browser. Our demo bridges it, and we will show you how."</a:t>
            </a:r>
            <a:br>
              <a:rPr dirty="0"/>
            </a:br>
            <a:endParaRPr dirty="0"/>
          </a:p>
          <a:p>
            <a:br>
              <a:rPr dirty="0"/>
            </a:br>
            <a:endParaRPr dirty="0"/>
          </a:p>
          <a:p>
            <a:r>
              <a:rPr dirty="0"/>
              <a:t>TRANSITION:</a:t>
            </a:r>
            <a:br>
              <a:rPr dirty="0"/>
            </a:br>
            <a:endParaRPr dirty="0"/>
          </a:p>
          <a:p>
            <a:r>
              <a:rPr dirty="0"/>
              <a:t>"To make this concrete, here is the data every example uses."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p>
          <a:p>
            <a:endParaRPr/>
          </a:p>
          <a:p>
            <a:r>
              <a:t>"One catalog sits behind all three protocols: nineteen starships, six films and eighteen characters."</a:t>
            </a:r>
          </a:p>
          <a:p>
            <a:endParaRPr/>
          </a:p>
          <a:p>
            <a:r>
              <a:t>"The ship values and ship/film links come from the original demo. We added a curated character cast and four verified flight-crew assignments. Cast means characters such as Luke Skywalker and Han Solo."</a:t>
            </a:r>
          </a:p>
          <a:p>
            <a:endParaRPr/>
          </a:p>
          <a:p>
            <a:r>
              <a:t>"Ships appear in many films, and characters appear in many films. All three protocols resolve the same immutable seed. There is no database to configure."</a:t>
            </a:r>
          </a:p>
          <a:p>
            <a:endParaRPr/>
          </a:p>
          <a:p>
            <a:r>
              <a:t>BE CLEAR ABOUT THIS:</a:t>
            </a:r>
          </a:p>
          <a:p>
            <a:endParaRPr/>
          </a:p>
          <a:p>
            <a:r>
              <a:t>"A character's film appearance does not establish that they piloted a ship. We store the ship, film, character and crew role explicitly. Crew coverage currently includes the Falcon in A New Hope and the Battle of Endor. Missing evidence produces a coverage-gap answer."</a:t>
            </a:r>
          </a:p>
          <a:p>
            <a:endParaRPr/>
          </a:p>
          <a:p>
            <a:r>
              <a:t>TRANSITION:</a:t>
            </a:r>
          </a:p>
          <a:p>
            <a:endParaRPr/>
          </a:p>
          <a:p>
            <a:r>
              <a:t>"With that in place, let's go protocol by protocol."</a:t>
            </a:r>
          </a:p>
          <a:p>
            <a:endParaRPr/>
          </a:p>
          <a:p>
            <a:r>
              <a:t>SOURCES:</a:t>
            </a:r>
          </a:p>
          <a:p>
            <a:r>
              <a:t>Project: backend/src/main/resources/catalog.json and docs/dataset-provenance.md.</a:t>
            </a:r>
          </a:p>
          <a:p>
            <a:r>
              <a:t>https://www.starwars.com/films/star-wars-episode-iv-a-new-hope</a:t>
            </a:r>
          </a:p>
          <a:p>
            <a:r>
              <a:t>https://www.starwars.com/databank/chewbacca</a:t>
            </a:r>
          </a:p>
          <a:p>
            <a:r>
              <a:t>https://www.starwars.com/databank/nien-nunb</a:t>
            </a:r>
          </a:p>
          <a:p>
            <a:endParaRPr/>
          </a:p>
          <a:p>
            <a:r>
              <a:t>STREAMING EXTENSION:</a:t>
            </a:r>
          </a:p>
          <a:p>
            <a:r>
              <a:t>The historical catalog is shared by all three protocols. A separate fictional flight script adds changing Falcon telemetry to the Watch stream. Its simulated assignments do not change the sourced film-crew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"Section two: the protocols."</a:t>
            </a:r>
            <a:br/>
            <a:endParaRPr/>
          </a:p>
          <a:p>
            <a:br/>
            <a:endParaRPr/>
          </a:p>
          <a:p>
            <a:r>
              <a:t>"Each one gets two slides — the concept first, then the exact code the demo runs. We finish with a short history and a usage comparison."</a:t>
            </a:r>
            <a:br/>
            <a:endParaRPr/>
          </a:p>
          <a:p>
            <a:br/>
            <a:endParaRPr/>
          </a:p>
          <a:p>
            <a:r>
              <a:t>TRANSITION:</a:t>
            </a:r>
            <a:br/>
            <a:endParaRPr/>
          </a:p>
          <a:p>
            <a:r>
              <a:t>"We start with the one everyone knows: 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"REST is resources over HTTP. Every resource has a URL and the HTTP verbs carry the intent."</a:t>
            </a:r>
            <a:br/>
            <a:endParaRPr/>
          </a:p>
          <a:p>
            <a:br/>
            <a:endParaRPr/>
          </a:p>
          <a:p>
            <a:r>
              <a:t>1. "Where it shines: standard verbs and status codes, native caching through browsers, CDNs and proxies, and tooling that every developer and every partner already has."</a:t>
            </a:r>
            <a:br/>
            <a:endParaRPr/>
          </a:p>
          <a:p>
            <a:r>
              <a:t>2. "Where it strains: fixed payloads over-fetch, related data means extra round trips, versions multiply as clients diverge, and there is no first-class streaming."</a:t>
            </a:r>
            <a:br/>
            <a:endParaRPr/>
          </a:p>
          <a:p>
            <a:br/>
            <a:endParaRPr/>
          </a:p>
          <a:p>
            <a:r>
              <a:t>BE CLEAR ABOUT THIS:</a:t>
            </a:r>
            <a:br/>
            <a:endParaRPr/>
          </a:p>
          <a:p>
            <a:r>
              <a:t>"REST is still the right default for simple, cacheable, stateless APIs — especially anything you publish to people outside your team."</a:t>
            </a:r>
            <a:br/>
            <a:endParaRPr/>
          </a:p>
          <a:p>
            <a:br/>
            <a:endParaRPr/>
          </a:p>
          <a:p>
            <a:r>
              <a:t>TRANSITION:</a:t>
            </a:r>
            <a:br/>
            <a:endParaRPr/>
          </a:p>
          <a:p>
            <a:r>
              <a:t>"Here is what that looks like in the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p>
          <a:p>
            <a:endParaRPr/>
          </a:p>
          <a:p>
            <a:r>
              <a:t>"In Protocol Studio, single-resource lookups go to REST."</a:t>
            </a:r>
          </a:p>
          <a:p>
            <a:endParaRPr/>
          </a:p>
          <a:p>
            <a:r>
              <a:t>1. "Spring MVC exposes starships, films and character cast as resources. The character endpoint is /api/catalog/cast/{id}."</a:t>
            </a:r>
          </a:p>
          <a:p>
            <a:r>
              <a:t>2. "Starship reads return Cache-Control with a five-minute maximum age."</a:t>
            </a:r>
          </a:p>
          <a:p>
            <a:r>
              <a:t>3. "Questions about speed, length or one resource's details route here. Try 'Tell me about Luke Skywalker' for a character lookup."</a:t>
            </a:r>
          </a:p>
          <a:p>
            <a:endParaRPr/>
          </a:p>
          <a:p>
            <a:r>
              <a:t>BE CLEAR ABOUT THIS:</a:t>
            </a:r>
          </a:p>
          <a:p>
            <a:endParaRPr/>
          </a:p>
          <a:p>
            <a:r>
              <a:t>"This demo's fixed REST payload already includes nested films, cast and crew. GraphQL lets the client select the needed fields. We should not claim that this REST endpoint always needs more calls. The response excerpt omits nested values for space."</a:t>
            </a:r>
          </a:p>
          <a:p>
            <a:endParaRPr/>
          </a:p>
          <a:p>
            <a:r>
              <a:t>TRANSITION:</a:t>
            </a:r>
          </a:p>
          <a:p>
            <a:endParaRPr/>
          </a:p>
          <a:p>
            <a:r>
              <a:t>"Next is the query-shaped view of the same catalog."</a:t>
            </a:r>
          </a:p>
          <a:p>
            <a:endParaRPr/>
          </a:p>
          <a:p>
            <a:r>
              <a:t>SOURCE: backend/src/main/java/com/insight/router/CatalogController.java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"GraphQL is one endpoint and one typed schema, and the client decides the shape of the response."</a:t>
            </a:r>
            <a:br/>
            <a:endParaRPr/>
          </a:p>
          <a:p>
            <a:br/>
            <a:endParaRPr/>
          </a:p>
          <a:p>
            <a:r>
              <a:t>1. "Where it shines: the schema describes the whole graph, clients ask for exactly the fields a screen needs, and nested relationships come back in one round trip."</a:t>
            </a:r>
            <a:br/>
            <a:endParaRPr/>
          </a:p>
          <a:p>
            <a:r>
              <a:t>2. "Where it strains: HTTP caching is harder because everything is a POST to one URL, resolvers can cause N+1 load without batching, and public APIs need depth and cost limits."</a:t>
            </a:r>
            <a:br/>
            <a:endParaRPr/>
          </a:p>
          <a:p>
            <a:br/>
            <a:endParaRPr/>
          </a:p>
          <a:p>
            <a:r>
              <a:t>BE CLEAR ABOUT THIS:</a:t>
            </a:r>
            <a:br/>
            <a:endParaRPr/>
          </a:p>
          <a:p>
            <a:r>
              <a:t>"GraphQL moves the shaping work to the client — and moves the cost to the server. Plan for resolvers, batching and limits from day one."</a:t>
            </a:r>
            <a:br/>
            <a:endParaRPr/>
          </a:p>
          <a:p>
            <a:br/>
            <a:endParaRPr/>
          </a:p>
          <a:p>
            <a:r>
              <a:t>TRANSITION:</a:t>
            </a:r>
            <a:br/>
            <a:endParaRPr/>
          </a:p>
          <a:p>
            <a:r>
              <a:t>"Here is the query the demo sends."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p>
          <a:p>
            <a:r>
              <a:t>"This is the FilmShipsCast operation used by the application. It selects the film title, character names and ship names."</a:t>
            </a:r>
            <a:endParaRPr dirty="0"/>
          </a:p>
          <a:p>
            <a:r>
              <a:rPr dirty="0"/>
              <a:t>"Ask: Which starships appear in A New Hope, and who is in its cast? The answer includes both ships and characters."</a:t>
            </a:r>
          </a:p>
          <a:p>
            <a:r>
              <a:t>"The equivalent REST request is GET /api/catalog/starships/film:1. Its nested records already provide the same answer in one request. GraphQL demonstrates field selection, and the inspector measures both response bodies."</a:t>
            </a:r>
            <a:endParaRPr dirty="0"/>
          </a:p>
          <a:p>
            <a:r>
              <a:rPr dirty="0"/>
              <a:t>"For who flew the Millennium Falcon in A New Hope, the application sends query ShipCrew with crew:5:1. It selects ship name and crew filmTitle, role, source and member name. The REST comparison uses that same filtered target."</a:t>
            </a:r>
          </a:p>
          <a:p>
            <a:r>
              <a:rPr dirty="0"/>
              <a:t>"The curated crew records name Han Solo and Chewbacca for A New Hope. Cast membership alone does not establish piloting."</a:t>
            </a:r>
          </a:p>
          <a:p>
            <a:r>
              <a:rPr dirty="0"/>
              <a:t>TRANSITION:</a:t>
            </a:r>
          </a:p>
          <a:p>
            <a:r>
              <a:t>"Next is the streaming contract."</a:t>
            </a:r>
            <a:endParaRPr dirty="0"/>
          </a:p>
          <a:p>
            <a:r>
              <a:rPr dirty="0"/>
              <a:t>SOURCES:</a:t>
            </a:r>
          </a:p>
          <a:p>
            <a:r>
              <a:t>Project: backend/src/main/java/com/insight/router/Operation.java, Catalog.java and backend/src/main/resources/catalog.json.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"gRPC is contract-first RPC over HTTP/2, with compact binary </a:t>
            </a:r>
            <a:r>
              <a:rPr dirty="0" err="1"/>
              <a:t>Protobuf</a:t>
            </a:r>
            <a:r>
              <a:rPr dirty="0"/>
              <a:t> messages."</a:t>
            </a:r>
            <a:br>
              <a:rPr dirty="0"/>
            </a:br>
            <a:endParaRPr dirty="0"/>
          </a:p>
          <a:p>
            <a:br>
              <a:rPr dirty="0"/>
            </a:br>
            <a:endParaRPr dirty="0"/>
          </a:p>
          <a:p>
            <a:r>
              <a:rPr dirty="0"/>
              <a:t>1. "Where it shines: generated clients from one proto file in many languages, HTTP/2 multiplexing, four call types including bidirectional streaming, and deadlines and cancellation built in."</a:t>
            </a:r>
            <a:br>
              <a:rPr dirty="0"/>
            </a:br>
            <a:endParaRPr dirty="0"/>
          </a:p>
          <a:p>
            <a:r>
              <a:rPr dirty="0"/>
              <a:t>2. "Where it strains: browsers need gRPC-Web or a bridge, binary payloads are harder to debug, you need HTTP/2 end to end through every proxy, and field numbers are forever."</a:t>
            </a:r>
            <a:br>
              <a:rPr dirty="0"/>
            </a:br>
            <a:endParaRPr dirty="0"/>
          </a:p>
          <a:p>
            <a:br>
              <a:rPr dirty="0"/>
            </a:br>
            <a:endParaRPr dirty="0"/>
          </a:p>
          <a:p>
            <a:r>
              <a:rPr dirty="0"/>
              <a:t>BE CLEAR ABOUT THIS:</a:t>
            </a:r>
            <a:br>
              <a:rPr dirty="0"/>
            </a:br>
            <a:endParaRPr dirty="0"/>
          </a:p>
          <a:p>
            <a:r>
              <a:rPr dirty="0"/>
              <a:t>"gRPC is the right tool for internal service-to-service calls, low-latency paths and real-time streams — not usually for your public API."</a:t>
            </a:r>
            <a:br>
              <a:rPr dirty="0"/>
            </a:br>
            <a:endParaRPr dirty="0"/>
          </a:p>
          <a:p>
            <a:br>
              <a:rPr dirty="0"/>
            </a:br>
            <a:endParaRPr dirty="0"/>
          </a:p>
          <a:p>
            <a:r>
              <a:rPr dirty="0"/>
              <a:t>TRANSITION:</a:t>
            </a:r>
            <a:br>
              <a:rPr dirty="0"/>
            </a:br>
            <a:endParaRPr dirty="0"/>
          </a:p>
          <a:p>
            <a:r>
              <a:rPr dirty="0"/>
              <a:t>"Here is the contract behind the demo's streaming feature."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p>
          <a:p>
            <a:r>
              <a:t/>
            </a:r>
            <a:endParaRPr dirty="0"/>
          </a:p>
          <a:p>
            <a:r>
              <a:rPr dirty="0"/>
              <a:t>"Ask once, and the ship's location, pilot and shields change in the chat as updates arrive."</a:t>
            </a:r>
          </a:p>
          <a:p>
            <a:r>
              <a:t/>
            </a:r>
            <a:endParaRPr dirty="0"/>
          </a:p>
          <a:p>
            <a:r>
              <a:rPr dirty="0"/>
              <a:t>"Watch is a real server-streaming gRPC call: one request and twenty-one responses over about forty seconds. The server owns the timeline, so the agent does not rerun the question or ask the model to route every update."</a:t>
            </a:r>
          </a:p>
          <a:p>
            <a:r>
              <a:t/>
            </a:r>
            <a:endParaRPr dirty="0"/>
          </a:p>
          <a:p>
            <a:r>
              <a:rPr dirty="0"/>
              <a:t>"The browser receives each update through the NDJSON bridge. The backend explicitly flushes the servlet response after every event so updates arrive individually."</a:t>
            </a:r>
          </a:p>
          <a:p>
            <a:r>
              <a:t/>
            </a:r>
            <a:endParaRPr dirty="0"/>
          </a:p>
          <a:p>
            <a:r>
              <a:rPr dirty="0"/>
              <a:t>DEMONSTRATE:</a:t>
            </a:r>
          </a:p>
          <a:p>
            <a:r>
              <a:t/>
            </a:r>
            <a:endParaRPr dirty="0"/>
          </a:p>
          <a:p>
            <a:r>
              <a:rPr dirty="0"/>
              <a:t>Click Present flight. The Falcon departs Tatooine, Chewbacca takes the controls, a debris alert lowers shields, Han retakes the controls, and the ship travels through hyperspace to Yavin 4. The UI keeps the final state and flight log; Stop keeps the last received state, and Replay starts again.</a:t>
            </a:r>
          </a:p>
          <a:p>
            <a:r>
              <a:t/>
            </a:r>
            <a:endParaRPr dirty="0"/>
          </a:p>
          <a:p>
            <a:r>
              <a:rPr dirty="0"/>
              <a:t>BE CLEAR ABOUT THIS:</a:t>
            </a:r>
          </a:p>
          <a:p>
            <a:r>
              <a:t/>
            </a:r>
            <a:endParaRPr dirty="0"/>
          </a:p>
          <a:p>
            <a:r>
              <a:rPr dirty="0"/>
              <a:t>This is authored fiction for a repeatable presentation, not canon flight history or live telemetry. The script is separate from documented film-crew records. Only the Falcon has a flight scenario; other targets return catalog data with an explicit coverage message. Each subscription starts its own timeline.</a:t>
            </a:r>
          </a:p>
          <a:p>
            <a:r>
              <a:t/>
            </a:r>
            <a:endParaRPr dirty="0"/>
          </a:p>
          <a:p>
            <a:r>
              <a:rPr dirty="0"/>
              <a:t>The older bidirectional Track method remains available for comparison. Bidirectional streaming is useful when a client must change its request during an open response stream; this guided flight only needs server streaming. The displayed proto is an excerpt; FlightState and other fields are omitted for space.</a:t>
            </a:r>
          </a:p>
          <a:p>
            <a:r>
              <a:t/>
            </a:r>
            <a:endParaRPr dirty="0"/>
          </a:p>
          <a:p>
            <a:r>
              <a:rPr dirty="0"/>
              <a:t>Default pacing is 2000 ms for 40 seconds. DEMO_FLIGHT_INTERVAL_MS=3000 gives 60 seconds; 5000 gives 100 seconds. Restart the backend after changing it. The gRPC deadline is 115 seconds; response sizes count serialized Protobuf bytes, not headers or framing. Playback time is not a protocol speed benchmark.</a:t>
            </a:r>
          </a:p>
          <a:p>
            <a:r>
              <a:t/>
            </a:r>
            <a:endParaRPr dirty="0"/>
          </a:p>
          <a:p>
            <a:r>
              <a:rPr dirty="0"/>
              <a:t>SOURCES:</a:t>
            </a:r>
          </a:p>
          <a:p>
            <a:r>
              <a:rPr dirty="0"/>
              <a:t>Project: backend/src/main/proto/catalog.proto, backend/src/main/resources/falcon-flight.json, docs/architecture.md.</a:t>
            </a:r>
          </a:p>
          <a:p>
            <a:r>
              <a:rPr dirty="0"/>
              <a:t>https://grpc.io/docs/languages/java/generated-code/</a:t>
            </a:r>
          </a:p>
          <a:p>
            <a:r>
              <a:rPr dirty="0"/>
              <a:t>https://grpc.io/docs/guides/cancellation/</a:t>
            </a:r>
          </a:p>
          <a:p>
            <a:r>
              <a:rPr dirty="0"/>
              <a:t/>
            </a:r>
          </a:p>
          <a:p>
            <a:r>
              <a:rPr dirty="0"/>
              <a:t>INSPECT THE STREAM:</a:t>
            </a:r>
          </a:p>
          <a:p>
            <a:r>
              <a:rPr dirty="0"/>
              <a:t>Open gRPC MESSAGES. Each row identifies one message by sequence, its serialized Protobuf bytes and its arrival time. Expand a row to show the matching decoded payload. Missing optional metadata cannot shift the later rows. Only the first flight message includes the catalog ship record. Later messages carry the changing flight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"Each of these answered the problem of its moment."</a:t>
            </a:r>
            <a:br>
              <a:rPr dirty="0"/>
            </a:br>
            <a:endParaRPr dirty="0"/>
          </a:p>
          <a:p>
            <a:br>
              <a:rPr dirty="0"/>
            </a:br>
            <a:endParaRPr dirty="0"/>
          </a:p>
          <a:p>
            <a:r>
              <a:rPr dirty="0"/>
              <a:t>1. "REST was described in Roy Fielding's dissertation in 2000."</a:t>
            </a:r>
            <a:br>
              <a:rPr dirty="0"/>
            </a:br>
            <a:endParaRPr dirty="0"/>
          </a:p>
          <a:p>
            <a:r>
              <a:rPr dirty="0"/>
              <a:t>2. "GraphQL was built inside Facebook in 2012 for mobile, and published as a spec in 2015."</a:t>
            </a:r>
            <a:br>
              <a:rPr dirty="0"/>
            </a:br>
            <a:endParaRPr dirty="0"/>
          </a:p>
          <a:p>
            <a:r>
              <a:rPr dirty="0"/>
              <a:t>3. "gRPC was open-sourced by Google in 2015, reached 1.0 in 2016, and joined the CNCF in 2017."</a:t>
            </a:r>
            <a:br>
              <a:rPr dirty="0"/>
            </a:br>
            <a:endParaRPr dirty="0"/>
          </a:p>
          <a:p>
            <a:br>
              <a:rPr dirty="0"/>
            </a:br>
            <a:endParaRPr dirty="0"/>
          </a:p>
          <a:p>
            <a:r>
              <a:rPr dirty="0"/>
              <a:t>"On the practical side: REST has the lowest learning curve and the largest ecosystem. GraphQL and gRPC are both mature, and </a:t>
            </a:r>
            <a:r>
              <a:rPr dirty="0" err="1"/>
              <a:t>gRPC's</a:t>
            </a:r>
            <a:r>
              <a:rPr dirty="0"/>
              <a:t> learning curve is mostly the toolchain rather than the concepts."</a:t>
            </a:r>
            <a:br>
              <a:rPr dirty="0"/>
            </a:br>
            <a:endParaRPr dirty="0"/>
          </a:p>
          <a:p>
            <a:br>
              <a:rPr dirty="0"/>
            </a:br>
            <a:endParaRPr dirty="0"/>
          </a:p>
          <a:p>
            <a:r>
              <a:rPr dirty="0"/>
              <a:t>TRANSITION:</a:t>
            </a:r>
            <a:br>
              <a:rPr dirty="0"/>
            </a:br>
            <a:endParaRPr dirty="0"/>
          </a:p>
          <a:p>
            <a:r>
              <a:rPr dirty="0"/>
              <a:t>"Enough slides. Let's look at it running."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"Section three: the demo, and then two stories from the field."</a:t>
            </a:r>
            <a:br/>
            <a:endParaRPr/>
          </a:p>
          <a:p>
            <a:br/>
            <a:endParaRPr/>
          </a:p>
          <a:p>
            <a:r>
              <a:t>TRANSITION:</a:t>
            </a:r>
            <a:br/>
            <a:endParaRPr/>
          </a:p>
          <a:p>
            <a:r>
              <a:t>"Let me switch over to Protocol Studio."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p>
          <a:p>
            <a:r>
              <a:t/>
            </a:r>
            <a:endParaRPr dirty="0"/>
          </a:p>
          <a:p>
            <a:r>
              <a:rPr dirty="0"/>
              <a:t>"This is Protocol Studio. Ask a question, see the selected protocol and its explanation, and inspect the real request and response."</a:t>
            </a:r>
          </a:p>
          <a:p>
            <a:r>
              <a:t/>
            </a:r>
            <a:endParaRPr dirty="0"/>
          </a:p>
          <a:p>
            <a:r>
              <a:rPr dirty="0"/>
              <a:t>DO:</a:t>
            </a:r>
          </a:p>
          <a:p>
            <a:r>
              <a:t/>
            </a:r>
            <a:endParaRPr dirty="0"/>
          </a:p>
          <a:p>
            <a:r>
              <a:rPr dirty="0"/>
              <a:t>1. Ask "Tell me about the Millennium Falcon." Show REST, the cache header and the response size.</a:t>
            </a:r>
          </a:p>
          <a:p>
            <a:r>
              <a:rPr dirty="0"/>
              <a:t>2. Ask "Which starships appear in A New Hope, and who is in its cast?" Show query FilmShipsCast, target film:1 and the answer containing ships and characters. Compare one GraphQL request with one REST request. Explain that the REST body includes nested records while GraphQL selects the requested fields.</a:t>
            </a:r>
          </a:p>
          <a:p>
            <a:r>
              <a:rPr dirty="0"/>
              <a:t>3. Ask "Track the Millennium Falcon." Click Present flight and watch location, pilot, shields and flight events update over about forty seconds. Point out the Chewbacca handoff, alert, recovery and arrival. Close the presentation view and inspect one Watch request with twenty-one responses.</a:t>
            </a:r>
          </a:p>
          <a:p>
            <a:r>
              <a:t/>
            </a:r>
            <a:endParaRPr dirty="0"/>
          </a:p>
          <a:p>
            <a:r>
              <a:rPr dirty="0"/>
              <a:t>OPTIONAL FOLLOW-UPS:</a:t>
            </a:r>
          </a:p>
          <a:p>
            <a:r>
              <a:t/>
            </a:r>
            <a:endParaRPr dirty="0"/>
          </a:p>
          <a:p>
            <a:r>
              <a:rPr dirty="0"/>
              <a:t>"Where is the Millennium Falcon currently?" and "Who is currently flying the Millennium Falcon?" also start the labeled flight simulation. Each new request starts its own replay, not a shared continuously running galaxy.</a:t>
            </a:r>
          </a:p>
          <a:p>
            <a:r>
              <a:t/>
            </a:r>
            <a:endParaRPr dirty="0"/>
          </a:p>
          <a:p>
            <a:r>
              <a:rPr dirty="0"/>
              <a:t>"Which films feature Luke Skywalker?" explores character appearances.</a:t>
            </a:r>
          </a:p>
          <a:p>
            <a:r>
              <a:rPr dirty="0"/>
              <a:t>"Who flew the Millennium Falcon in Return of the Jedi?" returns Lando Calrissian and Nien Nunb for the Battle of Endor.</a:t>
            </a:r>
          </a:p>
          <a:p>
            <a:r>
              <a:t/>
            </a:r>
            <a:endParaRPr dirty="0"/>
          </a:p>
          <a:p>
            <a:r>
              <a:rPr dirty="0"/>
              <a:t>BE CLEAR ABOUT THIS:</a:t>
            </a:r>
          </a:p>
          <a:p>
            <a:r>
              <a:t/>
            </a:r>
            <a:endParaRPr dirty="0"/>
          </a:p>
          <a:p>
            <a:r>
              <a:rPr dirty="0"/>
              <a:t>"Cast means fictional characters. Flight-crew data is film-specific and partial. The gRPC flight is a clearly labeled fictional simulation, separate from documented film crew. It is repeatable, not a canon itinerary or live telemetry."</a:t>
            </a:r>
          </a:p>
          <a:p>
            <a:r>
              <a:t/>
            </a:r>
            <a:endParaRPr dirty="0"/>
          </a:p>
          <a:p>
            <a:r>
              <a:rPr dirty="0"/>
              <a:t>"A presenter override applies to one question and the UI labels it. Allow the local model to warm up before presenting."</a:t>
            </a:r>
          </a:p>
          <a:p>
            <a:r>
              <a:t/>
            </a:r>
            <a:endParaRPr dirty="0"/>
          </a:p>
          <a:p>
            <a:r>
              <a:rPr dirty="0"/>
              <a:t>TRANSITION:</a:t>
            </a:r>
          </a:p>
          <a:p>
            <a:r>
              <a:t/>
            </a:r>
            <a:endParaRPr dirty="0"/>
          </a:p>
          <a:p>
            <a:r>
              <a:rPr dirty="0"/>
              <a:t>"That is the lab example. Here is what this looks like with real clients."</a:t>
            </a:r>
          </a:p>
          <a:p>
            <a:r>
              <a:t/>
            </a:r>
            <a:endParaRPr dirty="0"/>
          </a:p>
          <a:p>
            <a:r>
              <a:rPr dirty="0"/>
              <a:t>SOURCES:</a:t>
            </a:r>
          </a:p>
          <a:p>
            <a:r>
              <a:rPr dirty="0"/>
              <a:t>Project: docs/dataset-provenance.md, docs/validation.md and backend/src/main/resources/catalog.json.</a:t>
            </a:r>
          </a:p>
          <a:p>
            <a:r>
              <a:rPr dirty="0"/>
              <a:t>https://www.starwars.com/databank/han-solo</a:t>
            </a:r>
          </a:p>
          <a:p>
            <a:r>
              <a:rPr dirty="0"/>
              <a:t>https://www.starwars.com/databank/chewbacca</a:t>
            </a:r>
            <a:endParaRPr dirty="0"/>
          </a:p>
          <a:p>
            <a:r>
              <a:rPr dirty="0"/>
              <a:t/>
            </a:r>
            <a:endParaRPr dirty="0"/>
          </a:p>
          <a:p>
            <a:r>
              <a:rPr dirty="0"/>
              <a:t>CREW FOLLOW-UP:</a:t>
            </a:r>
            <a:endParaRPr dirty="0"/>
          </a:p>
          <a:p>
            <a:r>
              <a:rPr dirty="0"/>
              <a:t>Ask "Who flew the Millennium Falcon in A New Hope?" Show query ShipCrew and target crew:5:1. The REST comparison fetches /api/catalog/starships/crew:5:1, matching the film filter. The answer names Han Solo and Chewbacca.</a:t>
            </a:r>
            <a:endParaRPr dirty="0"/>
          </a:p>
          <a:p>
            <a:r>
              <a:rPr dirty="0"/>
              <a:t/>
            </a:r>
            <a:endParaRPr dirty="0"/>
          </a:p>
          <a:p>
            <a:r>
              <a:rPr dirty="0"/>
              <a:t>STREAM FOLLOW-UP:</a:t>
            </a:r>
            <a:endParaRPr dirty="0"/>
          </a:p>
          <a:p>
            <a:r>
              <a:rPr dirty="0"/>
              <a:t>Expand a gRPC MESSAGES row and point out the sequence, byte count, arrival time and decoded payload. Each row matches its snapshot by sequence.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"Our first client is a large-scale distribution company — automated material handling systems, equipment and consulting."</a:t>
            </a:r>
            <a:br/>
            <a:endParaRPr/>
          </a:p>
          <a:p>
            <a:br/>
            <a:endParaRPr/>
          </a:p>
          <a:p>
            <a:r>
              <a:t>1. "They set out to build the next-generation warehouse execution system: 'Waze for the warehouse', in the public cloud."</a:t>
            </a:r>
            <a:br/>
            <a:endParaRPr/>
          </a:p>
          <a:p>
            <a:r>
              <a:t>2. "Complete automation, which had not been done before, across an industrial IoT estate — sorting, picking and conveyors."</a:t>
            </a:r>
            <a:br/>
            <a:endParaRPr/>
          </a:p>
          <a:p>
            <a:r>
              <a:t>3. "It is built on microservices and functions, with REST for resources and GraphQL for the connected view of the warehouse."</a:t>
            </a:r>
            <a:br/>
            <a:endParaRPr/>
          </a:p>
          <a:p>
            <a:br/>
            <a:endParaRPr/>
          </a:p>
          <a:p>
            <a:r>
              <a:t>BE CLEAR ABOUT THIS:</a:t>
            </a:r>
            <a:br/>
            <a:endParaRPr/>
          </a:p>
          <a:p>
            <a:r>
              <a:t>"This is a case of choosing per operation: REST where the resource is the unit, GraphQL where the relationships are the product."</a:t>
            </a:r>
            <a:br/>
            <a:endParaRPr/>
          </a:p>
          <a:p>
            <a:br/>
            <a:endParaRPr/>
          </a:p>
          <a:p>
            <a:r>
              <a:t>TRANSITION:</a:t>
            </a:r>
            <a:br/>
            <a:endParaRPr/>
          </a:p>
          <a:p>
            <a:r>
              <a:t>"The second story made a very different choice."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"Our second client is a global retail coffee company, rebuilding point of sale and ordering."</a:t>
            </a:r>
            <a:br>
              <a:rPr dirty="0"/>
            </a:br>
            <a:endParaRPr dirty="0"/>
          </a:p>
          <a:p>
            <a:br>
              <a:rPr dirty="0"/>
            </a:br>
            <a:endParaRPr dirty="0"/>
          </a:p>
          <a:p>
            <a:r>
              <a:rPr dirty="0"/>
              <a:t>1. "Thirty-three thousand locations. Security and offline operation are non-negotiable."</a:t>
            </a:r>
            <a:br>
              <a:rPr dirty="0"/>
            </a:br>
            <a:endParaRPr dirty="0"/>
          </a:p>
          <a:p>
            <a:r>
              <a:rPr dirty="0"/>
              <a:t>2. "They have limited ability to expose endpoints at the store."</a:t>
            </a:r>
            <a:br>
              <a:rPr dirty="0"/>
            </a:br>
            <a:endParaRPr dirty="0"/>
          </a:p>
          <a:p>
            <a:r>
              <a:rPr dirty="0"/>
              <a:t>3. "gRPC integration reduced that exposure and increased performance, with typed contracts between services."</a:t>
            </a:r>
            <a:br>
              <a:rPr dirty="0"/>
            </a:br>
            <a:endParaRPr dirty="0"/>
          </a:p>
          <a:p>
            <a:br>
              <a:rPr dirty="0"/>
            </a:br>
            <a:endParaRPr dirty="0"/>
          </a:p>
          <a:p>
            <a:r>
              <a:rPr dirty="0"/>
              <a:t>BE CLEAR ABOUT THIS:</a:t>
            </a:r>
            <a:br>
              <a:rPr dirty="0"/>
            </a:br>
            <a:endParaRPr dirty="0"/>
          </a:p>
          <a:p>
            <a:r>
              <a:rPr dirty="0"/>
              <a:t>"Same decision process, different answer. The constraints — exposure, offline, performance — pointed to gRPC."</a:t>
            </a:r>
            <a:br>
              <a:rPr dirty="0"/>
            </a:br>
            <a:endParaRPr dirty="0"/>
          </a:p>
          <a:p>
            <a:br>
              <a:rPr dirty="0"/>
            </a:br>
            <a:endParaRPr dirty="0"/>
          </a:p>
          <a:p>
            <a:r>
              <a:rPr dirty="0"/>
              <a:t>TRANSITION:</a:t>
            </a:r>
            <a:br>
              <a:rPr dirty="0"/>
            </a:br>
            <a:endParaRPr dirty="0"/>
          </a:p>
          <a:p>
            <a:r>
              <a:rPr dirty="0"/>
              <a:t>"So what should you take away from all of this?"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"Three things to take away."</a:t>
            </a:r>
            <a:br>
              <a:rPr dirty="0"/>
            </a:br>
            <a:endParaRPr dirty="0"/>
          </a:p>
          <a:p>
            <a:br>
              <a:rPr dirty="0"/>
            </a:br>
            <a:endParaRPr dirty="0"/>
          </a:p>
          <a:p>
            <a:r>
              <a:rPr dirty="0"/>
              <a:t>1. "Choose per operation. REST for cacheable resources, GraphQL for related data, gRPC for streams and service-to-service calls. Most systems use more than one."</a:t>
            </a:r>
            <a:br>
              <a:rPr dirty="0"/>
            </a:br>
            <a:endParaRPr dirty="0"/>
          </a:p>
          <a:p>
            <a:r>
              <a:rPr dirty="0"/>
              <a:t>2. "Design the contract first. OpenAPI, schema or proto file — the contract outlives the implementation and drives your tooling, tests and code generation."</a:t>
            </a:r>
            <a:br>
              <a:rPr dirty="0"/>
            </a:br>
            <a:endParaRPr dirty="0"/>
          </a:p>
          <a:p>
            <a:r>
              <a:rPr dirty="0"/>
              <a:t>3. "Measure the whole path. Round trips, payload size and caching decide real-world latency more than the protocol label does."</a:t>
            </a:r>
            <a:br>
              <a:rPr dirty="0"/>
            </a:br>
            <a:endParaRPr dirty="0"/>
          </a:p>
          <a:p>
            <a:br>
              <a:rPr dirty="0"/>
            </a:br>
            <a:endParaRPr dirty="0"/>
          </a:p>
          <a:p>
            <a:r>
              <a:rPr dirty="0"/>
              <a:t>BE CLEAR ABOUT THIS:</a:t>
            </a:r>
            <a:br>
              <a:rPr dirty="0"/>
            </a:br>
            <a:endParaRPr dirty="0"/>
          </a:p>
          <a:p>
            <a:r>
              <a:rPr dirty="0"/>
              <a:t>"Everything you saw today is in the repository — the code, the runbook and the measurements — so you can run it yourself."</a:t>
            </a:r>
            <a:br>
              <a:rPr dirty="0"/>
            </a:br>
            <a:endParaRPr dirty="0"/>
          </a:p>
          <a:p>
            <a:br>
              <a:rPr dirty="0"/>
            </a:br>
            <a:endParaRPr dirty="0"/>
          </a:p>
          <a:p>
            <a:r>
              <a:rPr dirty="0"/>
              <a:t>TRANSITION:</a:t>
            </a:r>
            <a:br>
              <a:rPr dirty="0"/>
            </a:br>
            <a:endParaRPr dirty="0"/>
          </a:p>
          <a:p>
            <a:r>
              <a:rPr dirty="0"/>
              <a:t>"With that, let's open it 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"Thank you. We would love to take your questions."</a:t>
            </a:r>
            <a:br/>
            <a:endParaRPr/>
          </a:p>
          <a:p>
            <a:br/>
            <a:endParaRPr/>
          </a:p>
          <a:p>
            <a:r>
              <a:t>"If you want to try it yourself, it is one command: docker compose up, then open localhost:3000. No API keys needed."</a:t>
            </a:r>
            <a:br/>
            <a:endParaRPr/>
          </a:p>
          <a:p>
            <a:br/>
            <a:endParaRPr/>
          </a:p>
          <a:p>
            <a:r>
              <a:t>IF ASKED ABOUT AI:</a:t>
            </a:r>
            <a:br/>
            <a:endParaRPr/>
          </a:p>
          <a:p>
            <a:r>
              <a:t>"The appendix covers how the demo lets a local model or Jev choose the protocol — I am happy to walk through it."</a:t>
            </a:r>
            <a:br/>
            <a:endParaRPr/>
          </a:p>
          <a:p>
            <a:br/>
            <a:endParaRPr/>
          </a:p>
          <a:p>
            <a:r>
              <a:t>(Replace the presenter placeholders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"This appendix explains how Protocol Studio lets a model choose the protocol — without letting it invent the answer."</a:t>
            </a:r>
            <a:br/>
            <a:endParaRPr/>
          </a:p>
          <a:p>
            <a:br/>
            <a:endParaRPr/>
          </a:p>
          <a:p>
            <a:r>
              <a:t>1. "The architecture: how a question becomes a protocol call."</a:t>
            </a:r>
            <a:br/>
            <a:endParaRPr/>
          </a:p>
          <a:p>
            <a:r>
              <a:t>2. "Two ways to make the decision: Ollama tool calling on a small local model, and Jev's structured decisions."</a:t>
            </a:r>
            <a:br/>
            <a:endParaRPr/>
          </a:p>
          <a:p>
            <a:r>
              <a:t>3. "The guardrails, and what it costs in latency."</a:t>
            </a:r>
            <a:br/>
            <a:endParaRPr/>
          </a:p>
          <a:p>
            <a:br/>
            <a:endParaRPr/>
          </a:p>
          <a:p>
            <a:r>
              <a:t>TRANSITION:</a:t>
            </a:r>
            <a:br/>
            <a:endParaRPr/>
          </a:p>
          <a:p>
            <a:r>
              <a:t>"Here is the path a question takes."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"Every question goes through five steps."</a:t>
            </a:r>
            <a:br>
              <a:rPr dirty="0"/>
            </a:br>
            <a:endParaRPr dirty="0"/>
          </a:p>
          <a:p>
            <a:br>
              <a:rPr dirty="0"/>
            </a:br>
            <a:endParaRPr dirty="0"/>
          </a:p>
          <a:p>
            <a:r>
              <a:rPr dirty="0"/>
              <a:t>1. "The browser posts the message and recent turns."</a:t>
            </a:r>
            <a:br>
              <a:rPr dirty="0"/>
            </a:br>
            <a:endParaRPr dirty="0"/>
          </a:p>
          <a:p>
            <a:r>
              <a:rPr dirty="0"/>
              <a:t>2. "A classifier — Ollama or </a:t>
            </a:r>
            <a:r>
              <a:rPr dirty="0" err="1"/>
              <a:t>Jev</a:t>
            </a:r>
            <a:r>
              <a:rPr dirty="0"/>
              <a:t>, behind one interface — picks one protocol and one allowlisted target."</a:t>
            </a:r>
            <a:br>
              <a:rPr dirty="0"/>
            </a:br>
            <a:endParaRPr dirty="0"/>
          </a:p>
          <a:p>
            <a:r>
              <a:rPr dirty="0"/>
              <a:t>3. "The decision is just protocol plus target. Never a URL, never query text."</a:t>
            </a:r>
            <a:br>
              <a:rPr dirty="0"/>
            </a:br>
            <a:endParaRPr dirty="0"/>
          </a:p>
          <a:p>
            <a:r>
              <a:rPr dirty="0"/>
              <a:t>4. "The server calls its own REST, GraphQL or native gRPC endpoint — real traffic."</a:t>
            </a:r>
            <a:br>
              <a:rPr dirty="0"/>
            </a:br>
            <a:endParaRPr dirty="0"/>
          </a:p>
          <a:p>
            <a:r>
              <a:rPr dirty="0"/>
              <a:t>5. "The answer is composed from the response, and the inspector shows the payloads and timings."</a:t>
            </a:r>
            <a:br>
              <a:rPr dirty="0"/>
            </a:br>
            <a:endParaRPr dirty="0"/>
          </a:p>
          <a:p>
            <a:br>
              <a:rPr dirty="0"/>
            </a:br>
            <a:endParaRPr dirty="0"/>
          </a:p>
          <a:p>
            <a:r>
              <a:rPr dirty="0"/>
              <a:t>BE CLEAR ABOUT THIS:</a:t>
            </a:r>
            <a:br>
              <a:rPr dirty="0"/>
            </a:br>
            <a:endParaRPr dirty="0"/>
          </a:p>
          <a:p>
            <a:r>
              <a:rPr dirty="0"/>
              <a:t>"The model chooses the route. It never supplies the data. If it routes wrongly, you can see it — and it cannot invent facts."</a:t>
            </a:r>
            <a:br>
              <a:rPr dirty="0"/>
            </a:br>
            <a:endParaRPr dirty="0"/>
          </a:p>
          <a:p>
            <a:br>
              <a:rPr dirty="0"/>
            </a:br>
            <a:endParaRPr dirty="0"/>
          </a:p>
          <a:p>
            <a:r>
              <a:rPr dirty="0"/>
              <a:t>TRANSITION:</a:t>
            </a:r>
            <a:br>
              <a:rPr dirty="0"/>
            </a:br>
            <a:endParaRPr dirty="0"/>
          </a:p>
          <a:p>
            <a:r>
              <a:rPr dirty="0"/>
              <a:t>"Let's look at the default router: </a:t>
            </a:r>
            <a:r>
              <a:rPr dirty="0" err="1"/>
              <a:t>Ollama</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p>
          <a:p>
            <a:r>
              <a:t/>
            </a:r>
            <a:endParaRPr/>
          </a:p>
          <a:p>
            <a:r>
              <a:t>"The default is genuine tool calling on a small local model — no API key, and no cloud dependency."</a:t>
            </a:r>
          </a:p>
          <a:p>
            <a:r>
              <a:t/>
            </a:r>
            <a:endParaRPr/>
          </a:p>
          <a:p>
            <a:r>
              <a:t/>
            </a:r>
            <a:endParaRPr/>
          </a:p>
          <a:p>
            <a:r>
              <a:t/>
            </a:r>
            <a:endParaRPr/>
          </a:p>
          <a:p>
            <a:r>
              <a:t>1. "There is one tool per reviewed operation. The model selects an operation and catalog target. Each operation fixes its protocol and GraphQL selection set."</a:t>
            </a:r>
          </a:p>
          <a:p>
            <a:r>
              <a:t/>
            </a:r>
            <a:endParaRPr/>
          </a:p>
          <a:p>
            <a:r>
              <a:t>2. "The target is an enum, so the model can only pick catalog IDs that exist."</a:t>
            </a:r>
          </a:p>
          <a:p>
            <a:r>
              <a:t/>
            </a:r>
            <a:endParaRPr/>
          </a:p>
          <a:p>
            <a:r>
              <a:t>3. "We pin a four-billion-parameter instruct model without thinking mode, running locally."</a:t>
            </a:r>
          </a:p>
          <a:p>
            <a:r>
              <a:t/>
            </a:r>
            <a:endParaRPr/>
          </a:p>
          <a:p>
            <a:r>
              <a:t>4. "It is tuned for latency: temperature zero, a 96-token cap, a thirty-minute keep-alive and a warm-up at startup."</a:t>
            </a:r>
          </a:p>
          <a:p>
            <a:r>
              <a:t/>
            </a:r>
            <a:endParaRPr/>
          </a:p>
          <a:p>
            <a:r>
              <a:t/>
            </a:r>
            <a:endParaRPr/>
          </a:p>
          <a:p>
            <a:r>
              <a:t/>
            </a:r>
            <a:endParaRPr/>
          </a:p>
          <a:p>
            <a:r>
              <a:t>BE CLEAR ABOUT THIS:</a:t>
            </a:r>
          </a:p>
          <a:p>
            <a:r>
              <a:t/>
            </a:r>
            <a:endParaRPr/>
          </a:p>
          <a:p>
            <a:r>
              <a:t>"Pin the exact model tag. The unqualified tag resolves to a thinking model that burns tokens before it calls a tool."</a:t>
            </a:r>
          </a:p>
          <a:p>
            <a:r>
              <a:t/>
            </a:r>
            <a:endParaRPr/>
          </a:p>
          <a:p>
            <a:r>
              <a:t/>
            </a:r>
            <a:endParaRPr/>
          </a:p>
          <a:p>
            <a:r>
              <a:t/>
            </a:r>
            <a:endParaRPr/>
          </a:p>
          <a:p>
            <a:r>
              <a:t>TRANSITION:</a:t>
            </a:r>
          </a:p>
          <a:p>
            <a:r>
              <a:t/>
            </a:r>
            <a:endParaRPr/>
          </a:p>
          <a:p>
            <a:r>
              <a:t>"The alternative is a model built for decisions rather than text."</a:t>
            </a:r>
          </a:p>
          <a:p>
            <a:r>
              <a:t/>
            </a:r>
            <a:endParaRPr/>
          </a:p>
          <a:p>
            <a:r>
              <a:t>DEMO CONTEXT:</a:t>
            </a:r>
          </a:p>
          <a:p>
            <a:r>
              <a:t/>
            </a:r>
            <a:endParaRPr/>
          </a:p>
          <a:p>
            <a:r>
              <a:t>Character target cast:1 identifies Luke Skywalker. Crew target crew:5:1 preserves both the Falcon and A New Hope. The backend rejects unsupported target formats. Missing crew evidence remains a valid coverage-gap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endParaRPr/>
          </a:p>
          <a:p>
            <a:r>
              <a:t/>
            </a:r>
            <a:endParaRPr/>
          </a:p>
          <a:p>
            <a:r>
              <a:t>"Jev is a decision model, not a text generator."</a:t>
            </a:r>
            <a:endParaRPr/>
          </a:p>
          <a:p>
            <a:r>
              <a:t/>
            </a:r>
            <a:endParaRPr/>
          </a:p>
          <a:p>
            <a:r>
              <a:t/>
            </a:r>
            <a:endParaRPr/>
          </a:p>
          <a:p>
            <a:r>
              <a:t/>
            </a:r>
            <a:endParaRPr/>
          </a:p>
          <a:p>
            <a:r>
              <a:t>1. "Instead of generating text, we ask two typed choice questions: which operation, and which target."</a:t>
            </a:r>
            <a:endParaRPr/>
          </a:p>
          <a:p>
            <a:r>
              <a:t/>
            </a:r>
            <a:endParaRPr/>
          </a:p>
          <a:p>
            <a:r>
              <a:t>2. "Each answer comes back with a confidence and probabilities, and we show them in the inspector."</a:t>
            </a:r>
            <a:endParaRPr/>
          </a:p>
          <a:p>
            <a:r>
              <a:t/>
            </a:r>
            <a:endParaRPr/>
          </a:p>
          <a:p>
            <a:r>
              <a:t>3. "It plugs in behind the same interface — one environment variable switches providers."</a:t>
            </a:r>
            <a:endParaRPr/>
          </a:p>
          <a:p>
            <a:r>
              <a:t/>
            </a:r>
            <a:endParaRPr/>
          </a:p>
          <a:p>
            <a:r>
              <a:t>4. "It is hosted by TypeSafe, so it needs internet access and an API key. The key never leaves the server."</a:t>
            </a:r>
          </a:p>
          <a:p>
            <a:r>
              <a:t/>
            </a:r>
          </a:p>
          <a:p>
            <a:r>
              <a:t/>
            </a:r>
          </a:p>
          <a:p>
            <a:r>
              <a:t/>
            </a:r>
          </a:p>
          <a:p>
            <a:r>
              <a:t>BE CLEAR ABOUT THIS:</a:t>
            </a:r>
          </a:p>
          <a:p>
            <a:r>
              <a:t/>
            </a:r>
          </a:p>
          <a:p>
            <a:r>
              <a:t>"Jev is optional. For a small, closed decision like this one, a structured decision fits better than free-form generation."</a:t>
            </a:r>
          </a:p>
          <a:p>
            <a:r>
              <a:t/>
            </a:r>
          </a:p>
          <a:p>
            <a:r>
              <a:t/>
            </a:r>
          </a:p>
          <a:p>
            <a:r>
              <a:t/>
            </a:r>
          </a:p>
          <a:p>
            <a:r>
              <a:t>TRANSITION:</a:t>
            </a:r>
          </a:p>
          <a:p>
            <a:r>
              <a:t/>
            </a:r>
          </a:p>
          <a:p>
            <a:r>
              <a:t>"So how do you choose between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"Both routers make the same decision in different ways."</a:t>
            </a:r>
            <a:br/>
            <a:endParaRPr/>
          </a:p>
          <a:p>
            <a:br/>
            <a:endParaRPr/>
          </a:p>
          <a:p>
            <a:r>
              <a:t>1. "Ollama runs locally and works offline, which matters for demos and data residency. It does not report confidence, and we do not invent one."</a:t>
            </a:r>
            <a:br/>
            <a:endParaRPr/>
          </a:p>
          <a:p>
            <a:r>
              <a:t>2. "Jev is hosted, needs a key, and gives you calibrated confidence per decision."</a:t>
            </a:r>
            <a:br/>
            <a:endParaRPr/>
          </a:p>
          <a:p>
            <a:br/>
            <a:endParaRPr/>
          </a:p>
          <a:p>
            <a:r>
              <a:t>BE CLEAR ABOUT THIS:</a:t>
            </a:r>
            <a:br/>
            <a:endParaRPr/>
          </a:p>
          <a:p>
            <a:r>
              <a:t>"Presenter overrides bypass the model for one question, and the UI says so every time."</a:t>
            </a:r>
            <a:br/>
            <a:endParaRPr/>
          </a:p>
          <a:p>
            <a:br/>
            <a:endParaRPr/>
          </a:p>
          <a:p>
            <a:r>
              <a:t>TRANSITION:</a:t>
            </a:r>
            <a:br/>
            <a:endParaRPr/>
          </a:p>
          <a:p>
            <a:r>
              <a:t>"That brings us to the rules that keep this honest."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"Five rules make it safe to put a model in the request path."</a:t>
            </a:r>
            <a:br/>
            <a:endParaRPr/>
          </a:p>
          <a:p>
            <a:br/>
            <a:endParaRPr/>
          </a:p>
          <a:p>
            <a:r>
              <a:t>1. "Allowlisted targets — the model picks from catalog IDs, never URLs or queries."</a:t>
            </a:r>
            <a:br/>
            <a:endParaRPr/>
          </a:p>
          <a:p>
            <a:r>
              <a:t>2. "No hidden fallback — if the model fails, you see an error, not keyword routing labeled as AI."</a:t>
            </a:r>
            <a:br/>
            <a:endParaRPr/>
          </a:p>
          <a:p>
            <a:r>
              <a:t>3. "Labeled overrides — they apply to one question, then routing resets to Auto."</a:t>
            </a:r>
            <a:br/>
            <a:endParaRPr/>
          </a:p>
          <a:p>
            <a:r>
              <a:t>4. "Grounded answers — every answer is built from the actual transport response."</a:t>
            </a:r>
            <a:br/>
            <a:endParaRPr/>
          </a:p>
          <a:p>
            <a:r>
              <a:t>5. "Secrets stay server-side, and ports bind to loopback by default."</a:t>
            </a:r>
            <a:br/>
            <a:endParaRPr/>
          </a:p>
          <a:p>
            <a:br/>
            <a:endParaRPr/>
          </a:p>
          <a:p>
            <a:r>
              <a:t>TRANSITION:</a:t>
            </a:r>
            <a:br/>
            <a:endParaRPr/>
          </a:p>
          <a:p>
            <a:r>
              <a:t>"Finally, what does the router cost?"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p>
          <a:p>
            <a:endParaRPr dirty="0"/>
          </a:p>
          <a:p>
            <a:r>
              <a:rPr dirty="0"/>
              <a:t>"These are medians to a complete response, on warm runs with native </a:t>
            </a:r>
            <a:r>
              <a:rPr dirty="0" err="1"/>
              <a:t>Ollama</a:t>
            </a:r>
            <a:r>
              <a:rPr dirty="0"/>
              <a:t> on Apple Silicon."</a:t>
            </a:r>
          </a:p>
          <a:p>
            <a:endParaRPr dirty="0"/>
          </a:p>
          <a:p>
            <a:endParaRPr dirty="0"/>
          </a:p>
          <a:p>
            <a:endParaRPr dirty="0"/>
          </a:p>
          <a:p>
            <a:r>
              <a:rPr dirty="0"/>
              <a:t>1. "REST in 1.11 seconds, GraphQL in 1.26, gRPC in 1.86 including three streamed snapshots."</a:t>
            </a:r>
          </a:p>
          <a:p>
            <a:endParaRPr dirty="0"/>
          </a:p>
          <a:p>
            <a:r>
              <a:rPr dirty="0"/>
              <a:t>2. "Routing is the cost — about a second on a warm four-billion-parameter model. REST and GraphQL execute in single-digit milliseconds."</a:t>
            </a:r>
          </a:p>
          <a:p>
            <a:endParaRPr dirty="0"/>
          </a:p>
          <a:p>
            <a:r>
              <a:rPr dirty="0"/>
              <a:t>3. "Most of the gRPC stream time is the deliberate pacing, so you can watch it happen."</a:t>
            </a:r>
          </a:p>
          <a:p>
            <a:endParaRPr dirty="0"/>
          </a:p>
          <a:p>
            <a:endParaRPr dirty="0"/>
          </a:p>
          <a:p>
            <a:endParaRPr dirty="0"/>
          </a:p>
          <a:p>
            <a:r>
              <a:rPr dirty="0"/>
              <a:t>BE CLEAR ABOUT THIS:</a:t>
            </a:r>
          </a:p>
          <a:p>
            <a:endParaRPr dirty="0"/>
          </a:p>
          <a:p>
            <a:r>
              <a:rPr dirty="0"/>
              <a:t>"This is a request diagnostic from three runs per protocol, not a load test or a protocol benchmark. You can reproduce it with the benchmark script in the repository."</a:t>
            </a:r>
          </a:p>
          <a:p>
            <a:endParaRPr dirty="0"/>
          </a:p>
          <a:p>
            <a:r>
              <a:rPr dirty="0"/>
              <a:t>DEMO CONTEXT:</a:t>
            </a:r>
          </a:p>
          <a:p>
            <a:endParaRPr dirty="0"/>
          </a:p>
          <a:p>
            <a:r>
              <a:rPr dirty="0"/>
              <a:t>These measurements describe the earlier catalog and routing prompt. They are historical context, not a measurement of v4 character and crew routing. Do not promise these timings for the current demo. Rerun scripts/</a:t>
            </a:r>
            <a:r>
              <a:rPr dirty="0" err="1"/>
              <a:t>benchmark.mjs</a:t>
            </a:r>
            <a:r>
              <a:rPr dirty="0"/>
              <a:t> in the intended presentation environment for a new baseline.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6CC67404.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C_15543F0B.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E_2F6E05A0.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0F_32BC5957.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10_4B0BD525.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EBE9F90-8E8C-4586-BFB0-A5C7C861C5AB}"/>
              </a:ext>
            </a:extLst>
          </p:cNvPr>
          <p:cNvSpPr>
            <a:spLocks noGrp="1"/>
          </p:cNvSpPr>
          <p:nvPr/>
        </p:nvSpPr>
        <p:spPr>
          <a:xfrm>
            <a:off x="8128000" y="0"/>
            <a:ext cx="4064000" cy="6858000"/>
          </a:xfrm>
          <a:prstGeom prst="rect">
            <a:avLst/>
          </a:prstGeom>
          <a:solidFill>
            <a:srgbClr val="DA1884"/>
          </a:solidFill>
        </p:spPr>
        <p:txBody>
          <a:bodyPr/>
          <a:lstStyle/>
          <a:p>
            <a:endParaRPr/>
          </a:p>
        </p:txBody>
      </p:sp>
      <p:pic>
        <p:nvPicPr>
          <p:cNvPr id="3" name="Image 0">
            <a:extLst>
              <a:ext uri="{FF2B5EF4-FFF2-40B4-BE49-F238E27FC236}">
                <a16:creationId xmlns:a16="http://schemas.microsoft.com/office/drawing/2014/main" id="{A49365A6-9F53-4326-A000-D68A588168EF}"/>
              </a:ext>
            </a:extLst>
          </p:cNvPr>
          <p:cNvPicPr>
            <a:picLocks noChangeAspect="1"/>
          </p:cNvPicPr>
          <p:nvPr/>
        </p:nvPicPr>
        <p:blipFill>
          <a:blip r:embed="rId4"/>
          <a:stretch>
            <a:fillRect/>
          </a:stretch>
        </p:blipFill>
        <p:spPr>
          <a:xfrm>
            <a:off x="609600" y="825500"/>
            <a:ext cx="1905000" cy="787400"/>
          </a:xfrm>
          <a:prstGeom prst="rect">
            <a:avLst/>
          </a:prstGeom>
        </p:spPr>
      </p:pic>
      <p:sp>
        <p:nvSpPr>
          <p:cNvPr id="4" name="Text 1">
            <a:extLst>
              <a:ext uri="{FF2B5EF4-FFF2-40B4-BE49-F238E27FC236}">
                <a16:creationId xmlns:a16="http://schemas.microsoft.com/office/drawing/2014/main" id="{DCE838DC-585B-4447-9144-D86C83963F71}"/>
              </a:ext>
            </a:extLst>
          </p:cNvPr>
          <p:cNvSpPr>
            <a:spLocks noGrp="1"/>
          </p:cNvSpPr>
          <p:nvPr/>
        </p:nvSpPr>
        <p:spPr>
          <a:xfrm>
            <a:off x="609600" y="2095500"/>
            <a:ext cx="6985000" cy="228600"/>
          </a:xfrm>
          <a:prstGeom prst="rect">
            <a:avLst/>
          </a:prstGeom>
          <a:noFill/>
        </p:spPr>
        <p:txBody>
          <a:bodyPr wrap="square" lIns="0" tIns="0" rIns="0" bIns="0" anchor="t"/>
          <a:lstStyle/>
          <a:p>
            <a:pPr marL="0" indent="0" algn="l">
              <a:lnSpc>
                <a:spcPct val="110000"/>
              </a:lnSpc>
              <a:buNone/>
            </a:pPr>
            <a:r>
              <a:rPr sz="1300" b="1">
                <a:solidFill>
                  <a:srgbClr val="DA1884"/>
                </a:solidFill>
                <a:latin typeface="Arial"/>
                <a:ea typeface="Arial"/>
                <a:cs typeface="Arial"/>
              </a:rPr>
              <a:t>TECHNICAL SESSION</a:t>
            </a:r>
            <a:endParaRPr sz="1300"/>
          </a:p>
        </p:txBody>
      </p:sp>
      <p:sp>
        <p:nvSpPr>
          <p:cNvPr id="5" name="Text 2">
            <a:extLst>
              <a:ext uri="{FF2B5EF4-FFF2-40B4-BE49-F238E27FC236}">
                <a16:creationId xmlns:a16="http://schemas.microsoft.com/office/drawing/2014/main" id="{F5F12340-2216-4DE3-8101-23F035570DC2}"/>
              </a:ext>
            </a:extLst>
          </p:cNvPr>
          <p:cNvSpPr>
            <a:spLocks noGrp="1"/>
          </p:cNvSpPr>
          <p:nvPr/>
        </p:nvSpPr>
        <p:spPr>
          <a:xfrm>
            <a:off x="609600" y="2374900"/>
            <a:ext cx="7112000" cy="635000"/>
          </a:xfrm>
          <a:prstGeom prst="rect">
            <a:avLst/>
          </a:prstGeom>
          <a:noFill/>
        </p:spPr>
        <p:txBody>
          <a:bodyPr wrap="square" lIns="0" tIns="0" rIns="0" bIns="0" anchor="t"/>
          <a:lstStyle/>
          <a:p>
            <a:pPr marL="0" indent="0" algn="l">
              <a:lnSpc>
                <a:spcPct val="110000"/>
              </a:lnSpc>
              <a:buNone/>
            </a:pPr>
            <a:r>
              <a:rPr sz="3600" b="1" dirty="0">
                <a:solidFill>
                  <a:srgbClr val="141414"/>
                </a:solidFill>
                <a:latin typeface="Arial"/>
                <a:ea typeface="Arial"/>
                <a:cs typeface="Arial"/>
              </a:rPr>
              <a:t>REST vs GraphQL vs gRPC</a:t>
            </a:r>
            <a:endParaRPr sz="3600" dirty="0"/>
          </a:p>
        </p:txBody>
      </p:sp>
      <p:sp>
        <p:nvSpPr>
          <p:cNvPr id="6" name="Text 3">
            <a:extLst>
              <a:ext uri="{FF2B5EF4-FFF2-40B4-BE49-F238E27FC236}">
                <a16:creationId xmlns:a16="http://schemas.microsoft.com/office/drawing/2014/main" id="{486E88AD-5B10-4F03-B083-F93DC25006AF}"/>
              </a:ext>
            </a:extLst>
          </p:cNvPr>
          <p:cNvSpPr>
            <a:spLocks noGrp="1"/>
          </p:cNvSpPr>
          <p:nvPr/>
        </p:nvSpPr>
        <p:spPr>
          <a:xfrm>
            <a:off x="609600" y="3111500"/>
            <a:ext cx="6985000" cy="609600"/>
          </a:xfrm>
          <a:prstGeom prst="rect">
            <a:avLst/>
          </a:prstGeom>
          <a:noFill/>
        </p:spPr>
        <p:txBody>
          <a:bodyPr wrap="square" lIns="0" tIns="0" rIns="0" bIns="0" anchor="t"/>
          <a:lstStyle/>
          <a:p>
            <a:pPr marL="0" indent="0" algn="l">
              <a:lnSpc>
                <a:spcPct val="120000"/>
              </a:lnSpc>
              <a:buNone/>
            </a:pPr>
            <a:r>
              <a:rPr sz="1600" b="1">
                <a:solidFill>
                  <a:srgbClr val="333333"/>
                </a:solidFill>
                <a:latin typeface="Arial"/>
                <a:ea typeface="Arial"/>
                <a:cs typeface="Arial"/>
              </a:rPr>
              <a:t>Choosing the right API protocol for the operation in front of you.</a:t>
            </a:r>
            <a:endParaRPr sz="1600"/>
          </a:p>
        </p:txBody>
      </p:sp>
      <p:sp>
        <p:nvSpPr>
          <p:cNvPr id="7" name="Shape 4">
            <a:extLst>
              <a:ext uri="{FF2B5EF4-FFF2-40B4-BE49-F238E27FC236}">
                <a16:creationId xmlns:a16="http://schemas.microsoft.com/office/drawing/2014/main" id="{0314C58B-0333-4A41-997B-C208E6A8442D}"/>
              </a:ext>
            </a:extLst>
          </p:cNvPr>
          <p:cNvSpPr>
            <a:spLocks noGrp="1"/>
          </p:cNvSpPr>
          <p:nvPr/>
        </p:nvSpPr>
        <p:spPr>
          <a:xfrm>
            <a:off x="609600" y="3911600"/>
            <a:ext cx="50800" cy="1371600"/>
          </a:xfrm>
          <a:prstGeom prst="rect">
            <a:avLst/>
          </a:prstGeom>
          <a:solidFill>
            <a:srgbClr val="DA1884"/>
          </a:solidFill>
        </p:spPr>
        <p:txBody>
          <a:bodyPr/>
          <a:lstStyle/>
          <a:p>
            <a:endParaRPr/>
          </a:p>
        </p:txBody>
      </p:sp>
      <p:sp>
        <p:nvSpPr>
          <p:cNvPr id="8" name="Text 5">
            <a:extLst>
              <a:ext uri="{FF2B5EF4-FFF2-40B4-BE49-F238E27FC236}">
                <a16:creationId xmlns:a16="http://schemas.microsoft.com/office/drawing/2014/main" id="{439C4A71-70ED-400F-829D-70BF26B98097}"/>
              </a:ext>
            </a:extLst>
          </p:cNvPr>
          <p:cNvSpPr>
            <a:spLocks noGrp="1"/>
          </p:cNvSpPr>
          <p:nvPr/>
        </p:nvSpPr>
        <p:spPr>
          <a:xfrm>
            <a:off x="863600" y="3937000"/>
            <a:ext cx="6731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WHAT IT IS</a:t>
            </a:r>
            <a:endParaRPr sz="1200"/>
          </a:p>
        </p:txBody>
      </p:sp>
      <p:sp>
        <p:nvSpPr>
          <p:cNvPr id="9" name="Text 6">
            <a:extLst>
              <a:ext uri="{FF2B5EF4-FFF2-40B4-BE49-F238E27FC236}">
                <a16:creationId xmlns:a16="http://schemas.microsoft.com/office/drawing/2014/main" id="{51C42803-AD44-41C4-9AB0-5DA8E6196539}"/>
              </a:ext>
            </a:extLst>
          </p:cNvPr>
          <p:cNvSpPr>
            <a:spLocks noGrp="1"/>
          </p:cNvSpPr>
          <p:nvPr/>
        </p:nvSpPr>
        <p:spPr>
          <a:xfrm>
            <a:off x="863600" y="4216400"/>
            <a:ext cx="6731000" cy="1079500"/>
          </a:xfrm>
          <a:prstGeom prst="rect">
            <a:avLst/>
          </a:prstGeom>
          <a:noFill/>
        </p:spPr>
        <p:txBody>
          <a:bodyPr wrap="square" lIns="0" tIns="0" rIns="0" bIns="0" anchor="t"/>
          <a:lstStyle/>
          <a:p>
            <a:pPr marL="0" indent="0" algn="l">
              <a:lnSpc>
                <a:spcPct val="130000"/>
              </a:lnSpc>
              <a:buNone/>
            </a:pPr>
            <a:r>
              <a:rPr sz="1300" dirty="0">
                <a:solidFill>
                  <a:srgbClr val="333333"/>
                </a:solidFill>
                <a:latin typeface="Arial"/>
                <a:ea typeface="Arial"/>
                <a:cs typeface="Arial"/>
              </a:rPr>
              <a:t>A</a:t>
            </a:r>
            <a:r>
              <a:rPr lang="en-US" sz="1300" dirty="0">
                <a:solidFill>
                  <a:srgbClr val="333333"/>
                </a:solidFill>
                <a:latin typeface="Arial"/>
                <a:ea typeface="Arial"/>
                <a:cs typeface="Arial"/>
              </a:rPr>
              <a:t>n intermediate</a:t>
            </a:r>
            <a:r>
              <a:rPr sz="1300" dirty="0">
                <a:solidFill>
                  <a:srgbClr val="333333"/>
                </a:solidFill>
                <a:latin typeface="Arial"/>
                <a:ea typeface="Arial"/>
                <a:cs typeface="Arial"/>
              </a:rPr>
              <a:t> 300-level tour of REST, GraphQL and gRPC through one working app, Protocol Studio: a local or hosted model routes each question to the protocol that fits, and every request is real traffic you can inspect.</a:t>
            </a:r>
            <a:endParaRPr sz="1300" dirty="0"/>
          </a:p>
        </p:txBody>
      </p:sp>
      <p:sp>
        <p:nvSpPr>
          <p:cNvPr id="10" name="Text 7">
            <a:extLst>
              <a:ext uri="{FF2B5EF4-FFF2-40B4-BE49-F238E27FC236}">
                <a16:creationId xmlns:a16="http://schemas.microsoft.com/office/drawing/2014/main" id="{09A5BA9F-BF66-4223-8B7A-531B9F168E56}"/>
              </a:ext>
            </a:extLst>
          </p:cNvPr>
          <p:cNvSpPr>
            <a:spLocks noGrp="1"/>
          </p:cNvSpPr>
          <p:nvPr/>
        </p:nvSpPr>
        <p:spPr>
          <a:xfrm>
            <a:off x="609600" y="5842000"/>
            <a:ext cx="6985000" cy="215900"/>
          </a:xfrm>
          <a:prstGeom prst="rect">
            <a:avLst/>
          </a:prstGeom>
          <a:noFill/>
        </p:spPr>
        <p:txBody>
          <a:bodyPr wrap="square" lIns="0" tIns="0" rIns="0" bIns="0" anchor="t"/>
          <a:lstStyle/>
          <a:p>
            <a:pPr marL="0" indent="0" algn="l">
              <a:lnSpc>
                <a:spcPct val="110000"/>
              </a:lnSpc>
              <a:buNone/>
            </a:pPr>
            <a:r>
              <a:rPr lang="en-US" sz="1200" dirty="0">
                <a:solidFill>
                  <a:srgbClr val="6B6B6B"/>
                </a:solidFill>
                <a:latin typeface="Arial"/>
                <a:ea typeface="Arial"/>
                <a:cs typeface="Arial"/>
              </a:rPr>
              <a:t>dev2next </a:t>
            </a:r>
            <a:r>
              <a:rPr sz="1200" dirty="0">
                <a:solidFill>
                  <a:srgbClr val="6B6B6B"/>
                </a:solidFill>
                <a:latin typeface="Arial"/>
                <a:ea typeface="Arial"/>
                <a:cs typeface="Arial"/>
              </a:rPr>
              <a:t>2026   •   Insight</a:t>
            </a:r>
            <a:endParaRPr sz="1200" dirty="0"/>
          </a:p>
        </p:txBody>
      </p:sp>
      <p:sp>
        <p:nvSpPr>
          <p:cNvPr id="11" name="Text 8">
            <a:extLst>
              <a:ext uri="{FF2B5EF4-FFF2-40B4-BE49-F238E27FC236}">
                <a16:creationId xmlns:a16="http://schemas.microsoft.com/office/drawing/2014/main" id="{D16FA3BB-D5BC-44D9-A89B-DEFA95BC39F3}"/>
              </a:ext>
            </a:extLst>
          </p:cNvPr>
          <p:cNvSpPr>
            <a:spLocks noGrp="1"/>
          </p:cNvSpPr>
          <p:nvPr/>
        </p:nvSpPr>
        <p:spPr>
          <a:xfrm>
            <a:off x="609600" y="6578600"/>
            <a:ext cx="7366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12" name="Text 9">
            <a:extLst>
              <a:ext uri="{FF2B5EF4-FFF2-40B4-BE49-F238E27FC236}">
                <a16:creationId xmlns:a16="http://schemas.microsoft.com/office/drawing/2014/main" id="{5429DD11-21FB-427B-BC08-6C6539286827}"/>
              </a:ext>
            </a:extLst>
          </p:cNvPr>
          <p:cNvSpPr>
            <a:spLocks noGrp="1"/>
          </p:cNvSpPr>
          <p:nvPr/>
        </p:nvSpPr>
        <p:spPr>
          <a:xfrm>
            <a:off x="8636000" y="1587500"/>
            <a:ext cx="3048000" cy="1524000"/>
          </a:xfrm>
          <a:prstGeom prst="rect">
            <a:avLst/>
          </a:prstGeom>
          <a:noFill/>
        </p:spPr>
        <p:txBody>
          <a:bodyPr wrap="square" lIns="0" tIns="0" rIns="0" bIns="0" anchor="t"/>
          <a:lstStyle/>
          <a:p>
            <a:pPr marL="0" indent="0" algn="l">
              <a:lnSpc>
                <a:spcPct val="105000"/>
              </a:lnSpc>
              <a:buNone/>
            </a:pPr>
            <a:r>
              <a:rPr sz="3000" b="1">
                <a:solidFill>
                  <a:srgbClr val="FFFFFF"/>
                </a:solidFill>
                <a:latin typeface="Arial"/>
                <a:ea typeface="Arial"/>
                <a:cs typeface="Arial"/>
              </a:rPr>
              <a:t>Three protocols.</a:t>
            </a:r>
            <a:endParaRPr sz="3000"/>
          </a:p>
          <a:p>
            <a:pPr marL="0" indent="0" algn="l">
              <a:lnSpc>
                <a:spcPct val="105000"/>
              </a:lnSpc>
              <a:buNone/>
            </a:pPr>
            <a:r>
              <a:rPr sz="3000" b="1">
                <a:solidFill>
                  <a:srgbClr val="FFFFFF"/>
                </a:solidFill>
                <a:latin typeface="Arial"/>
                <a:ea typeface="Arial"/>
                <a:cs typeface="Arial"/>
              </a:rPr>
              <a:t>One question.</a:t>
            </a:r>
            <a:endParaRPr sz="3000"/>
          </a:p>
          <a:p>
            <a:pPr marL="0" indent="0" algn="l">
              <a:lnSpc>
                <a:spcPct val="105000"/>
              </a:lnSpc>
              <a:buNone/>
            </a:pPr>
            <a:r>
              <a:rPr sz="3000" b="1">
                <a:solidFill>
                  <a:srgbClr val="FFFFFF"/>
                </a:solidFill>
                <a:latin typeface="Arial"/>
                <a:ea typeface="Arial"/>
                <a:cs typeface="Arial"/>
              </a:rPr>
              <a:t>The right call.</a:t>
            </a:r>
            <a:endParaRPr sz="3000"/>
          </a:p>
        </p:txBody>
      </p:sp>
      <p:sp>
        <p:nvSpPr>
          <p:cNvPr id="13" name="Shape 10">
            <a:extLst>
              <a:ext uri="{FF2B5EF4-FFF2-40B4-BE49-F238E27FC236}">
                <a16:creationId xmlns:a16="http://schemas.microsoft.com/office/drawing/2014/main" id="{D5875327-1087-4BFE-9FC1-822A48AFB797}"/>
              </a:ext>
            </a:extLst>
          </p:cNvPr>
          <p:cNvSpPr>
            <a:spLocks noGrp="1"/>
          </p:cNvSpPr>
          <p:nvPr/>
        </p:nvSpPr>
        <p:spPr>
          <a:xfrm>
            <a:off x="8636000" y="3238500"/>
            <a:ext cx="508000" cy="38100"/>
          </a:xfrm>
          <a:prstGeom prst="rect">
            <a:avLst/>
          </a:prstGeom>
          <a:solidFill>
            <a:srgbClr val="FFFFFF"/>
          </a:solidFill>
        </p:spPr>
        <p:txBody>
          <a:bodyPr/>
          <a:lstStyle/>
          <a:p>
            <a:endParaRPr/>
          </a:p>
        </p:txBody>
      </p:sp>
      <p:sp>
        <p:nvSpPr>
          <p:cNvPr id="14" name="Text 11">
            <a:extLst>
              <a:ext uri="{FF2B5EF4-FFF2-40B4-BE49-F238E27FC236}">
                <a16:creationId xmlns:a16="http://schemas.microsoft.com/office/drawing/2014/main" id="{441CCBF4-E82C-45E9-9E10-7074693668A3}"/>
              </a:ext>
            </a:extLst>
          </p:cNvPr>
          <p:cNvSpPr>
            <a:spLocks noGrp="1"/>
          </p:cNvSpPr>
          <p:nvPr/>
        </p:nvSpPr>
        <p:spPr>
          <a:xfrm>
            <a:off x="8636000" y="3492500"/>
            <a:ext cx="3048000" cy="203200"/>
          </a:xfrm>
          <a:prstGeom prst="rect">
            <a:avLst/>
          </a:prstGeom>
          <a:noFill/>
        </p:spPr>
        <p:txBody>
          <a:bodyPr wrap="square" lIns="0" tIns="0" rIns="0" bIns="0" anchor="t"/>
          <a:lstStyle/>
          <a:p>
            <a:pPr marL="0" indent="0" algn="l">
              <a:lnSpc>
                <a:spcPct val="110000"/>
              </a:lnSpc>
              <a:buNone/>
            </a:pPr>
            <a:r>
              <a:rPr sz="1200" b="1">
                <a:solidFill>
                  <a:srgbClr val="FFFFFF"/>
                </a:solidFill>
                <a:latin typeface="Arial"/>
                <a:ea typeface="Arial"/>
                <a:cs typeface="Arial"/>
              </a:rPr>
              <a:t>01 · THE PROTOCOLS</a:t>
            </a:r>
            <a:endParaRPr sz="1200"/>
          </a:p>
        </p:txBody>
      </p:sp>
      <p:sp>
        <p:nvSpPr>
          <p:cNvPr id="15" name="Text 12">
            <a:extLst>
              <a:ext uri="{FF2B5EF4-FFF2-40B4-BE49-F238E27FC236}">
                <a16:creationId xmlns:a16="http://schemas.microsoft.com/office/drawing/2014/main" id="{03952A99-B263-4F88-BDEA-A63E69F3CDA5}"/>
              </a:ext>
            </a:extLst>
          </p:cNvPr>
          <p:cNvSpPr>
            <a:spLocks noGrp="1"/>
          </p:cNvSpPr>
          <p:nvPr/>
        </p:nvSpPr>
        <p:spPr>
          <a:xfrm>
            <a:off x="8636000" y="3733800"/>
            <a:ext cx="3048000" cy="444500"/>
          </a:xfrm>
          <a:prstGeom prst="rect">
            <a:avLst/>
          </a:prstGeom>
          <a:noFill/>
        </p:spPr>
        <p:txBody>
          <a:bodyPr wrap="square" lIns="0" tIns="0" rIns="0" bIns="0" anchor="t"/>
          <a:lstStyle/>
          <a:p>
            <a:pPr marL="0" indent="0" algn="l">
              <a:lnSpc>
                <a:spcPct val="120000"/>
              </a:lnSpc>
              <a:buNone/>
            </a:pPr>
            <a:r>
              <a:rPr sz="1200" dirty="0">
                <a:solidFill>
                  <a:srgbClr val="FFFFFF"/>
                </a:solidFill>
                <a:latin typeface="Arial"/>
                <a:ea typeface="Arial"/>
                <a:cs typeface="Arial"/>
              </a:rPr>
              <a:t>REST, GraphQL and gRPC compared on real traffic.</a:t>
            </a:r>
            <a:endParaRPr sz="1200" dirty="0"/>
          </a:p>
        </p:txBody>
      </p:sp>
      <p:sp>
        <p:nvSpPr>
          <p:cNvPr id="16" name="Text 13">
            <a:extLst>
              <a:ext uri="{FF2B5EF4-FFF2-40B4-BE49-F238E27FC236}">
                <a16:creationId xmlns:a16="http://schemas.microsoft.com/office/drawing/2014/main" id="{5FD22519-3F91-4C1D-A32D-3171E9103245}"/>
              </a:ext>
            </a:extLst>
          </p:cNvPr>
          <p:cNvSpPr>
            <a:spLocks noGrp="1"/>
          </p:cNvSpPr>
          <p:nvPr/>
        </p:nvSpPr>
        <p:spPr>
          <a:xfrm>
            <a:off x="8636000" y="4318000"/>
            <a:ext cx="3048000" cy="203200"/>
          </a:xfrm>
          <a:prstGeom prst="rect">
            <a:avLst/>
          </a:prstGeom>
          <a:noFill/>
        </p:spPr>
        <p:txBody>
          <a:bodyPr wrap="square" lIns="0" tIns="0" rIns="0" bIns="0" anchor="t"/>
          <a:lstStyle/>
          <a:p>
            <a:pPr marL="0" indent="0" algn="l">
              <a:lnSpc>
                <a:spcPct val="110000"/>
              </a:lnSpc>
              <a:buNone/>
            </a:pPr>
            <a:r>
              <a:rPr sz="1200" b="1">
                <a:solidFill>
                  <a:srgbClr val="FFFFFF"/>
                </a:solidFill>
                <a:latin typeface="Arial"/>
                <a:ea typeface="Arial"/>
                <a:cs typeface="Arial"/>
              </a:rPr>
              <a:t>02 · THE DEMO</a:t>
            </a:r>
            <a:endParaRPr sz="1200"/>
          </a:p>
        </p:txBody>
      </p:sp>
      <p:sp>
        <p:nvSpPr>
          <p:cNvPr id="17" name="Text 14">
            <a:extLst>
              <a:ext uri="{FF2B5EF4-FFF2-40B4-BE49-F238E27FC236}">
                <a16:creationId xmlns:a16="http://schemas.microsoft.com/office/drawing/2014/main" id="{95FDA45B-ED7E-4547-8EED-9AD28803A1E5}"/>
              </a:ext>
            </a:extLst>
          </p:cNvPr>
          <p:cNvSpPr>
            <a:spLocks noGrp="1"/>
          </p:cNvSpPr>
          <p:nvPr/>
        </p:nvSpPr>
        <p:spPr>
          <a:xfrm>
            <a:off x="8636000" y="4559300"/>
            <a:ext cx="3048000" cy="444500"/>
          </a:xfrm>
          <a:prstGeom prst="rect">
            <a:avLst/>
          </a:prstGeom>
          <a:noFill/>
        </p:spPr>
        <p:txBody>
          <a:bodyPr wrap="square" lIns="0" tIns="0" rIns="0" bIns="0" anchor="t"/>
          <a:lstStyle/>
          <a:p>
            <a:pPr marL="0" indent="0" algn="l">
              <a:lnSpc>
                <a:spcPct val="120000"/>
              </a:lnSpc>
              <a:buNone/>
            </a:pPr>
            <a:r>
              <a:rPr sz="1200">
                <a:solidFill>
                  <a:srgbClr val="FFFFFF"/>
                </a:solidFill>
                <a:latin typeface="Arial"/>
                <a:ea typeface="Arial"/>
                <a:cs typeface="Arial"/>
              </a:rPr>
              <a:t>One app, three protocols, every request inspectable.</a:t>
            </a:r>
            <a:endParaRPr sz="1200"/>
          </a:p>
        </p:txBody>
      </p:sp>
      <p:sp>
        <p:nvSpPr>
          <p:cNvPr id="18" name="Text 15">
            <a:extLst>
              <a:ext uri="{FF2B5EF4-FFF2-40B4-BE49-F238E27FC236}">
                <a16:creationId xmlns:a16="http://schemas.microsoft.com/office/drawing/2014/main" id="{050E2357-AF71-4A98-9B5C-29AF3BC41571}"/>
              </a:ext>
            </a:extLst>
          </p:cNvPr>
          <p:cNvSpPr>
            <a:spLocks noGrp="1"/>
          </p:cNvSpPr>
          <p:nvPr/>
        </p:nvSpPr>
        <p:spPr>
          <a:xfrm>
            <a:off x="8636000" y="5143500"/>
            <a:ext cx="3048000" cy="203200"/>
          </a:xfrm>
          <a:prstGeom prst="rect">
            <a:avLst/>
          </a:prstGeom>
          <a:noFill/>
        </p:spPr>
        <p:txBody>
          <a:bodyPr wrap="square" lIns="0" tIns="0" rIns="0" bIns="0" anchor="t"/>
          <a:lstStyle/>
          <a:p>
            <a:pPr marL="0" indent="0" algn="l">
              <a:lnSpc>
                <a:spcPct val="110000"/>
              </a:lnSpc>
              <a:buNone/>
            </a:pPr>
            <a:r>
              <a:rPr sz="1200" b="1">
                <a:solidFill>
                  <a:srgbClr val="FFFFFF"/>
                </a:solidFill>
                <a:latin typeface="Arial"/>
                <a:ea typeface="Arial"/>
                <a:cs typeface="Arial"/>
              </a:rPr>
              <a:t>03 · THE FIELD</a:t>
            </a:r>
            <a:endParaRPr sz="1200"/>
          </a:p>
        </p:txBody>
      </p:sp>
      <p:sp>
        <p:nvSpPr>
          <p:cNvPr id="19" name="Text 16">
            <a:extLst>
              <a:ext uri="{FF2B5EF4-FFF2-40B4-BE49-F238E27FC236}">
                <a16:creationId xmlns:a16="http://schemas.microsoft.com/office/drawing/2014/main" id="{5E8752C4-F34E-4DF4-8CAF-74429AA2D881}"/>
              </a:ext>
            </a:extLst>
          </p:cNvPr>
          <p:cNvSpPr>
            <a:spLocks noGrp="1"/>
          </p:cNvSpPr>
          <p:nvPr/>
        </p:nvSpPr>
        <p:spPr>
          <a:xfrm>
            <a:off x="8636000" y="5384800"/>
            <a:ext cx="3048000" cy="444500"/>
          </a:xfrm>
          <a:prstGeom prst="rect">
            <a:avLst/>
          </a:prstGeom>
          <a:noFill/>
        </p:spPr>
        <p:txBody>
          <a:bodyPr wrap="square" lIns="0" tIns="0" rIns="0" bIns="0" anchor="t"/>
          <a:lstStyle/>
          <a:p>
            <a:pPr marL="0" indent="0" algn="l">
              <a:lnSpc>
                <a:spcPct val="120000"/>
              </a:lnSpc>
              <a:buNone/>
            </a:pPr>
            <a:r>
              <a:rPr sz="1200">
                <a:solidFill>
                  <a:srgbClr val="FFFFFF"/>
                </a:solidFill>
                <a:latin typeface="Arial"/>
                <a:ea typeface="Arial"/>
                <a:cs typeface="Arial"/>
              </a:rPr>
              <a:t>Client stories where the choice mattered.</a:t>
            </a:r>
            <a:endParaRPr sz="1200"/>
          </a:p>
        </p:txBody>
      </p:sp>
    </p:spTree>
    <p:extLst>
      <p:ext uri="{BB962C8B-B14F-4D97-AF65-F5344CB8AC3E}">
        <p14:creationId xmlns:p14="http://schemas.microsoft.com/office/powerpoint/2010/main" val="1824945156"/>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5EDC4AEC-91AC-40AF-9B31-D9EF9550304D}"/>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A1E027C0-0B10-40C5-8D8E-730D6D04B8C3}"/>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D3921857-26E7-4BD0-A823-173D4A6F1A06}"/>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AGENDA</a:t>
            </a:r>
            <a:endParaRPr sz="1000"/>
          </a:p>
        </p:txBody>
      </p:sp>
      <p:sp>
        <p:nvSpPr>
          <p:cNvPr id="5" name="Text 2">
            <a:extLst>
              <a:ext uri="{FF2B5EF4-FFF2-40B4-BE49-F238E27FC236}">
                <a16:creationId xmlns:a16="http://schemas.microsoft.com/office/drawing/2014/main" id="{C9A976EB-0E2D-4E31-8A9E-CC248029D269}"/>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471C80EB-FFC1-49BC-B520-07C2813DF48E}"/>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a:t>
            </a:r>
            <a:endParaRPr sz="900"/>
          </a:p>
        </p:txBody>
      </p:sp>
      <p:sp>
        <p:nvSpPr>
          <p:cNvPr id="7" name="Text 4">
            <a:extLst>
              <a:ext uri="{FF2B5EF4-FFF2-40B4-BE49-F238E27FC236}">
                <a16:creationId xmlns:a16="http://schemas.microsoft.com/office/drawing/2014/main" id="{CF76F669-D8F8-4009-89D8-119E9D33523C}"/>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TODAY</a:t>
            </a:r>
            <a:endParaRPr sz="1200"/>
          </a:p>
        </p:txBody>
      </p:sp>
      <p:sp>
        <p:nvSpPr>
          <p:cNvPr id="8" name="Text 5">
            <a:extLst>
              <a:ext uri="{FF2B5EF4-FFF2-40B4-BE49-F238E27FC236}">
                <a16:creationId xmlns:a16="http://schemas.microsoft.com/office/drawing/2014/main" id="{D83B5907-B724-4038-BD19-C3B0439D938F}"/>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Key Expectations &amp; Takeaways</a:t>
            </a:r>
            <a:endParaRPr sz="3000"/>
          </a:p>
        </p:txBody>
      </p:sp>
      <p:sp>
        <p:nvSpPr>
          <p:cNvPr id="9" name="Text 6">
            <a:extLst>
              <a:ext uri="{FF2B5EF4-FFF2-40B4-BE49-F238E27FC236}">
                <a16:creationId xmlns:a16="http://schemas.microsoft.com/office/drawing/2014/main" id="{B63429C5-F1EA-4669-945A-A0986E767EEF}"/>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dirty="0">
                <a:solidFill>
                  <a:srgbClr val="6B6B6B"/>
                </a:solidFill>
                <a:latin typeface="Arial"/>
                <a:ea typeface="Arial"/>
                <a:cs typeface="Arial"/>
              </a:rPr>
              <a:t>Three sections, one running application. Every example is real HTTP, GraphQL and gRPC traffic, with no mocks.</a:t>
            </a:r>
            <a:endParaRPr sz="1400" dirty="0"/>
          </a:p>
        </p:txBody>
      </p:sp>
      <p:sp>
        <p:nvSpPr>
          <p:cNvPr id="11" name="Shape 7">
            <a:extLst>
              <a:ext uri="{FF2B5EF4-FFF2-40B4-BE49-F238E27FC236}">
                <a16:creationId xmlns:a16="http://schemas.microsoft.com/office/drawing/2014/main" id="{3AC658A7-33AF-428E-AD51-E47B6D786B0E}"/>
              </a:ext>
            </a:extLst>
          </p:cNvPr>
          <p:cNvSpPr>
            <a:spLocks noGrp="1"/>
          </p:cNvSpPr>
          <p:nvPr/>
        </p:nvSpPr>
        <p:spPr>
          <a:xfrm>
            <a:off x="508000" y="2159000"/>
            <a:ext cx="11176000" cy="7366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D29BA815-36B1-41F8-8345-847D9D46358F}"/>
              </a:ext>
            </a:extLst>
          </p:cNvPr>
          <p:cNvSpPr>
            <a:spLocks noGrp="1"/>
          </p:cNvSpPr>
          <p:nvPr/>
        </p:nvSpPr>
        <p:spPr>
          <a:xfrm>
            <a:off x="508000" y="2159000"/>
            <a:ext cx="63500" cy="7366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DA7F8174-1BA6-449F-B70A-947F9F60BCA0}"/>
              </a:ext>
            </a:extLst>
          </p:cNvPr>
          <p:cNvSpPr>
            <a:spLocks noGrp="1"/>
          </p:cNvSpPr>
          <p:nvPr/>
        </p:nvSpPr>
        <p:spPr>
          <a:xfrm>
            <a:off x="787400" y="2159000"/>
            <a:ext cx="482600" cy="7366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01</a:t>
            </a:r>
            <a:endParaRPr sz="1800"/>
          </a:p>
        </p:txBody>
      </p:sp>
      <p:sp>
        <p:nvSpPr>
          <p:cNvPr id="14" name="Text 10">
            <a:extLst>
              <a:ext uri="{FF2B5EF4-FFF2-40B4-BE49-F238E27FC236}">
                <a16:creationId xmlns:a16="http://schemas.microsoft.com/office/drawing/2014/main" id="{148053D3-E5CF-43C1-8D99-C347256443AF}"/>
              </a:ext>
            </a:extLst>
          </p:cNvPr>
          <p:cNvSpPr>
            <a:spLocks noGrp="1"/>
          </p:cNvSpPr>
          <p:nvPr/>
        </p:nvSpPr>
        <p:spPr>
          <a:xfrm>
            <a:off x="1397000" y="2159000"/>
            <a:ext cx="2540000" cy="7366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The Landscape</a:t>
            </a:r>
            <a:endParaRPr sz="1300"/>
          </a:p>
        </p:txBody>
      </p:sp>
      <p:sp>
        <p:nvSpPr>
          <p:cNvPr id="15" name="Text 11">
            <a:extLst>
              <a:ext uri="{FF2B5EF4-FFF2-40B4-BE49-F238E27FC236}">
                <a16:creationId xmlns:a16="http://schemas.microsoft.com/office/drawing/2014/main" id="{7386E4D0-0B01-4D59-A361-95030D9CEA8E}"/>
              </a:ext>
            </a:extLst>
          </p:cNvPr>
          <p:cNvSpPr>
            <a:spLocks noGrp="1"/>
          </p:cNvSpPr>
          <p:nvPr/>
        </p:nvSpPr>
        <p:spPr>
          <a:xfrm>
            <a:off x="4140200" y="2159000"/>
            <a:ext cx="4470400" cy="7366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Why protocol choice is still contentious, the key comparisons, and the demo data set.</a:t>
            </a:r>
            <a:endParaRPr sz="1200"/>
          </a:p>
        </p:txBody>
      </p:sp>
      <p:sp>
        <p:nvSpPr>
          <p:cNvPr id="16" name="Text 12">
            <a:extLst>
              <a:ext uri="{FF2B5EF4-FFF2-40B4-BE49-F238E27FC236}">
                <a16:creationId xmlns:a16="http://schemas.microsoft.com/office/drawing/2014/main" id="{3E235E1C-1758-4BCD-9AFB-1785E8453DBC}"/>
              </a:ext>
            </a:extLst>
          </p:cNvPr>
          <p:cNvSpPr>
            <a:spLocks noGrp="1"/>
          </p:cNvSpPr>
          <p:nvPr/>
        </p:nvSpPr>
        <p:spPr>
          <a:xfrm>
            <a:off x="8763000" y="2159000"/>
            <a:ext cx="2667000" cy="7366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Context</a:t>
            </a:r>
            <a:endParaRPr sz="1200"/>
          </a:p>
        </p:txBody>
      </p:sp>
      <p:sp>
        <p:nvSpPr>
          <p:cNvPr id="17" name="Shape 13">
            <a:extLst>
              <a:ext uri="{FF2B5EF4-FFF2-40B4-BE49-F238E27FC236}">
                <a16:creationId xmlns:a16="http://schemas.microsoft.com/office/drawing/2014/main" id="{9F009889-4F46-4EC2-9602-AAEE97143085}"/>
              </a:ext>
            </a:extLst>
          </p:cNvPr>
          <p:cNvSpPr>
            <a:spLocks noGrp="1"/>
          </p:cNvSpPr>
          <p:nvPr/>
        </p:nvSpPr>
        <p:spPr>
          <a:xfrm>
            <a:off x="508000" y="2997200"/>
            <a:ext cx="11176000" cy="736600"/>
          </a:xfrm>
          <a:prstGeom prst="rect">
            <a:avLst/>
          </a:prstGeom>
          <a:solidFill>
            <a:srgbClr val="FFFFFF"/>
          </a:solidFill>
          <a:effectLst>
            <a:outerShdw blurRad="50800" dist="25400" dir="5400000" algn="bl" rotWithShape="0">
              <a:srgbClr val="000000">
                <a:alpha val="18000"/>
              </a:srgbClr>
            </a:outerShdw>
          </a:effectLst>
        </p:spPr>
        <p:txBody>
          <a:bodyPr/>
          <a:lstStyle/>
          <a:p>
            <a:endParaRPr/>
          </a:p>
        </p:txBody>
      </p:sp>
      <p:sp>
        <p:nvSpPr>
          <p:cNvPr id="18" name="Shape 14">
            <a:extLst>
              <a:ext uri="{FF2B5EF4-FFF2-40B4-BE49-F238E27FC236}">
                <a16:creationId xmlns:a16="http://schemas.microsoft.com/office/drawing/2014/main" id="{014EB141-EF17-4538-B192-03306E08D47E}"/>
              </a:ext>
            </a:extLst>
          </p:cNvPr>
          <p:cNvSpPr>
            <a:spLocks noGrp="1"/>
          </p:cNvSpPr>
          <p:nvPr/>
        </p:nvSpPr>
        <p:spPr>
          <a:xfrm>
            <a:off x="508000" y="2997200"/>
            <a:ext cx="63500" cy="736600"/>
          </a:xfrm>
          <a:prstGeom prst="rect">
            <a:avLst/>
          </a:prstGeom>
          <a:solidFill>
            <a:srgbClr val="DA1884"/>
          </a:solidFill>
        </p:spPr>
        <p:txBody>
          <a:bodyPr/>
          <a:lstStyle/>
          <a:p>
            <a:endParaRPr/>
          </a:p>
        </p:txBody>
      </p:sp>
      <p:sp>
        <p:nvSpPr>
          <p:cNvPr id="19" name="Text 15">
            <a:extLst>
              <a:ext uri="{FF2B5EF4-FFF2-40B4-BE49-F238E27FC236}">
                <a16:creationId xmlns:a16="http://schemas.microsoft.com/office/drawing/2014/main" id="{2CF61A0A-8ED3-4D50-A7F0-B2E4E4EF27B5}"/>
              </a:ext>
            </a:extLst>
          </p:cNvPr>
          <p:cNvSpPr>
            <a:spLocks noGrp="1"/>
          </p:cNvSpPr>
          <p:nvPr/>
        </p:nvSpPr>
        <p:spPr>
          <a:xfrm>
            <a:off x="787400" y="2997200"/>
            <a:ext cx="482600" cy="7366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02</a:t>
            </a:r>
            <a:endParaRPr sz="1800"/>
          </a:p>
        </p:txBody>
      </p:sp>
      <p:sp>
        <p:nvSpPr>
          <p:cNvPr id="20" name="Text 16">
            <a:extLst>
              <a:ext uri="{FF2B5EF4-FFF2-40B4-BE49-F238E27FC236}">
                <a16:creationId xmlns:a16="http://schemas.microsoft.com/office/drawing/2014/main" id="{269BC118-17D6-46DB-BCE9-F1C1DC6C2709}"/>
              </a:ext>
            </a:extLst>
          </p:cNvPr>
          <p:cNvSpPr>
            <a:spLocks noGrp="1"/>
          </p:cNvSpPr>
          <p:nvPr/>
        </p:nvSpPr>
        <p:spPr>
          <a:xfrm>
            <a:off x="1397000" y="2997200"/>
            <a:ext cx="2540000" cy="7366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The Protocols</a:t>
            </a:r>
            <a:endParaRPr sz="1300"/>
          </a:p>
        </p:txBody>
      </p:sp>
      <p:sp>
        <p:nvSpPr>
          <p:cNvPr id="21" name="Text 17">
            <a:extLst>
              <a:ext uri="{FF2B5EF4-FFF2-40B4-BE49-F238E27FC236}">
                <a16:creationId xmlns:a16="http://schemas.microsoft.com/office/drawing/2014/main" id="{64D82257-AF72-4A06-AD54-C4E79092F35B}"/>
              </a:ext>
            </a:extLst>
          </p:cNvPr>
          <p:cNvSpPr>
            <a:spLocks noGrp="1"/>
          </p:cNvSpPr>
          <p:nvPr/>
        </p:nvSpPr>
        <p:spPr>
          <a:xfrm>
            <a:off x="4140200" y="2997200"/>
            <a:ext cx="4470400" cy="736600"/>
          </a:xfrm>
          <a:prstGeom prst="rect">
            <a:avLst/>
          </a:prstGeom>
          <a:noFill/>
        </p:spPr>
        <p:txBody>
          <a:bodyPr wrap="square" lIns="0" tIns="0" rIns="0" bIns="0" anchor="ctr"/>
          <a:lstStyle/>
          <a:p>
            <a:pPr marL="0" indent="0" algn="l">
              <a:lnSpc>
                <a:spcPct val="115000"/>
              </a:lnSpc>
              <a:buNone/>
            </a:pPr>
            <a:r>
              <a:rPr sz="1200" dirty="0">
                <a:solidFill>
                  <a:srgbClr val="333333"/>
                </a:solidFill>
                <a:latin typeface="Arial"/>
                <a:ea typeface="Arial"/>
                <a:cs typeface="Arial"/>
              </a:rPr>
              <a:t>REST, GraphQL and gRPC, each covered twice: first the concept, then the working code.</a:t>
            </a:r>
            <a:endParaRPr sz="1200" dirty="0"/>
          </a:p>
        </p:txBody>
      </p:sp>
      <p:sp>
        <p:nvSpPr>
          <p:cNvPr id="22" name="Text 18">
            <a:extLst>
              <a:ext uri="{FF2B5EF4-FFF2-40B4-BE49-F238E27FC236}">
                <a16:creationId xmlns:a16="http://schemas.microsoft.com/office/drawing/2014/main" id="{C95E529E-526B-4813-9FCC-0D716D98EDDF}"/>
              </a:ext>
            </a:extLst>
          </p:cNvPr>
          <p:cNvSpPr>
            <a:spLocks noGrp="1"/>
          </p:cNvSpPr>
          <p:nvPr/>
        </p:nvSpPr>
        <p:spPr>
          <a:xfrm>
            <a:off x="8763000" y="2997200"/>
            <a:ext cx="2667000" cy="7366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Two slides per protocol</a:t>
            </a:r>
            <a:endParaRPr sz="1200"/>
          </a:p>
        </p:txBody>
      </p:sp>
      <p:sp>
        <p:nvSpPr>
          <p:cNvPr id="23" name="Shape 19">
            <a:extLst>
              <a:ext uri="{FF2B5EF4-FFF2-40B4-BE49-F238E27FC236}">
                <a16:creationId xmlns:a16="http://schemas.microsoft.com/office/drawing/2014/main" id="{283AF658-8B03-4730-8DA6-D6489388794B}"/>
              </a:ext>
            </a:extLst>
          </p:cNvPr>
          <p:cNvSpPr>
            <a:spLocks noGrp="1"/>
          </p:cNvSpPr>
          <p:nvPr/>
        </p:nvSpPr>
        <p:spPr>
          <a:xfrm>
            <a:off x="508000" y="3835400"/>
            <a:ext cx="11176000" cy="7366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BFDB6502-E4BE-4EE9-8506-DEDC7756567C}"/>
              </a:ext>
            </a:extLst>
          </p:cNvPr>
          <p:cNvSpPr>
            <a:spLocks noGrp="1"/>
          </p:cNvSpPr>
          <p:nvPr/>
        </p:nvSpPr>
        <p:spPr>
          <a:xfrm>
            <a:off x="508000" y="3835400"/>
            <a:ext cx="63500" cy="7366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CECF3DB4-6C52-4B3C-B596-EC745CCE50AA}"/>
              </a:ext>
            </a:extLst>
          </p:cNvPr>
          <p:cNvSpPr>
            <a:spLocks noGrp="1"/>
          </p:cNvSpPr>
          <p:nvPr/>
        </p:nvSpPr>
        <p:spPr>
          <a:xfrm>
            <a:off x="787400" y="3835400"/>
            <a:ext cx="482600" cy="7366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03</a:t>
            </a:r>
            <a:endParaRPr sz="1800"/>
          </a:p>
        </p:txBody>
      </p:sp>
      <p:sp>
        <p:nvSpPr>
          <p:cNvPr id="26" name="Text 22">
            <a:extLst>
              <a:ext uri="{FF2B5EF4-FFF2-40B4-BE49-F238E27FC236}">
                <a16:creationId xmlns:a16="http://schemas.microsoft.com/office/drawing/2014/main" id="{D0F2484C-3ACC-44C1-A4F6-57D933736368}"/>
              </a:ext>
            </a:extLst>
          </p:cNvPr>
          <p:cNvSpPr>
            <a:spLocks noGrp="1"/>
          </p:cNvSpPr>
          <p:nvPr/>
        </p:nvSpPr>
        <p:spPr>
          <a:xfrm>
            <a:off x="1397000" y="3835400"/>
            <a:ext cx="2540000" cy="7366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Demo &amp; Field Stories</a:t>
            </a:r>
            <a:endParaRPr sz="1300"/>
          </a:p>
        </p:txBody>
      </p:sp>
      <p:sp>
        <p:nvSpPr>
          <p:cNvPr id="27" name="Text 23">
            <a:extLst>
              <a:ext uri="{FF2B5EF4-FFF2-40B4-BE49-F238E27FC236}">
                <a16:creationId xmlns:a16="http://schemas.microsoft.com/office/drawing/2014/main" id="{DF257529-8AF7-4197-A98A-21EC1F5DB165}"/>
              </a:ext>
            </a:extLst>
          </p:cNvPr>
          <p:cNvSpPr>
            <a:spLocks noGrp="1"/>
          </p:cNvSpPr>
          <p:nvPr/>
        </p:nvSpPr>
        <p:spPr>
          <a:xfrm>
            <a:off x="4140200" y="3835400"/>
            <a:ext cx="4470400" cy="7366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Protocol Studio live, then client stories where the choice mattered.</a:t>
            </a:r>
            <a:endParaRPr sz="1200"/>
          </a:p>
        </p:txBody>
      </p:sp>
      <p:sp>
        <p:nvSpPr>
          <p:cNvPr id="28" name="Text 24">
            <a:extLst>
              <a:ext uri="{FF2B5EF4-FFF2-40B4-BE49-F238E27FC236}">
                <a16:creationId xmlns:a16="http://schemas.microsoft.com/office/drawing/2014/main" id="{1F7D1E9A-CE58-4318-A393-61B36EB58A1B}"/>
              </a:ext>
            </a:extLst>
          </p:cNvPr>
          <p:cNvSpPr>
            <a:spLocks noGrp="1"/>
          </p:cNvSpPr>
          <p:nvPr/>
        </p:nvSpPr>
        <p:spPr>
          <a:xfrm>
            <a:off x="8763000" y="3835400"/>
            <a:ext cx="2667000" cy="7366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Success from the field</a:t>
            </a:r>
            <a:endParaRPr sz="1200"/>
          </a:p>
        </p:txBody>
      </p:sp>
      <p:sp>
        <p:nvSpPr>
          <p:cNvPr id="29" name="Shape 25">
            <a:extLst>
              <a:ext uri="{FF2B5EF4-FFF2-40B4-BE49-F238E27FC236}">
                <a16:creationId xmlns:a16="http://schemas.microsoft.com/office/drawing/2014/main" id="{6B802AB1-95AF-483D-ACE3-62478E752AF5}"/>
              </a:ext>
            </a:extLst>
          </p:cNvPr>
          <p:cNvSpPr>
            <a:spLocks noGrp="1"/>
          </p:cNvSpPr>
          <p:nvPr/>
        </p:nvSpPr>
        <p:spPr>
          <a:xfrm>
            <a:off x="508000" y="4673600"/>
            <a:ext cx="11176000" cy="736600"/>
          </a:xfrm>
          <a:prstGeom prst="rect">
            <a:avLst/>
          </a:prstGeom>
          <a:solidFill>
            <a:srgbClr val="FFFFFF"/>
          </a:solidFill>
          <a:effectLst>
            <a:outerShdw blurRad="50800" dist="25400" dir="5400000" algn="bl" rotWithShape="0">
              <a:srgbClr val="000000">
                <a:alpha val="18000"/>
              </a:srgbClr>
            </a:outerShdw>
          </a:effectLst>
        </p:spPr>
        <p:txBody>
          <a:bodyPr/>
          <a:lstStyle/>
          <a:p>
            <a:endParaRPr/>
          </a:p>
        </p:txBody>
      </p:sp>
      <p:sp>
        <p:nvSpPr>
          <p:cNvPr id="30" name="Shape 26">
            <a:extLst>
              <a:ext uri="{FF2B5EF4-FFF2-40B4-BE49-F238E27FC236}">
                <a16:creationId xmlns:a16="http://schemas.microsoft.com/office/drawing/2014/main" id="{C3B78E99-88F6-4D2B-975D-12437FDCEB40}"/>
              </a:ext>
            </a:extLst>
          </p:cNvPr>
          <p:cNvSpPr>
            <a:spLocks noGrp="1"/>
          </p:cNvSpPr>
          <p:nvPr/>
        </p:nvSpPr>
        <p:spPr>
          <a:xfrm>
            <a:off x="508000" y="4673600"/>
            <a:ext cx="63500" cy="736600"/>
          </a:xfrm>
          <a:prstGeom prst="rect">
            <a:avLst/>
          </a:prstGeom>
          <a:solidFill>
            <a:srgbClr val="DA1884"/>
          </a:solidFill>
        </p:spPr>
        <p:txBody>
          <a:bodyPr/>
          <a:lstStyle/>
          <a:p>
            <a:endParaRPr/>
          </a:p>
        </p:txBody>
      </p:sp>
      <p:sp>
        <p:nvSpPr>
          <p:cNvPr id="31" name="Text 27">
            <a:extLst>
              <a:ext uri="{FF2B5EF4-FFF2-40B4-BE49-F238E27FC236}">
                <a16:creationId xmlns:a16="http://schemas.microsoft.com/office/drawing/2014/main" id="{4ED27002-2C89-422C-AB70-3206F00F9657}"/>
              </a:ext>
            </a:extLst>
          </p:cNvPr>
          <p:cNvSpPr>
            <a:spLocks noGrp="1"/>
          </p:cNvSpPr>
          <p:nvPr/>
        </p:nvSpPr>
        <p:spPr>
          <a:xfrm>
            <a:off x="787400" y="4673600"/>
            <a:ext cx="482600" cy="7366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A</a:t>
            </a:r>
            <a:endParaRPr sz="1800"/>
          </a:p>
        </p:txBody>
      </p:sp>
      <p:sp>
        <p:nvSpPr>
          <p:cNvPr id="32" name="Text 28">
            <a:extLst>
              <a:ext uri="{FF2B5EF4-FFF2-40B4-BE49-F238E27FC236}">
                <a16:creationId xmlns:a16="http://schemas.microsoft.com/office/drawing/2014/main" id="{321B2C53-B370-449F-B12F-20C6254DD0D5}"/>
              </a:ext>
            </a:extLst>
          </p:cNvPr>
          <p:cNvSpPr>
            <a:spLocks noGrp="1"/>
          </p:cNvSpPr>
          <p:nvPr/>
        </p:nvSpPr>
        <p:spPr>
          <a:xfrm>
            <a:off x="1397000" y="4673600"/>
            <a:ext cx="2540000" cy="7366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Appendix: AI Routing</a:t>
            </a:r>
            <a:endParaRPr sz="1300"/>
          </a:p>
        </p:txBody>
      </p:sp>
      <p:sp>
        <p:nvSpPr>
          <p:cNvPr id="33" name="Text 29">
            <a:extLst>
              <a:ext uri="{FF2B5EF4-FFF2-40B4-BE49-F238E27FC236}">
                <a16:creationId xmlns:a16="http://schemas.microsoft.com/office/drawing/2014/main" id="{A155085A-669F-4500-AE04-830DCEEFC6D2}"/>
              </a:ext>
            </a:extLst>
          </p:cNvPr>
          <p:cNvSpPr>
            <a:spLocks noGrp="1"/>
          </p:cNvSpPr>
          <p:nvPr/>
        </p:nvSpPr>
        <p:spPr>
          <a:xfrm>
            <a:off x="4140200" y="4673600"/>
            <a:ext cx="4470400" cy="7366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How the demo lets Ollama or Jev choose the protocol, with guardrails and latency.</a:t>
            </a:r>
            <a:endParaRPr sz="1200"/>
          </a:p>
        </p:txBody>
      </p:sp>
      <p:sp>
        <p:nvSpPr>
          <p:cNvPr id="34" name="Text 30">
            <a:extLst>
              <a:ext uri="{FF2B5EF4-FFF2-40B4-BE49-F238E27FC236}">
                <a16:creationId xmlns:a16="http://schemas.microsoft.com/office/drawing/2014/main" id="{DBA5586C-3811-40CC-9549-2B749934C801}"/>
              </a:ext>
            </a:extLst>
          </p:cNvPr>
          <p:cNvSpPr>
            <a:spLocks noGrp="1"/>
          </p:cNvSpPr>
          <p:nvPr/>
        </p:nvSpPr>
        <p:spPr>
          <a:xfrm>
            <a:off x="8763000" y="4673600"/>
            <a:ext cx="2667000" cy="7366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Time permitting</a:t>
            </a:r>
            <a:endParaRPr sz="1200"/>
          </a:p>
        </p:txBody>
      </p:sp>
    </p:spTree>
    <p:extLst>
      <p:ext uri="{BB962C8B-B14F-4D97-AF65-F5344CB8AC3E}">
        <p14:creationId xmlns:p14="http://schemas.microsoft.com/office/powerpoint/2010/main" val="1246535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0F5665F2-C085-4AF5-A82D-C7AEE6C16E85}"/>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D23390D8-0037-4BC4-9A8D-C2DAD2403D55}"/>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DB22EC9F-27C1-412B-B211-AB1766E0BD9D}"/>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SECTION 01</a:t>
            </a:r>
            <a:endParaRPr sz="1000"/>
          </a:p>
        </p:txBody>
      </p:sp>
      <p:sp>
        <p:nvSpPr>
          <p:cNvPr id="5" name="Text 2">
            <a:extLst>
              <a:ext uri="{FF2B5EF4-FFF2-40B4-BE49-F238E27FC236}">
                <a16:creationId xmlns:a16="http://schemas.microsoft.com/office/drawing/2014/main" id="{CDC8745A-45AF-472A-89EA-938E6046E14C}"/>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6225EEA3-535C-45D2-96AE-48B3998A6DAD}"/>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3</a:t>
            </a:r>
            <a:endParaRPr sz="900"/>
          </a:p>
        </p:txBody>
      </p:sp>
      <p:sp>
        <p:nvSpPr>
          <p:cNvPr id="7" name="Text 4">
            <a:extLst>
              <a:ext uri="{FF2B5EF4-FFF2-40B4-BE49-F238E27FC236}">
                <a16:creationId xmlns:a16="http://schemas.microsoft.com/office/drawing/2014/main" id="{D8E35FD0-26D0-4562-AACD-3DFA562A473C}"/>
              </a:ext>
            </a:extLst>
          </p:cNvPr>
          <p:cNvSpPr>
            <a:spLocks noGrp="1"/>
          </p:cNvSpPr>
          <p:nvPr/>
        </p:nvSpPr>
        <p:spPr>
          <a:xfrm>
            <a:off x="457200" y="1587500"/>
            <a:ext cx="5080000" cy="1651000"/>
          </a:xfrm>
          <a:prstGeom prst="rect">
            <a:avLst/>
          </a:prstGeom>
          <a:noFill/>
        </p:spPr>
        <p:txBody>
          <a:bodyPr wrap="square" lIns="0" tIns="0" rIns="0" bIns="0" anchor="t"/>
          <a:lstStyle/>
          <a:p>
            <a:pPr marL="0" indent="0" algn="l">
              <a:lnSpc>
                <a:spcPct val="90000"/>
              </a:lnSpc>
              <a:buNone/>
            </a:pPr>
            <a:r>
              <a:rPr sz="12000" b="1">
                <a:solidFill>
                  <a:srgbClr val="DA1884"/>
                </a:solidFill>
                <a:latin typeface="Arial"/>
                <a:ea typeface="Arial"/>
                <a:cs typeface="Arial"/>
              </a:rPr>
              <a:t>01</a:t>
            </a:r>
            <a:endParaRPr sz="12000"/>
          </a:p>
        </p:txBody>
      </p:sp>
      <p:sp>
        <p:nvSpPr>
          <p:cNvPr id="8" name="Text 5">
            <a:extLst>
              <a:ext uri="{FF2B5EF4-FFF2-40B4-BE49-F238E27FC236}">
                <a16:creationId xmlns:a16="http://schemas.microsoft.com/office/drawing/2014/main" id="{83EEB346-35AA-480A-BB7C-43E9965B2994}"/>
              </a:ext>
            </a:extLst>
          </p:cNvPr>
          <p:cNvSpPr>
            <a:spLocks noGrp="1"/>
          </p:cNvSpPr>
          <p:nvPr/>
        </p:nvSpPr>
        <p:spPr>
          <a:xfrm>
            <a:off x="508000" y="3302000"/>
            <a:ext cx="5207000" cy="660400"/>
          </a:xfrm>
          <a:prstGeom prst="rect">
            <a:avLst/>
          </a:prstGeom>
          <a:noFill/>
        </p:spPr>
        <p:txBody>
          <a:bodyPr wrap="square" lIns="0" tIns="0" rIns="0" bIns="0" anchor="t"/>
          <a:lstStyle/>
          <a:p>
            <a:pPr marL="0" indent="0" algn="l">
              <a:lnSpc>
                <a:spcPct val="100000"/>
              </a:lnSpc>
              <a:buNone/>
            </a:pPr>
            <a:r>
              <a:rPr sz="4400" b="1">
                <a:solidFill>
                  <a:srgbClr val="141414"/>
                </a:solidFill>
                <a:latin typeface="Arial"/>
                <a:ea typeface="Arial"/>
                <a:cs typeface="Arial"/>
              </a:rPr>
              <a:t>The Landscape</a:t>
            </a:r>
            <a:endParaRPr sz="4400"/>
          </a:p>
        </p:txBody>
      </p:sp>
      <p:sp>
        <p:nvSpPr>
          <p:cNvPr id="9" name="Shape 6">
            <a:extLst>
              <a:ext uri="{FF2B5EF4-FFF2-40B4-BE49-F238E27FC236}">
                <a16:creationId xmlns:a16="http://schemas.microsoft.com/office/drawing/2014/main" id="{435C3565-B7F3-4F9F-8F0A-58A327A05269}"/>
              </a:ext>
            </a:extLst>
          </p:cNvPr>
          <p:cNvSpPr>
            <a:spLocks noGrp="1"/>
          </p:cNvSpPr>
          <p:nvPr/>
        </p:nvSpPr>
        <p:spPr>
          <a:xfrm>
            <a:off x="508000" y="4140200"/>
            <a:ext cx="1016000" cy="50800"/>
          </a:xfrm>
          <a:prstGeom prst="rect">
            <a:avLst/>
          </a:prstGeom>
          <a:solidFill>
            <a:srgbClr val="DA1884"/>
          </a:solidFill>
        </p:spPr>
        <p:txBody>
          <a:bodyPr/>
          <a:lstStyle/>
          <a:p>
            <a:endParaRPr/>
          </a:p>
        </p:txBody>
      </p:sp>
      <p:sp>
        <p:nvSpPr>
          <p:cNvPr id="10" name="Text 7">
            <a:extLst>
              <a:ext uri="{FF2B5EF4-FFF2-40B4-BE49-F238E27FC236}">
                <a16:creationId xmlns:a16="http://schemas.microsoft.com/office/drawing/2014/main" id="{2FB4B1D7-B921-4EB6-B3D4-9DB8CE305B95}"/>
              </a:ext>
            </a:extLst>
          </p:cNvPr>
          <p:cNvSpPr>
            <a:spLocks noGrp="1"/>
          </p:cNvSpPr>
          <p:nvPr/>
        </p:nvSpPr>
        <p:spPr>
          <a:xfrm>
            <a:off x="508000" y="4368800"/>
            <a:ext cx="5207000" cy="635000"/>
          </a:xfrm>
          <a:prstGeom prst="rect">
            <a:avLst/>
          </a:prstGeom>
          <a:noFill/>
        </p:spPr>
        <p:txBody>
          <a:bodyPr wrap="square" lIns="0" tIns="0" rIns="0" bIns="0" anchor="t"/>
          <a:lstStyle/>
          <a:p>
            <a:pPr marL="0" indent="0" algn="l">
              <a:lnSpc>
                <a:spcPct val="125000"/>
              </a:lnSpc>
              <a:buNone/>
            </a:pPr>
            <a:r>
              <a:rPr sz="1500">
                <a:solidFill>
                  <a:srgbClr val="6B6B6B"/>
                </a:solidFill>
                <a:latin typeface="Arial"/>
                <a:ea typeface="Arial"/>
                <a:cs typeface="Arial"/>
              </a:rPr>
              <a:t>Why protocol choice is still contentious, and how the three compare.</a:t>
            </a:r>
            <a:endParaRPr sz="1500"/>
          </a:p>
        </p:txBody>
      </p:sp>
      <p:sp>
        <p:nvSpPr>
          <p:cNvPr id="11" name="Shape 8">
            <a:extLst>
              <a:ext uri="{FF2B5EF4-FFF2-40B4-BE49-F238E27FC236}">
                <a16:creationId xmlns:a16="http://schemas.microsoft.com/office/drawing/2014/main" id="{DEBD03F1-15B9-4963-9DC6-EB96F4CDAA5E}"/>
              </a:ext>
            </a:extLst>
          </p:cNvPr>
          <p:cNvSpPr>
            <a:spLocks noGrp="1"/>
          </p:cNvSpPr>
          <p:nvPr/>
        </p:nvSpPr>
        <p:spPr>
          <a:xfrm>
            <a:off x="6223000" y="2654300"/>
            <a:ext cx="5461000" cy="2057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9">
            <a:extLst>
              <a:ext uri="{FF2B5EF4-FFF2-40B4-BE49-F238E27FC236}">
                <a16:creationId xmlns:a16="http://schemas.microsoft.com/office/drawing/2014/main" id="{CB3453AE-AC5B-49AE-9FDE-75FDECE61138}"/>
              </a:ext>
            </a:extLst>
          </p:cNvPr>
          <p:cNvSpPr>
            <a:spLocks noGrp="1"/>
          </p:cNvSpPr>
          <p:nvPr/>
        </p:nvSpPr>
        <p:spPr>
          <a:xfrm>
            <a:off x="6223000" y="2654300"/>
            <a:ext cx="5461000" cy="50800"/>
          </a:xfrm>
          <a:prstGeom prst="rect">
            <a:avLst/>
          </a:prstGeom>
          <a:solidFill>
            <a:srgbClr val="DA1884"/>
          </a:solidFill>
        </p:spPr>
        <p:txBody>
          <a:bodyPr/>
          <a:lstStyle/>
          <a:p>
            <a:endParaRPr/>
          </a:p>
        </p:txBody>
      </p:sp>
      <p:sp>
        <p:nvSpPr>
          <p:cNvPr id="13" name="Text 10">
            <a:extLst>
              <a:ext uri="{FF2B5EF4-FFF2-40B4-BE49-F238E27FC236}">
                <a16:creationId xmlns:a16="http://schemas.microsoft.com/office/drawing/2014/main" id="{478D815C-AC49-46E1-8BD1-54051575B894}"/>
              </a:ext>
            </a:extLst>
          </p:cNvPr>
          <p:cNvSpPr>
            <a:spLocks noGrp="1"/>
          </p:cNvSpPr>
          <p:nvPr/>
        </p:nvSpPr>
        <p:spPr>
          <a:xfrm>
            <a:off x="6477000" y="2882900"/>
            <a:ext cx="4953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IN THIS SECTION</a:t>
            </a:r>
            <a:endParaRPr sz="1200"/>
          </a:p>
        </p:txBody>
      </p:sp>
      <p:sp>
        <p:nvSpPr>
          <p:cNvPr id="14" name="Text 11">
            <a:extLst>
              <a:ext uri="{FF2B5EF4-FFF2-40B4-BE49-F238E27FC236}">
                <a16:creationId xmlns:a16="http://schemas.microsoft.com/office/drawing/2014/main" id="{9AC013AF-9FA2-4DA5-861F-3CB8128D8810}"/>
              </a:ext>
            </a:extLst>
          </p:cNvPr>
          <p:cNvSpPr>
            <a:spLocks noGrp="1"/>
          </p:cNvSpPr>
          <p:nvPr/>
        </p:nvSpPr>
        <p:spPr>
          <a:xfrm>
            <a:off x="6477000" y="32385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Defining the Frontier: the problem every integration team hits</a:t>
            </a:r>
            <a:endParaRPr sz="1300"/>
          </a:p>
        </p:txBody>
      </p:sp>
      <p:sp>
        <p:nvSpPr>
          <p:cNvPr id="15" name="Text 12">
            <a:extLst>
              <a:ext uri="{FF2B5EF4-FFF2-40B4-BE49-F238E27FC236}">
                <a16:creationId xmlns:a16="http://schemas.microsoft.com/office/drawing/2014/main" id="{25DD5902-2232-4A53-831E-DB32B826B0DE}"/>
              </a:ext>
            </a:extLst>
          </p:cNvPr>
          <p:cNvSpPr>
            <a:spLocks noGrp="1"/>
          </p:cNvSpPr>
          <p:nvPr/>
        </p:nvSpPr>
        <p:spPr>
          <a:xfrm>
            <a:off x="6477000" y="37211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Key Comparisons: transport, contract, caching and streaming</a:t>
            </a:r>
            <a:endParaRPr sz="1300"/>
          </a:p>
        </p:txBody>
      </p:sp>
      <p:sp>
        <p:nvSpPr>
          <p:cNvPr id="16" name="Text 13">
            <a:extLst>
              <a:ext uri="{FF2B5EF4-FFF2-40B4-BE49-F238E27FC236}">
                <a16:creationId xmlns:a16="http://schemas.microsoft.com/office/drawing/2014/main" id="{910CEADD-27B0-437E-AEA3-9520ED23D8A2}"/>
              </a:ext>
            </a:extLst>
          </p:cNvPr>
          <p:cNvSpPr>
            <a:spLocks noGrp="1"/>
          </p:cNvSpPr>
          <p:nvPr/>
        </p:nvSpPr>
        <p:spPr>
          <a:xfrm>
            <a:off x="6477000" y="42037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Demo Data Set: one catalog behind all three protocols</a:t>
            </a:r>
            <a:endParaRPr sz="1300"/>
          </a:p>
        </p:txBody>
      </p:sp>
    </p:spTree>
    <p:extLst>
      <p:ext uri="{BB962C8B-B14F-4D97-AF65-F5344CB8AC3E}">
        <p14:creationId xmlns:p14="http://schemas.microsoft.com/office/powerpoint/2010/main" val="233314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32CA946D-85B9-45D0-9D94-552C9F9C631F}"/>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358DD456-A00B-423D-AB10-C58448EBF7D2}"/>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963F1FF0-9423-4C62-B920-CD53AC6BB4CE}"/>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THE LANDSCAPE</a:t>
            </a:r>
            <a:endParaRPr sz="1000"/>
          </a:p>
        </p:txBody>
      </p:sp>
      <p:sp>
        <p:nvSpPr>
          <p:cNvPr id="5" name="Text 2">
            <a:extLst>
              <a:ext uri="{FF2B5EF4-FFF2-40B4-BE49-F238E27FC236}">
                <a16:creationId xmlns:a16="http://schemas.microsoft.com/office/drawing/2014/main" id="{B2494544-2D8C-41E5-A739-E80D2D899C39}"/>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F808845A-8024-4683-8449-F69C3DCA8C51}"/>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4</a:t>
            </a:r>
            <a:endParaRPr sz="900"/>
          </a:p>
        </p:txBody>
      </p:sp>
      <p:sp>
        <p:nvSpPr>
          <p:cNvPr id="7" name="Text 4">
            <a:extLst>
              <a:ext uri="{FF2B5EF4-FFF2-40B4-BE49-F238E27FC236}">
                <a16:creationId xmlns:a16="http://schemas.microsoft.com/office/drawing/2014/main" id="{26193AFE-C423-4F5E-8B43-0B1335CA2420}"/>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WHY THIS MATTERS</a:t>
            </a:r>
            <a:endParaRPr sz="1200"/>
          </a:p>
        </p:txBody>
      </p:sp>
      <p:sp>
        <p:nvSpPr>
          <p:cNvPr id="8" name="Text 5">
            <a:extLst>
              <a:ext uri="{FF2B5EF4-FFF2-40B4-BE49-F238E27FC236}">
                <a16:creationId xmlns:a16="http://schemas.microsoft.com/office/drawing/2014/main" id="{836CAC94-2462-40E3-BED4-E8686D3D5133}"/>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Defining the Frontier for Integration</a:t>
            </a:r>
            <a:endParaRPr sz="3000"/>
          </a:p>
        </p:txBody>
      </p:sp>
      <p:sp>
        <p:nvSpPr>
          <p:cNvPr id="9" name="Text 6">
            <a:extLst>
              <a:ext uri="{FF2B5EF4-FFF2-40B4-BE49-F238E27FC236}">
                <a16:creationId xmlns:a16="http://schemas.microsoft.com/office/drawing/2014/main" id="{805CB2B2-DFC9-4399-A30F-3EBB38C9C088}"/>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There are many ways to move data between clients, services and partners. Choosing one is rarely obvious.</a:t>
            </a:r>
            <a:endParaRPr sz="1400"/>
          </a:p>
        </p:txBody>
      </p:sp>
      <p:sp>
        <p:nvSpPr>
          <p:cNvPr id="11" name="Shape 7">
            <a:extLst>
              <a:ext uri="{FF2B5EF4-FFF2-40B4-BE49-F238E27FC236}">
                <a16:creationId xmlns:a16="http://schemas.microsoft.com/office/drawing/2014/main" id="{2A705329-ECDF-46EF-9E13-94A9208C9C58}"/>
              </a:ext>
            </a:extLst>
          </p:cNvPr>
          <p:cNvSpPr>
            <a:spLocks noGrp="1"/>
          </p:cNvSpPr>
          <p:nvPr/>
        </p:nvSpPr>
        <p:spPr>
          <a:xfrm>
            <a:off x="508000" y="2159000"/>
            <a:ext cx="3587750" cy="215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80C23126-8FFB-4E3F-8EDF-4157A7A682EA}"/>
              </a:ext>
            </a:extLst>
          </p:cNvPr>
          <p:cNvSpPr>
            <a:spLocks noGrp="1"/>
          </p:cNvSpPr>
          <p:nvPr/>
        </p:nvSpPr>
        <p:spPr>
          <a:xfrm>
            <a:off x="508000" y="2159000"/>
            <a:ext cx="358775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06372457-C0A0-4ACD-8AA9-8A67BB3B551B}"/>
              </a:ext>
            </a:extLst>
          </p:cNvPr>
          <p:cNvSpPr>
            <a:spLocks noGrp="1"/>
          </p:cNvSpPr>
          <p:nvPr/>
        </p:nvSpPr>
        <p:spPr>
          <a:xfrm>
            <a:off x="736600" y="2387600"/>
            <a:ext cx="3130550" cy="17526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01 · THE PROBLEM</a:t>
            </a:r>
            <a:endParaRPr sz="1200"/>
          </a:p>
          <a:p>
            <a:pPr marL="0" indent="0">
              <a:lnSpc>
                <a:spcPct val="115000"/>
              </a:lnSpc>
              <a:spcAft>
                <a:spcPts val="800"/>
              </a:spcAft>
              <a:buNone/>
            </a:pPr>
            <a:r>
              <a:rPr sz="1500" b="1">
                <a:solidFill>
                  <a:srgbClr val="141414"/>
                </a:solidFill>
                <a:latin typeface="Arial"/>
                <a:ea typeface="Arial"/>
                <a:cs typeface="Arial"/>
              </a:rPr>
              <a:t>Every team has a default</a:t>
            </a:r>
            <a:endParaRPr sz="1200"/>
          </a:p>
          <a:p>
            <a:pPr marL="0" indent="0">
              <a:lnSpc>
                <a:spcPct val="115000"/>
              </a:lnSpc>
              <a:buNone/>
            </a:pPr>
            <a:r>
              <a:rPr sz="1200">
                <a:solidFill>
                  <a:srgbClr val="333333"/>
                </a:solidFill>
                <a:latin typeface="Arial"/>
                <a:ea typeface="Arial"/>
                <a:cs typeface="Arial"/>
              </a:rPr>
              <a:t>Frontend, backend and integration teams each reach for what they know, so the data contract becomes a negotiation.</a:t>
            </a:r>
            <a:endParaRPr sz="1200"/>
          </a:p>
        </p:txBody>
      </p:sp>
      <p:sp>
        <p:nvSpPr>
          <p:cNvPr id="14" name="Shape 10">
            <a:extLst>
              <a:ext uri="{FF2B5EF4-FFF2-40B4-BE49-F238E27FC236}">
                <a16:creationId xmlns:a16="http://schemas.microsoft.com/office/drawing/2014/main" id="{06F2C8DC-A1B8-437A-952E-3296244BF783}"/>
              </a:ext>
            </a:extLst>
          </p:cNvPr>
          <p:cNvSpPr>
            <a:spLocks noGrp="1"/>
          </p:cNvSpPr>
          <p:nvPr/>
        </p:nvSpPr>
        <p:spPr>
          <a:xfrm>
            <a:off x="4298950" y="2159000"/>
            <a:ext cx="3587750" cy="215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5" name="Shape 11">
            <a:extLst>
              <a:ext uri="{FF2B5EF4-FFF2-40B4-BE49-F238E27FC236}">
                <a16:creationId xmlns:a16="http://schemas.microsoft.com/office/drawing/2014/main" id="{FC8AA14E-2492-4B16-A310-3CFF074D9266}"/>
              </a:ext>
            </a:extLst>
          </p:cNvPr>
          <p:cNvSpPr>
            <a:spLocks noGrp="1"/>
          </p:cNvSpPr>
          <p:nvPr/>
        </p:nvSpPr>
        <p:spPr>
          <a:xfrm>
            <a:off x="4298950" y="2159000"/>
            <a:ext cx="3587750" cy="50800"/>
          </a:xfrm>
          <a:prstGeom prst="rect">
            <a:avLst/>
          </a:prstGeom>
          <a:solidFill>
            <a:srgbClr val="DA1884"/>
          </a:solidFill>
        </p:spPr>
        <p:txBody>
          <a:bodyPr/>
          <a:lstStyle/>
          <a:p>
            <a:endParaRPr/>
          </a:p>
        </p:txBody>
      </p:sp>
      <p:sp>
        <p:nvSpPr>
          <p:cNvPr id="16" name="Text 12">
            <a:extLst>
              <a:ext uri="{FF2B5EF4-FFF2-40B4-BE49-F238E27FC236}">
                <a16:creationId xmlns:a16="http://schemas.microsoft.com/office/drawing/2014/main" id="{F9029B56-C0F2-40C8-BA1F-5BC23567BE71}"/>
              </a:ext>
            </a:extLst>
          </p:cNvPr>
          <p:cNvSpPr>
            <a:spLocks noGrp="1"/>
          </p:cNvSpPr>
          <p:nvPr/>
        </p:nvSpPr>
        <p:spPr>
          <a:xfrm>
            <a:off x="4527550" y="2387600"/>
            <a:ext cx="3130550" cy="17526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02 · THE REALITY</a:t>
            </a:r>
            <a:endParaRPr sz="1200"/>
          </a:p>
          <a:p>
            <a:pPr marL="0" indent="0">
              <a:lnSpc>
                <a:spcPct val="115000"/>
              </a:lnSpc>
              <a:spcAft>
                <a:spcPts val="800"/>
              </a:spcAft>
              <a:buNone/>
            </a:pPr>
            <a:r>
              <a:rPr sz="1500" b="1">
                <a:solidFill>
                  <a:srgbClr val="141414"/>
                </a:solidFill>
                <a:latin typeface="Arial"/>
                <a:ea typeface="Arial"/>
                <a:cs typeface="Arial"/>
              </a:rPr>
              <a:t>Each protocol has a sweet spot</a:t>
            </a:r>
            <a:endParaRPr sz="1200"/>
          </a:p>
          <a:p>
            <a:pPr marL="0" indent="0">
              <a:lnSpc>
                <a:spcPct val="115000"/>
              </a:lnSpc>
              <a:buNone/>
            </a:pPr>
            <a:r>
              <a:rPr sz="1200">
                <a:solidFill>
                  <a:srgbClr val="333333"/>
                </a:solidFill>
                <a:latin typeface="Arial"/>
                <a:ea typeface="Arial"/>
                <a:cs typeface="Arial"/>
              </a:rPr>
              <a:t>Cacheable resources, client-shaped graphs and low-latency streams are different problems with different best answers.</a:t>
            </a:r>
            <a:endParaRPr sz="1200"/>
          </a:p>
        </p:txBody>
      </p:sp>
      <p:sp>
        <p:nvSpPr>
          <p:cNvPr id="17" name="Shape 13">
            <a:extLst>
              <a:ext uri="{FF2B5EF4-FFF2-40B4-BE49-F238E27FC236}">
                <a16:creationId xmlns:a16="http://schemas.microsoft.com/office/drawing/2014/main" id="{78478343-ADC9-40F9-A55E-7637172396B1}"/>
              </a:ext>
            </a:extLst>
          </p:cNvPr>
          <p:cNvSpPr>
            <a:spLocks noGrp="1"/>
          </p:cNvSpPr>
          <p:nvPr/>
        </p:nvSpPr>
        <p:spPr>
          <a:xfrm>
            <a:off x="8089900" y="2159000"/>
            <a:ext cx="3587750" cy="215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8" name="Shape 14">
            <a:extLst>
              <a:ext uri="{FF2B5EF4-FFF2-40B4-BE49-F238E27FC236}">
                <a16:creationId xmlns:a16="http://schemas.microsoft.com/office/drawing/2014/main" id="{83F1CDD0-52F5-4DCC-86A2-37C858659C42}"/>
              </a:ext>
            </a:extLst>
          </p:cNvPr>
          <p:cNvSpPr>
            <a:spLocks noGrp="1"/>
          </p:cNvSpPr>
          <p:nvPr/>
        </p:nvSpPr>
        <p:spPr>
          <a:xfrm>
            <a:off x="8089900" y="2159000"/>
            <a:ext cx="3587750" cy="50800"/>
          </a:xfrm>
          <a:prstGeom prst="rect">
            <a:avLst/>
          </a:prstGeom>
          <a:solidFill>
            <a:srgbClr val="DA1884"/>
          </a:solidFill>
        </p:spPr>
        <p:txBody>
          <a:bodyPr/>
          <a:lstStyle/>
          <a:p>
            <a:endParaRPr/>
          </a:p>
        </p:txBody>
      </p:sp>
      <p:sp>
        <p:nvSpPr>
          <p:cNvPr id="19" name="Text 15">
            <a:extLst>
              <a:ext uri="{FF2B5EF4-FFF2-40B4-BE49-F238E27FC236}">
                <a16:creationId xmlns:a16="http://schemas.microsoft.com/office/drawing/2014/main" id="{112DFBC1-EF82-4D25-8B59-30656E16BEC0}"/>
              </a:ext>
            </a:extLst>
          </p:cNvPr>
          <p:cNvSpPr>
            <a:spLocks noGrp="1"/>
          </p:cNvSpPr>
          <p:nvPr/>
        </p:nvSpPr>
        <p:spPr>
          <a:xfrm>
            <a:off x="8318500" y="2387600"/>
            <a:ext cx="3130550" cy="17526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03 · THE APPROACH</a:t>
            </a:r>
            <a:endParaRPr sz="1200"/>
          </a:p>
          <a:p>
            <a:pPr marL="0" indent="0">
              <a:lnSpc>
                <a:spcPct val="115000"/>
              </a:lnSpc>
              <a:spcAft>
                <a:spcPts val="800"/>
              </a:spcAft>
              <a:buNone/>
            </a:pPr>
            <a:r>
              <a:rPr sz="1500" b="1">
                <a:solidFill>
                  <a:srgbClr val="141414"/>
                </a:solidFill>
                <a:latin typeface="Arial"/>
                <a:ea typeface="Arial"/>
                <a:cs typeface="Arial"/>
              </a:rPr>
              <a:t>Choose per operation</a:t>
            </a:r>
            <a:endParaRPr sz="1200"/>
          </a:p>
          <a:p>
            <a:pPr marL="0" indent="0">
              <a:lnSpc>
                <a:spcPct val="115000"/>
              </a:lnSpc>
              <a:buNone/>
            </a:pPr>
            <a:r>
              <a:rPr sz="1200">
                <a:solidFill>
                  <a:srgbClr val="333333"/>
                </a:solidFill>
                <a:latin typeface="Arial"/>
                <a:ea typeface="Arial"/>
                <a:cs typeface="Arial"/>
              </a:rPr>
              <a:t>Most systems benefit from more than one protocol, as long as each contract stays typed, versioned and visible.</a:t>
            </a:r>
            <a:endParaRPr sz="1200"/>
          </a:p>
        </p:txBody>
      </p:sp>
      <p:sp>
        <p:nvSpPr>
          <p:cNvPr id="20" name="Shape 16">
            <a:extLst>
              <a:ext uri="{FF2B5EF4-FFF2-40B4-BE49-F238E27FC236}">
                <a16:creationId xmlns:a16="http://schemas.microsoft.com/office/drawing/2014/main" id="{208FFAEB-3E8B-4D66-BDC1-1ECBA8BD1D64}"/>
              </a:ext>
            </a:extLst>
          </p:cNvPr>
          <p:cNvSpPr>
            <a:spLocks noGrp="1"/>
          </p:cNvSpPr>
          <p:nvPr/>
        </p:nvSpPr>
        <p:spPr>
          <a:xfrm>
            <a:off x="508000" y="4572000"/>
            <a:ext cx="11176000" cy="635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1" name="Shape 17">
            <a:extLst>
              <a:ext uri="{FF2B5EF4-FFF2-40B4-BE49-F238E27FC236}">
                <a16:creationId xmlns:a16="http://schemas.microsoft.com/office/drawing/2014/main" id="{ADC9B779-F5A7-4924-84E3-AF420E12D810}"/>
              </a:ext>
            </a:extLst>
          </p:cNvPr>
          <p:cNvSpPr>
            <a:spLocks noGrp="1"/>
          </p:cNvSpPr>
          <p:nvPr/>
        </p:nvSpPr>
        <p:spPr>
          <a:xfrm>
            <a:off x="508000" y="4572000"/>
            <a:ext cx="76200" cy="635000"/>
          </a:xfrm>
          <a:prstGeom prst="rect">
            <a:avLst/>
          </a:prstGeom>
          <a:solidFill>
            <a:srgbClr val="DA1884"/>
          </a:solidFill>
        </p:spPr>
        <p:txBody>
          <a:bodyPr/>
          <a:lstStyle/>
          <a:p>
            <a:endParaRPr/>
          </a:p>
        </p:txBody>
      </p:sp>
      <p:sp>
        <p:nvSpPr>
          <p:cNvPr id="22" name="Text 18">
            <a:extLst>
              <a:ext uri="{FF2B5EF4-FFF2-40B4-BE49-F238E27FC236}">
                <a16:creationId xmlns:a16="http://schemas.microsoft.com/office/drawing/2014/main" id="{E4137315-9DEA-47AC-AA88-762474CBCEA4}"/>
              </a:ext>
            </a:extLst>
          </p:cNvPr>
          <p:cNvSpPr>
            <a:spLocks noGrp="1"/>
          </p:cNvSpPr>
          <p:nvPr/>
        </p:nvSpPr>
        <p:spPr>
          <a:xfrm>
            <a:off x="787400" y="4572000"/>
            <a:ext cx="10668000" cy="6350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The question is not which protocol wins.  </a:t>
            </a:r>
            <a:r>
              <a:rPr sz="1200">
                <a:solidFill>
                  <a:srgbClr val="141414"/>
                </a:solidFill>
                <a:latin typeface="Arial"/>
                <a:ea typeface="Arial"/>
                <a:cs typeface="Arial"/>
              </a:rPr>
              <a:t>It is which one fits the operation in front of you. Most production systems run more than one.</a:t>
            </a:r>
            <a:endParaRPr sz="1200"/>
          </a:p>
        </p:txBody>
      </p:sp>
    </p:spTree>
    <p:extLst>
      <p:ext uri="{BB962C8B-B14F-4D97-AF65-F5344CB8AC3E}">
        <p14:creationId xmlns:p14="http://schemas.microsoft.com/office/powerpoint/2010/main" val="1437303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CE40AB11-53CB-4AD7-AB74-A33E655230C1}"/>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F7CD0D3F-6127-4D36-822D-57B710B86517}"/>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287B3773-7F6E-4AF5-BAB8-C5CEDB0671B8}"/>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THE LANDSCAPE</a:t>
            </a:r>
            <a:endParaRPr sz="1000"/>
          </a:p>
        </p:txBody>
      </p:sp>
      <p:sp>
        <p:nvSpPr>
          <p:cNvPr id="5" name="Text 2">
            <a:extLst>
              <a:ext uri="{FF2B5EF4-FFF2-40B4-BE49-F238E27FC236}">
                <a16:creationId xmlns:a16="http://schemas.microsoft.com/office/drawing/2014/main" id="{CBA2E848-DDB6-403E-8018-D3E8083237C5}"/>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E415ED70-0F5C-4206-8486-93FD939563F6}"/>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5</a:t>
            </a:r>
            <a:endParaRPr sz="900"/>
          </a:p>
        </p:txBody>
      </p:sp>
      <p:sp>
        <p:nvSpPr>
          <p:cNvPr id="7" name="Text 4">
            <a:extLst>
              <a:ext uri="{FF2B5EF4-FFF2-40B4-BE49-F238E27FC236}">
                <a16:creationId xmlns:a16="http://schemas.microsoft.com/office/drawing/2014/main" id="{06BD48DB-ECEF-4DCE-B971-9E0E5B46A8BB}"/>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SIDE BY SIDE</a:t>
            </a:r>
            <a:endParaRPr sz="1200"/>
          </a:p>
        </p:txBody>
      </p:sp>
      <p:sp>
        <p:nvSpPr>
          <p:cNvPr id="8" name="Text 5">
            <a:extLst>
              <a:ext uri="{FF2B5EF4-FFF2-40B4-BE49-F238E27FC236}">
                <a16:creationId xmlns:a16="http://schemas.microsoft.com/office/drawing/2014/main" id="{54B3DC02-01AA-4875-BF93-421F0D7BAA05}"/>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Key Comparisons</a:t>
            </a:r>
            <a:endParaRPr sz="3000"/>
          </a:p>
        </p:txBody>
      </p:sp>
      <p:sp>
        <p:nvSpPr>
          <p:cNvPr id="9" name="Text 6">
            <a:extLst>
              <a:ext uri="{FF2B5EF4-FFF2-40B4-BE49-F238E27FC236}">
                <a16:creationId xmlns:a16="http://schemas.microsoft.com/office/drawing/2014/main" id="{F015BDBF-22FD-47DD-8E5F-1F2A69FB0B0E}"/>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The same questions asked of each protocol. There are no bad answers, only different fits.</a:t>
            </a:r>
            <a:endParaRPr sz="1400"/>
          </a:p>
        </p:txBody>
      </p:sp>
      <p:graphicFrame>
        <p:nvGraphicFramePr>
          <p:cNvPr id="10" name="Table 0">
            <a:extLst>
              <a:ext uri="{FF2B5EF4-FFF2-40B4-BE49-F238E27FC236}">
                <a16:creationId xmlns:a16="http://schemas.microsoft.com/office/drawing/2014/main" id="{6F002C75-CFFD-4F61-94DF-E5B7454FA9D4}"/>
              </a:ext>
            </a:extLst>
          </p:cNvPr>
          <p:cNvGraphicFramePr/>
          <p:nvPr/>
        </p:nvGraphicFramePr>
        <p:xfrm>
          <a:off x="508000" y="2159000"/>
          <a:ext cx="11176000" cy="3429000"/>
        </p:xfrm>
        <a:graphic>
          <a:graphicData uri="http://schemas.openxmlformats.org/drawingml/2006/table">
            <a:tbl>
              <a:tblPr/>
              <a:tblGrid>
                <a:gridCol w="2123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381000">
                <a:tc>
                  <a:txBody>
                    <a:bodyPr/>
                    <a:lstStyle/>
                    <a:p>
                      <a:pPr marL="0" indent="0">
                        <a:buNone/>
                      </a:pPr>
                      <a:r>
                        <a:rPr sz="1200" b="1">
                          <a:solidFill>
                            <a:srgbClr val="FFFFFF"/>
                          </a:solidFill>
                          <a:latin typeface="Arial"/>
                          <a:ea typeface="Arial"/>
                          <a:cs typeface="Arial"/>
                        </a:rPr>
                        <a:t>Feature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REST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GraphQL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dirty="0">
                          <a:solidFill>
                            <a:srgbClr val="FFFFFF"/>
                          </a:solidFill>
                          <a:latin typeface="Arial"/>
                          <a:ea typeface="Arial"/>
                          <a:cs typeface="Arial"/>
                        </a:rPr>
                        <a:t>gRPC</a:t>
                      </a:r>
                      <a:endParaRPr sz="1200" dirty="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extLst>
                  <a:ext uri="{0D108BD9-81ED-4DB2-BD59-A6C34878D82A}">
                    <a16:rowId xmlns:a16="http://schemas.microsoft.com/office/drawing/2014/main" val="10000"/>
                  </a:ext>
                </a:extLst>
              </a:tr>
              <a:tr h="381000">
                <a:tc>
                  <a:txBody>
                    <a:bodyPr/>
                    <a:lstStyle/>
                    <a:p>
                      <a:pPr marL="0" indent="0">
                        <a:buNone/>
                      </a:pPr>
                      <a:r>
                        <a:rPr sz="1200" b="1">
                          <a:solidFill>
                            <a:srgbClr val="141414"/>
                          </a:solidFill>
                          <a:latin typeface="Arial"/>
                          <a:ea typeface="Arial"/>
                          <a:cs typeface="Arial"/>
                        </a:rPr>
                        <a:t>Transport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HTTP/1.1, HTTP/2 or HTTP/3</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HTTP, usually one POST endpoint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HTTP/2 (required)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1"/>
                  </a:ext>
                </a:extLst>
              </a:tr>
              <a:tr h="381000">
                <a:tc>
                  <a:txBody>
                    <a:bodyPr/>
                    <a:lstStyle/>
                    <a:p>
                      <a:pPr marL="0" indent="0">
                        <a:buNone/>
                      </a:pPr>
                      <a:r>
                        <a:rPr sz="1200" b="1">
                          <a:solidFill>
                            <a:srgbClr val="141414"/>
                          </a:solidFill>
                          <a:latin typeface="Arial"/>
                          <a:ea typeface="Arial"/>
                          <a:cs typeface="Arial"/>
                        </a:rPr>
                        <a:t>Payload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JSON (any media type)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JSON</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Protobuf, binary</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2"/>
                  </a:ext>
                </a:extLst>
              </a:tr>
              <a:tr h="381000">
                <a:tc>
                  <a:txBody>
                    <a:bodyPr/>
                    <a:lstStyle/>
                    <a:p>
                      <a:pPr marL="0" indent="0">
                        <a:buNone/>
                      </a:pPr>
                      <a:r>
                        <a:rPr sz="1200" b="1">
                          <a:solidFill>
                            <a:srgbClr val="141414"/>
                          </a:solidFill>
                          <a:latin typeface="Arial"/>
                          <a:ea typeface="Arial"/>
                          <a:cs typeface="Arial"/>
                        </a:rPr>
                        <a:t>Contract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OpenAPI (optional)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SDL schema (required)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.proto file (required)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3"/>
                  </a:ext>
                </a:extLst>
              </a:tr>
              <a:tr h="381000">
                <a:tc>
                  <a:txBody>
                    <a:bodyPr/>
                    <a:lstStyle/>
                    <a:p>
                      <a:pPr marL="0" indent="0">
                        <a:buNone/>
                      </a:pPr>
                      <a:r>
                        <a:rPr sz="1200" b="1">
                          <a:solidFill>
                            <a:srgbClr val="141414"/>
                          </a:solidFill>
                          <a:latin typeface="Arial"/>
                          <a:ea typeface="Arial"/>
                          <a:cs typeface="Arial"/>
                        </a:rPr>
                        <a:t>Data shape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Fixed per endpoint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Client selects fields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Fixed per RPC, strongly typed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4"/>
                  </a:ext>
                </a:extLst>
              </a:tr>
              <a:tr h="381000">
                <a:tc>
                  <a:txBody>
                    <a:bodyPr/>
                    <a:lstStyle/>
                    <a:p>
                      <a:pPr marL="0" indent="0">
                        <a:buNone/>
                      </a:pPr>
                      <a:r>
                        <a:rPr sz="1200" b="1">
                          <a:solidFill>
                            <a:srgbClr val="141414"/>
                          </a:solidFill>
                          <a:latin typeface="Arial"/>
                          <a:ea typeface="Arial"/>
                          <a:cs typeface="Arial"/>
                        </a:rPr>
                        <a:t>Caching</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Native HTTP and CDN caching</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Client-side or persisted queries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Application-level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5"/>
                  </a:ext>
                </a:extLst>
              </a:tr>
              <a:tr h="381000">
                <a:tc>
                  <a:txBody>
                    <a:bodyPr/>
                    <a:lstStyle/>
                    <a:p>
                      <a:pPr marL="0" indent="0">
                        <a:buNone/>
                      </a:pPr>
                      <a:r>
                        <a:rPr sz="1200" b="1">
                          <a:solidFill>
                            <a:srgbClr val="141414"/>
                          </a:solidFill>
                          <a:latin typeface="Arial"/>
                          <a:ea typeface="Arial"/>
                          <a:cs typeface="Arial"/>
                        </a:rPr>
                        <a:t>Streaming</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SSE or chunked responses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Subscriptions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Server, client and bidirectional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6"/>
                  </a:ext>
                </a:extLst>
              </a:tr>
              <a:tr h="381000">
                <a:tc>
                  <a:txBody>
                    <a:bodyPr/>
                    <a:lstStyle/>
                    <a:p>
                      <a:pPr marL="0" indent="0">
                        <a:buNone/>
                      </a:pPr>
                      <a:r>
                        <a:rPr sz="1200" b="1">
                          <a:solidFill>
                            <a:srgbClr val="141414"/>
                          </a:solidFill>
                          <a:latin typeface="Arial"/>
                          <a:ea typeface="Arial"/>
                          <a:cs typeface="Arial"/>
                        </a:rPr>
                        <a:t>Browser support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Native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Native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Needs gRPC-Web or a bridge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7"/>
                  </a:ext>
                </a:extLst>
              </a:tr>
              <a:tr h="381000">
                <a:tc>
                  <a:txBody>
                    <a:bodyPr/>
                    <a:lstStyle/>
                    <a:p>
                      <a:pPr marL="0" indent="0">
                        <a:buNone/>
                      </a:pPr>
                      <a:r>
                        <a:rPr sz="1200" b="1">
                          <a:solidFill>
                            <a:srgbClr val="141414"/>
                          </a:solidFill>
                          <a:latin typeface="Arial"/>
                          <a:ea typeface="Arial"/>
                          <a:cs typeface="Arial"/>
                        </a:rPr>
                        <a:t>Best fit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Public and resource APIs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Client-driven nested data</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Service-to-service, low latency</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55908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534E0358-DEDF-4CF5-AC63-BB0FBB4AB30A}"/>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CAE118FA-AF1F-411C-BD24-9082DF1594F4}"/>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E661F94F-2FEE-4EE4-8CAF-2DE8BD02B75C}"/>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THE LANDSCAPE</a:t>
            </a:r>
            <a:endParaRPr sz="1000"/>
          </a:p>
        </p:txBody>
      </p:sp>
      <p:sp>
        <p:nvSpPr>
          <p:cNvPr id="5" name="Text 2">
            <a:extLst>
              <a:ext uri="{FF2B5EF4-FFF2-40B4-BE49-F238E27FC236}">
                <a16:creationId xmlns:a16="http://schemas.microsoft.com/office/drawing/2014/main" id="{77F2A769-FC53-4741-AE6A-EAE7845D8F52}"/>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FDB8BDF8-704A-437E-9719-4C67D5948F55}"/>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6</a:t>
            </a:r>
            <a:endParaRPr sz="900"/>
          </a:p>
        </p:txBody>
      </p:sp>
      <p:sp>
        <p:nvSpPr>
          <p:cNvPr id="7" name="Text 4">
            <a:extLst>
              <a:ext uri="{FF2B5EF4-FFF2-40B4-BE49-F238E27FC236}">
                <a16:creationId xmlns:a16="http://schemas.microsoft.com/office/drawing/2014/main" id="{F2CD3CED-8727-4C2A-B6BB-C9488F61D7DB}"/>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DEMO DATA SET</a:t>
            </a:r>
            <a:endParaRPr sz="1200"/>
          </a:p>
        </p:txBody>
      </p:sp>
      <p:sp>
        <p:nvSpPr>
          <p:cNvPr id="8" name="Text 5">
            <a:extLst>
              <a:ext uri="{FF2B5EF4-FFF2-40B4-BE49-F238E27FC236}">
                <a16:creationId xmlns:a16="http://schemas.microsoft.com/office/drawing/2014/main" id="{5396423D-425B-4B9C-A0CE-D5CC7EDFF6F4}"/>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One Catalog Behind All Three Protocols</a:t>
            </a:r>
            <a:endParaRPr sz="3000"/>
          </a:p>
        </p:txBody>
      </p:sp>
      <p:sp>
        <p:nvSpPr>
          <p:cNvPr id="9" name="Text 6">
            <a:extLst>
              <a:ext uri="{FF2B5EF4-FFF2-40B4-BE49-F238E27FC236}">
                <a16:creationId xmlns:a16="http://schemas.microsoft.com/office/drawing/2014/main" id="{6A9732A1-67CF-4458-A23D-D87ACDBCBC41}"/>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Original ship data and film links, enriched with selected character appearances and verified flight crew.</a:t>
            </a:r>
            <a:endParaRPr sz="1400"/>
          </a:p>
        </p:txBody>
      </p:sp>
      <p:sp>
        <p:nvSpPr>
          <p:cNvPr id="11" name="Shape 7">
            <a:extLst>
              <a:ext uri="{FF2B5EF4-FFF2-40B4-BE49-F238E27FC236}">
                <a16:creationId xmlns:a16="http://schemas.microsoft.com/office/drawing/2014/main" id="{0A663169-F88A-4873-ACD3-DD5FB02863DC}"/>
              </a:ext>
            </a:extLst>
          </p:cNvPr>
          <p:cNvSpPr>
            <a:spLocks noGrp="1"/>
          </p:cNvSpPr>
          <p:nvPr/>
        </p:nvSpPr>
        <p:spPr>
          <a:xfrm>
            <a:off x="508000" y="2222500"/>
            <a:ext cx="2984500" cy="2476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B424A755-0DF0-4038-A172-99382A5A8BFD}"/>
              </a:ext>
            </a:extLst>
          </p:cNvPr>
          <p:cNvSpPr>
            <a:spLocks noGrp="1"/>
          </p:cNvSpPr>
          <p:nvPr/>
        </p:nvSpPr>
        <p:spPr>
          <a:xfrm>
            <a:off x="508000" y="2222500"/>
            <a:ext cx="298450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1312E6BC-4BB6-4D5C-A489-A9642B4B16E1}"/>
              </a:ext>
            </a:extLst>
          </p:cNvPr>
          <p:cNvSpPr>
            <a:spLocks noGrp="1"/>
          </p:cNvSpPr>
          <p:nvPr/>
        </p:nvSpPr>
        <p:spPr>
          <a:xfrm>
            <a:off x="736600" y="2451100"/>
            <a:ext cx="2540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STARSHIPS</a:t>
            </a:r>
            <a:endParaRPr sz="1200"/>
          </a:p>
        </p:txBody>
      </p:sp>
      <p:sp>
        <p:nvSpPr>
          <p:cNvPr id="14" name="Text 10">
            <a:extLst>
              <a:ext uri="{FF2B5EF4-FFF2-40B4-BE49-F238E27FC236}">
                <a16:creationId xmlns:a16="http://schemas.microsoft.com/office/drawing/2014/main" id="{FC6DB5CB-1CDF-4601-A350-F33C06D9A36D}"/>
              </a:ext>
            </a:extLst>
          </p:cNvPr>
          <p:cNvSpPr>
            <a:spLocks noGrp="1"/>
          </p:cNvSpPr>
          <p:nvPr/>
        </p:nvSpPr>
        <p:spPr>
          <a:xfrm>
            <a:off x="736600" y="2730500"/>
            <a:ext cx="2540000" cy="825500"/>
          </a:xfrm>
          <a:prstGeom prst="rect">
            <a:avLst/>
          </a:prstGeom>
          <a:noFill/>
        </p:spPr>
        <p:txBody>
          <a:bodyPr wrap="square" lIns="0" tIns="0" rIns="0" bIns="0" anchor="t"/>
          <a:lstStyle/>
          <a:p>
            <a:pPr marL="0" indent="0" algn="l">
              <a:lnSpc>
                <a:spcPct val="110000"/>
              </a:lnSpc>
              <a:buNone/>
            </a:pPr>
            <a:r>
              <a:rPr sz="6000" b="1">
                <a:solidFill>
                  <a:srgbClr val="141414"/>
                </a:solidFill>
                <a:latin typeface="Arial"/>
                <a:ea typeface="Arial"/>
                <a:cs typeface="Arial"/>
              </a:rPr>
              <a:t>19</a:t>
            </a:r>
            <a:endParaRPr sz="6000"/>
          </a:p>
        </p:txBody>
      </p:sp>
      <p:sp>
        <p:nvSpPr>
          <p:cNvPr id="15" name="Text 11">
            <a:extLst>
              <a:ext uri="{FF2B5EF4-FFF2-40B4-BE49-F238E27FC236}">
                <a16:creationId xmlns:a16="http://schemas.microsoft.com/office/drawing/2014/main" id="{F276F32E-90F4-4C0C-B5F7-90D471DA951D}"/>
              </a:ext>
            </a:extLst>
          </p:cNvPr>
          <p:cNvSpPr>
            <a:spLocks noGrp="1"/>
          </p:cNvSpPr>
          <p:nvPr/>
        </p:nvSpPr>
        <p:spPr>
          <a:xfrm>
            <a:off x="736600" y="3746500"/>
            <a:ext cx="2540000" cy="762000"/>
          </a:xfrm>
          <a:prstGeom prst="rect">
            <a:avLst/>
          </a:prstGeom>
          <a:noFill/>
        </p:spPr>
        <p:txBody>
          <a:bodyPr wrap="square" lIns="0" tIns="0" rIns="0" bIns="0" anchor="t"/>
          <a:lstStyle/>
          <a:p>
            <a:pPr marL="0" indent="0" algn="l">
              <a:lnSpc>
                <a:spcPct val="120000"/>
              </a:lnSpc>
              <a:buNone/>
            </a:pPr>
            <a:r>
              <a:rPr sz="1200">
                <a:solidFill>
                  <a:srgbClr val="333333"/>
                </a:solidFill>
                <a:latin typeface="Arial"/>
                <a:ea typeface="Arial"/>
                <a:cs typeface="Arial"/>
              </a:rPr>
              <a:t>Name, max speed and length, from the CR90 corvette to the Millennium Falcon.</a:t>
            </a:r>
            <a:endParaRPr sz="1200"/>
          </a:p>
        </p:txBody>
      </p:sp>
      <p:sp>
        <p:nvSpPr>
          <p:cNvPr id="16" name="Shape 12">
            <a:extLst>
              <a:ext uri="{FF2B5EF4-FFF2-40B4-BE49-F238E27FC236}">
                <a16:creationId xmlns:a16="http://schemas.microsoft.com/office/drawing/2014/main" id="{74295D02-A49C-47EA-971E-C9617DE2E4E8}"/>
              </a:ext>
            </a:extLst>
          </p:cNvPr>
          <p:cNvSpPr>
            <a:spLocks noGrp="1"/>
          </p:cNvSpPr>
          <p:nvPr/>
        </p:nvSpPr>
        <p:spPr>
          <a:xfrm>
            <a:off x="4603750" y="2222500"/>
            <a:ext cx="2984500" cy="2476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7" name="Shape 13">
            <a:extLst>
              <a:ext uri="{FF2B5EF4-FFF2-40B4-BE49-F238E27FC236}">
                <a16:creationId xmlns:a16="http://schemas.microsoft.com/office/drawing/2014/main" id="{F0BB2038-CEFE-4CB7-BC01-1FF92637A7C1}"/>
              </a:ext>
            </a:extLst>
          </p:cNvPr>
          <p:cNvSpPr>
            <a:spLocks noGrp="1"/>
          </p:cNvSpPr>
          <p:nvPr/>
        </p:nvSpPr>
        <p:spPr>
          <a:xfrm>
            <a:off x="4603750" y="2222500"/>
            <a:ext cx="2984500" cy="50800"/>
          </a:xfrm>
          <a:prstGeom prst="rect">
            <a:avLst/>
          </a:prstGeom>
          <a:solidFill>
            <a:srgbClr val="DA1884"/>
          </a:solidFill>
        </p:spPr>
        <p:txBody>
          <a:bodyPr/>
          <a:lstStyle/>
          <a:p>
            <a:endParaRPr/>
          </a:p>
        </p:txBody>
      </p:sp>
      <p:sp>
        <p:nvSpPr>
          <p:cNvPr id="18" name="Text 14">
            <a:extLst>
              <a:ext uri="{FF2B5EF4-FFF2-40B4-BE49-F238E27FC236}">
                <a16:creationId xmlns:a16="http://schemas.microsoft.com/office/drawing/2014/main" id="{E2F0A529-7534-4DE6-850E-B57348F1C6F4}"/>
              </a:ext>
            </a:extLst>
          </p:cNvPr>
          <p:cNvSpPr>
            <a:spLocks noGrp="1"/>
          </p:cNvSpPr>
          <p:nvPr/>
        </p:nvSpPr>
        <p:spPr>
          <a:xfrm>
            <a:off x="4832350" y="2451100"/>
            <a:ext cx="2540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FILMS</a:t>
            </a:r>
            <a:endParaRPr sz="1200"/>
          </a:p>
        </p:txBody>
      </p:sp>
      <p:sp>
        <p:nvSpPr>
          <p:cNvPr id="19" name="Text 15">
            <a:extLst>
              <a:ext uri="{FF2B5EF4-FFF2-40B4-BE49-F238E27FC236}">
                <a16:creationId xmlns:a16="http://schemas.microsoft.com/office/drawing/2014/main" id="{9BC84640-9AF7-4250-9240-84CCF8F10D5A}"/>
              </a:ext>
            </a:extLst>
          </p:cNvPr>
          <p:cNvSpPr>
            <a:spLocks noGrp="1"/>
          </p:cNvSpPr>
          <p:nvPr/>
        </p:nvSpPr>
        <p:spPr>
          <a:xfrm>
            <a:off x="4832350" y="2730500"/>
            <a:ext cx="2540000" cy="825500"/>
          </a:xfrm>
          <a:prstGeom prst="rect">
            <a:avLst/>
          </a:prstGeom>
          <a:noFill/>
        </p:spPr>
        <p:txBody>
          <a:bodyPr wrap="square" lIns="0" tIns="0" rIns="0" bIns="0" anchor="t"/>
          <a:lstStyle/>
          <a:p>
            <a:pPr marL="0" indent="0" algn="l">
              <a:lnSpc>
                <a:spcPct val="110000"/>
              </a:lnSpc>
              <a:buNone/>
            </a:pPr>
            <a:r>
              <a:rPr sz="6000" b="1">
                <a:solidFill>
                  <a:srgbClr val="141414"/>
                </a:solidFill>
                <a:latin typeface="Arial"/>
                <a:ea typeface="Arial"/>
                <a:cs typeface="Arial"/>
              </a:rPr>
              <a:t>6</a:t>
            </a:r>
            <a:endParaRPr sz="6000"/>
          </a:p>
        </p:txBody>
      </p:sp>
      <p:sp>
        <p:nvSpPr>
          <p:cNvPr id="20" name="Text 16">
            <a:extLst>
              <a:ext uri="{FF2B5EF4-FFF2-40B4-BE49-F238E27FC236}">
                <a16:creationId xmlns:a16="http://schemas.microsoft.com/office/drawing/2014/main" id="{4E466ABB-9C09-4A37-9321-279565E2D0B5}"/>
              </a:ext>
            </a:extLst>
          </p:cNvPr>
          <p:cNvSpPr>
            <a:spLocks noGrp="1"/>
          </p:cNvSpPr>
          <p:nvPr/>
        </p:nvSpPr>
        <p:spPr>
          <a:xfrm>
            <a:off x="4832350" y="3746500"/>
            <a:ext cx="2540000" cy="762000"/>
          </a:xfrm>
          <a:prstGeom prst="rect">
            <a:avLst/>
          </a:prstGeom>
          <a:noFill/>
        </p:spPr>
        <p:txBody>
          <a:bodyPr wrap="square" lIns="0" tIns="0" rIns="0" bIns="0" anchor="t"/>
          <a:lstStyle/>
          <a:p>
            <a:pPr marL="0" indent="0" algn="l">
              <a:lnSpc>
                <a:spcPct val="120000"/>
              </a:lnSpc>
              <a:buNone/>
            </a:pPr>
            <a:r>
              <a:rPr sz="1200">
                <a:solidFill>
                  <a:srgbClr val="333333"/>
                </a:solidFill>
                <a:latin typeface="Arial"/>
                <a:ea typeface="Arial"/>
                <a:cs typeface="Arial"/>
              </a:rPr>
              <a:t>A New Hope through Revenge of the Sith.</a:t>
            </a:r>
            <a:endParaRPr sz="1200"/>
          </a:p>
        </p:txBody>
      </p:sp>
      <p:sp>
        <p:nvSpPr>
          <p:cNvPr id="21" name="Shape 17">
            <a:extLst>
              <a:ext uri="{FF2B5EF4-FFF2-40B4-BE49-F238E27FC236}">
                <a16:creationId xmlns:a16="http://schemas.microsoft.com/office/drawing/2014/main" id="{FBC5A470-C9D6-457C-8D4F-A21E08B8638C}"/>
              </a:ext>
            </a:extLst>
          </p:cNvPr>
          <p:cNvSpPr>
            <a:spLocks noGrp="1"/>
          </p:cNvSpPr>
          <p:nvPr/>
        </p:nvSpPr>
        <p:spPr>
          <a:xfrm>
            <a:off x="8699500" y="2222500"/>
            <a:ext cx="2984500" cy="2476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2" name="Shape 18">
            <a:extLst>
              <a:ext uri="{FF2B5EF4-FFF2-40B4-BE49-F238E27FC236}">
                <a16:creationId xmlns:a16="http://schemas.microsoft.com/office/drawing/2014/main" id="{C95635AB-7F21-42A2-B8D1-B63DC396988E}"/>
              </a:ext>
            </a:extLst>
          </p:cNvPr>
          <p:cNvSpPr>
            <a:spLocks noGrp="1"/>
          </p:cNvSpPr>
          <p:nvPr/>
        </p:nvSpPr>
        <p:spPr>
          <a:xfrm>
            <a:off x="8699500" y="2222500"/>
            <a:ext cx="2984500" cy="50800"/>
          </a:xfrm>
          <a:prstGeom prst="rect">
            <a:avLst/>
          </a:prstGeom>
          <a:solidFill>
            <a:srgbClr val="DA1884"/>
          </a:solidFill>
        </p:spPr>
        <p:txBody>
          <a:bodyPr/>
          <a:lstStyle/>
          <a:p>
            <a:endParaRPr/>
          </a:p>
        </p:txBody>
      </p:sp>
      <p:sp>
        <p:nvSpPr>
          <p:cNvPr id="23" name="Text 19">
            <a:extLst>
              <a:ext uri="{FF2B5EF4-FFF2-40B4-BE49-F238E27FC236}">
                <a16:creationId xmlns:a16="http://schemas.microsoft.com/office/drawing/2014/main" id="{7734A06F-0D46-4579-9CA7-2DA109824354}"/>
              </a:ext>
            </a:extLst>
          </p:cNvPr>
          <p:cNvSpPr>
            <a:spLocks noGrp="1"/>
          </p:cNvSpPr>
          <p:nvPr/>
        </p:nvSpPr>
        <p:spPr>
          <a:xfrm>
            <a:off x="8928100" y="2451100"/>
            <a:ext cx="2540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CHARACTERS</a:t>
            </a:r>
            <a:endParaRPr sz="1200"/>
          </a:p>
        </p:txBody>
      </p:sp>
      <p:sp>
        <p:nvSpPr>
          <p:cNvPr id="24" name="Text 20">
            <a:extLst>
              <a:ext uri="{FF2B5EF4-FFF2-40B4-BE49-F238E27FC236}">
                <a16:creationId xmlns:a16="http://schemas.microsoft.com/office/drawing/2014/main" id="{5A050C50-252F-40CA-8046-E696159F4AA6}"/>
              </a:ext>
            </a:extLst>
          </p:cNvPr>
          <p:cNvSpPr>
            <a:spLocks noGrp="1"/>
          </p:cNvSpPr>
          <p:nvPr/>
        </p:nvSpPr>
        <p:spPr>
          <a:xfrm>
            <a:off x="8928100" y="2730500"/>
            <a:ext cx="2540000" cy="825500"/>
          </a:xfrm>
          <a:prstGeom prst="rect">
            <a:avLst/>
          </a:prstGeom>
          <a:noFill/>
        </p:spPr>
        <p:txBody>
          <a:bodyPr wrap="square" lIns="0" tIns="0" rIns="0" bIns="0" anchor="t"/>
          <a:lstStyle/>
          <a:p>
            <a:pPr marL="0" indent="0" algn="l">
              <a:lnSpc>
                <a:spcPct val="110000"/>
              </a:lnSpc>
              <a:buNone/>
            </a:pPr>
            <a:r>
              <a:rPr sz="6000" b="1">
                <a:solidFill>
                  <a:srgbClr val="141414"/>
                </a:solidFill>
                <a:latin typeface="Arial"/>
                <a:ea typeface="Arial"/>
                <a:cs typeface="Arial"/>
              </a:rPr>
              <a:t>18</a:t>
            </a:r>
            <a:endParaRPr sz="6000"/>
          </a:p>
        </p:txBody>
      </p:sp>
      <p:sp>
        <p:nvSpPr>
          <p:cNvPr id="25" name="Text 21">
            <a:extLst>
              <a:ext uri="{FF2B5EF4-FFF2-40B4-BE49-F238E27FC236}">
                <a16:creationId xmlns:a16="http://schemas.microsoft.com/office/drawing/2014/main" id="{6C48B48B-58CA-43BE-A002-6BE923DB93BF}"/>
              </a:ext>
            </a:extLst>
          </p:cNvPr>
          <p:cNvSpPr>
            <a:spLocks noGrp="1"/>
          </p:cNvSpPr>
          <p:nvPr/>
        </p:nvSpPr>
        <p:spPr>
          <a:xfrm>
            <a:off x="8928100" y="3746500"/>
            <a:ext cx="2540000" cy="762000"/>
          </a:xfrm>
          <a:prstGeom prst="rect">
            <a:avLst/>
          </a:prstGeom>
          <a:noFill/>
        </p:spPr>
        <p:txBody>
          <a:bodyPr wrap="square" lIns="0" tIns="0" rIns="0" bIns="0" anchor="t"/>
          <a:lstStyle/>
          <a:p>
            <a:pPr marL="0" indent="0" algn="l">
              <a:lnSpc>
                <a:spcPct val="120000"/>
              </a:lnSpc>
              <a:buNone/>
            </a:pPr>
            <a:r>
              <a:rPr sz="1200">
                <a:solidFill>
                  <a:srgbClr val="333333"/>
                </a:solidFill>
                <a:latin typeface="Arial"/>
                <a:ea typeface="Arial"/>
                <a:cs typeface="Arial"/>
              </a:rPr>
              <a:t>Luke Skywalker, Han Solo, Leia Organa and Chewbacca. A curated selection.</a:t>
            </a:r>
            <a:endParaRPr sz="1200"/>
          </a:p>
        </p:txBody>
      </p:sp>
      <p:sp>
        <p:nvSpPr>
          <p:cNvPr id="26" name="Text 22">
            <a:extLst>
              <a:ext uri="{FF2B5EF4-FFF2-40B4-BE49-F238E27FC236}">
                <a16:creationId xmlns:a16="http://schemas.microsoft.com/office/drawing/2014/main" id="{3707F1BD-322E-44EC-8C33-BD61B5AA21CD}"/>
              </a:ext>
            </a:extLst>
          </p:cNvPr>
          <p:cNvSpPr>
            <a:spLocks noGrp="1"/>
          </p:cNvSpPr>
          <p:nvPr/>
        </p:nvSpPr>
        <p:spPr>
          <a:xfrm>
            <a:off x="3492500" y="3111500"/>
            <a:ext cx="1111250" cy="215900"/>
          </a:xfrm>
          <a:prstGeom prst="rect">
            <a:avLst/>
          </a:prstGeom>
          <a:noFill/>
        </p:spPr>
        <p:txBody>
          <a:bodyPr wrap="square" lIns="0" tIns="0" rIns="0" bIns="0" anchor="t"/>
          <a:lstStyle/>
          <a:p>
            <a:pPr marL="0" indent="0" algn="ctr">
              <a:lnSpc>
                <a:spcPct val="110000"/>
              </a:lnSpc>
              <a:buNone/>
            </a:pPr>
            <a:r>
              <a:rPr sz="1100" b="1">
                <a:solidFill>
                  <a:srgbClr val="6B6B6B"/>
                </a:solidFill>
                <a:latin typeface="Arial"/>
                <a:ea typeface="Arial"/>
                <a:cs typeface="Arial"/>
              </a:rPr>
              <a:t>many-to-many</a:t>
            </a:r>
            <a:endParaRPr sz="1100"/>
          </a:p>
        </p:txBody>
      </p:sp>
      <p:sp>
        <p:nvSpPr>
          <p:cNvPr id="27" name="Shape 23">
            <a:extLst>
              <a:ext uri="{FF2B5EF4-FFF2-40B4-BE49-F238E27FC236}">
                <a16:creationId xmlns:a16="http://schemas.microsoft.com/office/drawing/2014/main" id="{C8782F7B-0DA8-4A3D-B65E-FF423AA3EC3C}"/>
              </a:ext>
            </a:extLst>
          </p:cNvPr>
          <p:cNvSpPr>
            <a:spLocks noGrp="1"/>
          </p:cNvSpPr>
          <p:nvPr/>
        </p:nvSpPr>
        <p:spPr>
          <a:xfrm>
            <a:off x="3568700" y="3403600"/>
            <a:ext cx="457200" cy="203200"/>
          </a:xfrm>
          <a:prstGeom prst="leftArrow">
            <a:avLst/>
          </a:prstGeom>
          <a:solidFill>
            <a:srgbClr val="DA1884"/>
          </a:solidFill>
        </p:spPr>
        <p:txBody>
          <a:bodyPr/>
          <a:lstStyle/>
          <a:p>
            <a:endParaRPr/>
          </a:p>
        </p:txBody>
      </p:sp>
      <p:sp>
        <p:nvSpPr>
          <p:cNvPr id="28" name="Shape 24">
            <a:extLst>
              <a:ext uri="{FF2B5EF4-FFF2-40B4-BE49-F238E27FC236}">
                <a16:creationId xmlns:a16="http://schemas.microsoft.com/office/drawing/2014/main" id="{402E3D21-253D-43F2-B756-E854E3999CEA}"/>
              </a:ext>
            </a:extLst>
          </p:cNvPr>
          <p:cNvSpPr>
            <a:spLocks noGrp="1"/>
          </p:cNvSpPr>
          <p:nvPr/>
        </p:nvSpPr>
        <p:spPr>
          <a:xfrm>
            <a:off x="4064000" y="3403600"/>
            <a:ext cx="457200" cy="203200"/>
          </a:xfrm>
          <a:prstGeom prst="rightArrow">
            <a:avLst/>
          </a:prstGeom>
          <a:solidFill>
            <a:srgbClr val="DA1884"/>
          </a:solidFill>
        </p:spPr>
        <p:txBody>
          <a:bodyPr/>
          <a:lstStyle/>
          <a:p>
            <a:endParaRPr/>
          </a:p>
        </p:txBody>
      </p:sp>
      <p:sp>
        <p:nvSpPr>
          <p:cNvPr id="29" name="Text 25">
            <a:extLst>
              <a:ext uri="{FF2B5EF4-FFF2-40B4-BE49-F238E27FC236}">
                <a16:creationId xmlns:a16="http://schemas.microsoft.com/office/drawing/2014/main" id="{8B16A9E8-6957-4709-885C-882E6D0A6382}"/>
              </a:ext>
            </a:extLst>
          </p:cNvPr>
          <p:cNvSpPr>
            <a:spLocks noGrp="1"/>
          </p:cNvSpPr>
          <p:nvPr/>
        </p:nvSpPr>
        <p:spPr>
          <a:xfrm>
            <a:off x="7588250" y="3111500"/>
            <a:ext cx="1111250" cy="215900"/>
          </a:xfrm>
          <a:prstGeom prst="rect">
            <a:avLst/>
          </a:prstGeom>
          <a:noFill/>
        </p:spPr>
        <p:txBody>
          <a:bodyPr wrap="square" lIns="0" tIns="0" rIns="0" bIns="0" anchor="t"/>
          <a:lstStyle/>
          <a:p>
            <a:pPr marL="0" indent="0" algn="ctr">
              <a:lnSpc>
                <a:spcPct val="110000"/>
              </a:lnSpc>
              <a:buNone/>
            </a:pPr>
            <a:r>
              <a:rPr sz="1100" b="1">
                <a:solidFill>
                  <a:srgbClr val="6B6B6B"/>
                </a:solidFill>
                <a:latin typeface="Arial"/>
                <a:ea typeface="Arial"/>
                <a:cs typeface="Arial"/>
              </a:rPr>
              <a:t>many-to-many</a:t>
            </a:r>
            <a:endParaRPr sz="1100"/>
          </a:p>
        </p:txBody>
      </p:sp>
      <p:sp>
        <p:nvSpPr>
          <p:cNvPr id="30" name="Shape 26">
            <a:extLst>
              <a:ext uri="{FF2B5EF4-FFF2-40B4-BE49-F238E27FC236}">
                <a16:creationId xmlns:a16="http://schemas.microsoft.com/office/drawing/2014/main" id="{BAEA76F1-59AE-4937-BBC3-07F998FA439D}"/>
              </a:ext>
            </a:extLst>
          </p:cNvPr>
          <p:cNvSpPr>
            <a:spLocks noGrp="1"/>
          </p:cNvSpPr>
          <p:nvPr/>
        </p:nvSpPr>
        <p:spPr>
          <a:xfrm>
            <a:off x="7664450" y="3403600"/>
            <a:ext cx="457200" cy="203200"/>
          </a:xfrm>
          <a:prstGeom prst="leftArrow">
            <a:avLst/>
          </a:prstGeom>
          <a:solidFill>
            <a:srgbClr val="DA1884"/>
          </a:solidFill>
        </p:spPr>
        <p:txBody>
          <a:bodyPr/>
          <a:lstStyle/>
          <a:p>
            <a:endParaRPr/>
          </a:p>
        </p:txBody>
      </p:sp>
      <p:sp>
        <p:nvSpPr>
          <p:cNvPr id="31" name="Shape 27">
            <a:extLst>
              <a:ext uri="{FF2B5EF4-FFF2-40B4-BE49-F238E27FC236}">
                <a16:creationId xmlns:a16="http://schemas.microsoft.com/office/drawing/2014/main" id="{F8140335-9A57-47D9-8E0A-A23E3C4673FE}"/>
              </a:ext>
            </a:extLst>
          </p:cNvPr>
          <p:cNvSpPr>
            <a:spLocks noGrp="1"/>
          </p:cNvSpPr>
          <p:nvPr/>
        </p:nvSpPr>
        <p:spPr>
          <a:xfrm>
            <a:off x="8159750" y="3403600"/>
            <a:ext cx="457200" cy="203200"/>
          </a:xfrm>
          <a:prstGeom prst="rightArrow">
            <a:avLst/>
          </a:prstGeom>
          <a:solidFill>
            <a:srgbClr val="DA1884"/>
          </a:solidFill>
        </p:spPr>
        <p:txBody>
          <a:bodyPr/>
          <a:lstStyle/>
          <a:p>
            <a:endParaRPr/>
          </a:p>
        </p:txBody>
      </p:sp>
      <p:sp>
        <p:nvSpPr>
          <p:cNvPr id="32" name="Shape 28">
            <a:extLst>
              <a:ext uri="{FF2B5EF4-FFF2-40B4-BE49-F238E27FC236}">
                <a16:creationId xmlns:a16="http://schemas.microsoft.com/office/drawing/2014/main" id="{EBF85EEB-BADA-42D9-B7DA-E3F527CF5F81}"/>
              </a:ext>
            </a:extLst>
          </p:cNvPr>
          <p:cNvSpPr>
            <a:spLocks noGrp="1"/>
          </p:cNvSpPr>
          <p:nvPr/>
        </p:nvSpPr>
        <p:spPr>
          <a:xfrm>
            <a:off x="508000" y="5016500"/>
            <a:ext cx="11176000" cy="635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33" name="Shape 29">
            <a:extLst>
              <a:ext uri="{FF2B5EF4-FFF2-40B4-BE49-F238E27FC236}">
                <a16:creationId xmlns:a16="http://schemas.microsoft.com/office/drawing/2014/main" id="{B7F92C77-1972-443B-8A2C-E37E128CA30D}"/>
              </a:ext>
            </a:extLst>
          </p:cNvPr>
          <p:cNvSpPr>
            <a:spLocks noGrp="1"/>
          </p:cNvSpPr>
          <p:nvPr/>
        </p:nvSpPr>
        <p:spPr>
          <a:xfrm>
            <a:off x="508000" y="5016500"/>
            <a:ext cx="76200" cy="635000"/>
          </a:xfrm>
          <a:prstGeom prst="rect">
            <a:avLst/>
          </a:prstGeom>
          <a:solidFill>
            <a:srgbClr val="DA1884"/>
          </a:solidFill>
        </p:spPr>
        <p:txBody>
          <a:bodyPr/>
          <a:lstStyle/>
          <a:p>
            <a:endParaRPr/>
          </a:p>
        </p:txBody>
      </p:sp>
      <p:sp>
        <p:nvSpPr>
          <p:cNvPr id="34" name="Text 30">
            <a:extLst>
              <a:ext uri="{FF2B5EF4-FFF2-40B4-BE49-F238E27FC236}">
                <a16:creationId xmlns:a16="http://schemas.microsoft.com/office/drawing/2014/main" id="{965D368E-467A-42BF-AE9F-3AD9F860C097}"/>
              </a:ext>
            </a:extLst>
          </p:cNvPr>
          <p:cNvSpPr>
            <a:spLocks noGrp="1"/>
          </p:cNvSpPr>
          <p:nvPr/>
        </p:nvSpPr>
        <p:spPr>
          <a:xfrm>
            <a:off x="787400" y="5016500"/>
            <a:ext cx="10668000" cy="635000"/>
          </a:xfrm>
          <a:prstGeom prst="rect">
            <a:avLst/>
          </a:prstGeom>
          <a:noFill/>
        </p:spPr>
        <p:txBody>
          <a:bodyPr wrap="square" lIns="0" tIns="0" rIns="0" bIns="0" anchor="ctr"/>
          <a:lstStyle/>
          <a:p>
            <a:pPr marL="0" indent="0">
              <a:lnSpc>
                <a:spcPct val="115000"/>
              </a:lnSpc>
              <a:buNone/>
            </a:pPr>
            <a:r>
              <a:rPr sz="1200" b="1" dirty="0">
                <a:solidFill>
                  <a:srgbClr val="141414"/>
                </a:solidFill>
                <a:latin typeface="Arial"/>
                <a:ea typeface="Arial"/>
                <a:cs typeface="Arial"/>
              </a:rPr>
              <a:t>One immutable, in-memory catalog.  </a:t>
            </a:r>
            <a:r>
              <a:rPr sz="1200" dirty="0">
                <a:solidFill>
                  <a:srgbClr val="141414"/>
                </a:solidFill>
                <a:latin typeface="Arial"/>
                <a:ea typeface="Arial"/>
                <a:cs typeface="Arial"/>
              </a:rPr>
              <a:t>REST, GraphQL and gRPC all read the same seeded source. There is no database to configure, and all three protocols see identical data.</a:t>
            </a:r>
            <a:endParaRPr sz="1200" dirty="0"/>
          </a:p>
        </p:txBody>
      </p:sp>
    </p:spTree>
    <p:extLst>
      <p:ext uri="{BB962C8B-B14F-4D97-AF65-F5344CB8AC3E}">
        <p14:creationId xmlns:p14="http://schemas.microsoft.com/office/powerpoint/2010/main" val="1192780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B04F48EB-092C-40C3-AC6D-D94219CED30A}"/>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DD58D0A6-301E-4897-8F0E-7C5A831A987A}"/>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5CD1FD78-A4A3-45EE-926B-40EFFBC29D98}"/>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SECTION 02</a:t>
            </a:r>
            <a:endParaRPr sz="1000"/>
          </a:p>
        </p:txBody>
      </p:sp>
      <p:sp>
        <p:nvSpPr>
          <p:cNvPr id="5" name="Text 2">
            <a:extLst>
              <a:ext uri="{FF2B5EF4-FFF2-40B4-BE49-F238E27FC236}">
                <a16:creationId xmlns:a16="http://schemas.microsoft.com/office/drawing/2014/main" id="{1AF4AC3E-502F-486A-AE2A-4A07A7D496C8}"/>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5E331B93-4B91-472D-BC04-0D4E0E364568}"/>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7</a:t>
            </a:r>
            <a:endParaRPr sz="900"/>
          </a:p>
        </p:txBody>
      </p:sp>
      <p:sp>
        <p:nvSpPr>
          <p:cNvPr id="7" name="Text 4">
            <a:extLst>
              <a:ext uri="{FF2B5EF4-FFF2-40B4-BE49-F238E27FC236}">
                <a16:creationId xmlns:a16="http://schemas.microsoft.com/office/drawing/2014/main" id="{C5C08A61-5B11-4251-B07B-684C43853827}"/>
              </a:ext>
            </a:extLst>
          </p:cNvPr>
          <p:cNvSpPr>
            <a:spLocks noGrp="1"/>
          </p:cNvSpPr>
          <p:nvPr/>
        </p:nvSpPr>
        <p:spPr>
          <a:xfrm>
            <a:off x="457200" y="1587500"/>
            <a:ext cx="5080000" cy="1651000"/>
          </a:xfrm>
          <a:prstGeom prst="rect">
            <a:avLst/>
          </a:prstGeom>
          <a:noFill/>
        </p:spPr>
        <p:txBody>
          <a:bodyPr wrap="square" lIns="0" tIns="0" rIns="0" bIns="0" anchor="t"/>
          <a:lstStyle/>
          <a:p>
            <a:pPr marL="0" indent="0" algn="l">
              <a:lnSpc>
                <a:spcPct val="90000"/>
              </a:lnSpc>
              <a:buNone/>
            </a:pPr>
            <a:r>
              <a:rPr sz="12000" b="1">
                <a:solidFill>
                  <a:srgbClr val="DA1884"/>
                </a:solidFill>
                <a:latin typeface="Arial"/>
                <a:ea typeface="Arial"/>
                <a:cs typeface="Arial"/>
              </a:rPr>
              <a:t>02</a:t>
            </a:r>
            <a:endParaRPr sz="12000"/>
          </a:p>
        </p:txBody>
      </p:sp>
      <p:sp>
        <p:nvSpPr>
          <p:cNvPr id="8" name="Text 5">
            <a:extLst>
              <a:ext uri="{FF2B5EF4-FFF2-40B4-BE49-F238E27FC236}">
                <a16:creationId xmlns:a16="http://schemas.microsoft.com/office/drawing/2014/main" id="{AFAF0C3C-EDE0-4473-9E26-6F54A4EFCDE1}"/>
              </a:ext>
            </a:extLst>
          </p:cNvPr>
          <p:cNvSpPr>
            <a:spLocks noGrp="1"/>
          </p:cNvSpPr>
          <p:nvPr/>
        </p:nvSpPr>
        <p:spPr>
          <a:xfrm>
            <a:off x="508000" y="3302000"/>
            <a:ext cx="5207000" cy="660400"/>
          </a:xfrm>
          <a:prstGeom prst="rect">
            <a:avLst/>
          </a:prstGeom>
          <a:noFill/>
        </p:spPr>
        <p:txBody>
          <a:bodyPr wrap="square" lIns="0" tIns="0" rIns="0" bIns="0" anchor="t"/>
          <a:lstStyle/>
          <a:p>
            <a:pPr marL="0" indent="0" algn="l">
              <a:lnSpc>
                <a:spcPct val="100000"/>
              </a:lnSpc>
              <a:buNone/>
            </a:pPr>
            <a:r>
              <a:rPr sz="4400" b="1">
                <a:solidFill>
                  <a:srgbClr val="141414"/>
                </a:solidFill>
                <a:latin typeface="Arial"/>
                <a:ea typeface="Arial"/>
                <a:cs typeface="Arial"/>
              </a:rPr>
              <a:t>The Protocols</a:t>
            </a:r>
            <a:endParaRPr sz="4400"/>
          </a:p>
        </p:txBody>
      </p:sp>
      <p:sp>
        <p:nvSpPr>
          <p:cNvPr id="9" name="Shape 6">
            <a:extLst>
              <a:ext uri="{FF2B5EF4-FFF2-40B4-BE49-F238E27FC236}">
                <a16:creationId xmlns:a16="http://schemas.microsoft.com/office/drawing/2014/main" id="{687F03A7-858F-4C5C-892C-02757B03DA2D}"/>
              </a:ext>
            </a:extLst>
          </p:cNvPr>
          <p:cNvSpPr>
            <a:spLocks noGrp="1"/>
          </p:cNvSpPr>
          <p:nvPr/>
        </p:nvSpPr>
        <p:spPr>
          <a:xfrm>
            <a:off x="508000" y="4140200"/>
            <a:ext cx="1016000" cy="50800"/>
          </a:xfrm>
          <a:prstGeom prst="rect">
            <a:avLst/>
          </a:prstGeom>
          <a:solidFill>
            <a:srgbClr val="DA1884"/>
          </a:solidFill>
        </p:spPr>
        <p:txBody>
          <a:bodyPr/>
          <a:lstStyle/>
          <a:p>
            <a:endParaRPr/>
          </a:p>
        </p:txBody>
      </p:sp>
      <p:sp>
        <p:nvSpPr>
          <p:cNvPr id="10" name="Text 7">
            <a:extLst>
              <a:ext uri="{FF2B5EF4-FFF2-40B4-BE49-F238E27FC236}">
                <a16:creationId xmlns:a16="http://schemas.microsoft.com/office/drawing/2014/main" id="{F7004E4A-9B66-45DB-B2A0-1D27DEA2DDA2}"/>
              </a:ext>
            </a:extLst>
          </p:cNvPr>
          <p:cNvSpPr>
            <a:spLocks noGrp="1"/>
          </p:cNvSpPr>
          <p:nvPr/>
        </p:nvSpPr>
        <p:spPr>
          <a:xfrm>
            <a:off x="508000" y="4368800"/>
            <a:ext cx="5207000" cy="635000"/>
          </a:xfrm>
          <a:prstGeom prst="rect">
            <a:avLst/>
          </a:prstGeom>
          <a:noFill/>
        </p:spPr>
        <p:txBody>
          <a:bodyPr wrap="square" lIns="0" tIns="0" rIns="0" bIns="0" anchor="t"/>
          <a:lstStyle/>
          <a:p>
            <a:pPr marL="0" indent="0" algn="l">
              <a:lnSpc>
                <a:spcPct val="125000"/>
              </a:lnSpc>
              <a:buNone/>
            </a:pPr>
            <a:r>
              <a:rPr sz="1500" dirty="0">
                <a:solidFill>
                  <a:srgbClr val="6B6B6B"/>
                </a:solidFill>
                <a:latin typeface="Arial"/>
                <a:ea typeface="Arial"/>
                <a:cs typeface="Arial"/>
              </a:rPr>
              <a:t>REST, GraphQL and gRPC: each in concept, then in working code.</a:t>
            </a:r>
            <a:endParaRPr sz="1500" dirty="0"/>
          </a:p>
        </p:txBody>
      </p:sp>
      <p:sp>
        <p:nvSpPr>
          <p:cNvPr id="11" name="Shape 8">
            <a:extLst>
              <a:ext uri="{FF2B5EF4-FFF2-40B4-BE49-F238E27FC236}">
                <a16:creationId xmlns:a16="http://schemas.microsoft.com/office/drawing/2014/main" id="{BFF16670-9E34-46ED-9FEA-CBC3657CA1AC}"/>
              </a:ext>
            </a:extLst>
          </p:cNvPr>
          <p:cNvSpPr>
            <a:spLocks noGrp="1"/>
          </p:cNvSpPr>
          <p:nvPr/>
        </p:nvSpPr>
        <p:spPr>
          <a:xfrm>
            <a:off x="6223000" y="2413000"/>
            <a:ext cx="54610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9">
            <a:extLst>
              <a:ext uri="{FF2B5EF4-FFF2-40B4-BE49-F238E27FC236}">
                <a16:creationId xmlns:a16="http://schemas.microsoft.com/office/drawing/2014/main" id="{12E826B0-2A48-436B-BF35-548BBBD06267}"/>
              </a:ext>
            </a:extLst>
          </p:cNvPr>
          <p:cNvSpPr>
            <a:spLocks noGrp="1"/>
          </p:cNvSpPr>
          <p:nvPr/>
        </p:nvSpPr>
        <p:spPr>
          <a:xfrm>
            <a:off x="6223000" y="2413000"/>
            <a:ext cx="5461000" cy="50800"/>
          </a:xfrm>
          <a:prstGeom prst="rect">
            <a:avLst/>
          </a:prstGeom>
          <a:solidFill>
            <a:srgbClr val="DA1884"/>
          </a:solidFill>
        </p:spPr>
        <p:txBody>
          <a:bodyPr/>
          <a:lstStyle/>
          <a:p>
            <a:endParaRPr/>
          </a:p>
        </p:txBody>
      </p:sp>
      <p:sp>
        <p:nvSpPr>
          <p:cNvPr id="13" name="Text 10">
            <a:extLst>
              <a:ext uri="{FF2B5EF4-FFF2-40B4-BE49-F238E27FC236}">
                <a16:creationId xmlns:a16="http://schemas.microsoft.com/office/drawing/2014/main" id="{9E2A8ADB-5A08-4861-8C7F-11CB75E238E2}"/>
              </a:ext>
            </a:extLst>
          </p:cNvPr>
          <p:cNvSpPr>
            <a:spLocks noGrp="1"/>
          </p:cNvSpPr>
          <p:nvPr/>
        </p:nvSpPr>
        <p:spPr>
          <a:xfrm>
            <a:off x="6477000" y="2641600"/>
            <a:ext cx="4953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IN THIS SECTION</a:t>
            </a:r>
            <a:endParaRPr sz="1200"/>
          </a:p>
        </p:txBody>
      </p:sp>
      <p:sp>
        <p:nvSpPr>
          <p:cNvPr id="14" name="Text 11">
            <a:extLst>
              <a:ext uri="{FF2B5EF4-FFF2-40B4-BE49-F238E27FC236}">
                <a16:creationId xmlns:a16="http://schemas.microsoft.com/office/drawing/2014/main" id="{B179B292-715D-4A43-9562-D56DA21244A0}"/>
              </a:ext>
            </a:extLst>
          </p:cNvPr>
          <p:cNvSpPr>
            <a:spLocks noGrp="1"/>
          </p:cNvSpPr>
          <p:nvPr/>
        </p:nvSpPr>
        <p:spPr>
          <a:xfrm>
            <a:off x="6477000" y="29972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REST: resources over HTTP</a:t>
            </a:r>
            <a:endParaRPr sz="1300"/>
          </a:p>
        </p:txBody>
      </p:sp>
      <p:sp>
        <p:nvSpPr>
          <p:cNvPr id="15" name="Text 12">
            <a:extLst>
              <a:ext uri="{FF2B5EF4-FFF2-40B4-BE49-F238E27FC236}">
                <a16:creationId xmlns:a16="http://schemas.microsoft.com/office/drawing/2014/main" id="{E897190F-BD99-4090-9A4F-3AE86653237F}"/>
              </a:ext>
            </a:extLst>
          </p:cNvPr>
          <p:cNvSpPr>
            <a:spLocks noGrp="1"/>
          </p:cNvSpPr>
          <p:nvPr/>
        </p:nvSpPr>
        <p:spPr>
          <a:xfrm>
            <a:off x="6477000" y="34798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GraphQL: client-shaped queries over one schema</a:t>
            </a:r>
            <a:endParaRPr sz="1300"/>
          </a:p>
        </p:txBody>
      </p:sp>
      <p:sp>
        <p:nvSpPr>
          <p:cNvPr id="16" name="Text 13">
            <a:extLst>
              <a:ext uri="{FF2B5EF4-FFF2-40B4-BE49-F238E27FC236}">
                <a16:creationId xmlns:a16="http://schemas.microsoft.com/office/drawing/2014/main" id="{1724E4AE-238E-4F27-A8E1-21418DA43FE0}"/>
              </a:ext>
            </a:extLst>
          </p:cNvPr>
          <p:cNvSpPr>
            <a:spLocks noGrp="1"/>
          </p:cNvSpPr>
          <p:nvPr/>
        </p:nvSpPr>
        <p:spPr>
          <a:xfrm>
            <a:off x="6477000" y="3962400"/>
            <a:ext cx="4953000" cy="406400"/>
          </a:xfrm>
          <a:prstGeom prst="rect">
            <a:avLst/>
          </a:prstGeom>
          <a:noFill/>
        </p:spPr>
        <p:txBody>
          <a:bodyPr wrap="square" lIns="0" tIns="0" rIns="0" bIns="0" anchor="t"/>
          <a:lstStyle/>
          <a:p>
            <a:pPr marL="0" indent="0" algn="l">
              <a:lnSpc>
                <a:spcPct val="115000"/>
              </a:lnSpc>
              <a:buNone/>
            </a:pPr>
            <a:r>
              <a:rPr sz="1300" dirty="0">
                <a:solidFill>
                  <a:srgbClr val="333333"/>
                </a:solidFill>
                <a:latin typeface="Arial"/>
                <a:ea typeface="Arial"/>
                <a:cs typeface="Arial"/>
              </a:rPr>
              <a:t>gRPC: typed contracts and streaming over HTTP/2</a:t>
            </a:r>
            <a:endParaRPr sz="1300" dirty="0"/>
          </a:p>
        </p:txBody>
      </p:sp>
      <p:sp>
        <p:nvSpPr>
          <p:cNvPr id="17" name="Text 14">
            <a:extLst>
              <a:ext uri="{FF2B5EF4-FFF2-40B4-BE49-F238E27FC236}">
                <a16:creationId xmlns:a16="http://schemas.microsoft.com/office/drawing/2014/main" id="{B37BEFD1-B6D4-4B13-9192-8FD0950FBC63}"/>
              </a:ext>
            </a:extLst>
          </p:cNvPr>
          <p:cNvSpPr>
            <a:spLocks noGrp="1"/>
          </p:cNvSpPr>
          <p:nvPr/>
        </p:nvSpPr>
        <p:spPr>
          <a:xfrm>
            <a:off x="6477000" y="44450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Usage Comparison: history, learning curve and use cases</a:t>
            </a:r>
            <a:endParaRPr sz="1300"/>
          </a:p>
        </p:txBody>
      </p:sp>
    </p:spTree>
    <p:extLst>
      <p:ext uri="{BB962C8B-B14F-4D97-AF65-F5344CB8AC3E}">
        <p14:creationId xmlns:p14="http://schemas.microsoft.com/office/powerpoint/2010/main" val="1281253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CD0EB050-46CC-4C1A-B1B9-C9AA5B1977F2}"/>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B9F75789-1103-45A4-A8C1-3D2760C6B49B}"/>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385970F4-753C-47AA-B12D-A53751F51AD4}"/>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REST</a:t>
            </a:r>
            <a:endParaRPr sz="1000"/>
          </a:p>
        </p:txBody>
      </p:sp>
      <p:sp>
        <p:nvSpPr>
          <p:cNvPr id="5" name="Text 2">
            <a:extLst>
              <a:ext uri="{FF2B5EF4-FFF2-40B4-BE49-F238E27FC236}">
                <a16:creationId xmlns:a16="http://schemas.microsoft.com/office/drawing/2014/main" id="{043BC039-3288-471B-9BD1-E9D862AF947F}"/>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705B0A31-73F4-4394-A07A-1FD6C8B1B729}"/>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8</a:t>
            </a:r>
            <a:endParaRPr sz="900"/>
          </a:p>
        </p:txBody>
      </p:sp>
      <p:sp>
        <p:nvSpPr>
          <p:cNvPr id="7" name="Text 4">
            <a:extLst>
              <a:ext uri="{FF2B5EF4-FFF2-40B4-BE49-F238E27FC236}">
                <a16:creationId xmlns:a16="http://schemas.microsoft.com/office/drawing/2014/main" id="{4CA8BFD4-CEE6-4B3F-BE0B-7B436E5301EA}"/>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REST · HOW IT WORKS</a:t>
            </a:r>
            <a:endParaRPr sz="1200"/>
          </a:p>
        </p:txBody>
      </p:sp>
      <p:sp>
        <p:nvSpPr>
          <p:cNvPr id="8" name="Text 5">
            <a:extLst>
              <a:ext uri="{FF2B5EF4-FFF2-40B4-BE49-F238E27FC236}">
                <a16:creationId xmlns:a16="http://schemas.microsoft.com/office/drawing/2014/main" id="{4896A61E-A83A-4784-9B19-0663C8A18671}"/>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REST: Resources Over HTTP</a:t>
            </a:r>
            <a:endParaRPr sz="3000"/>
          </a:p>
        </p:txBody>
      </p:sp>
      <p:sp>
        <p:nvSpPr>
          <p:cNvPr id="9" name="Text 6">
            <a:extLst>
              <a:ext uri="{FF2B5EF4-FFF2-40B4-BE49-F238E27FC236}">
                <a16:creationId xmlns:a16="http://schemas.microsoft.com/office/drawing/2014/main" id="{06FEA5B1-7EBA-48FF-A212-B206203B5D86}"/>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Every resource gets a URL and HTTP verbs carry the intent. Its simplicity is both the strength and the ceiling.</a:t>
            </a:r>
            <a:endParaRPr sz="1400"/>
          </a:p>
        </p:txBody>
      </p:sp>
      <p:sp>
        <p:nvSpPr>
          <p:cNvPr id="11" name="Shape 7">
            <a:extLst>
              <a:ext uri="{FF2B5EF4-FFF2-40B4-BE49-F238E27FC236}">
                <a16:creationId xmlns:a16="http://schemas.microsoft.com/office/drawing/2014/main" id="{528555B6-801A-47CE-9014-17CAC61A0478}"/>
              </a:ext>
            </a:extLst>
          </p:cNvPr>
          <p:cNvSpPr>
            <a:spLocks noGrp="1"/>
          </p:cNvSpPr>
          <p:nvPr/>
        </p:nvSpPr>
        <p:spPr>
          <a:xfrm>
            <a:off x="508000" y="2159000"/>
            <a:ext cx="5486400" cy="2794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04F3321B-D1AB-4ABD-93D2-15BC5DB4B7C5}"/>
              </a:ext>
            </a:extLst>
          </p:cNvPr>
          <p:cNvSpPr>
            <a:spLocks noGrp="1"/>
          </p:cNvSpPr>
          <p:nvPr/>
        </p:nvSpPr>
        <p:spPr>
          <a:xfrm>
            <a:off x="508000" y="2159000"/>
            <a:ext cx="5486400" cy="4064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261DDA72-0BB6-4EE0-BD8B-35370D011E15}"/>
              </a:ext>
            </a:extLst>
          </p:cNvPr>
          <p:cNvSpPr>
            <a:spLocks noGrp="1"/>
          </p:cNvSpPr>
          <p:nvPr/>
        </p:nvSpPr>
        <p:spPr>
          <a:xfrm>
            <a:off x="736600" y="2159000"/>
            <a:ext cx="5029200" cy="406400"/>
          </a:xfrm>
          <a:prstGeom prst="rect">
            <a:avLst/>
          </a:prstGeom>
          <a:noFill/>
        </p:spPr>
        <p:txBody>
          <a:bodyPr wrap="square" lIns="0" tIns="0" rIns="0" bIns="0" anchor="ctr"/>
          <a:lstStyle/>
          <a:p>
            <a:pPr marL="0" indent="0" algn="l">
              <a:lnSpc>
                <a:spcPct val="110000"/>
              </a:lnSpc>
              <a:buNone/>
            </a:pPr>
            <a:r>
              <a:rPr sz="1300" b="1">
                <a:solidFill>
                  <a:srgbClr val="FFFFFF"/>
                </a:solidFill>
                <a:latin typeface="Arial"/>
                <a:ea typeface="Arial"/>
                <a:cs typeface="Arial"/>
              </a:rPr>
              <a:t>Where REST shines</a:t>
            </a:r>
            <a:endParaRPr sz="1300"/>
          </a:p>
        </p:txBody>
      </p:sp>
      <p:sp>
        <p:nvSpPr>
          <p:cNvPr id="14" name="Text 10">
            <a:extLst>
              <a:ext uri="{FF2B5EF4-FFF2-40B4-BE49-F238E27FC236}">
                <a16:creationId xmlns:a16="http://schemas.microsoft.com/office/drawing/2014/main" id="{891E898A-EB22-487A-80FB-3678098BB658}"/>
              </a:ext>
            </a:extLst>
          </p:cNvPr>
          <p:cNvSpPr>
            <a:spLocks noGrp="1"/>
          </p:cNvSpPr>
          <p:nvPr/>
        </p:nvSpPr>
        <p:spPr>
          <a:xfrm>
            <a:off x="736600" y="2743200"/>
            <a:ext cx="5029200" cy="20574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Addressable resources with standard verbs and status codes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Native HTTP caching through browsers, CDNs and proxies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Universal tooling: curl, OpenAPI, gateways and API management</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The lowest barrier for partners and public consumers</a:t>
            </a:r>
            <a:endParaRPr sz="1200"/>
          </a:p>
        </p:txBody>
      </p:sp>
      <p:sp>
        <p:nvSpPr>
          <p:cNvPr id="15" name="Shape 11">
            <a:extLst>
              <a:ext uri="{FF2B5EF4-FFF2-40B4-BE49-F238E27FC236}">
                <a16:creationId xmlns:a16="http://schemas.microsoft.com/office/drawing/2014/main" id="{CD35B93E-EDF4-41F0-9ABF-7E354B351A83}"/>
              </a:ext>
            </a:extLst>
          </p:cNvPr>
          <p:cNvSpPr>
            <a:spLocks noGrp="1"/>
          </p:cNvSpPr>
          <p:nvPr/>
        </p:nvSpPr>
        <p:spPr>
          <a:xfrm>
            <a:off x="6197600" y="2159000"/>
            <a:ext cx="5486400" cy="2794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64C6D88A-A3AF-405B-B926-1AEFA8F0F5A4}"/>
              </a:ext>
            </a:extLst>
          </p:cNvPr>
          <p:cNvSpPr>
            <a:spLocks noGrp="1"/>
          </p:cNvSpPr>
          <p:nvPr/>
        </p:nvSpPr>
        <p:spPr>
          <a:xfrm>
            <a:off x="6197600" y="2159000"/>
            <a:ext cx="5486400" cy="406400"/>
          </a:xfrm>
          <a:prstGeom prst="rect">
            <a:avLst/>
          </a:prstGeom>
          <a:solidFill>
            <a:srgbClr val="A1005D"/>
          </a:solidFill>
        </p:spPr>
        <p:txBody>
          <a:bodyPr/>
          <a:lstStyle/>
          <a:p>
            <a:endParaRPr/>
          </a:p>
        </p:txBody>
      </p:sp>
      <p:sp>
        <p:nvSpPr>
          <p:cNvPr id="17" name="Text 13">
            <a:extLst>
              <a:ext uri="{FF2B5EF4-FFF2-40B4-BE49-F238E27FC236}">
                <a16:creationId xmlns:a16="http://schemas.microsoft.com/office/drawing/2014/main" id="{E7FA65B2-DE89-4F88-A45D-4C05A8788171}"/>
              </a:ext>
            </a:extLst>
          </p:cNvPr>
          <p:cNvSpPr>
            <a:spLocks noGrp="1"/>
          </p:cNvSpPr>
          <p:nvPr/>
        </p:nvSpPr>
        <p:spPr>
          <a:xfrm>
            <a:off x="6426200" y="2159000"/>
            <a:ext cx="5029200" cy="406400"/>
          </a:xfrm>
          <a:prstGeom prst="rect">
            <a:avLst/>
          </a:prstGeom>
          <a:noFill/>
        </p:spPr>
        <p:txBody>
          <a:bodyPr wrap="square" lIns="0" tIns="0" rIns="0" bIns="0" anchor="ctr"/>
          <a:lstStyle/>
          <a:p>
            <a:pPr marL="0" indent="0" algn="l">
              <a:lnSpc>
                <a:spcPct val="110000"/>
              </a:lnSpc>
              <a:buNone/>
            </a:pPr>
            <a:r>
              <a:rPr sz="1300" b="1">
                <a:solidFill>
                  <a:srgbClr val="FFFFFF"/>
                </a:solidFill>
                <a:latin typeface="Arial"/>
                <a:ea typeface="Arial"/>
                <a:cs typeface="Arial"/>
              </a:rPr>
              <a:t>Where it strains</a:t>
            </a:r>
            <a:endParaRPr sz="1300"/>
          </a:p>
        </p:txBody>
      </p:sp>
      <p:sp>
        <p:nvSpPr>
          <p:cNvPr id="18" name="Text 14">
            <a:extLst>
              <a:ext uri="{FF2B5EF4-FFF2-40B4-BE49-F238E27FC236}">
                <a16:creationId xmlns:a16="http://schemas.microsoft.com/office/drawing/2014/main" id="{60009AE9-5DC4-4B94-8ADD-F66F77523B43}"/>
              </a:ext>
            </a:extLst>
          </p:cNvPr>
          <p:cNvSpPr>
            <a:spLocks noGrp="1"/>
          </p:cNvSpPr>
          <p:nvPr/>
        </p:nvSpPr>
        <p:spPr>
          <a:xfrm>
            <a:off x="6426200" y="2743200"/>
            <a:ext cx="5029200" cy="20574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Over-fetching: fixed payloads return fields you do not need</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Under-fetching: related data means extra round trips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Versioning pressure as client needs diverge</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No first-class streaming (SSE or polling instead)</a:t>
            </a:r>
            <a:endParaRPr sz="1200"/>
          </a:p>
        </p:txBody>
      </p:sp>
      <p:sp>
        <p:nvSpPr>
          <p:cNvPr id="19" name="Shape 15">
            <a:extLst>
              <a:ext uri="{FF2B5EF4-FFF2-40B4-BE49-F238E27FC236}">
                <a16:creationId xmlns:a16="http://schemas.microsoft.com/office/drawing/2014/main" id="{1C14B748-9D57-4E71-99D2-D299A130D33F}"/>
              </a:ext>
            </a:extLst>
          </p:cNvPr>
          <p:cNvSpPr>
            <a:spLocks noGrp="1"/>
          </p:cNvSpPr>
          <p:nvPr/>
        </p:nvSpPr>
        <p:spPr>
          <a:xfrm>
            <a:off x="508000" y="5207000"/>
            <a:ext cx="11176000" cy="635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F6E2F620-7648-4CCF-B5A5-B2E4DC49DBE2}"/>
              </a:ext>
            </a:extLst>
          </p:cNvPr>
          <p:cNvSpPr>
            <a:spLocks noGrp="1"/>
          </p:cNvSpPr>
          <p:nvPr/>
        </p:nvSpPr>
        <p:spPr>
          <a:xfrm>
            <a:off x="508000" y="5207000"/>
            <a:ext cx="76200" cy="6350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4EC1EA47-50B2-446A-BDD8-005D535DF12F}"/>
              </a:ext>
            </a:extLst>
          </p:cNvPr>
          <p:cNvSpPr>
            <a:spLocks noGrp="1"/>
          </p:cNvSpPr>
          <p:nvPr/>
        </p:nvSpPr>
        <p:spPr>
          <a:xfrm>
            <a:off x="787400" y="5207000"/>
            <a:ext cx="10668000" cy="6350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Use REST for  </a:t>
            </a:r>
            <a:r>
              <a:rPr sz="1200">
                <a:solidFill>
                  <a:srgbClr val="141414"/>
                </a:solidFill>
                <a:latin typeface="Arial"/>
                <a:ea typeface="Arial"/>
                <a:cs typeface="Arial"/>
              </a:rPr>
              <a:t>simple, cacheable, stateless resource APIs, especially ones you publish to others.</a:t>
            </a:r>
            <a:endParaRPr sz="1200"/>
          </a:p>
        </p:txBody>
      </p:sp>
    </p:spTree>
    <p:extLst>
      <p:ext uri="{BB962C8B-B14F-4D97-AF65-F5344CB8AC3E}">
        <p14:creationId xmlns:p14="http://schemas.microsoft.com/office/powerpoint/2010/main" val="1041817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011A4A8F-4630-4B62-BB6B-614F1D5D8B8C}"/>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5C3825F0-069D-4D41-8C16-AE6DEDA4FA70}"/>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9DA18C09-8139-4EF5-98DF-4E85C3A3C16F}"/>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REST</a:t>
            </a:r>
            <a:endParaRPr sz="1000"/>
          </a:p>
        </p:txBody>
      </p:sp>
      <p:sp>
        <p:nvSpPr>
          <p:cNvPr id="5" name="Text 2">
            <a:extLst>
              <a:ext uri="{FF2B5EF4-FFF2-40B4-BE49-F238E27FC236}">
                <a16:creationId xmlns:a16="http://schemas.microsoft.com/office/drawing/2014/main" id="{712A11FA-5928-4C54-A31E-CEA18CAD6901}"/>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581E265B-B9EF-46A3-AA37-D792786B3B83}"/>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9</a:t>
            </a:r>
            <a:endParaRPr sz="900"/>
          </a:p>
        </p:txBody>
      </p:sp>
      <p:sp>
        <p:nvSpPr>
          <p:cNvPr id="7" name="Text 4">
            <a:extLst>
              <a:ext uri="{FF2B5EF4-FFF2-40B4-BE49-F238E27FC236}">
                <a16:creationId xmlns:a16="http://schemas.microsoft.com/office/drawing/2014/main" id="{485F7D32-92FF-4F87-9D4B-BFC7B9AB7D94}"/>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REST · IN THE DEMO</a:t>
            </a:r>
            <a:endParaRPr sz="1200"/>
          </a:p>
        </p:txBody>
      </p:sp>
      <p:sp>
        <p:nvSpPr>
          <p:cNvPr id="8" name="Text 5">
            <a:extLst>
              <a:ext uri="{FF2B5EF4-FFF2-40B4-BE49-F238E27FC236}">
                <a16:creationId xmlns:a16="http://schemas.microsoft.com/office/drawing/2014/main" id="{9F9F6078-6716-4641-8A34-7653AEAD9C61}"/>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REST in Protocol Studio</a:t>
            </a:r>
            <a:endParaRPr sz="3000"/>
          </a:p>
        </p:txBody>
      </p:sp>
      <p:sp>
        <p:nvSpPr>
          <p:cNvPr id="9" name="Text 6">
            <a:extLst>
              <a:ext uri="{FF2B5EF4-FFF2-40B4-BE49-F238E27FC236}">
                <a16:creationId xmlns:a16="http://schemas.microsoft.com/office/drawing/2014/main" id="{B5BA9816-70C8-41CC-BEC0-2528EAFF1320}"/>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Single-resource lookups route here: one URL per resource and a cacheable JSON response.</a:t>
            </a:r>
            <a:endParaRPr sz="1400"/>
          </a:p>
        </p:txBody>
      </p:sp>
      <p:sp>
        <p:nvSpPr>
          <p:cNvPr id="11" name="Shape 7">
            <a:extLst>
              <a:ext uri="{FF2B5EF4-FFF2-40B4-BE49-F238E27FC236}">
                <a16:creationId xmlns:a16="http://schemas.microsoft.com/office/drawing/2014/main" id="{64C849D8-C4EC-4C36-B533-19C93ECAE2BB}"/>
              </a:ext>
            </a:extLst>
          </p:cNvPr>
          <p:cNvSpPr>
            <a:spLocks noGrp="1"/>
          </p:cNvSpPr>
          <p:nvPr/>
        </p:nvSpPr>
        <p:spPr>
          <a:xfrm>
            <a:off x="508000" y="2159000"/>
            <a:ext cx="5588000" cy="3937000"/>
          </a:xfrm>
          <a:prstGeom prst="rect">
            <a:avLst/>
          </a:prstGeom>
          <a:solidFill>
            <a:srgbClr val="1B1B1F"/>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932CD2DB-C323-4B28-9C24-46D9AC5E7E04}"/>
              </a:ext>
            </a:extLst>
          </p:cNvPr>
          <p:cNvSpPr>
            <a:spLocks noGrp="1"/>
          </p:cNvSpPr>
          <p:nvPr/>
        </p:nvSpPr>
        <p:spPr>
          <a:xfrm>
            <a:off x="508000" y="2159000"/>
            <a:ext cx="5588000" cy="3556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A77ECBC8-E502-47AD-9504-31DB3BFF310F}"/>
              </a:ext>
            </a:extLst>
          </p:cNvPr>
          <p:cNvSpPr>
            <a:spLocks noGrp="1"/>
          </p:cNvSpPr>
          <p:nvPr/>
        </p:nvSpPr>
        <p:spPr>
          <a:xfrm>
            <a:off x="711200" y="2159000"/>
            <a:ext cx="5181600" cy="355600"/>
          </a:xfrm>
          <a:prstGeom prst="rect">
            <a:avLst/>
          </a:prstGeom>
          <a:noFill/>
        </p:spPr>
        <p:txBody>
          <a:bodyPr wrap="square" lIns="0" tIns="0" rIns="0" bIns="0" anchor="ctr"/>
          <a:lstStyle/>
          <a:p>
            <a:pPr marL="0" indent="0" algn="l">
              <a:lnSpc>
                <a:spcPct val="110000"/>
              </a:lnSpc>
              <a:buNone/>
            </a:pPr>
            <a:r>
              <a:rPr sz="1200" b="1">
                <a:solidFill>
                  <a:srgbClr val="FFFFFF"/>
                </a:solidFill>
                <a:latin typeface="Arial"/>
                <a:ea typeface="Arial"/>
                <a:cs typeface="Arial"/>
              </a:rPr>
              <a:t>REQUEST · RESPONSE</a:t>
            </a:r>
            <a:endParaRPr sz="1200"/>
          </a:p>
        </p:txBody>
      </p:sp>
      <p:sp>
        <p:nvSpPr>
          <p:cNvPr id="14" name="Text 10">
            <a:extLst>
              <a:ext uri="{FF2B5EF4-FFF2-40B4-BE49-F238E27FC236}">
                <a16:creationId xmlns:a16="http://schemas.microsoft.com/office/drawing/2014/main" id="{4D1E09D7-5654-4313-9C7F-B549B12F5200}"/>
              </a:ext>
            </a:extLst>
          </p:cNvPr>
          <p:cNvSpPr>
            <a:spLocks noGrp="1"/>
          </p:cNvSpPr>
          <p:nvPr/>
        </p:nvSpPr>
        <p:spPr>
          <a:xfrm>
            <a:off x="711200" y="2667000"/>
            <a:ext cx="5181600" cy="3276600"/>
          </a:xfrm>
          <a:prstGeom prst="rect">
            <a:avLst/>
          </a:prstGeom>
          <a:noFill/>
        </p:spPr>
        <p:txBody>
          <a:bodyPr wrap="square" lIns="0" tIns="0" rIns="0" bIns="0" anchor="t"/>
          <a:lstStyle/>
          <a:p>
            <a:pPr marL="0" indent="0">
              <a:lnSpc>
                <a:spcPct val="120000"/>
              </a:lnSpc>
              <a:buNone/>
            </a:pPr>
            <a:r>
              <a:rPr sz="1200">
                <a:solidFill>
                  <a:srgbClr val="EDEDED"/>
                </a:solidFill>
                <a:latin typeface="Consolas"/>
                <a:ea typeface="Consolas"/>
                <a:cs typeface="Consolas"/>
              </a:rPr>
              <a:t>GET /api/catalog/starships/ship:5</a:t>
            </a:r>
            <a:endParaRPr sz="1200"/>
          </a:p>
          <a:p>
            <a:pPr marL="0" indent="0">
              <a:lnSpc>
                <a:spcPct val="120000"/>
              </a:lnSpc>
              <a:buNone/>
            </a:pPr>
            <a:r>
              <a:rPr sz="1200">
                <a:solidFill>
                  <a:srgbClr val="EDEDED"/>
                </a:solidFill>
                <a:latin typeface="Consolas"/>
                <a:ea typeface="Consolas"/>
                <a:cs typeface="Consolas"/>
              </a:rPr>
              <a:t> </a:t>
            </a:r>
            <a:endParaRPr sz="1200"/>
          </a:p>
          <a:p>
            <a:pPr marL="0" indent="0">
              <a:lnSpc>
                <a:spcPct val="120000"/>
              </a:lnSpc>
              <a:buNone/>
            </a:pPr>
            <a:r>
              <a:rPr sz="1200">
                <a:solidFill>
                  <a:srgbClr val="EDEDED"/>
                </a:solidFill>
                <a:latin typeface="Consolas"/>
                <a:ea typeface="Consolas"/>
                <a:cs typeface="Consolas"/>
              </a:rPr>
              <a:t>200 OK</a:t>
            </a:r>
            <a:endParaRPr sz="1200"/>
          </a:p>
          <a:p>
            <a:pPr marL="0" indent="0">
              <a:lnSpc>
                <a:spcPct val="120000"/>
              </a:lnSpc>
              <a:buNone/>
            </a:pPr>
            <a:r>
              <a:rPr sz="1200">
                <a:solidFill>
                  <a:srgbClr val="EDEDED"/>
                </a:solidFill>
                <a:latin typeface="Consolas"/>
                <a:ea typeface="Consolas"/>
                <a:cs typeface="Consolas"/>
              </a:rPr>
              <a:t>Cache-Control: max-age=300</a:t>
            </a:r>
            <a:endParaRPr sz="1200"/>
          </a:p>
          <a:p>
            <a:pPr marL="0" indent="0">
              <a:lnSpc>
                <a:spcPct val="120000"/>
              </a:lnSpc>
              <a:buNone/>
            </a:pPr>
            <a:r>
              <a:rPr sz="1200">
                <a:solidFill>
                  <a:srgbClr val="EDEDED"/>
                </a:solidFill>
                <a:latin typeface="Consolas"/>
                <a:ea typeface="Consolas"/>
                <a:cs typeface="Consolas"/>
              </a:rPr>
              <a:t>[</a:t>
            </a:r>
            <a:endParaRPr sz="1200"/>
          </a:p>
          <a:p>
            <a:pPr marL="0" indent="0">
              <a:lnSpc>
                <a:spcPct val="120000"/>
              </a:lnSpc>
              <a:buNone/>
            </a:pPr>
            <a:r>
              <a:rPr sz="1200">
                <a:solidFill>
                  <a:srgbClr val="EDEDED"/>
                </a:solidFill>
                <a:latin typeface="Consolas"/>
                <a:ea typeface="Consolas"/>
                <a:cs typeface="Consolas"/>
              </a:rPr>
              <a:t>  {</a:t>
            </a:r>
            <a:endParaRPr sz="1200"/>
          </a:p>
          <a:p>
            <a:pPr marL="0" indent="0">
              <a:lnSpc>
                <a:spcPct val="120000"/>
              </a:lnSpc>
              <a:buNone/>
            </a:pPr>
            <a:r>
              <a:rPr sz="1200">
                <a:solidFill>
                  <a:srgbClr val="EDEDED"/>
                </a:solidFill>
                <a:latin typeface="Consolas"/>
                <a:ea typeface="Consolas"/>
                <a:cs typeface="Consolas"/>
              </a:rPr>
              <a:t>    "id": "5",</a:t>
            </a:r>
            <a:endParaRPr sz="1200"/>
          </a:p>
          <a:p>
            <a:pPr marL="0" indent="0">
              <a:lnSpc>
                <a:spcPct val="120000"/>
              </a:lnSpc>
              <a:buNone/>
            </a:pPr>
            <a:r>
              <a:rPr sz="1200">
                <a:solidFill>
                  <a:srgbClr val="EDEDED"/>
                </a:solidFill>
                <a:latin typeface="Consolas"/>
                <a:ea typeface="Consolas"/>
                <a:cs typeface="Consolas"/>
              </a:rPr>
              <a:t>    "name": "Millennium Falcon",</a:t>
            </a:r>
            <a:endParaRPr sz="1200"/>
          </a:p>
          <a:p>
            <a:pPr marL="0" indent="0">
              <a:lnSpc>
                <a:spcPct val="120000"/>
              </a:lnSpc>
              <a:buNone/>
            </a:pPr>
            <a:r>
              <a:rPr sz="1200">
                <a:solidFill>
                  <a:srgbClr val="EDEDED"/>
                </a:solidFill>
                <a:latin typeface="Consolas"/>
                <a:ea typeface="Consolas"/>
                <a:cs typeface="Consolas"/>
              </a:rPr>
              <a:t>    "maxSpeed": 1050,</a:t>
            </a:r>
            <a:endParaRPr sz="1200"/>
          </a:p>
          <a:p>
            <a:pPr marL="0" indent="0">
              <a:lnSpc>
                <a:spcPct val="120000"/>
              </a:lnSpc>
              <a:buNone/>
            </a:pPr>
            <a:r>
              <a:rPr sz="1200">
                <a:solidFill>
                  <a:srgbClr val="EDEDED"/>
                </a:solidFill>
                <a:latin typeface="Consolas"/>
                <a:ea typeface="Consolas"/>
                <a:cs typeface="Consolas"/>
              </a:rPr>
              <a:t>    "length": 34.37,</a:t>
            </a:r>
            <a:endParaRPr sz="1200"/>
          </a:p>
          <a:p>
            <a:pPr marL="0" indent="0">
              <a:lnSpc>
                <a:spcPct val="120000"/>
              </a:lnSpc>
              <a:buNone/>
            </a:pPr>
            <a:r>
              <a:rPr sz="1200">
                <a:solidFill>
                  <a:srgbClr val="EDEDED"/>
                </a:solidFill>
                <a:latin typeface="Consolas"/>
                <a:ea typeface="Consolas"/>
                <a:cs typeface="Consolas"/>
              </a:rPr>
              <a:t>    "films": [ … ],</a:t>
            </a:r>
            <a:endParaRPr sz="1200"/>
          </a:p>
          <a:p>
            <a:pPr marL="0" indent="0">
              <a:lnSpc>
                <a:spcPct val="120000"/>
              </a:lnSpc>
              <a:buNone/>
            </a:pPr>
            <a:r>
              <a:rPr sz="1200">
                <a:solidFill>
                  <a:srgbClr val="EDEDED"/>
                </a:solidFill>
                <a:latin typeface="Consolas"/>
                <a:ea typeface="Consolas"/>
                <a:cs typeface="Consolas"/>
              </a:rPr>
              <a:t>    "crew": [ … ]</a:t>
            </a:r>
          </a:p>
          <a:p>
            <a:pPr marL="0" indent="0">
              <a:lnSpc>
                <a:spcPct val="120000"/>
              </a:lnSpc>
              <a:buNone/>
            </a:pPr>
            <a:r>
              <a:rPr sz="1200">
                <a:solidFill>
                  <a:srgbClr val="EDEDED"/>
                </a:solidFill>
                <a:latin typeface="Consolas"/>
                <a:ea typeface="Consolas"/>
                <a:cs typeface="Consolas"/>
              </a:rPr>
              <a:t>  }</a:t>
            </a:r>
            <a:endParaRPr sz="1200"/>
          </a:p>
          <a:p>
            <a:pPr marL="0" indent="0">
              <a:lnSpc>
                <a:spcPct val="120000"/>
              </a:lnSpc>
              <a:buNone/>
            </a:pPr>
            <a:r>
              <a:rPr sz="1200">
                <a:solidFill>
                  <a:srgbClr val="EDEDED"/>
                </a:solidFill>
                <a:latin typeface="Consolas"/>
                <a:ea typeface="Consolas"/>
                <a:cs typeface="Consolas"/>
              </a:rPr>
              <a:t>]</a:t>
            </a:r>
            <a:endParaRPr sz="1200"/>
          </a:p>
        </p:txBody>
      </p:sp>
      <p:sp>
        <p:nvSpPr>
          <p:cNvPr id="15" name="Shape 11">
            <a:extLst>
              <a:ext uri="{FF2B5EF4-FFF2-40B4-BE49-F238E27FC236}">
                <a16:creationId xmlns:a16="http://schemas.microsoft.com/office/drawing/2014/main" id="{ECDE7127-21A8-4F0A-B2CB-6BB367CD22D8}"/>
              </a:ext>
            </a:extLst>
          </p:cNvPr>
          <p:cNvSpPr>
            <a:spLocks noGrp="1"/>
          </p:cNvSpPr>
          <p:nvPr/>
        </p:nvSpPr>
        <p:spPr>
          <a:xfrm>
            <a:off x="6299200" y="21590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F359E34B-97E6-4F98-B3CF-10C24406DE7E}"/>
              </a:ext>
            </a:extLst>
          </p:cNvPr>
          <p:cNvSpPr>
            <a:spLocks noGrp="1"/>
          </p:cNvSpPr>
          <p:nvPr/>
        </p:nvSpPr>
        <p:spPr>
          <a:xfrm>
            <a:off x="6299200" y="2159000"/>
            <a:ext cx="63500" cy="889000"/>
          </a:xfrm>
          <a:prstGeom prst="rect">
            <a:avLst/>
          </a:prstGeom>
          <a:solidFill>
            <a:srgbClr val="DA1884"/>
          </a:solidFill>
        </p:spPr>
        <p:txBody>
          <a:bodyPr/>
          <a:lstStyle/>
          <a:p>
            <a:endParaRPr/>
          </a:p>
        </p:txBody>
      </p:sp>
      <p:sp>
        <p:nvSpPr>
          <p:cNvPr id="17" name="Text 13">
            <a:extLst>
              <a:ext uri="{FF2B5EF4-FFF2-40B4-BE49-F238E27FC236}">
                <a16:creationId xmlns:a16="http://schemas.microsoft.com/office/drawing/2014/main" id="{B76415E4-23B6-48E9-B74D-348041A20292}"/>
              </a:ext>
            </a:extLst>
          </p:cNvPr>
          <p:cNvSpPr>
            <a:spLocks noGrp="1"/>
          </p:cNvSpPr>
          <p:nvPr/>
        </p:nvSpPr>
        <p:spPr>
          <a:xfrm>
            <a:off x="6527800" y="23114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a:ext uri="{FF2B5EF4-FFF2-40B4-BE49-F238E27FC236}">
                <a16:creationId xmlns:a16="http://schemas.microsoft.com/office/drawing/2014/main" id="{1812F63D-E7F4-4690-9D3B-2A75982D3860}"/>
              </a:ext>
            </a:extLst>
          </p:cNvPr>
          <p:cNvSpPr>
            <a:spLocks noGrp="1"/>
          </p:cNvSpPr>
          <p:nvPr/>
        </p:nvSpPr>
        <p:spPr>
          <a:xfrm>
            <a:off x="7035800" y="2311400"/>
            <a:ext cx="4445000" cy="635000"/>
          </a:xfrm>
          <a:prstGeom prst="rect">
            <a:avLst/>
          </a:prstGeom>
          <a:noFill/>
        </p:spPr>
        <p:txBody>
          <a:bodyPr wrap="square" lIns="0" tIns="0" rIns="0" bIns="0" anchor="t"/>
          <a:lstStyle/>
          <a:p>
            <a:pPr marL="0" indent="0">
              <a:lnSpc>
                <a:spcPct val="115000"/>
              </a:lnSpc>
              <a:spcAft>
                <a:spcPts val="400"/>
              </a:spcAft>
              <a:buNone/>
            </a:pPr>
            <a:r>
              <a:rPr sz="1300" b="1" dirty="0">
                <a:solidFill>
                  <a:srgbClr val="141414"/>
                </a:solidFill>
                <a:latin typeface="Arial"/>
                <a:ea typeface="Arial"/>
                <a:cs typeface="Arial"/>
              </a:rPr>
              <a:t>One route per resource</a:t>
            </a:r>
            <a:endParaRPr sz="1300" dirty="0"/>
          </a:p>
          <a:p>
            <a:pPr marL="0" indent="0">
              <a:lnSpc>
                <a:spcPct val="115000"/>
              </a:lnSpc>
              <a:buNone/>
            </a:pPr>
            <a:r>
              <a:rPr sz="1200" dirty="0">
                <a:solidFill>
                  <a:srgbClr val="333333"/>
                </a:solidFill>
                <a:latin typeface="Arial"/>
                <a:ea typeface="Arial"/>
                <a:cs typeface="Arial"/>
              </a:rPr>
              <a:t>/starships/{target}, /films/{id} and /cast/{id} on Spring MVC.</a:t>
            </a:r>
            <a:endParaRPr sz="1300" dirty="0"/>
          </a:p>
        </p:txBody>
      </p:sp>
      <p:sp>
        <p:nvSpPr>
          <p:cNvPr id="19" name="Shape 15">
            <a:extLst>
              <a:ext uri="{FF2B5EF4-FFF2-40B4-BE49-F238E27FC236}">
                <a16:creationId xmlns:a16="http://schemas.microsoft.com/office/drawing/2014/main" id="{9C04BDE6-61A0-452B-8B0C-A6FC08AB6812}"/>
              </a:ext>
            </a:extLst>
          </p:cNvPr>
          <p:cNvSpPr>
            <a:spLocks noGrp="1"/>
          </p:cNvSpPr>
          <p:nvPr/>
        </p:nvSpPr>
        <p:spPr>
          <a:xfrm>
            <a:off x="6299200" y="31496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92FDBF76-8EE5-4D0F-A397-B446ECFA57E2}"/>
              </a:ext>
            </a:extLst>
          </p:cNvPr>
          <p:cNvSpPr>
            <a:spLocks noGrp="1"/>
          </p:cNvSpPr>
          <p:nvPr/>
        </p:nvSpPr>
        <p:spPr>
          <a:xfrm>
            <a:off x="6299200" y="3149600"/>
            <a:ext cx="63500" cy="8890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026632E0-36FF-4073-B07F-E573A578BF2D}"/>
              </a:ext>
            </a:extLst>
          </p:cNvPr>
          <p:cNvSpPr>
            <a:spLocks noGrp="1"/>
          </p:cNvSpPr>
          <p:nvPr/>
        </p:nvSpPr>
        <p:spPr>
          <a:xfrm>
            <a:off x="6527800" y="33020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a:ext uri="{FF2B5EF4-FFF2-40B4-BE49-F238E27FC236}">
                <a16:creationId xmlns:a16="http://schemas.microsoft.com/office/drawing/2014/main" id="{F467DB33-6288-4A05-9243-32F435923F1C}"/>
              </a:ext>
            </a:extLst>
          </p:cNvPr>
          <p:cNvSpPr>
            <a:spLocks noGrp="1"/>
          </p:cNvSpPr>
          <p:nvPr/>
        </p:nvSpPr>
        <p:spPr>
          <a:xfrm>
            <a:off x="7035800" y="3302000"/>
            <a:ext cx="4445000" cy="6350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Cacheable by default</a:t>
            </a:r>
            <a:endParaRPr sz="1300"/>
          </a:p>
          <a:p>
            <a:pPr marL="0" indent="0">
              <a:lnSpc>
                <a:spcPct val="115000"/>
              </a:lnSpc>
              <a:buNone/>
            </a:pPr>
            <a:r>
              <a:rPr sz="1200">
                <a:solidFill>
                  <a:srgbClr val="333333"/>
                </a:solidFill>
                <a:latin typeface="Arial"/>
                <a:ea typeface="Arial"/>
                <a:cs typeface="Arial"/>
              </a:rPr>
              <a:t>Starship reads send Cache-Control: max-age=300.</a:t>
            </a:r>
            <a:endParaRPr sz="1300"/>
          </a:p>
        </p:txBody>
      </p:sp>
      <p:sp>
        <p:nvSpPr>
          <p:cNvPr id="23" name="Shape 19">
            <a:extLst>
              <a:ext uri="{FF2B5EF4-FFF2-40B4-BE49-F238E27FC236}">
                <a16:creationId xmlns:a16="http://schemas.microsoft.com/office/drawing/2014/main" id="{99349EEA-AD1F-426E-9CAE-C41C472A79A0}"/>
              </a:ext>
            </a:extLst>
          </p:cNvPr>
          <p:cNvSpPr>
            <a:spLocks noGrp="1"/>
          </p:cNvSpPr>
          <p:nvPr/>
        </p:nvSpPr>
        <p:spPr>
          <a:xfrm>
            <a:off x="6299200" y="41402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693FEACB-C71C-4624-83DA-AFB396E5ACAF}"/>
              </a:ext>
            </a:extLst>
          </p:cNvPr>
          <p:cNvSpPr>
            <a:spLocks noGrp="1"/>
          </p:cNvSpPr>
          <p:nvPr/>
        </p:nvSpPr>
        <p:spPr>
          <a:xfrm>
            <a:off x="6299200" y="4140200"/>
            <a:ext cx="63500" cy="8890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C6EC2361-3806-4A31-9CA9-6572BA5F834E}"/>
              </a:ext>
            </a:extLst>
          </p:cNvPr>
          <p:cNvSpPr>
            <a:spLocks noGrp="1"/>
          </p:cNvSpPr>
          <p:nvPr/>
        </p:nvSpPr>
        <p:spPr>
          <a:xfrm>
            <a:off x="6527800" y="42926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a:ext uri="{FF2B5EF4-FFF2-40B4-BE49-F238E27FC236}">
                <a16:creationId xmlns:a16="http://schemas.microsoft.com/office/drawing/2014/main" id="{CACE3486-CF76-453B-89B6-763E66902924}"/>
              </a:ext>
            </a:extLst>
          </p:cNvPr>
          <p:cNvSpPr>
            <a:spLocks noGrp="1"/>
          </p:cNvSpPr>
          <p:nvPr/>
        </p:nvSpPr>
        <p:spPr>
          <a:xfrm>
            <a:off x="7035800" y="4292600"/>
            <a:ext cx="4445000" cy="6350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Picked for simple lookups</a:t>
            </a:r>
            <a:endParaRPr sz="1300"/>
          </a:p>
          <a:p>
            <a:pPr marL="0" indent="0">
              <a:lnSpc>
                <a:spcPct val="115000"/>
              </a:lnSpc>
              <a:buNone/>
            </a:pPr>
            <a:r>
              <a:rPr sz="1200">
                <a:solidFill>
                  <a:srgbClr val="333333"/>
                </a:solidFill>
                <a:latin typeface="Arial"/>
                <a:ea typeface="Arial"/>
                <a:cs typeface="Arial"/>
              </a:rPr>
              <a:t>The router sends speed, length and detail questions here.</a:t>
            </a:r>
            <a:endParaRPr sz="1300"/>
          </a:p>
        </p:txBody>
      </p:sp>
      <p:sp>
        <p:nvSpPr>
          <p:cNvPr id="27" name="Shape 23">
            <a:extLst>
              <a:ext uri="{FF2B5EF4-FFF2-40B4-BE49-F238E27FC236}">
                <a16:creationId xmlns:a16="http://schemas.microsoft.com/office/drawing/2014/main" id="{9AAE5798-6898-4ED6-9CE8-EAD537F25DF4}"/>
              </a:ext>
            </a:extLst>
          </p:cNvPr>
          <p:cNvSpPr>
            <a:spLocks noGrp="1"/>
          </p:cNvSpPr>
          <p:nvPr/>
        </p:nvSpPr>
        <p:spPr>
          <a:xfrm>
            <a:off x="6299200" y="5130800"/>
            <a:ext cx="5384800" cy="787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8" name="Shape 24">
            <a:extLst>
              <a:ext uri="{FF2B5EF4-FFF2-40B4-BE49-F238E27FC236}">
                <a16:creationId xmlns:a16="http://schemas.microsoft.com/office/drawing/2014/main" id="{C78A6666-60B4-4B57-B9D0-6A650E235D34}"/>
              </a:ext>
            </a:extLst>
          </p:cNvPr>
          <p:cNvSpPr>
            <a:spLocks noGrp="1"/>
          </p:cNvSpPr>
          <p:nvPr/>
        </p:nvSpPr>
        <p:spPr>
          <a:xfrm>
            <a:off x="6299200" y="5130800"/>
            <a:ext cx="76200" cy="787400"/>
          </a:xfrm>
          <a:prstGeom prst="rect">
            <a:avLst/>
          </a:prstGeom>
          <a:solidFill>
            <a:srgbClr val="DA1884"/>
          </a:solidFill>
        </p:spPr>
        <p:txBody>
          <a:bodyPr/>
          <a:lstStyle/>
          <a:p>
            <a:endParaRPr/>
          </a:p>
        </p:txBody>
      </p:sp>
      <p:sp>
        <p:nvSpPr>
          <p:cNvPr id="29" name="Text 25">
            <a:extLst>
              <a:ext uri="{FF2B5EF4-FFF2-40B4-BE49-F238E27FC236}">
                <a16:creationId xmlns:a16="http://schemas.microsoft.com/office/drawing/2014/main" id="{E13BFD11-E1BE-4C40-AB00-D6A7887AA7EE}"/>
              </a:ext>
            </a:extLst>
          </p:cNvPr>
          <p:cNvSpPr>
            <a:spLocks noGrp="1"/>
          </p:cNvSpPr>
          <p:nvPr/>
        </p:nvSpPr>
        <p:spPr>
          <a:xfrm>
            <a:off x="6578600" y="5130800"/>
            <a:ext cx="4876800" cy="7874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Try it:  </a:t>
            </a:r>
            <a:r>
              <a:rPr sz="1200">
                <a:solidFill>
                  <a:srgbClr val="141414"/>
                </a:solidFill>
                <a:latin typeface="Arial"/>
                <a:ea typeface="Arial"/>
                <a:cs typeface="Arial"/>
              </a:rPr>
              <a:t>“Tell me about the Millennium Falcon.”</a:t>
            </a:r>
            <a:endParaRPr sz="1200"/>
          </a:p>
        </p:txBody>
      </p:sp>
    </p:spTree>
    <p:extLst>
      <p:ext uri="{BB962C8B-B14F-4D97-AF65-F5344CB8AC3E}">
        <p14:creationId xmlns:p14="http://schemas.microsoft.com/office/powerpoint/2010/main" val="973834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2225E67C-86A9-4091-8A26-9328B9273265}"/>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1202205A-EC68-458C-AFA9-A6FFE6E5D4A9}"/>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44916043-EB48-4C51-A488-2D64B0645AFA}"/>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GRAPHQL</a:t>
            </a:r>
            <a:endParaRPr sz="1000"/>
          </a:p>
        </p:txBody>
      </p:sp>
      <p:sp>
        <p:nvSpPr>
          <p:cNvPr id="5" name="Text 2">
            <a:extLst>
              <a:ext uri="{FF2B5EF4-FFF2-40B4-BE49-F238E27FC236}">
                <a16:creationId xmlns:a16="http://schemas.microsoft.com/office/drawing/2014/main" id="{50395DC2-04BE-49A4-90FE-5206676E7DFF}"/>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C4A191A1-C27A-4A86-9130-BC2300B24DAE}"/>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10</a:t>
            </a:r>
            <a:endParaRPr sz="900"/>
          </a:p>
        </p:txBody>
      </p:sp>
      <p:sp>
        <p:nvSpPr>
          <p:cNvPr id="7" name="Text 4">
            <a:extLst>
              <a:ext uri="{FF2B5EF4-FFF2-40B4-BE49-F238E27FC236}">
                <a16:creationId xmlns:a16="http://schemas.microsoft.com/office/drawing/2014/main" id="{4D2CBC25-D6C1-4FFB-83AF-C4608736FA1C}"/>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GRAPHQL · HOW IT WORKS</a:t>
            </a:r>
            <a:endParaRPr sz="1200"/>
          </a:p>
        </p:txBody>
      </p:sp>
      <p:sp>
        <p:nvSpPr>
          <p:cNvPr id="8" name="Text 5">
            <a:extLst>
              <a:ext uri="{FF2B5EF4-FFF2-40B4-BE49-F238E27FC236}">
                <a16:creationId xmlns:a16="http://schemas.microsoft.com/office/drawing/2014/main" id="{886670DE-AD11-40FE-806B-BC520C1147F5}"/>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GraphQL: Ask for Exactly What You Need</a:t>
            </a:r>
            <a:endParaRPr sz="3000"/>
          </a:p>
        </p:txBody>
      </p:sp>
      <p:sp>
        <p:nvSpPr>
          <p:cNvPr id="9" name="Text 6">
            <a:extLst>
              <a:ext uri="{FF2B5EF4-FFF2-40B4-BE49-F238E27FC236}">
                <a16:creationId xmlns:a16="http://schemas.microsoft.com/office/drawing/2014/main" id="{D38EF1E0-5A2F-4E0E-A377-7C11B0C720AD}"/>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One endpoint and one typed schema. The client decides the shape of the response.</a:t>
            </a:r>
            <a:endParaRPr sz="1400"/>
          </a:p>
        </p:txBody>
      </p:sp>
      <p:sp>
        <p:nvSpPr>
          <p:cNvPr id="11" name="Shape 7">
            <a:extLst>
              <a:ext uri="{FF2B5EF4-FFF2-40B4-BE49-F238E27FC236}">
                <a16:creationId xmlns:a16="http://schemas.microsoft.com/office/drawing/2014/main" id="{26E42B86-1A84-4700-B9F1-92B4E24B0AEC}"/>
              </a:ext>
            </a:extLst>
          </p:cNvPr>
          <p:cNvSpPr>
            <a:spLocks noGrp="1"/>
          </p:cNvSpPr>
          <p:nvPr/>
        </p:nvSpPr>
        <p:spPr>
          <a:xfrm>
            <a:off x="508000" y="2159000"/>
            <a:ext cx="5486400" cy="2794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6259FCEB-EFDE-442C-BAB7-455CC6651571}"/>
              </a:ext>
            </a:extLst>
          </p:cNvPr>
          <p:cNvSpPr>
            <a:spLocks noGrp="1"/>
          </p:cNvSpPr>
          <p:nvPr/>
        </p:nvSpPr>
        <p:spPr>
          <a:xfrm>
            <a:off x="508000" y="2159000"/>
            <a:ext cx="5486400" cy="4064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75A5C1CE-F6F6-4AB5-98D7-B9E20D211E1F}"/>
              </a:ext>
            </a:extLst>
          </p:cNvPr>
          <p:cNvSpPr>
            <a:spLocks noGrp="1"/>
          </p:cNvSpPr>
          <p:nvPr/>
        </p:nvSpPr>
        <p:spPr>
          <a:xfrm>
            <a:off x="736600" y="2159000"/>
            <a:ext cx="5029200" cy="406400"/>
          </a:xfrm>
          <a:prstGeom prst="rect">
            <a:avLst/>
          </a:prstGeom>
          <a:noFill/>
        </p:spPr>
        <p:txBody>
          <a:bodyPr wrap="square" lIns="0" tIns="0" rIns="0" bIns="0" anchor="ctr"/>
          <a:lstStyle/>
          <a:p>
            <a:pPr marL="0" indent="0" algn="l">
              <a:lnSpc>
                <a:spcPct val="110000"/>
              </a:lnSpc>
              <a:buNone/>
            </a:pPr>
            <a:r>
              <a:rPr sz="1300" b="1">
                <a:solidFill>
                  <a:srgbClr val="FFFFFF"/>
                </a:solidFill>
                <a:latin typeface="Arial"/>
                <a:ea typeface="Arial"/>
                <a:cs typeface="Arial"/>
              </a:rPr>
              <a:t>Where GraphQL shines</a:t>
            </a:r>
            <a:endParaRPr sz="1300"/>
          </a:p>
        </p:txBody>
      </p:sp>
      <p:sp>
        <p:nvSpPr>
          <p:cNvPr id="14" name="Text 10">
            <a:extLst>
              <a:ext uri="{FF2B5EF4-FFF2-40B4-BE49-F238E27FC236}">
                <a16:creationId xmlns:a16="http://schemas.microsoft.com/office/drawing/2014/main" id="{00320705-90B6-4447-BDD0-5620AD82A2C7}"/>
              </a:ext>
            </a:extLst>
          </p:cNvPr>
          <p:cNvSpPr>
            <a:spLocks noGrp="1"/>
          </p:cNvSpPr>
          <p:nvPr/>
        </p:nvSpPr>
        <p:spPr>
          <a:xfrm>
            <a:off x="736600" y="2743200"/>
            <a:ext cx="5029200" cy="20574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A single typed schema (SDL) that describes the whole graph</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Clients select exactly the fields a screen needs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Nested relationships resolved in one round trip</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Introspection powers tooling, docs and code generation</a:t>
            </a:r>
            <a:endParaRPr sz="1200"/>
          </a:p>
        </p:txBody>
      </p:sp>
      <p:sp>
        <p:nvSpPr>
          <p:cNvPr id="15" name="Shape 11">
            <a:extLst>
              <a:ext uri="{FF2B5EF4-FFF2-40B4-BE49-F238E27FC236}">
                <a16:creationId xmlns:a16="http://schemas.microsoft.com/office/drawing/2014/main" id="{5630B5A4-A410-44F2-A426-6C7B9FE50C6E}"/>
              </a:ext>
            </a:extLst>
          </p:cNvPr>
          <p:cNvSpPr>
            <a:spLocks noGrp="1"/>
          </p:cNvSpPr>
          <p:nvPr/>
        </p:nvSpPr>
        <p:spPr>
          <a:xfrm>
            <a:off x="6197600" y="2159000"/>
            <a:ext cx="5486400" cy="2794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03309B05-1867-4057-802C-16D10F1D0EB6}"/>
              </a:ext>
            </a:extLst>
          </p:cNvPr>
          <p:cNvSpPr>
            <a:spLocks noGrp="1"/>
          </p:cNvSpPr>
          <p:nvPr/>
        </p:nvSpPr>
        <p:spPr>
          <a:xfrm>
            <a:off x="6197600" y="2159000"/>
            <a:ext cx="5486400" cy="406400"/>
          </a:xfrm>
          <a:prstGeom prst="rect">
            <a:avLst/>
          </a:prstGeom>
          <a:solidFill>
            <a:srgbClr val="A1005D"/>
          </a:solidFill>
        </p:spPr>
        <p:txBody>
          <a:bodyPr/>
          <a:lstStyle/>
          <a:p>
            <a:endParaRPr/>
          </a:p>
        </p:txBody>
      </p:sp>
      <p:sp>
        <p:nvSpPr>
          <p:cNvPr id="17" name="Text 13">
            <a:extLst>
              <a:ext uri="{FF2B5EF4-FFF2-40B4-BE49-F238E27FC236}">
                <a16:creationId xmlns:a16="http://schemas.microsoft.com/office/drawing/2014/main" id="{C6B84ADC-832C-4A08-8F79-21D510E3B09F}"/>
              </a:ext>
            </a:extLst>
          </p:cNvPr>
          <p:cNvSpPr>
            <a:spLocks noGrp="1"/>
          </p:cNvSpPr>
          <p:nvPr/>
        </p:nvSpPr>
        <p:spPr>
          <a:xfrm>
            <a:off x="6426200" y="2159000"/>
            <a:ext cx="5029200" cy="406400"/>
          </a:xfrm>
          <a:prstGeom prst="rect">
            <a:avLst/>
          </a:prstGeom>
          <a:noFill/>
        </p:spPr>
        <p:txBody>
          <a:bodyPr wrap="square" lIns="0" tIns="0" rIns="0" bIns="0" anchor="ctr"/>
          <a:lstStyle/>
          <a:p>
            <a:pPr marL="0" indent="0" algn="l">
              <a:lnSpc>
                <a:spcPct val="110000"/>
              </a:lnSpc>
              <a:buNone/>
            </a:pPr>
            <a:r>
              <a:rPr sz="1300" b="1">
                <a:solidFill>
                  <a:srgbClr val="FFFFFF"/>
                </a:solidFill>
                <a:latin typeface="Arial"/>
                <a:ea typeface="Arial"/>
                <a:cs typeface="Arial"/>
              </a:rPr>
              <a:t>Where it strains</a:t>
            </a:r>
            <a:endParaRPr sz="1300"/>
          </a:p>
        </p:txBody>
      </p:sp>
      <p:sp>
        <p:nvSpPr>
          <p:cNvPr id="18" name="Text 14">
            <a:extLst>
              <a:ext uri="{FF2B5EF4-FFF2-40B4-BE49-F238E27FC236}">
                <a16:creationId xmlns:a16="http://schemas.microsoft.com/office/drawing/2014/main" id="{964794EE-26B9-4B98-992F-D22F277970C6}"/>
              </a:ext>
            </a:extLst>
          </p:cNvPr>
          <p:cNvSpPr>
            <a:spLocks noGrp="1"/>
          </p:cNvSpPr>
          <p:nvPr/>
        </p:nvSpPr>
        <p:spPr>
          <a:xfrm>
            <a:off x="6426200" y="2743200"/>
            <a:ext cx="5029200" cy="20574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HTTP caching is harder: POST to one URL</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N+1 resolver load without batching such as DataLoader</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Public APIs need query depth and cost limits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More server-side complexity to operate and secure</a:t>
            </a:r>
            <a:endParaRPr sz="1200"/>
          </a:p>
        </p:txBody>
      </p:sp>
      <p:sp>
        <p:nvSpPr>
          <p:cNvPr id="19" name="Shape 15">
            <a:extLst>
              <a:ext uri="{FF2B5EF4-FFF2-40B4-BE49-F238E27FC236}">
                <a16:creationId xmlns:a16="http://schemas.microsoft.com/office/drawing/2014/main" id="{D764C26E-2620-4749-9C65-339ABD372059}"/>
              </a:ext>
            </a:extLst>
          </p:cNvPr>
          <p:cNvSpPr>
            <a:spLocks noGrp="1"/>
          </p:cNvSpPr>
          <p:nvPr/>
        </p:nvSpPr>
        <p:spPr>
          <a:xfrm>
            <a:off x="508000" y="5207000"/>
            <a:ext cx="11176000" cy="635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17F2A86D-46C4-4ABB-8161-7472CDCE541F}"/>
              </a:ext>
            </a:extLst>
          </p:cNvPr>
          <p:cNvSpPr>
            <a:spLocks noGrp="1"/>
          </p:cNvSpPr>
          <p:nvPr/>
        </p:nvSpPr>
        <p:spPr>
          <a:xfrm>
            <a:off x="508000" y="5207000"/>
            <a:ext cx="76200" cy="6350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C54E4F4A-187D-4DE3-A42C-0D271FEB6A53}"/>
              </a:ext>
            </a:extLst>
          </p:cNvPr>
          <p:cNvSpPr>
            <a:spLocks noGrp="1"/>
          </p:cNvSpPr>
          <p:nvPr/>
        </p:nvSpPr>
        <p:spPr>
          <a:xfrm>
            <a:off x="787400" y="5207000"/>
            <a:ext cx="10668000" cy="6350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Use GraphQL for  </a:t>
            </a:r>
            <a:r>
              <a:rPr sz="1200">
                <a:solidFill>
                  <a:srgbClr val="141414"/>
                </a:solidFill>
                <a:latin typeface="Arial"/>
                <a:ea typeface="Arial"/>
                <a:cs typeface="Arial"/>
              </a:rPr>
              <a:t>client-driven screens that stitch related data: BFFs, mobile apps and micro-frontends.</a:t>
            </a:r>
            <a:endParaRPr sz="1200"/>
          </a:p>
        </p:txBody>
      </p:sp>
    </p:spTree>
    <p:extLst>
      <p:ext uri="{BB962C8B-B14F-4D97-AF65-F5344CB8AC3E}">
        <p14:creationId xmlns:p14="http://schemas.microsoft.com/office/powerpoint/2010/main" val="1645548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7F15A5F9-E00D-4F22-BFE3-7C7E54C00AE5}"/>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70EC3D4F-237A-4455-A56D-82D0EAD999A2}"/>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2A1EBFBF-FAB3-469B-8267-B4AE64727DDF}"/>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GRAPHQL</a:t>
            </a:r>
            <a:endParaRPr sz="1000"/>
          </a:p>
        </p:txBody>
      </p:sp>
      <p:sp>
        <p:nvSpPr>
          <p:cNvPr id="5" name="Text 2">
            <a:extLst>
              <a:ext uri="{FF2B5EF4-FFF2-40B4-BE49-F238E27FC236}">
                <a16:creationId xmlns:a16="http://schemas.microsoft.com/office/drawing/2014/main" id="{158ADDD5-A38C-47E0-B4B3-2AE9D22C418E}"/>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3D76060A-4528-4BC0-A587-2FC787613F09}"/>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11</a:t>
            </a:r>
            <a:endParaRPr sz="900"/>
          </a:p>
        </p:txBody>
      </p:sp>
      <p:sp>
        <p:nvSpPr>
          <p:cNvPr id="7" name="Text 4">
            <a:extLst>
              <a:ext uri="{FF2B5EF4-FFF2-40B4-BE49-F238E27FC236}">
                <a16:creationId xmlns:a16="http://schemas.microsoft.com/office/drawing/2014/main" id="{6BC30426-45B8-439D-BCE8-802037E3BA50}"/>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GRAPHQL · IN THE DEMO</a:t>
            </a:r>
            <a:endParaRPr sz="1200"/>
          </a:p>
        </p:txBody>
      </p:sp>
      <p:sp>
        <p:nvSpPr>
          <p:cNvPr id="8" name="Text 5">
            <a:extLst>
              <a:ext uri="{FF2B5EF4-FFF2-40B4-BE49-F238E27FC236}">
                <a16:creationId xmlns:a16="http://schemas.microsoft.com/office/drawing/2014/main" id="{224787FF-20CA-4812-93A2-627E8C0C4CE9}"/>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GraphQL in Protocol Studio</a:t>
            </a:r>
            <a:endParaRPr sz="3000"/>
          </a:p>
        </p:txBody>
      </p:sp>
      <p:sp>
        <p:nvSpPr>
          <p:cNvPr id="9" name="Text 6">
            <a:extLst>
              <a:ext uri="{FF2B5EF4-FFF2-40B4-BE49-F238E27FC236}">
                <a16:creationId xmlns:a16="http://schemas.microsoft.com/office/drawing/2014/main" id="{E0972BA2-C688-41D9-A6F7-A22F40D3A0FF}"/>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One query returns a film's ships and characters. Crew questions use a separate operation.</a:t>
            </a:r>
            <a:endParaRPr sz="1400"/>
          </a:p>
        </p:txBody>
      </p:sp>
      <p:sp>
        <p:nvSpPr>
          <p:cNvPr id="11" name="Shape 7">
            <a:extLst>
              <a:ext uri="{FF2B5EF4-FFF2-40B4-BE49-F238E27FC236}">
                <a16:creationId xmlns:a16="http://schemas.microsoft.com/office/drawing/2014/main" id="{16167697-B23E-47D5-AB30-808E7E49C543}"/>
              </a:ext>
            </a:extLst>
          </p:cNvPr>
          <p:cNvSpPr>
            <a:spLocks noGrp="1"/>
          </p:cNvSpPr>
          <p:nvPr/>
        </p:nvSpPr>
        <p:spPr>
          <a:xfrm>
            <a:off x="508000" y="2159000"/>
            <a:ext cx="5588000" cy="3937000"/>
          </a:xfrm>
          <a:prstGeom prst="rect">
            <a:avLst/>
          </a:prstGeom>
          <a:solidFill>
            <a:srgbClr val="1B1B1F"/>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6FD590DC-0955-411E-A8BA-DF53C9F6D318}"/>
              </a:ext>
            </a:extLst>
          </p:cNvPr>
          <p:cNvSpPr>
            <a:spLocks noGrp="1"/>
          </p:cNvSpPr>
          <p:nvPr/>
        </p:nvSpPr>
        <p:spPr>
          <a:xfrm>
            <a:off x="508000" y="2159000"/>
            <a:ext cx="5588000" cy="3556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1B634359-5C9E-4827-A703-425CCDFCE093}"/>
              </a:ext>
            </a:extLst>
          </p:cNvPr>
          <p:cNvSpPr>
            <a:spLocks noGrp="1"/>
          </p:cNvSpPr>
          <p:nvPr/>
        </p:nvSpPr>
        <p:spPr>
          <a:xfrm>
            <a:off x="711200" y="2159000"/>
            <a:ext cx="5181600" cy="355600"/>
          </a:xfrm>
          <a:prstGeom prst="rect">
            <a:avLst/>
          </a:prstGeom>
          <a:noFill/>
        </p:spPr>
        <p:txBody>
          <a:bodyPr wrap="square" lIns="0" tIns="0" rIns="0" bIns="0" anchor="ctr"/>
          <a:lstStyle/>
          <a:p>
            <a:pPr marL="0" indent="0" algn="l">
              <a:lnSpc>
                <a:spcPct val="110000"/>
              </a:lnSpc>
              <a:buNone/>
            </a:pPr>
            <a:r>
              <a:rPr sz="1200" b="1">
                <a:solidFill>
                  <a:srgbClr val="FFFFFF"/>
                </a:solidFill>
                <a:latin typeface="Arial"/>
                <a:ea typeface="Arial"/>
                <a:cs typeface="Arial"/>
              </a:rPr>
              <a:t>POST /GRAPHQL</a:t>
            </a:r>
            <a:endParaRPr sz="1200"/>
          </a:p>
        </p:txBody>
      </p:sp>
      <p:sp>
        <p:nvSpPr>
          <p:cNvPr id="14" name="Text 10">
            <a:extLst>
              <a:ext uri="{FF2B5EF4-FFF2-40B4-BE49-F238E27FC236}">
                <a16:creationId xmlns:a16="http://schemas.microsoft.com/office/drawing/2014/main" id="{7A11F897-2336-4BCD-BA84-24D977F7D032}"/>
              </a:ext>
            </a:extLst>
          </p:cNvPr>
          <p:cNvSpPr>
            <a:spLocks noGrp="1"/>
          </p:cNvSpPr>
          <p:nvPr/>
        </p:nvSpPr>
        <p:spPr>
          <a:xfrm>
            <a:off x="711200" y="2667000"/>
            <a:ext cx="5181600" cy="3276600"/>
          </a:xfrm>
          <a:prstGeom prst="rect">
            <a:avLst/>
          </a:prstGeom>
          <a:noFill/>
        </p:spPr>
        <p:txBody>
          <a:bodyPr wrap="square" lIns="0" tIns="0" rIns="0" bIns="0" anchor="t"/>
          <a:lstStyle/>
          <a:p>
            <a:pPr marL="0" indent="0">
              <a:lnSpc>
                <a:spcPct val="120000"/>
              </a:lnSpc>
              <a:buNone/>
            </a:pPr>
            <a:r>
              <a:rPr sz="1200">
                <a:solidFill>
                  <a:srgbClr val="EDEDED"/>
                </a:solidFill>
                <a:latin typeface="Consolas"/>
                <a:ea typeface="Consolas"/>
                <a:cs typeface="Consolas"/>
              </a:rPr>
              <a:t>query FilmShipsCast($target: String!) {</a:t>
            </a:r>
            <a:endParaRPr sz="1200"/>
          </a:p>
          <a:p>
            <a:pPr marL="0" indent="0">
              <a:lnSpc>
                <a:spcPct val="120000"/>
              </a:lnSpc>
              <a:buNone/>
            </a:pPr>
            <a:r>
              <a:rPr sz="1200">
                <a:solidFill>
                  <a:srgbClr val="EDEDED"/>
                </a:solidFill>
                <a:latin typeface="Consolas"/>
                <a:ea typeface="Consolas"/>
                <a:cs typeface="Consolas"/>
              </a:rPr>
              <a:t xml:space="preserve">  films(target: $target) {</a:t>
            </a:r>
          </a:p>
          <a:p>
            <a:pPr marL="0" indent="0">
              <a:lnSpc>
                <a:spcPct val="120000"/>
              </a:lnSpc>
              <a:buNone/>
            </a:pPr>
            <a:r>
              <a:rPr sz="1200">
                <a:solidFill>
                  <a:srgbClr val="EDEDED"/>
                </a:solidFill>
                <a:latin typeface="Consolas"/>
                <a:ea typeface="Consolas"/>
                <a:cs typeface="Consolas"/>
              </a:rPr>
              <a:t xml:space="preserve">    title</a:t>
            </a:r>
          </a:p>
          <a:p>
            <a:pPr marL="0" indent="0">
              <a:lnSpc>
                <a:spcPct val="120000"/>
              </a:lnSpc>
              <a:buNone/>
            </a:pPr>
            <a:r>
              <a:rPr sz="1200">
                <a:solidFill>
                  <a:srgbClr val="EDEDED"/>
                </a:solidFill>
                <a:latin typeface="Consolas"/>
                <a:ea typeface="Consolas"/>
                <a:cs typeface="Consolas"/>
              </a:rPr>
              <a:t xml:space="preserve">    cast { name }</a:t>
            </a:r>
          </a:p>
          <a:p>
            <a:pPr marL="0" indent="0">
              <a:lnSpc>
                <a:spcPct val="120000"/>
              </a:lnSpc>
              <a:buNone/>
            </a:pPr>
            <a:r>
              <a:rPr sz="1200">
                <a:solidFill>
                  <a:srgbClr val="EDEDED"/>
                </a:solidFill>
                <a:latin typeface="Consolas"/>
                <a:ea typeface="Consolas"/>
                <a:cs typeface="Consolas"/>
              </a:rPr>
              <a:t xml:space="preserve">  }</a:t>
            </a:r>
          </a:p>
          <a:p>
            <a:pPr marL="0" indent="0">
              <a:lnSpc>
                <a:spcPct val="120000"/>
              </a:lnSpc>
              <a:buNone/>
            </a:pPr>
            <a:r>
              <a:rPr sz="1200">
                <a:solidFill>
                  <a:srgbClr val="EDEDED"/>
                </a:solidFill>
                <a:latin typeface="Consolas"/>
                <a:ea typeface="Consolas"/>
                <a:cs typeface="Consolas"/>
              </a:rPr>
              <a:t xml:space="preserve">  starships(target: $target) { name }</a:t>
            </a:r>
          </a:p>
          <a:p>
            <a:pPr marL="0" indent="0">
              <a:lnSpc>
                <a:spcPct val="120000"/>
              </a:lnSpc>
              <a:buNone/>
            </a:pPr>
            <a:r>
              <a:rPr sz="1200">
                <a:solidFill>
                  <a:srgbClr val="EDEDED"/>
                </a:solidFill>
                <a:latin typeface="Consolas"/>
                <a:ea typeface="Consolas"/>
                <a:cs typeface="Consolas"/>
              </a:rPr>
              <a:t>}</a:t>
            </a:r>
          </a:p>
          <a:p>
            <a:pPr marL="0" indent="0">
              <a:lnSpc>
                <a:spcPct val="120000"/>
              </a:lnSpc>
              <a:buNone/>
            </a:pPr>
            <a:r>
              <a:rPr sz="1200">
                <a:solidFill>
                  <a:srgbClr val="EDEDED"/>
                </a:solidFill>
                <a:latin typeface="Consolas"/>
                <a:ea typeface="Consolas"/>
                <a:cs typeface="Consolas"/>
              </a:rPr>
              <a:t/>
            </a:r>
          </a:p>
          <a:p>
            <a:pPr marL="0" indent="0">
              <a:lnSpc>
                <a:spcPct val="120000"/>
              </a:lnSpc>
              <a:buNone/>
            </a:pPr>
            <a:r>
              <a:rPr sz="1200">
                <a:solidFill>
                  <a:srgbClr val="EDEDED"/>
                </a:solidFill>
                <a:latin typeface="Consolas"/>
                <a:ea typeface="Consolas"/>
                <a:cs typeface="Consolas"/>
              </a:rPr>
              <a:t># variables: { "target": "film:1" }</a:t>
            </a:r>
          </a:p>
        </p:txBody>
      </p:sp>
      <p:sp>
        <p:nvSpPr>
          <p:cNvPr id="15" name="Shape 11">
            <a:extLst>
              <a:ext uri="{FF2B5EF4-FFF2-40B4-BE49-F238E27FC236}">
                <a16:creationId xmlns:a16="http://schemas.microsoft.com/office/drawing/2014/main" id="{E4C01528-28C3-4849-9535-CEBC61422E71}"/>
              </a:ext>
            </a:extLst>
          </p:cNvPr>
          <p:cNvSpPr>
            <a:spLocks noGrp="1"/>
          </p:cNvSpPr>
          <p:nvPr/>
        </p:nvSpPr>
        <p:spPr>
          <a:xfrm>
            <a:off x="6299200" y="21590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B524A78F-F217-4CEA-878B-C4DAD686822C}"/>
              </a:ext>
            </a:extLst>
          </p:cNvPr>
          <p:cNvSpPr>
            <a:spLocks noGrp="1"/>
          </p:cNvSpPr>
          <p:nvPr/>
        </p:nvSpPr>
        <p:spPr>
          <a:xfrm>
            <a:off x="6299200" y="2159000"/>
            <a:ext cx="63500" cy="889000"/>
          </a:xfrm>
          <a:prstGeom prst="rect">
            <a:avLst/>
          </a:prstGeom>
          <a:solidFill>
            <a:srgbClr val="DA1884"/>
          </a:solidFill>
        </p:spPr>
        <p:txBody>
          <a:bodyPr/>
          <a:lstStyle/>
          <a:p>
            <a:endParaRPr/>
          </a:p>
        </p:txBody>
      </p:sp>
      <p:sp>
        <p:nvSpPr>
          <p:cNvPr id="17" name="Text 13">
            <a:extLst>
              <a:ext uri="{FF2B5EF4-FFF2-40B4-BE49-F238E27FC236}">
                <a16:creationId xmlns:a16="http://schemas.microsoft.com/office/drawing/2014/main" id="{0FAE010A-1578-4F6D-A50F-362D8212ED0B}"/>
              </a:ext>
            </a:extLst>
          </p:cNvPr>
          <p:cNvSpPr>
            <a:spLocks noGrp="1"/>
          </p:cNvSpPr>
          <p:nvPr/>
        </p:nvSpPr>
        <p:spPr>
          <a:xfrm>
            <a:off x="6527800" y="23114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a:ext uri="{FF2B5EF4-FFF2-40B4-BE49-F238E27FC236}">
                <a16:creationId xmlns:a16="http://schemas.microsoft.com/office/drawing/2014/main" id="{BEDB2FCF-7253-4A40-AC6C-FBD93F63345B}"/>
              </a:ext>
            </a:extLst>
          </p:cNvPr>
          <p:cNvSpPr>
            <a:spLocks noGrp="1"/>
          </p:cNvSpPr>
          <p:nvPr/>
        </p:nvSpPr>
        <p:spPr>
          <a:xfrm>
            <a:off x="7035800" y="2311400"/>
            <a:ext cx="4445000" cy="6350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One request, linked records</a:t>
            </a:r>
            <a:endParaRPr sz="1300"/>
          </a:p>
          <a:p>
            <a:pPr marL="0" indent="0">
              <a:lnSpc>
                <a:spcPct val="115000"/>
              </a:lnSpc>
              <a:buNone/>
            </a:pPr>
            <a:r>
              <a:rPr sz="1200">
                <a:solidFill>
                  <a:srgbClr val="333333"/>
                </a:solidFill>
                <a:latin typeface="Arial"/>
                <a:ea typeface="Arial"/>
                <a:cs typeface="Arial"/>
              </a:rPr>
              <a:t>Film title, character names and ship names in one query.</a:t>
            </a:r>
            <a:endParaRPr sz="1300"/>
          </a:p>
        </p:txBody>
      </p:sp>
      <p:sp>
        <p:nvSpPr>
          <p:cNvPr id="19" name="Shape 15">
            <a:extLst>
              <a:ext uri="{FF2B5EF4-FFF2-40B4-BE49-F238E27FC236}">
                <a16:creationId xmlns:a16="http://schemas.microsoft.com/office/drawing/2014/main" id="{2F52A8C4-92CD-4F92-AB30-94BAAD69D02E}"/>
              </a:ext>
            </a:extLst>
          </p:cNvPr>
          <p:cNvSpPr>
            <a:spLocks noGrp="1"/>
          </p:cNvSpPr>
          <p:nvPr/>
        </p:nvSpPr>
        <p:spPr>
          <a:xfrm>
            <a:off x="6299200" y="31496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D351BEB2-49E7-42BA-BCDC-5A0E7DF0300A}"/>
              </a:ext>
            </a:extLst>
          </p:cNvPr>
          <p:cNvSpPr>
            <a:spLocks noGrp="1"/>
          </p:cNvSpPr>
          <p:nvPr/>
        </p:nvSpPr>
        <p:spPr>
          <a:xfrm>
            <a:off x="6299200" y="3149600"/>
            <a:ext cx="63500" cy="8890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1ABBF981-259C-43CE-A859-A500C423EE92}"/>
              </a:ext>
            </a:extLst>
          </p:cNvPr>
          <p:cNvSpPr>
            <a:spLocks noGrp="1"/>
          </p:cNvSpPr>
          <p:nvPr/>
        </p:nvSpPr>
        <p:spPr>
          <a:xfrm>
            <a:off x="6527800" y="33020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a:ext uri="{FF2B5EF4-FFF2-40B4-BE49-F238E27FC236}">
                <a16:creationId xmlns:a16="http://schemas.microsoft.com/office/drawing/2014/main" id="{C52CC297-E6D0-49A7-9B75-95E2EF548C3D}"/>
              </a:ext>
            </a:extLst>
          </p:cNvPr>
          <p:cNvSpPr>
            <a:spLocks noGrp="1"/>
          </p:cNvSpPr>
          <p:nvPr/>
        </p:nvSpPr>
        <p:spPr>
          <a:xfrm>
            <a:off x="7035800" y="3302000"/>
            <a:ext cx="4445000" cy="635000"/>
          </a:xfrm>
          <a:prstGeom prst="rect">
            <a:avLst/>
          </a:prstGeom>
          <a:noFill/>
        </p:spPr>
        <p:txBody>
          <a:bodyPr wrap="square" lIns="0" tIns="0" rIns="0" bIns="0" anchor="t"/>
          <a:lstStyle/>
          <a:p>
            <a:pPr marL="0" indent="0">
              <a:lnSpc>
                <a:spcPct val="115000"/>
              </a:lnSpc>
              <a:spcAft>
                <a:spcPts val="400"/>
              </a:spcAft>
              <a:buNone/>
            </a:pPr>
            <a:r>
              <a:rPr sz="1300" b="1" dirty="0">
                <a:solidFill>
                  <a:srgbClr val="141414"/>
                </a:solidFill>
                <a:latin typeface="Arial"/>
                <a:ea typeface="Arial"/>
                <a:cs typeface="Arial"/>
              </a:rPr>
              <a:t>Measured against REST</a:t>
            </a:r>
            <a:endParaRPr sz="1300" dirty="0"/>
          </a:p>
          <a:p>
            <a:pPr marL="0" indent="0">
              <a:lnSpc>
                <a:spcPct val="115000"/>
              </a:lnSpc>
              <a:buNone/>
            </a:pPr>
            <a:r>
              <a:rPr sz="1200" dirty="0">
                <a:solidFill>
                  <a:srgbClr val="333333"/>
                </a:solidFill>
                <a:latin typeface="Arial"/>
                <a:ea typeface="Arial"/>
                <a:cs typeface="Arial"/>
              </a:rPr>
              <a:t>Both need one request. GraphQL selects fields, while REST includes nested records.</a:t>
            </a:r>
            <a:endParaRPr sz="1300" dirty="0"/>
          </a:p>
        </p:txBody>
      </p:sp>
      <p:sp>
        <p:nvSpPr>
          <p:cNvPr id="23" name="Shape 19">
            <a:extLst>
              <a:ext uri="{FF2B5EF4-FFF2-40B4-BE49-F238E27FC236}">
                <a16:creationId xmlns:a16="http://schemas.microsoft.com/office/drawing/2014/main" id="{57C597F8-DA4A-46DC-9F80-252F95E373BC}"/>
              </a:ext>
            </a:extLst>
          </p:cNvPr>
          <p:cNvSpPr>
            <a:spLocks noGrp="1"/>
          </p:cNvSpPr>
          <p:nvPr/>
        </p:nvSpPr>
        <p:spPr>
          <a:xfrm>
            <a:off x="6299200" y="41402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5FBD22B9-B7EB-4BC5-A595-14A99D1E125C}"/>
              </a:ext>
            </a:extLst>
          </p:cNvPr>
          <p:cNvSpPr>
            <a:spLocks noGrp="1"/>
          </p:cNvSpPr>
          <p:nvPr/>
        </p:nvSpPr>
        <p:spPr>
          <a:xfrm>
            <a:off x="6299200" y="4140200"/>
            <a:ext cx="63500" cy="8890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2ADDB858-2EB5-4365-AC09-8512A74A87CF}"/>
              </a:ext>
            </a:extLst>
          </p:cNvPr>
          <p:cNvSpPr>
            <a:spLocks noGrp="1"/>
          </p:cNvSpPr>
          <p:nvPr/>
        </p:nvSpPr>
        <p:spPr>
          <a:xfrm>
            <a:off x="6527800" y="42926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a:ext uri="{FF2B5EF4-FFF2-40B4-BE49-F238E27FC236}">
                <a16:creationId xmlns:a16="http://schemas.microsoft.com/office/drawing/2014/main" id="{F485770D-DA09-4CE4-8E46-049177BDDF2B}"/>
              </a:ext>
            </a:extLst>
          </p:cNvPr>
          <p:cNvSpPr>
            <a:spLocks noGrp="1"/>
          </p:cNvSpPr>
          <p:nvPr/>
        </p:nvSpPr>
        <p:spPr>
          <a:xfrm>
            <a:off x="7035800" y="4292600"/>
            <a:ext cx="4445000" cy="6350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Cast and crew operations</a:t>
            </a:r>
            <a:endParaRPr sz="1300"/>
          </a:p>
          <a:p>
            <a:pPr marL="0" indent="0">
              <a:lnSpc>
                <a:spcPct val="115000"/>
              </a:lnSpc>
              <a:buNone/>
            </a:pPr>
            <a:r>
              <a:rPr sz="1200">
                <a:solidFill>
                  <a:srgbClr val="333333"/>
                </a:solidFill>
                <a:latin typeface="Arial"/>
                <a:ea typeface="Arial"/>
                <a:cs typeface="Arial"/>
              </a:rPr>
              <a:t>Cast lists name film characters. Crew queries return documented assignments.</a:t>
            </a:r>
            <a:endParaRPr sz="1300"/>
          </a:p>
        </p:txBody>
      </p:sp>
      <p:sp>
        <p:nvSpPr>
          <p:cNvPr id="27" name="Shape 23">
            <a:extLst>
              <a:ext uri="{FF2B5EF4-FFF2-40B4-BE49-F238E27FC236}">
                <a16:creationId xmlns:a16="http://schemas.microsoft.com/office/drawing/2014/main" id="{208F6C30-B09F-4898-B8BA-C603C45EADB8}"/>
              </a:ext>
            </a:extLst>
          </p:cNvPr>
          <p:cNvSpPr>
            <a:spLocks noGrp="1"/>
          </p:cNvSpPr>
          <p:nvPr/>
        </p:nvSpPr>
        <p:spPr>
          <a:xfrm>
            <a:off x="6299200" y="5130800"/>
            <a:ext cx="5384800" cy="787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8" name="Shape 24">
            <a:extLst>
              <a:ext uri="{FF2B5EF4-FFF2-40B4-BE49-F238E27FC236}">
                <a16:creationId xmlns:a16="http://schemas.microsoft.com/office/drawing/2014/main" id="{7A86BE0F-3724-4415-BF5B-9D230C339F2D}"/>
              </a:ext>
            </a:extLst>
          </p:cNvPr>
          <p:cNvSpPr>
            <a:spLocks noGrp="1"/>
          </p:cNvSpPr>
          <p:nvPr/>
        </p:nvSpPr>
        <p:spPr>
          <a:xfrm>
            <a:off x="6299200" y="5130800"/>
            <a:ext cx="76200" cy="787400"/>
          </a:xfrm>
          <a:prstGeom prst="rect">
            <a:avLst/>
          </a:prstGeom>
          <a:solidFill>
            <a:srgbClr val="DA1884"/>
          </a:solidFill>
        </p:spPr>
        <p:txBody>
          <a:bodyPr/>
          <a:lstStyle/>
          <a:p>
            <a:endParaRPr/>
          </a:p>
        </p:txBody>
      </p:sp>
      <p:sp>
        <p:nvSpPr>
          <p:cNvPr id="29" name="Text 25">
            <a:extLst>
              <a:ext uri="{FF2B5EF4-FFF2-40B4-BE49-F238E27FC236}">
                <a16:creationId xmlns:a16="http://schemas.microsoft.com/office/drawing/2014/main" id="{B05ABDFB-7E0B-46E5-AA87-75FF52141051}"/>
              </a:ext>
            </a:extLst>
          </p:cNvPr>
          <p:cNvSpPr>
            <a:spLocks noGrp="1"/>
          </p:cNvSpPr>
          <p:nvPr/>
        </p:nvSpPr>
        <p:spPr>
          <a:xfrm>
            <a:off x="6578600" y="5130800"/>
            <a:ext cx="4876800" cy="7874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 xml:space="preserve">Try it:  </a:t>
            </a:r>
            <a:r>
              <a:rPr sz="1200">
                <a:solidFill>
                  <a:srgbClr val="141414"/>
                </a:solidFill>
                <a:latin typeface="Arial"/>
                <a:ea typeface="Arial"/>
                <a:cs typeface="Arial"/>
              </a:rPr>
              <a:t>“Which starships appear in A New Hope, and who is in its cast?”</a:t>
            </a:r>
            <a:endParaRPr sz="1200"/>
          </a:p>
        </p:txBody>
      </p:sp>
    </p:spTree>
    <p:extLst>
      <p:ext uri="{BB962C8B-B14F-4D97-AF65-F5344CB8AC3E}">
        <p14:creationId xmlns:p14="http://schemas.microsoft.com/office/powerpoint/2010/main" val="128642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6948A719-10BB-4388-938B-60F6D6A67237}"/>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D887F5CF-4971-4302-B500-44A3A2FFFEE0}"/>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2ABC35A0-13ED-4982-B23D-211EB115C36C}"/>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dirty="0">
                <a:solidFill>
                  <a:srgbClr val="DA1884"/>
                </a:solidFill>
                <a:latin typeface="Arial"/>
                <a:ea typeface="Arial"/>
                <a:cs typeface="Arial"/>
              </a:rPr>
              <a:t>GRPC</a:t>
            </a:r>
            <a:endParaRPr sz="1000" dirty="0"/>
          </a:p>
        </p:txBody>
      </p:sp>
      <p:sp>
        <p:nvSpPr>
          <p:cNvPr id="5" name="Text 2">
            <a:extLst>
              <a:ext uri="{FF2B5EF4-FFF2-40B4-BE49-F238E27FC236}">
                <a16:creationId xmlns:a16="http://schemas.microsoft.com/office/drawing/2014/main" id="{27E95D3D-8DDC-45E0-BCB2-DDD8DE36AD2C}"/>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F254D188-E0E4-408E-A34E-545DA87108CE}"/>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12</a:t>
            </a:r>
            <a:endParaRPr sz="900"/>
          </a:p>
        </p:txBody>
      </p:sp>
      <p:sp>
        <p:nvSpPr>
          <p:cNvPr id="7" name="Text 4">
            <a:extLst>
              <a:ext uri="{FF2B5EF4-FFF2-40B4-BE49-F238E27FC236}">
                <a16:creationId xmlns:a16="http://schemas.microsoft.com/office/drawing/2014/main" id="{EF00EA14-FB27-4829-940F-715D1CE3414D}"/>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dirty="0">
                <a:solidFill>
                  <a:srgbClr val="DA1884"/>
                </a:solidFill>
                <a:latin typeface="Arial"/>
                <a:ea typeface="Arial"/>
                <a:cs typeface="Arial"/>
              </a:rPr>
              <a:t>GRPC · HOW IT WORKS</a:t>
            </a:r>
            <a:endParaRPr sz="1200" dirty="0"/>
          </a:p>
        </p:txBody>
      </p:sp>
      <p:sp>
        <p:nvSpPr>
          <p:cNvPr id="8" name="Text 5">
            <a:extLst>
              <a:ext uri="{FF2B5EF4-FFF2-40B4-BE49-F238E27FC236}">
                <a16:creationId xmlns:a16="http://schemas.microsoft.com/office/drawing/2014/main" id="{FED03D74-9C2F-4D50-884C-0DA321E404A9}"/>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dirty="0">
                <a:solidFill>
                  <a:srgbClr val="141414"/>
                </a:solidFill>
                <a:latin typeface="Arial"/>
                <a:ea typeface="Arial"/>
                <a:cs typeface="Arial"/>
              </a:rPr>
              <a:t>gRPC: Typed Contracts, Streaming by Default</a:t>
            </a:r>
            <a:endParaRPr sz="3000" dirty="0"/>
          </a:p>
        </p:txBody>
      </p:sp>
      <p:sp>
        <p:nvSpPr>
          <p:cNvPr id="9" name="Text 6">
            <a:extLst>
              <a:ext uri="{FF2B5EF4-FFF2-40B4-BE49-F238E27FC236}">
                <a16:creationId xmlns:a16="http://schemas.microsoft.com/office/drawing/2014/main" id="{F2D15E5E-E401-4A93-8DD4-C34FFF30E9A8}"/>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Contract-first RPC over HTTP/2 with compact Protobuf messages and four call types.</a:t>
            </a:r>
            <a:endParaRPr sz="1400"/>
          </a:p>
        </p:txBody>
      </p:sp>
      <p:sp>
        <p:nvSpPr>
          <p:cNvPr id="11" name="Shape 7">
            <a:extLst>
              <a:ext uri="{FF2B5EF4-FFF2-40B4-BE49-F238E27FC236}">
                <a16:creationId xmlns:a16="http://schemas.microsoft.com/office/drawing/2014/main" id="{1E478EB3-616D-44DE-8BD0-1D6D1A81D419}"/>
              </a:ext>
            </a:extLst>
          </p:cNvPr>
          <p:cNvSpPr>
            <a:spLocks noGrp="1"/>
          </p:cNvSpPr>
          <p:nvPr/>
        </p:nvSpPr>
        <p:spPr>
          <a:xfrm>
            <a:off x="508000" y="2159000"/>
            <a:ext cx="5486400" cy="2794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067D9920-F49F-447F-8DA2-25470D2B3FB4}"/>
              </a:ext>
            </a:extLst>
          </p:cNvPr>
          <p:cNvSpPr>
            <a:spLocks noGrp="1"/>
          </p:cNvSpPr>
          <p:nvPr/>
        </p:nvSpPr>
        <p:spPr>
          <a:xfrm>
            <a:off x="508000" y="2159000"/>
            <a:ext cx="5486400" cy="4064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50E86671-B539-4815-9492-54B9A682AD4B}"/>
              </a:ext>
            </a:extLst>
          </p:cNvPr>
          <p:cNvSpPr>
            <a:spLocks noGrp="1"/>
          </p:cNvSpPr>
          <p:nvPr/>
        </p:nvSpPr>
        <p:spPr>
          <a:xfrm>
            <a:off x="736600" y="2159000"/>
            <a:ext cx="5029200" cy="406400"/>
          </a:xfrm>
          <a:prstGeom prst="rect">
            <a:avLst/>
          </a:prstGeom>
          <a:noFill/>
        </p:spPr>
        <p:txBody>
          <a:bodyPr wrap="square" lIns="0" tIns="0" rIns="0" bIns="0" anchor="ctr"/>
          <a:lstStyle/>
          <a:p>
            <a:pPr marL="0" indent="0" algn="l">
              <a:lnSpc>
                <a:spcPct val="110000"/>
              </a:lnSpc>
              <a:buNone/>
            </a:pPr>
            <a:r>
              <a:rPr sz="1300" b="1" dirty="0">
                <a:solidFill>
                  <a:srgbClr val="FFFFFF"/>
                </a:solidFill>
                <a:latin typeface="Arial"/>
                <a:ea typeface="Arial"/>
                <a:cs typeface="Arial"/>
              </a:rPr>
              <a:t>Where gRPC shines</a:t>
            </a:r>
            <a:endParaRPr sz="1300" dirty="0"/>
          </a:p>
        </p:txBody>
      </p:sp>
      <p:sp>
        <p:nvSpPr>
          <p:cNvPr id="14" name="Text 10">
            <a:extLst>
              <a:ext uri="{FF2B5EF4-FFF2-40B4-BE49-F238E27FC236}">
                <a16:creationId xmlns:a16="http://schemas.microsoft.com/office/drawing/2014/main" id="{6103BC91-8E89-45E3-98E8-32835034EA2B}"/>
              </a:ext>
            </a:extLst>
          </p:cNvPr>
          <p:cNvSpPr>
            <a:spLocks noGrp="1"/>
          </p:cNvSpPr>
          <p:nvPr/>
        </p:nvSpPr>
        <p:spPr>
          <a:xfrm>
            <a:off x="736600" y="2743200"/>
            <a:ext cx="5029200" cy="20574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Contract-first .proto files with generated clients in many languages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Compact binary Protobuf with HTTP/2 multiplexing</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Unary, server, client and bidirectional streaming</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Deadlines, cancellation and metadata built in</a:t>
            </a:r>
            <a:endParaRPr sz="1200"/>
          </a:p>
        </p:txBody>
      </p:sp>
      <p:sp>
        <p:nvSpPr>
          <p:cNvPr id="15" name="Shape 11">
            <a:extLst>
              <a:ext uri="{FF2B5EF4-FFF2-40B4-BE49-F238E27FC236}">
                <a16:creationId xmlns:a16="http://schemas.microsoft.com/office/drawing/2014/main" id="{C3E31C9B-ECF7-4A19-9843-4E1A534D2ED0}"/>
              </a:ext>
            </a:extLst>
          </p:cNvPr>
          <p:cNvSpPr>
            <a:spLocks noGrp="1"/>
          </p:cNvSpPr>
          <p:nvPr/>
        </p:nvSpPr>
        <p:spPr>
          <a:xfrm>
            <a:off x="6197600" y="2159000"/>
            <a:ext cx="5486400" cy="2794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F268FDC3-C42C-49CD-9CB4-D56474EAC5AE}"/>
              </a:ext>
            </a:extLst>
          </p:cNvPr>
          <p:cNvSpPr>
            <a:spLocks noGrp="1"/>
          </p:cNvSpPr>
          <p:nvPr/>
        </p:nvSpPr>
        <p:spPr>
          <a:xfrm>
            <a:off x="6197600" y="2159000"/>
            <a:ext cx="5486400" cy="406400"/>
          </a:xfrm>
          <a:prstGeom prst="rect">
            <a:avLst/>
          </a:prstGeom>
          <a:solidFill>
            <a:srgbClr val="A1005D"/>
          </a:solidFill>
        </p:spPr>
        <p:txBody>
          <a:bodyPr/>
          <a:lstStyle/>
          <a:p>
            <a:endParaRPr/>
          </a:p>
        </p:txBody>
      </p:sp>
      <p:sp>
        <p:nvSpPr>
          <p:cNvPr id="17" name="Text 13">
            <a:extLst>
              <a:ext uri="{FF2B5EF4-FFF2-40B4-BE49-F238E27FC236}">
                <a16:creationId xmlns:a16="http://schemas.microsoft.com/office/drawing/2014/main" id="{7FE7CC19-B58C-423A-AF1C-4BFF7700DB61}"/>
              </a:ext>
            </a:extLst>
          </p:cNvPr>
          <p:cNvSpPr>
            <a:spLocks noGrp="1"/>
          </p:cNvSpPr>
          <p:nvPr/>
        </p:nvSpPr>
        <p:spPr>
          <a:xfrm>
            <a:off x="6426200" y="2159000"/>
            <a:ext cx="5029200" cy="406400"/>
          </a:xfrm>
          <a:prstGeom prst="rect">
            <a:avLst/>
          </a:prstGeom>
          <a:noFill/>
        </p:spPr>
        <p:txBody>
          <a:bodyPr wrap="square" lIns="0" tIns="0" rIns="0" bIns="0" anchor="ctr"/>
          <a:lstStyle/>
          <a:p>
            <a:pPr marL="0" indent="0" algn="l">
              <a:lnSpc>
                <a:spcPct val="110000"/>
              </a:lnSpc>
              <a:buNone/>
            </a:pPr>
            <a:r>
              <a:rPr sz="1300" b="1">
                <a:solidFill>
                  <a:srgbClr val="FFFFFF"/>
                </a:solidFill>
                <a:latin typeface="Arial"/>
                <a:ea typeface="Arial"/>
                <a:cs typeface="Arial"/>
              </a:rPr>
              <a:t>Where it strains</a:t>
            </a:r>
            <a:endParaRPr sz="1300"/>
          </a:p>
        </p:txBody>
      </p:sp>
      <p:sp>
        <p:nvSpPr>
          <p:cNvPr id="18" name="Text 14">
            <a:extLst>
              <a:ext uri="{FF2B5EF4-FFF2-40B4-BE49-F238E27FC236}">
                <a16:creationId xmlns:a16="http://schemas.microsoft.com/office/drawing/2014/main" id="{3C54E77C-192C-4D0B-AEAF-05DA9602BD80}"/>
              </a:ext>
            </a:extLst>
          </p:cNvPr>
          <p:cNvSpPr>
            <a:spLocks noGrp="1"/>
          </p:cNvSpPr>
          <p:nvPr/>
        </p:nvSpPr>
        <p:spPr>
          <a:xfrm>
            <a:off x="6426200" y="2743200"/>
            <a:ext cx="5029200" cy="20574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Browsers need gRPC-Web or an HTTP bridge</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Binary payloads are harder to read and debug</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HTTP/2 end to end through proxies and load balancers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Schema discipline: field numbers are forever</a:t>
            </a:r>
            <a:endParaRPr sz="1200"/>
          </a:p>
        </p:txBody>
      </p:sp>
      <p:sp>
        <p:nvSpPr>
          <p:cNvPr id="19" name="Shape 15">
            <a:extLst>
              <a:ext uri="{FF2B5EF4-FFF2-40B4-BE49-F238E27FC236}">
                <a16:creationId xmlns:a16="http://schemas.microsoft.com/office/drawing/2014/main" id="{C52DD8AD-05BA-4ECC-8415-FDF38438B3BE}"/>
              </a:ext>
            </a:extLst>
          </p:cNvPr>
          <p:cNvSpPr>
            <a:spLocks noGrp="1"/>
          </p:cNvSpPr>
          <p:nvPr/>
        </p:nvSpPr>
        <p:spPr>
          <a:xfrm>
            <a:off x="508000" y="5207000"/>
            <a:ext cx="11176000" cy="635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AFDFDD92-609C-4D35-B0F7-D9B2DBF43176}"/>
              </a:ext>
            </a:extLst>
          </p:cNvPr>
          <p:cNvSpPr>
            <a:spLocks noGrp="1"/>
          </p:cNvSpPr>
          <p:nvPr/>
        </p:nvSpPr>
        <p:spPr>
          <a:xfrm>
            <a:off x="508000" y="5207000"/>
            <a:ext cx="76200" cy="6350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EE0E242A-F5C7-49AA-8B3D-5967721C4589}"/>
              </a:ext>
            </a:extLst>
          </p:cNvPr>
          <p:cNvSpPr>
            <a:spLocks noGrp="1"/>
          </p:cNvSpPr>
          <p:nvPr/>
        </p:nvSpPr>
        <p:spPr>
          <a:xfrm>
            <a:off x="787400" y="5207000"/>
            <a:ext cx="10668000" cy="635000"/>
          </a:xfrm>
          <a:prstGeom prst="rect">
            <a:avLst/>
          </a:prstGeom>
          <a:noFill/>
        </p:spPr>
        <p:txBody>
          <a:bodyPr wrap="square" lIns="0" tIns="0" rIns="0" bIns="0" anchor="ctr"/>
          <a:lstStyle/>
          <a:p>
            <a:pPr marL="0" indent="0">
              <a:lnSpc>
                <a:spcPct val="115000"/>
              </a:lnSpc>
              <a:buNone/>
            </a:pPr>
            <a:r>
              <a:rPr sz="1200" b="1" dirty="0">
                <a:solidFill>
                  <a:srgbClr val="141414"/>
                </a:solidFill>
                <a:latin typeface="Arial"/>
                <a:ea typeface="Arial"/>
                <a:cs typeface="Arial"/>
              </a:rPr>
              <a:t>Use gRPC for  </a:t>
            </a:r>
            <a:r>
              <a:rPr sz="1200" dirty="0">
                <a:solidFill>
                  <a:srgbClr val="141414"/>
                </a:solidFill>
                <a:latin typeface="Arial"/>
                <a:ea typeface="Arial"/>
                <a:cs typeface="Arial"/>
              </a:rPr>
              <a:t>internal service-to-service calls, low-latency paths and real-time streams.</a:t>
            </a:r>
            <a:endParaRPr sz="1200" dirty="0"/>
          </a:p>
        </p:txBody>
      </p:sp>
    </p:spTree>
    <p:extLst>
      <p:ext uri="{BB962C8B-B14F-4D97-AF65-F5344CB8AC3E}">
        <p14:creationId xmlns:p14="http://schemas.microsoft.com/office/powerpoint/2010/main" val="389439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BA9A913E-CD69-45B8-A7BE-91FB0E574178}"/>
              </a:ext>
            </a:extLst>
          </p:cNvPr>
          <p:cNvPicPr>
            <a:picLocks noChangeAspect="1"/>
          </p:cNvPicPr>
          <p:nvPr/>
        </p:nvPicPr>
        <p:blipFill>
          <a:blip r:embed="rId4"/>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A9B3823C-7020-4F39-BF5A-B49634649DFB}"/>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73CCA750-BF91-4DC1-B7CC-800DECD03C79}"/>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dirty="0">
                <a:solidFill>
                  <a:srgbClr val="DA1884"/>
                </a:solidFill>
                <a:latin typeface="Arial"/>
                <a:ea typeface="Arial"/>
                <a:cs typeface="Arial"/>
              </a:rPr>
              <a:t>GRPC</a:t>
            </a:r>
            <a:endParaRPr sz="1000" dirty="0"/>
          </a:p>
        </p:txBody>
      </p:sp>
      <p:sp>
        <p:nvSpPr>
          <p:cNvPr id="5" name="Text 2">
            <a:extLst>
              <a:ext uri="{FF2B5EF4-FFF2-40B4-BE49-F238E27FC236}">
                <a16:creationId xmlns:a16="http://schemas.microsoft.com/office/drawing/2014/main" id="{0140C38E-8F8E-4F46-A932-DF35BE88200D}"/>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B80EB8F3-98BB-4F8F-85DD-8F80BFB192F5}"/>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13</a:t>
            </a:r>
            <a:endParaRPr sz="900"/>
          </a:p>
        </p:txBody>
      </p:sp>
      <p:sp>
        <p:nvSpPr>
          <p:cNvPr id="7" name="Text 4">
            <a:extLst>
              <a:ext uri="{FF2B5EF4-FFF2-40B4-BE49-F238E27FC236}">
                <a16:creationId xmlns:a16="http://schemas.microsoft.com/office/drawing/2014/main" id="{2DB7256D-C636-42CD-B5F4-01FD9159BF7E}"/>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dirty="0">
                <a:solidFill>
                  <a:srgbClr val="DA1884"/>
                </a:solidFill>
                <a:latin typeface="Arial"/>
                <a:ea typeface="Arial"/>
                <a:cs typeface="Arial"/>
              </a:rPr>
              <a:t>GRPC · IN THE DEMO</a:t>
            </a:r>
            <a:endParaRPr sz="1200" dirty="0"/>
          </a:p>
        </p:txBody>
      </p:sp>
      <p:sp>
        <p:nvSpPr>
          <p:cNvPr id="8" name="Text 5">
            <a:extLst>
              <a:ext uri="{FF2B5EF4-FFF2-40B4-BE49-F238E27FC236}">
                <a16:creationId xmlns:a16="http://schemas.microsoft.com/office/drawing/2014/main" id="{6AB606DA-049C-4BA2-AE7C-7EA314CC8066}"/>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dirty="0">
                <a:solidFill>
                  <a:srgbClr val="141414"/>
                </a:solidFill>
                <a:latin typeface="Arial"/>
                <a:ea typeface="Arial"/>
                <a:cs typeface="Arial"/>
              </a:rPr>
              <a:t>gRPC in Protocol Studio</a:t>
            </a:r>
            <a:endParaRPr sz="3000" dirty="0"/>
          </a:p>
        </p:txBody>
      </p:sp>
      <p:sp>
        <p:nvSpPr>
          <p:cNvPr id="9" name="Text 6">
            <a:extLst>
              <a:ext uri="{FF2B5EF4-FFF2-40B4-BE49-F238E27FC236}">
                <a16:creationId xmlns:a16="http://schemas.microsoft.com/office/drawing/2014/main" id="{825442CD-6547-47FD-821B-9A15712CEA82}"/>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Track a simulated Falcon flight: one request, 21 updates, about 40 seconds.</a:t>
            </a:r>
            <a:endParaRPr sz="1400"/>
          </a:p>
        </p:txBody>
      </p:sp>
      <p:sp>
        <p:nvSpPr>
          <p:cNvPr id="11" name="Shape 7">
            <a:extLst>
              <a:ext uri="{FF2B5EF4-FFF2-40B4-BE49-F238E27FC236}">
                <a16:creationId xmlns:a16="http://schemas.microsoft.com/office/drawing/2014/main" id="{EF26F99C-4864-427C-9407-343F4B30CA2C}"/>
              </a:ext>
            </a:extLst>
          </p:cNvPr>
          <p:cNvSpPr>
            <a:spLocks noGrp="1"/>
          </p:cNvSpPr>
          <p:nvPr/>
        </p:nvSpPr>
        <p:spPr>
          <a:xfrm>
            <a:off x="508000" y="2159000"/>
            <a:ext cx="5588000" cy="3937000"/>
          </a:xfrm>
          <a:prstGeom prst="rect">
            <a:avLst/>
          </a:prstGeom>
          <a:solidFill>
            <a:srgbClr val="1B1B1F"/>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8BDF813D-E7C0-44DF-AB45-D33ACF131B7A}"/>
              </a:ext>
            </a:extLst>
          </p:cNvPr>
          <p:cNvSpPr>
            <a:spLocks noGrp="1"/>
          </p:cNvSpPr>
          <p:nvPr/>
        </p:nvSpPr>
        <p:spPr>
          <a:xfrm>
            <a:off x="508000" y="2159000"/>
            <a:ext cx="5588000" cy="3556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A0B7B05F-2369-419B-91B4-FF1EF168AF34}"/>
              </a:ext>
            </a:extLst>
          </p:cNvPr>
          <p:cNvSpPr>
            <a:spLocks noGrp="1"/>
          </p:cNvSpPr>
          <p:nvPr/>
        </p:nvSpPr>
        <p:spPr>
          <a:xfrm>
            <a:off x="711200" y="2159000"/>
            <a:ext cx="5181600" cy="355600"/>
          </a:xfrm>
          <a:prstGeom prst="rect">
            <a:avLst/>
          </a:prstGeom>
          <a:noFill/>
        </p:spPr>
        <p:txBody>
          <a:bodyPr wrap="square" lIns="0" tIns="0" rIns="0" bIns="0" anchor="ctr"/>
          <a:lstStyle/>
          <a:p>
            <a:pPr marL="0" indent="0" algn="l">
              <a:lnSpc>
                <a:spcPct val="110000"/>
              </a:lnSpc>
              <a:buNone/>
            </a:pPr>
            <a:r>
              <a:rPr sz="1200" b="1">
                <a:solidFill>
                  <a:srgbClr val="FFFFFF"/>
                </a:solidFill>
                <a:latin typeface="Arial"/>
                <a:ea typeface="Arial"/>
                <a:cs typeface="Arial"/>
              </a:rPr>
              <a:t>CATALOG.PROTO</a:t>
            </a:r>
            <a:endParaRPr sz="1200"/>
          </a:p>
        </p:txBody>
      </p:sp>
      <p:sp>
        <p:nvSpPr>
          <p:cNvPr id="14" name="Text 10">
            <a:extLst>
              <a:ext uri="{FF2B5EF4-FFF2-40B4-BE49-F238E27FC236}">
                <a16:creationId xmlns:a16="http://schemas.microsoft.com/office/drawing/2014/main" id="{1CE9F498-97FE-481A-90ED-43DEF1C44B93}"/>
              </a:ext>
            </a:extLst>
          </p:cNvPr>
          <p:cNvSpPr>
            <a:spLocks noGrp="1"/>
          </p:cNvSpPr>
          <p:nvPr/>
        </p:nvSpPr>
        <p:spPr>
          <a:xfrm>
            <a:off x="711200" y="2667000"/>
            <a:ext cx="5181600" cy="3276600"/>
          </a:xfrm>
          <a:prstGeom prst="rect">
            <a:avLst/>
          </a:prstGeom>
          <a:noFill/>
        </p:spPr>
        <p:txBody>
          <a:bodyPr wrap="square" lIns="0" tIns="0" rIns="0" bIns="0" anchor="t"/>
          <a:lstStyle/>
          <a:p>
            <a:pPr marL="0" indent="0">
              <a:lnSpc>
                <a:spcPct val="120000"/>
              </a:lnSpc>
              <a:buNone/>
            </a:pPr>
            <a:r>
              <a:rPr sz="1200">
                <a:solidFill>
                  <a:srgbClr val="EDEDED"/>
                </a:solidFill>
                <a:latin typeface="Consolas"/>
                <a:ea typeface="Consolas"/>
                <a:cs typeface="Consolas"/>
              </a:rPr>
              <a:t>service StarshipTracker {</a:t>
            </a:r>
            <a:endParaRPr sz="1200"/>
          </a:p>
          <a:p>
            <a:pPr marL="0" indent="0">
              <a:lnSpc>
                <a:spcPct val="120000"/>
              </a:lnSpc>
              <a:buNone/>
            </a:pPr>
            <a:r>
              <a:rPr sz="1200">
                <a:solidFill>
                  <a:srgbClr val="EDEDED"/>
                </a:solidFill>
                <a:latin typeface="Consolas"/>
                <a:ea typeface="Consolas"/>
                <a:cs typeface="Consolas"/>
              </a:rPr>
              <a:t>  rpc Watch(WatchRequest)</a:t>
            </a:r>
          </a:p>
          <a:p>
            <a:pPr marL="0" indent="0">
              <a:lnSpc>
                <a:spcPct val="120000"/>
              </a:lnSpc>
              <a:buNone/>
            </a:pPr>
            <a:r>
              <a:rPr sz="1200">
                <a:solidFill>
                  <a:srgbClr val="EDEDED"/>
                </a:solidFill>
                <a:latin typeface="Consolas"/>
                <a:ea typeface="Consolas"/>
                <a:cs typeface="Consolas"/>
              </a:rPr>
              <a:t>      returns (stream TrackSnapshot);</a:t>
            </a:r>
          </a:p>
          <a:p>
            <a:pPr marL="0" indent="0">
              <a:lnSpc>
                <a:spcPct val="120000"/>
              </a:lnSpc>
              <a:buNone/>
            </a:pPr>
            <a:r>
              <a:rPr sz="1200">
                <a:solidFill>
                  <a:srgbClr val="EDEDED"/>
                </a:solidFill>
                <a:latin typeface="Consolas"/>
                <a:ea typeface="Consolas"/>
                <a:cs typeface="Consolas"/>
              </a:rPr>
              <a:t>}</a:t>
            </a:r>
          </a:p>
          <a:p>
            <a:pPr marL="0" indent="0">
              <a:lnSpc>
                <a:spcPct val="120000"/>
              </a:lnSpc>
              <a:buNone/>
            </a:pPr>
            <a:r>
              <a:rPr sz="1200">
                <a:solidFill>
                  <a:srgbClr val="EDEDED"/>
                </a:solidFill>
                <a:latin typeface="Consolas"/>
                <a:ea typeface="Consolas"/>
                <a:cs typeface="Consolas"/>
              </a:rPr>
              <a:t>message WatchRequest {</a:t>
            </a:r>
          </a:p>
          <a:p>
            <a:pPr marL="0" indent="0">
              <a:lnSpc>
                <a:spcPct val="120000"/>
              </a:lnSpc>
              <a:buNone/>
            </a:pPr>
            <a:r>
              <a:rPr sz="1200">
                <a:solidFill>
                  <a:srgbClr val="EDEDED"/>
                </a:solidFill>
                <a:latin typeface="Consolas"/>
                <a:ea typeface="Consolas"/>
                <a:cs typeface="Consolas"/>
              </a:rPr>
              <a:t>  string target = 1;</a:t>
            </a:r>
          </a:p>
          <a:p>
            <a:pPr marL="0" indent="0">
              <a:lnSpc>
                <a:spcPct val="120000"/>
              </a:lnSpc>
              <a:buNone/>
            </a:pPr>
            <a:r>
              <a:rPr sz="1200">
                <a:solidFill>
                  <a:srgbClr val="EDEDED"/>
                </a:solidFill>
                <a:latin typeface="Consolas"/>
                <a:ea typeface="Consolas"/>
                <a:cs typeface="Consolas"/>
              </a:rPr>
              <a:t>}</a:t>
            </a:r>
          </a:p>
          <a:p>
            <a:pPr marL="0" indent="0">
              <a:lnSpc>
                <a:spcPct val="120000"/>
              </a:lnSpc>
              <a:buNone/>
            </a:pPr>
            <a:r>
              <a:rPr sz="1200">
                <a:solidFill>
                  <a:srgbClr val="EDEDED"/>
                </a:solidFill>
                <a:latin typeface="Consolas"/>
                <a:ea typeface="Consolas"/>
                <a:cs typeface="Consolas"/>
              </a:rPr>
              <a:t>message TrackSnapshot {</a:t>
            </a:r>
          </a:p>
          <a:p>
            <a:pPr marL="0" indent="0">
              <a:lnSpc>
                <a:spcPct val="120000"/>
              </a:lnSpc>
              <a:buNone/>
            </a:pPr>
            <a:r>
              <a:rPr sz="1200">
                <a:solidFill>
                  <a:srgbClr val="EDEDED"/>
                </a:solidFill>
                <a:latin typeface="Consolas"/>
                <a:ea typeface="Consolas"/>
                <a:cs typeface="Consolas"/>
              </a:rPr>
              <a:t>  repeated TrackedShip starships = 1;</a:t>
            </a:r>
          </a:p>
          <a:p>
            <a:pPr marL="0" indent="0">
              <a:lnSpc>
                <a:spcPct val="120000"/>
              </a:lnSpc>
              <a:buNone/>
            </a:pPr>
            <a:r>
              <a:rPr sz="1200">
                <a:solidFill>
                  <a:srgbClr val="EDEDED"/>
                </a:solidFill>
                <a:latin typeface="Consolas"/>
                <a:ea typeface="Consolas"/>
                <a:cs typeface="Consolas"/>
              </a:rPr>
              <a:t>  int32 sequence = 2;</a:t>
            </a:r>
          </a:p>
          <a:p>
            <a:pPr marL="0" indent="0">
              <a:lnSpc>
                <a:spcPct val="120000"/>
              </a:lnSpc>
              <a:buNone/>
            </a:pPr>
            <a:r>
              <a:rPr sz="1200">
                <a:solidFill>
                  <a:srgbClr val="EDEDED"/>
                </a:solidFill>
                <a:latin typeface="Consolas"/>
                <a:ea typeface="Consolas"/>
                <a:cs typeface="Consolas"/>
              </a:rPr>
              <a:t>  string observed_at = 3;</a:t>
            </a:r>
          </a:p>
          <a:p>
            <a:pPr marL="0" indent="0">
              <a:lnSpc>
                <a:spcPct val="120000"/>
              </a:lnSpc>
              <a:buNone/>
            </a:pPr>
            <a:r>
              <a:rPr sz="1200">
                <a:solidFill>
                  <a:srgbClr val="EDEDED"/>
                </a:solidFill>
                <a:latin typeface="Consolas"/>
                <a:ea typeface="Consolas"/>
                <a:cs typeface="Consolas"/>
              </a:rPr>
              <a:t>  FlightState flight = 6;</a:t>
            </a:r>
          </a:p>
          <a:p>
            <a:pPr marL="0" indent="0">
              <a:lnSpc>
                <a:spcPct val="120000"/>
              </a:lnSpc>
              <a:buNone/>
            </a:pPr>
            <a:r>
              <a:rPr sz="1200">
                <a:solidFill>
                  <a:srgbClr val="EDEDED"/>
                </a:solidFill>
                <a:latin typeface="Consolas"/>
                <a:ea typeface="Consolas"/>
                <a:cs typeface="Consolas"/>
              </a:rPr>
              <a:t>}</a:t>
            </a:r>
          </a:p>
        </p:txBody>
      </p:sp>
      <p:sp>
        <p:nvSpPr>
          <p:cNvPr id="15" name="Shape 11">
            <a:extLst>
              <a:ext uri="{FF2B5EF4-FFF2-40B4-BE49-F238E27FC236}">
                <a16:creationId xmlns:a16="http://schemas.microsoft.com/office/drawing/2014/main" id="{DFDA5FD4-B3C0-4BD6-8913-B390A28B5E86}"/>
              </a:ext>
            </a:extLst>
          </p:cNvPr>
          <p:cNvSpPr>
            <a:spLocks noGrp="1"/>
          </p:cNvSpPr>
          <p:nvPr/>
        </p:nvSpPr>
        <p:spPr>
          <a:xfrm>
            <a:off x="6299200" y="21590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433CB626-67F9-44A3-952A-36089FBBA4C6}"/>
              </a:ext>
            </a:extLst>
          </p:cNvPr>
          <p:cNvSpPr>
            <a:spLocks noGrp="1"/>
          </p:cNvSpPr>
          <p:nvPr/>
        </p:nvSpPr>
        <p:spPr>
          <a:xfrm>
            <a:off x="6299200" y="2159000"/>
            <a:ext cx="63500" cy="889000"/>
          </a:xfrm>
          <a:prstGeom prst="rect">
            <a:avLst/>
          </a:prstGeom>
          <a:solidFill>
            <a:srgbClr val="DA1884"/>
          </a:solidFill>
        </p:spPr>
        <p:txBody>
          <a:bodyPr/>
          <a:lstStyle/>
          <a:p>
            <a:endParaRPr/>
          </a:p>
        </p:txBody>
      </p:sp>
      <p:sp>
        <p:nvSpPr>
          <p:cNvPr id="17" name="Text 13">
            <a:extLst>
              <a:ext uri="{FF2B5EF4-FFF2-40B4-BE49-F238E27FC236}">
                <a16:creationId xmlns:a16="http://schemas.microsoft.com/office/drawing/2014/main" id="{253611BF-A7BC-490E-B131-3E8EC7D2838A}"/>
              </a:ext>
            </a:extLst>
          </p:cNvPr>
          <p:cNvSpPr>
            <a:spLocks noGrp="1"/>
          </p:cNvSpPr>
          <p:nvPr/>
        </p:nvSpPr>
        <p:spPr>
          <a:xfrm>
            <a:off x="6527800" y="23114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a:ext uri="{FF2B5EF4-FFF2-40B4-BE49-F238E27FC236}">
                <a16:creationId xmlns:a16="http://schemas.microsoft.com/office/drawing/2014/main" id="{EDC5784D-8C6A-4912-8126-D257537E8A21}"/>
              </a:ext>
            </a:extLst>
          </p:cNvPr>
          <p:cNvSpPr>
            <a:spLocks noGrp="1"/>
          </p:cNvSpPr>
          <p:nvPr/>
        </p:nvSpPr>
        <p:spPr>
          <a:xfrm>
            <a:off x="7035800" y="2311400"/>
            <a:ext cx="4445000" cy="6350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Subscribe once</a:t>
            </a:r>
            <a:endParaRPr sz="1300"/>
          </a:p>
          <a:p>
            <a:pPr marL="0" indent="0">
              <a:lnSpc>
                <a:spcPct val="115000"/>
              </a:lnSpc>
              <a:buNone/>
            </a:pPr>
            <a:r>
              <a:rPr sz="1200">
                <a:solidFill>
                  <a:srgbClr val="333333"/>
                </a:solidFill>
                <a:latin typeface="Arial"/>
                <a:ea typeface="Arial"/>
                <a:cs typeface="Arial"/>
              </a:rPr>
              <a:t>One request starts a server stream; location, pilot and shields change.</a:t>
            </a:r>
            <a:endParaRPr sz="1300"/>
          </a:p>
        </p:txBody>
      </p:sp>
      <p:sp>
        <p:nvSpPr>
          <p:cNvPr id="19" name="Shape 15">
            <a:extLst>
              <a:ext uri="{FF2B5EF4-FFF2-40B4-BE49-F238E27FC236}">
                <a16:creationId xmlns:a16="http://schemas.microsoft.com/office/drawing/2014/main" id="{182A9745-3BAF-4381-BB39-7149DD948477}"/>
              </a:ext>
            </a:extLst>
          </p:cNvPr>
          <p:cNvSpPr>
            <a:spLocks noGrp="1"/>
          </p:cNvSpPr>
          <p:nvPr/>
        </p:nvSpPr>
        <p:spPr>
          <a:xfrm>
            <a:off x="6299200" y="31496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4021188A-8315-4D75-807E-4915091B0A6D}"/>
              </a:ext>
            </a:extLst>
          </p:cNvPr>
          <p:cNvSpPr>
            <a:spLocks noGrp="1"/>
          </p:cNvSpPr>
          <p:nvPr/>
        </p:nvSpPr>
        <p:spPr>
          <a:xfrm>
            <a:off x="6299200" y="3149600"/>
            <a:ext cx="63500" cy="8890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BCB369D9-CF3E-47C1-9AD0-0C0916AB5054}"/>
              </a:ext>
            </a:extLst>
          </p:cNvPr>
          <p:cNvSpPr>
            <a:spLocks noGrp="1"/>
          </p:cNvSpPr>
          <p:nvPr/>
        </p:nvSpPr>
        <p:spPr>
          <a:xfrm>
            <a:off x="6527800" y="33020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a:ext uri="{FF2B5EF4-FFF2-40B4-BE49-F238E27FC236}">
                <a16:creationId xmlns:a16="http://schemas.microsoft.com/office/drawing/2014/main" id="{9F5BD190-E03A-4FDB-8123-53582AAACB91}"/>
              </a:ext>
            </a:extLst>
          </p:cNvPr>
          <p:cNvSpPr>
            <a:spLocks noGrp="1"/>
          </p:cNvSpPr>
          <p:nvPr/>
        </p:nvSpPr>
        <p:spPr>
          <a:xfrm>
            <a:off x="7035800" y="3302000"/>
            <a:ext cx="4445000" cy="635000"/>
          </a:xfrm>
          <a:prstGeom prst="rect">
            <a:avLst/>
          </a:prstGeom>
          <a:noFill/>
        </p:spPr>
        <p:txBody>
          <a:bodyPr wrap="square" lIns="0" tIns="0" rIns="0" bIns="0" anchor="t"/>
          <a:lstStyle/>
          <a:p>
            <a:pPr marL="0" indent="0">
              <a:lnSpc>
                <a:spcPct val="115000"/>
              </a:lnSpc>
              <a:spcAft>
                <a:spcPts val="400"/>
              </a:spcAft>
              <a:buNone/>
            </a:pPr>
            <a:r>
              <a:rPr sz="1300" b="1" dirty="0">
                <a:solidFill>
                  <a:srgbClr val="141414"/>
                </a:solidFill>
                <a:latin typeface="Arial"/>
                <a:ea typeface="Arial"/>
                <a:cs typeface="Arial"/>
              </a:rPr>
              <a:t>Inspectable updates</a:t>
            </a:r>
            <a:endParaRPr sz="1300" dirty="0"/>
          </a:p>
          <a:p>
            <a:pPr marL="0" indent="0">
              <a:lnSpc>
                <a:spcPct val="115000"/>
              </a:lnSpc>
              <a:buNone/>
            </a:pPr>
            <a:r>
              <a:rPr sz="1200" dirty="0">
                <a:solidFill>
                  <a:srgbClr val="333333"/>
                </a:solidFill>
                <a:latin typeface="Arial"/>
                <a:ea typeface="Arial"/>
                <a:cs typeface="Arial"/>
              </a:rPr>
              <a:t>The timeline pairs each Protobuf payload, byte count and arrival time by sequence.</a:t>
            </a:r>
            <a:endParaRPr sz="1300" dirty="0"/>
          </a:p>
        </p:txBody>
      </p:sp>
      <p:sp>
        <p:nvSpPr>
          <p:cNvPr id="23" name="Shape 19">
            <a:extLst>
              <a:ext uri="{FF2B5EF4-FFF2-40B4-BE49-F238E27FC236}">
                <a16:creationId xmlns:a16="http://schemas.microsoft.com/office/drawing/2014/main" id="{06A9C8E7-DC35-4309-BDA6-A40D18142AA2}"/>
              </a:ext>
            </a:extLst>
          </p:cNvPr>
          <p:cNvSpPr>
            <a:spLocks noGrp="1"/>
          </p:cNvSpPr>
          <p:nvPr/>
        </p:nvSpPr>
        <p:spPr>
          <a:xfrm>
            <a:off x="6299200" y="41402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1A87F500-099F-4616-99E7-CAB064F89EA4}"/>
              </a:ext>
            </a:extLst>
          </p:cNvPr>
          <p:cNvSpPr>
            <a:spLocks noGrp="1"/>
          </p:cNvSpPr>
          <p:nvPr/>
        </p:nvSpPr>
        <p:spPr>
          <a:xfrm>
            <a:off x="6299200" y="4140200"/>
            <a:ext cx="63500" cy="8890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0B529FCE-10D4-4096-97A0-34E298E2512F}"/>
              </a:ext>
            </a:extLst>
          </p:cNvPr>
          <p:cNvSpPr>
            <a:spLocks noGrp="1"/>
          </p:cNvSpPr>
          <p:nvPr/>
        </p:nvSpPr>
        <p:spPr>
          <a:xfrm>
            <a:off x="6527800" y="42926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a:ext uri="{FF2B5EF4-FFF2-40B4-BE49-F238E27FC236}">
                <a16:creationId xmlns:a16="http://schemas.microsoft.com/office/drawing/2014/main" id="{9288FD18-062B-420F-93D2-9AD643E65D29}"/>
              </a:ext>
            </a:extLst>
          </p:cNvPr>
          <p:cNvSpPr>
            <a:spLocks noGrp="1"/>
          </p:cNvSpPr>
          <p:nvPr/>
        </p:nvSpPr>
        <p:spPr>
          <a:xfrm>
            <a:off x="7035800" y="4292600"/>
            <a:ext cx="4445000" cy="6350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Bounded and honest</a:t>
            </a:r>
            <a:endParaRPr sz="1300"/>
          </a:p>
          <a:p>
            <a:pPr marL="0" indent="0">
              <a:lnSpc>
                <a:spcPct val="115000"/>
              </a:lnSpc>
              <a:buNone/>
            </a:pPr>
            <a:r>
              <a:rPr sz="1200">
                <a:solidFill>
                  <a:srgbClr val="333333"/>
                </a:solidFill>
                <a:latin typeface="Arial"/>
                <a:ea typeface="Arial"/>
                <a:cs typeface="Arial"/>
              </a:rPr>
              <a:t>A labeled, repeatable simulation. Stop anytime; replay the same flight.</a:t>
            </a:r>
            <a:endParaRPr sz="1300"/>
          </a:p>
        </p:txBody>
      </p:sp>
      <p:sp>
        <p:nvSpPr>
          <p:cNvPr id="27" name="Shape 23">
            <a:extLst>
              <a:ext uri="{FF2B5EF4-FFF2-40B4-BE49-F238E27FC236}">
                <a16:creationId xmlns:a16="http://schemas.microsoft.com/office/drawing/2014/main" id="{C5F3889D-AD5A-4B17-A3E1-D693E96157D2}"/>
              </a:ext>
            </a:extLst>
          </p:cNvPr>
          <p:cNvSpPr>
            <a:spLocks noGrp="1"/>
          </p:cNvSpPr>
          <p:nvPr/>
        </p:nvSpPr>
        <p:spPr>
          <a:xfrm>
            <a:off x="6299200" y="5130800"/>
            <a:ext cx="5384800" cy="787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8" name="Shape 24">
            <a:extLst>
              <a:ext uri="{FF2B5EF4-FFF2-40B4-BE49-F238E27FC236}">
                <a16:creationId xmlns:a16="http://schemas.microsoft.com/office/drawing/2014/main" id="{295F0F0B-81D2-4D70-8456-F84E86B03FA3}"/>
              </a:ext>
            </a:extLst>
          </p:cNvPr>
          <p:cNvSpPr>
            <a:spLocks noGrp="1"/>
          </p:cNvSpPr>
          <p:nvPr/>
        </p:nvSpPr>
        <p:spPr>
          <a:xfrm>
            <a:off x="6299200" y="5130800"/>
            <a:ext cx="76200" cy="787400"/>
          </a:xfrm>
          <a:prstGeom prst="rect">
            <a:avLst/>
          </a:prstGeom>
          <a:solidFill>
            <a:srgbClr val="DA1884"/>
          </a:solidFill>
        </p:spPr>
        <p:txBody>
          <a:bodyPr/>
          <a:lstStyle/>
          <a:p>
            <a:endParaRPr/>
          </a:p>
        </p:txBody>
      </p:sp>
      <p:sp>
        <p:nvSpPr>
          <p:cNvPr id="29" name="Text 25">
            <a:extLst>
              <a:ext uri="{FF2B5EF4-FFF2-40B4-BE49-F238E27FC236}">
                <a16:creationId xmlns:a16="http://schemas.microsoft.com/office/drawing/2014/main" id="{A6F17ADE-F59F-4E2F-814C-6C074FBC01FE}"/>
              </a:ext>
            </a:extLst>
          </p:cNvPr>
          <p:cNvSpPr>
            <a:spLocks noGrp="1"/>
          </p:cNvSpPr>
          <p:nvPr/>
        </p:nvSpPr>
        <p:spPr>
          <a:xfrm>
            <a:off x="6578600" y="5130800"/>
            <a:ext cx="4876800" cy="7874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Try it:  </a:t>
            </a:r>
            <a:r>
              <a:rPr sz="1200">
                <a:solidFill>
                  <a:srgbClr val="141414"/>
                </a:solidFill>
                <a:latin typeface="Arial"/>
                <a:ea typeface="Arial"/>
                <a:cs typeface="Arial"/>
              </a:rPr>
              <a:t>“Track the Millennium Falcon.”</a:t>
            </a:r>
            <a:endParaRPr sz="1200"/>
          </a:p>
        </p:txBody>
      </p:sp>
    </p:spTree>
    <p:extLst>
      <p:ext uri="{BB962C8B-B14F-4D97-AF65-F5344CB8AC3E}">
        <p14:creationId xmlns:p14="http://schemas.microsoft.com/office/powerpoint/2010/main" val="357842699"/>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1C6E5641-7C84-4974-9607-3F6D820B6102}"/>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1C1DBAC5-8D25-45FB-A301-E8020C0F5CB9}"/>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70F2D321-DC4A-454F-AAEE-C9C4B555D151}"/>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THE PROTOCOLS</a:t>
            </a:r>
            <a:endParaRPr sz="1000"/>
          </a:p>
        </p:txBody>
      </p:sp>
      <p:sp>
        <p:nvSpPr>
          <p:cNvPr id="5" name="Text 2">
            <a:extLst>
              <a:ext uri="{FF2B5EF4-FFF2-40B4-BE49-F238E27FC236}">
                <a16:creationId xmlns:a16="http://schemas.microsoft.com/office/drawing/2014/main" id="{9AC6B01A-02FA-40F2-BDC9-535CDBEF661B}"/>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AD9365CB-1177-43A8-B586-EEFF8D44BC16}"/>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14</a:t>
            </a:r>
            <a:endParaRPr sz="900"/>
          </a:p>
        </p:txBody>
      </p:sp>
      <p:sp>
        <p:nvSpPr>
          <p:cNvPr id="7" name="Text 4">
            <a:extLst>
              <a:ext uri="{FF2B5EF4-FFF2-40B4-BE49-F238E27FC236}">
                <a16:creationId xmlns:a16="http://schemas.microsoft.com/office/drawing/2014/main" id="{2068377C-C4E8-4276-AD4D-1A75722EDBAE}"/>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USAGE COMPARISON</a:t>
            </a:r>
            <a:endParaRPr sz="1200"/>
          </a:p>
        </p:txBody>
      </p:sp>
      <p:sp>
        <p:nvSpPr>
          <p:cNvPr id="8" name="Text 5">
            <a:extLst>
              <a:ext uri="{FF2B5EF4-FFF2-40B4-BE49-F238E27FC236}">
                <a16:creationId xmlns:a16="http://schemas.microsoft.com/office/drawing/2014/main" id="{A69CEAFA-A606-4659-B925-CB41616ED355}"/>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Where Each Protocol Came From, and Where It Fits</a:t>
            </a:r>
            <a:endParaRPr sz="3000"/>
          </a:p>
        </p:txBody>
      </p:sp>
      <p:sp>
        <p:nvSpPr>
          <p:cNvPr id="9" name="Text 6">
            <a:extLst>
              <a:ext uri="{FF2B5EF4-FFF2-40B4-BE49-F238E27FC236}">
                <a16:creationId xmlns:a16="http://schemas.microsoft.com/office/drawing/2014/main" id="{6A2682F5-54C9-423E-BEC7-433D176287A9}"/>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Three decades of API design. Each protocol answered the problem of its moment.</a:t>
            </a:r>
            <a:endParaRPr sz="1400"/>
          </a:p>
        </p:txBody>
      </p:sp>
      <p:sp>
        <p:nvSpPr>
          <p:cNvPr id="11" name="Shape 7">
            <a:extLst>
              <a:ext uri="{FF2B5EF4-FFF2-40B4-BE49-F238E27FC236}">
                <a16:creationId xmlns:a16="http://schemas.microsoft.com/office/drawing/2014/main" id="{EA69A30F-51B5-46EB-A1E7-999788C1518E}"/>
              </a:ext>
            </a:extLst>
          </p:cNvPr>
          <p:cNvSpPr>
            <a:spLocks noGrp="1"/>
          </p:cNvSpPr>
          <p:nvPr/>
        </p:nvSpPr>
        <p:spPr>
          <a:xfrm>
            <a:off x="508000" y="2159000"/>
            <a:ext cx="2679700" cy="38100"/>
          </a:xfrm>
          <a:prstGeom prst="rect">
            <a:avLst/>
          </a:prstGeom>
          <a:solidFill>
            <a:srgbClr val="DA1884"/>
          </a:solidFill>
        </p:spPr>
        <p:txBody>
          <a:bodyPr/>
          <a:lstStyle/>
          <a:p>
            <a:endParaRPr/>
          </a:p>
        </p:txBody>
      </p:sp>
      <p:sp>
        <p:nvSpPr>
          <p:cNvPr id="12" name="Text 8">
            <a:extLst>
              <a:ext uri="{FF2B5EF4-FFF2-40B4-BE49-F238E27FC236}">
                <a16:creationId xmlns:a16="http://schemas.microsoft.com/office/drawing/2014/main" id="{02F394B9-8C46-49E4-88E9-FAA3A3CB60FB}"/>
              </a:ext>
            </a:extLst>
          </p:cNvPr>
          <p:cNvSpPr>
            <a:spLocks noGrp="1"/>
          </p:cNvSpPr>
          <p:nvPr/>
        </p:nvSpPr>
        <p:spPr>
          <a:xfrm>
            <a:off x="508000" y="2311400"/>
            <a:ext cx="2679700" cy="292100"/>
          </a:xfrm>
          <a:prstGeom prst="rect">
            <a:avLst/>
          </a:prstGeom>
          <a:noFill/>
        </p:spPr>
        <p:txBody>
          <a:bodyPr wrap="square" lIns="0" tIns="0" rIns="0" bIns="0" anchor="t"/>
          <a:lstStyle/>
          <a:p>
            <a:pPr marL="0" indent="0" algn="l">
              <a:lnSpc>
                <a:spcPct val="110000"/>
              </a:lnSpc>
              <a:buNone/>
            </a:pPr>
            <a:r>
              <a:rPr sz="1800" b="1">
                <a:solidFill>
                  <a:srgbClr val="DA1884"/>
                </a:solidFill>
                <a:latin typeface="Arial"/>
                <a:ea typeface="Arial"/>
                <a:cs typeface="Arial"/>
              </a:rPr>
              <a:t>2000</a:t>
            </a:r>
            <a:endParaRPr sz="1800"/>
          </a:p>
        </p:txBody>
      </p:sp>
      <p:sp>
        <p:nvSpPr>
          <p:cNvPr id="13" name="Text 9">
            <a:extLst>
              <a:ext uri="{FF2B5EF4-FFF2-40B4-BE49-F238E27FC236}">
                <a16:creationId xmlns:a16="http://schemas.microsoft.com/office/drawing/2014/main" id="{385A3AED-1187-4662-BE40-5542A95D750D}"/>
              </a:ext>
            </a:extLst>
          </p:cNvPr>
          <p:cNvSpPr>
            <a:spLocks noGrp="1"/>
          </p:cNvSpPr>
          <p:nvPr/>
        </p:nvSpPr>
        <p:spPr>
          <a:xfrm>
            <a:off x="508000" y="2654300"/>
            <a:ext cx="2540000" cy="444500"/>
          </a:xfrm>
          <a:prstGeom prst="rect">
            <a:avLst/>
          </a:prstGeom>
          <a:noFill/>
        </p:spPr>
        <p:txBody>
          <a:bodyPr wrap="square" lIns="0" tIns="0" rIns="0" bIns="0" anchor="t"/>
          <a:lstStyle/>
          <a:p>
            <a:pPr marL="0" indent="0" algn="l">
              <a:lnSpc>
                <a:spcPct val="120000"/>
              </a:lnSpc>
              <a:buNone/>
            </a:pPr>
            <a:r>
              <a:rPr sz="1200">
                <a:solidFill>
                  <a:srgbClr val="333333"/>
                </a:solidFill>
                <a:latin typeface="Arial"/>
                <a:ea typeface="Arial"/>
                <a:cs typeface="Arial"/>
              </a:rPr>
              <a:t>REST described in Roy Fielding's dissertation</a:t>
            </a:r>
            <a:endParaRPr sz="1200"/>
          </a:p>
        </p:txBody>
      </p:sp>
      <p:sp>
        <p:nvSpPr>
          <p:cNvPr id="14" name="Shape 10">
            <a:extLst>
              <a:ext uri="{FF2B5EF4-FFF2-40B4-BE49-F238E27FC236}">
                <a16:creationId xmlns:a16="http://schemas.microsoft.com/office/drawing/2014/main" id="{B86F59FA-5EA7-437F-993D-B482FAB02D61}"/>
              </a:ext>
            </a:extLst>
          </p:cNvPr>
          <p:cNvSpPr>
            <a:spLocks noGrp="1"/>
          </p:cNvSpPr>
          <p:nvPr/>
        </p:nvSpPr>
        <p:spPr>
          <a:xfrm>
            <a:off x="3340100" y="2159000"/>
            <a:ext cx="2679700" cy="38100"/>
          </a:xfrm>
          <a:prstGeom prst="rect">
            <a:avLst/>
          </a:prstGeom>
          <a:solidFill>
            <a:srgbClr val="DA1884"/>
          </a:solidFill>
        </p:spPr>
        <p:txBody>
          <a:bodyPr/>
          <a:lstStyle/>
          <a:p>
            <a:endParaRPr/>
          </a:p>
        </p:txBody>
      </p:sp>
      <p:sp>
        <p:nvSpPr>
          <p:cNvPr id="15" name="Text 11">
            <a:extLst>
              <a:ext uri="{FF2B5EF4-FFF2-40B4-BE49-F238E27FC236}">
                <a16:creationId xmlns:a16="http://schemas.microsoft.com/office/drawing/2014/main" id="{8C726186-FA68-428E-BFA1-147728A13C02}"/>
              </a:ext>
            </a:extLst>
          </p:cNvPr>
          <p:cNvSpPr>
            <a:spLocks noGrp="1"/>
          </p:cNvSpPr>
          <p:nvPr/>
        </p:nvSpPr>
        <p:spPr>
          <a:xfrm>
            <a:off x="3340100" y="2311400"/>
            <a:ext cx="2679700" cy="292100"/>
          </a:xfrm>
          <a:prstGeom prst="rect">
            <a:avLst/>
          </a:prstGeom>
          <a:noFill/>
        </p:spPr>
        <p:txBody>
          <a:bodyPr wrap="square" lIns="0" tIns="0" rIns="0" bIns="0" anchor="t"/>
          <a:lstStyle/>
          <a:p>
            <a:pPr marL="0" indent="0" algn="l">
              <a:lnSpc>
                <a:spcPct val="110000"/>
              </a:lnSpc>
              <a:buNone/>
            </a:pPr>
            <a:r>
              <a:rPr sz="1800" b="1">
                <a:solidFill>
                  <a:srgbClr val="DA1884"/>
                </a:solidFill>
                <a:latin typeface="Arial"/>
                <a:ea typeface="Arial"/>
                <a:cs typeface="Arial"/>
              </a:rPr>
              <a:t>2012</a:t>
            </a:r>
            <a:endParaRPr sz="1800"/>
          </a:p>
        </p:txBody>
      </p:sp>
      <p:sp>
        <p:nvSpPr>
          <p:cNvPr id="16" name="Text 12">
            <a:extLst>
              <a:ext uri="{FF2B5EF4-FFF2-40B4-BE49-F238E27FC236}">
                <a16:creationId xmlns:a16="http://schemas.microsoft.com/office/drawing/2014/main" id="{FA578879-B195-4E61-98AD-6773DA5FF5F9}"/>
              </a:ext>
            </a:extLst>
          </p:cNvPr>
          <p:cNvSpPr>
            <a:spLocks noGrp="1"/>
          </p:cNvSpPr>
          <p:nvPr/>
        </p:nvSpPr>
        <p:spPr>
          <a:xfrm>
            <a:off x="3340100" y="2654300"/>
            <a:ext cx="2540000" cy="444500"/>
          </a:xfrm>
          <a:prstGeom prst="rect">
            <a:avLst/>
          </a:prstGeom>
          <a:noFill/>
        </p:spPr>
        <p:txBody>
          <a:bodyPr wrap="square" lIns="0" tIns="0" rIns="0" bIns="0" anchor="t"/>
          <a:lstStyle/>
          <a:p>
            <a:pPr marL="0" indent="0" algn="l">
              <a:lnSpc>
                <a:spcPct val="120000"/>
              </a:lnSpc>
              <a:buNone/>
            </a:pPr>
            <a:r>
              <a:rPr sz="1200">
                <a:solidFill>
                  <a:srgbClr val="333333"/>
                </a:solidFill>
                <a:latin typeface="Arial"/>
                <a:ea typeface="Arial"/>
                <a:cs typeface="Arial"/>
              </a:rPr>
              <a:t>GraphQL built inside Facebook for mobile</a:t>
            </a:r>
            <a:endParaRPr sz="1200"/>
          </a:p>
        </p:txBody>
      </p:sp>
      <p:sp>
        <p:nvSpPr>
          <p:cNvPr id="17" name="Shape 13">
            <a:extLst>
              <a:ext uri="{FF2B5EF4-FFF2-40B4-BE49-F238E27FC236}">
                <a16:creationId xmlns:a16="http://schemas.microsoft.com/office/drawing/2014/main" id="{A565A8E3-FB52-4CB0-8A10-994B10FFC77E}"/>
              </a:ext>
            </a:extLst>
          </p:cNvPr>
          <p:cNvSpPr>
            <a:spLocks noGrp="1"/>
          </p:cNvSpPr>
          <p:nvPr/>
        </p:nvSpPr>
        <p:spPr>
          <a:xfrm>
            <a:off x="6172200" y="2159000"/>
            <a:ext cx="2679700" cy="38100"/>
          </a:xfrm>
          <a:prstGeom prst="rect">
            <a:avLst/>
          </a:prstGeom>
          <a:solidFill>
            <a:srgbClr val="DA1884"/>
          </a:solidFill>
        </p:spPr>
        <p:txBody>
          <a:bodyPr/>
          <a:lstStyle/>
          <a:p>
            <a:endParaRPr/>
          </a:p>
        </p:txBody>
      </p:sp>
      <p:sp>
        <p:nvSpPr>
          <p:cNvPr id="18" name="Text 14">
            <a:extLst>
              <a:ext uri="{FF2B5EF4-FFF2-40B4-BE49-F238E27FC236}">
                <a16:creationId xmlns:a16="http://schemas.microsoft.com/office/drawing/2014/main" id="{E961B294-74D5-473E-98C3-DB98D6DBF27F}"/>
              </a:ext>
            </a:extLst>
          </p:cNvPr>
          <p:cNvSpPr>
            <a:spLocks noGrp="1"/>
          </p:cNvSpPr>
          <p:nvPr/>
        </p:nvSpPr>
        <p:spPr>
          <a:xfrm>
            <a:off x="6172200" y="2311400"/>
            <a:ext cx="2679700" cy="292100"/>
          </a:xfrm>
          <a:prstGeom prst="rect">
            <a:avLst/>
          </a:prstGeom>
          <a:noFill/>
        </p:spPr>
        <p:txBody>
          <a:bodyPr wrap="square" lIns="0" tIns="0" rIns="0" bIns="0" anchor="t"/>
          <a:lstStyle/>
          <a:p>
            <a:pPr marL="0" indent="0" algn="l">
              <a:lnSpc>
                <a:spcPct val="110000"/>
              </a:lnSpc>
              <a:buNone/>
            </a:pPr>
            <a:r>
              <a:rPr sz="1800" b="1">
                <a:solidFill>
                  <a:srgbClr val="DA1884"/>
                </a:solidFill>
                <a:latin typeface="Arial"/>
                <a:ea typeface="Arial"/>
                <a:cs typeface="Arial"/>
              </a:rPr>
              <a:t>2015</a:t>
            </a:r>
            <a:endParaRPr sz="1800"/>
          </a:p>
        </p:txBody>
      </p:sp>
      <p:sp>
        <p:nvSpPr>
          <p:cNvPr id="19" name="Text 15">
            <a:extLst>
              <a:ext uri="{FF2B5EF4-FFF2-40B4-BE49-F238E27FC236}">
                <a16:creationId xmlns:a16="http://schemas.microsoft.com/office/drawing/2014/main" id="{26CBF3DA-C6C9-4E2F-99CF-9EF16D9B6DFD}"/>
              </a:ext>
            </a:extLst>
          </p:cNvPr>
          <p:cNvSpPr>
            <a:spLocks noGrp="1"/>
          </p:cNvSpPr>
          <p:nvPr/>
        </p:nvSpPr>
        <p:spPr>
          <a:xfrm>
            <a:off x="6172200" y="2654300"/>
            <a:ext cx="2540000" cy="444500"/>
          </a:xfrm>
          <a:prstGeom prst="rect">
            <a:avLst/>
          </a:prstGeom>
          <a:noFill/>
        </p:spPr>
        <p:txBody>
          <a:bodyPr wrap="square" lIns="0" tIns="0" rIns="0" bIns="0" anchor="t"/>
          <a:lstStyle/>
          <a:p>
            <a:pPr marL="0" indent="0" algn="l">
              <a:lnSpc>
                <a:spcPct val="120000"/>
              </a:lnSpc>
              <a:buNone/>
            </a:pPr>
            <a:r>
              <a:rPr sz="1200" dirty="0">
                <a:solidFill>
                  <a:srgbClr val="333333"/>
                </a:solidFill>
                <a:latin typeface="Arial"/>
                <a:ea typeface="Arial"/>
                <a:cs typeface="Arial"/>
              </a:rPr>
              <a:t>GraphQL spec published; gRPC open-sourced by Google</a:t>
            </a:r>
            <a:endParaRPr sz="1200" dirty="0"/>
          </a:p>
        </p:txBody>
      </p:sp>
      <p:sp>
        <p:nvSpPr>
          <p:cNvPr id="20" name="Shape 16">
            <a:extLst>
              <a:ext uri="{FF2B5EF4-FFF2-40B4-BE49-F238E27FC236}">
                <a16:creationId xmlns:a16="http://schemas.microsoft.com/office/drawing/2014/main" id="{C594A9B4-D15D-40EB-9A55-54C2BE0B14A4}"/>
              </a:ext>
            </a:extLst>
          </p:cNvPr>
          <p:cNvSpPr>
            <a:spLocks noGrp="1"/>
          </p:cNvSpPr>
          <p:nvPr/>
        </p:nvSpPr>
        <p:spPr>
          <a:xfrm>
            <a:off x="9004300" y="2159000"/>
            <a:ext cx="2679700" cy="381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A5E3C2D6-4530-440D-82AA-3D423D91E77E}"/>
              </a:ext>
            </a:extLst>
          </p:cNvPr>
          <p:cNvSpPr>
            <a:spLocks noGrp="1"/>
          </p:cNvSpPr>
          <p:nvPr/>
        </p:nvSpPr>
        <p:spPr>
          <a:xfrm>
            <a:off x="9004300" y="2311400"/>
            <a:ext cx="2679700" cy="292100"/>
          </a:xfrm>
          <a:prstGeom prst="rect">
            <a:avLst/>
          </a:prstGeom>
          <a:noFill/>
        </p:spPr>
        <p:txBody>
          <a:bodyPr wrap="square" lIns="0" tIns="0" rIns="0" bIns="0" anchor="t"/>
          <a:lstStyle/>
          <a:p>
            <a:pPr marL="0" indent="0" algn="l">
              <a:lnSpc>
                <a:spcPct val="110000"/>
              </a:lnSpc>
              <a:buNone/>
            </a:pPr>
            <a:r>
              <a:rPr sz="1800" b="1">
                <a:solidFill>
                  <a:srgbClr val="DA1884"/>
                </a:solidFill>
                <a:latin typeface="Arial"/>
                <a:ea typeface="Arial"/>
                <a:cs typeface="Arial"/>
              </a:rPr>
              <a:t>2016</a:t>
            </a:r>
            <a:endParaRPr sz="1800"/>
          </a:p>
        </p:txBody>
      </p:sp>
      <p:sp>
        <p:nvSpPr>
          <p:cNvPr id="22" name="Text 18">
            <a:extLst>
              <a:ext uri="{FF2B5EF4-FFF2-40B4-BE49-F238E27FC236}">
                <a16:creationId xmlns:a16="http://schemas.microsoft.com/office/drawing/2014/main" id="{77D53191-2288-43F2-8372-34C1D77D9376}"/>
              </a:ext>
            </a:extLst>
          </p:cNvPr>
          <p:cNvSpPr>
            <a:spLocks noGrp="1"/>
          </p:cNvSpPr>
          <p:nvPr/>
        </p:nvSpPr>
        <p:spPr>
          <a:xfrm>
            <a:off x="9004300" y="2654300"/>
            <a:ext cx="2540000" cy="444500"/>
          </a:xfrm>
          <a:prstGeom prst="rect">
            <a:avLst/>
          </a:prstGeom>
          <a:noFill/>
        </p:spPr>
        <p:txBody>
          <a:bodyPr wrap="square" lIns="0" tIns="0" rIns="0" bIns="0" anchor="t"/>
          <a:lstStyle/>
          <a:p>
            <a:pPr marL="0" indent="0" algn="l">
              <a:lnSpc>
                <a:spcPct val="120000"/>
              </a:lnSpc>
              <a:buNone/>
            </a:pPr>
            <a:r>
              <a:rPr sz="1200" dirty="0">
                <a:solidFill>
                  <a:srgbClr val="333333"/>
                </a:solidFill>
                <a:latin typeface="Arial"/>
                <a:ea typeface="Arial"/>
                <a:cs typeface="Arial"/>
              </a:rPr>
              <a:t>gRPC 1.0 released; adopted by CNCF in 2017</a:t>
            </a:r>
            <a:endParaRPr sz="1200" dirty="0"/>
          </a:p>
        </p:txBody>
      </p:sp>
      <p:graphicFrame>
        <p:nvGraphicFramePr>
          <p:cNvPr id="10" name="Table 0">
            <a:extLst>
              <a:ext uri="{FF2B5EF4-FFF2-40B4-BE49-F238E27FC236}">
                <a16:creationId xmlns:a16="http://schemas.microsoft.com/office/drawing/2014/main" id="{8C16D335-96A2-47CB-AF8F-001B70309214}"/>
              </a:ext>
            </a:extLst>
          </p:cNvPr>
          <p:cNvGraphicFramePr/>
          <p:nvPr/>
        </p:nvGraphicFramePr>
        <p:xfrm>
          <a:off x="508000" y="3429000"/>
          <a:ext cx="11176000" cy="1930400"/>
        </p:xfrm>
        <a:graphic>
          <a:graphicData uri="http://schemas.openxmlformats.org/drawingml/2006/table">
            <a:tbl>
              <a:tblPr/>
              <a:tblGrid>
                <a:gridCol w="2123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482600">
                <a:tc>
                  <a:txBody>
                    <a:bodyPr/>
                    <a:lstStyle/>
                    <a:p>
                      <a:pPr marL="0" indent="0">
                        <a:buNone/>
                      </a:pP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REST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GraphQL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dirty="0">
                          <a:solidFill>
                            <a:srgbClr val="FFFFFF"/>
                          </a:solidFill>
                          <a:latin typeface="Arial"/>
                          <a:ea typeface="Arial"/>
                          <a:cs typeface="Arial"/>
                        </a:rPr>
                        <a:t>gRPC</a:t>
                      </a:r>
                      <a:endParaRPr sz="1200" dirty="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extLst>
                  <a:ext uri="{0D108BD9-81ED-4DB2-BD59-A6C34878D82A}">
                    <a16:rowId xmlns:a16="http://schemas.microsoft.com/office/drawing/2014/main" val="10000"/>
                  </a:ext>
                </a:extLst>
              </a:tr>
              <a:tr h="482600">
                <a:tc>
                  <a:txBody>
                    <a:bodyPr/>
                    <a:lstStyle/>
                    <a:p>
                      <a:pPr marL="0" indent="0">
                        <a:buNone/>
                      </a:pPr>
                      <a:r>
                        <a:rPr sz="1200" b="1">
                          <a:solidFill>
                            <a:srgbClr val="141414"/>
                          </a:solidFill>
                          <a:latin typeface="Arial"/>
                          <a:ea typeface="Arial"/>
                          <a:cs typeface="Arial"/>
                        </a:rPr>
                        <a:t>Learning curve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Low</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Medium</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Medium: Protobuf and toolchain</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1"/>
                  </a:ext>
                </a:extLst>
              </a:tr>
              <a:tr h="482600">
                <a:tc>
                  <a:txBody>
                    <a:bodyPr/>
                    <a:lstStyle/>
                    <a:p>
                      <a:pPr marL="0" indent="0">
                        <a:buNone/>
                      </a:pPr>
                      <a:r>
                        <a:rPr sz="1200" b="1">
                          <a:solidFill>
                            <a:srgbClr val="141414"/>
                          </a:solidFill>
                          <a:latin typeface="Arial"/>
                          <a:ea typeface="Arial"/>
                          <a:cs typeface="Arial"/>
                        </a:rPr>
                        <a:t>Ecosystem</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Abundant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Mature and growing</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Mature in cloud-native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2"/>
                  </a:ext>
                </a:extLst>
              </a:tr>
              <a:tr h="482600">
                <a:tc>
                  <a:txBody>
                    <a:bodyPr/>
                    <a:lstStyle/>
                    <a:p>
                      <a:pPr marL="0" indent="0">
                        <a:buNone/>
                      </a:pPr>
                      <a:r>
                        <a:rPr sz="1200" b="1">
                          <a:solidFill>
                            <a:srgbClr val="141414"/>
                          </a:solidFill>
                          <a:latin typeface="Arial"/>
                          <a:ea typeface="Arial"/>
                          <a:cs typeface="Arial"/>
                        </a:rPr>
                        <a:t>Typical use cases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Public APIs, identity, legacy integration</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Mobile, BFFs, micro-frontends, multi-tenant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Microservices, IoT, real-time streams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82677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2BBE2181-90CF-40A0-9534-65C6823211A3}"/>
              </a:ext>
            </a:extLst>
          </p:cNvPr>
          <p:cNvPicPr>
            <a:picLocks noChangeAspect="1"/>
          </p:cNvPicPr>
          <p:nvPr/>
        </p:nvPicPr>
        <p:blipFill>
          <a:blip r:embed="rId4"/>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3AC30FC6-E3A9-41D3-BBC0-3E833C165ED8}"/>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531CA7E7-D87C-49B3-BA90-B2ACD3663CBA}"/>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SECTION 03</a:t>
            </a:r>
            <a:endParaRPr sz="1000"/>
          </a:p>
        </p:txBody>
      </p:sp>
      <p:sp>
        <p:nvSpPr>
          <p:cNvPr id="5" name="Text 2">
            <a:extLst>
              <a:ext uri="{FF2B5EF4-FFF2-40B4-BE49-F238E27FC236}">
                <a16:creationId xmlns:a16="http://schemas.microsoft.com/office/drawing/2014/main" id="{9FE413C5-4B55-4C1A-A536-A3DE4825018F}"/>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83A3A293-D935-4631-AA05-F660EEE1336F}"/>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15</a:t>
            </a:r>
            <a:endParaRPr sz="900"/>
          </a:p>
        </p:txBody>
      </p:sp>
      <p:sp>
        <p:nvSpPr>
          <p:cNvPr id="7" name="Text 4">
            <a:extLst>
              <a:ext uri="{FF2B5EF4-FFF2-40B4-BE49-F238E27FC236}">
                <a16:creationId xmlns:a16="http://schemas.microsoft.com/office/drawing/2014/main" id="{6DB3E511-52CE-48E0-B6F7-CE8B032EBC59}"/>
              </a:ext>
            </a:extLst>
          </p:cNvPr>
          <p:cNvSpPr>
            <a:spLocks noGrp="1"/>
          </p:cNvSpPr>
          <p:nvPr/>
        </p:nvSpPr>
        <p:spPr>
          <a:xfrm>
            <a:off x="457200" y="1587500"/>
            <a:ext cx="5080000" cy="1651000"/>
          </a:xfrm>
          <a:prstGeom prst="rect">
            <a:avLst/>
          </a:prstGeom>
          <a:noFill/>
        </p:spPr>
        <p:txBody>
          <a:bodyPr wrap="square" lIns="0" tIns="0" rIns="0" bIns="0" anchor="t"/>
          <a:lstStyle/>
          <a:p>
            <a:pPr marL="0" indent="0" algn="l">
              <a:lnSpc>
                <a:spcPct val="90000"/>
              </a:lnSpc>
              <a:buNone/>
            </a:pPr>
            <a:r>
              <a:rPr sz="12000" b="1">
                <a:solidFill>
                  <a:srgbClr val="DA1884"/>
                </a:solidFill>
                <a:latin typeface="Arial"/>
                <a:ea typeface="Arial"/>
                <a:cs typeface="Arial"/>
              </a:rPr>
              <a:t>03</a:t>
            </a:r>
            <a:endParaRPr sz="12000"/>
          </a:p>
        </p:txBody>
      </p:sp>
      <p:sp>
        <p:nvSpPr>
          <p:cNvPr id="8" name="Text 5">
            <a:extLst>
              <a:ext uri="{FF2B5EF4-FFF2-40B4-BE49-F238E27FC236}">
                <a16:creationId xmlns:a16="http://schemas.microsoft.com/office/drawing/2014/main" id="{5EC281E2-138E-49CC-9EFF-4808FF4B2F06}"/>
              </a:ext>
            </a:extLst>
          </p:cNvPr>
          <p:cNvSpPr>
            <a:spLocks noGrp="1"/>
          </p:cNvSpPr>
          <p:nvPr/>
        </p:nvSpPr>
        <p:spPr>
          <a:xfrm>
            <a:off x="508000" y="3302000"/>
            <a:ext cx="5207000" cy="1320800"/>
          </a:xfrm>
          <a:prstGeom prst="rect">
            <a:avLst/>
          </a:prstGeom>
          <a:noFill/>
        </p:spPr>
        <p:txBody>
          <a:bodyPr wrap="square" lIns="0" tIns="0" rIns="0" bIns="0" anchor="t"/>
          <a:lstStyle/>
          <a:p>
            <a:pPr marL="0" indent="0" algn="l">
              <a:lnSpc>
                <a:spcPct val="100000"/>
              </a:lnSpc>
              <a:buNone/>
            </a:pPr>
            <a:r>
              <a:rPr sz="4400" b="1">
                <a:solidFill>
                  <a:srgbClr val="141414"/>
                </a:solidFill>
                <a:latin typeface="Arial"/>
                <a:ea typeface="Arial"/>
                <a:cs typeface="Arial"/>
              </a:rPr>
              <a:t>Demo &amp; Field Stories</a:t>
            </a:r>
            <a:endParaRPr sz="4400"/>
          </a:p>
        </p:txBody>
      </p:sp>
      <p:sp>
        <p:nvSpPr>
          <p:cNvPr id="9" name="Shape 6">
            <a:extLst>
              <a:ext uri="{FF2B5EF4-FFF2-40B4-BE49-F238E27FC236}">
                <a16:creationId xmlns:a16="http://schemas.microsoft.com/office/drawing/2014/main" id="{8B3FFB3C-11ED-4DA9-86E3-E1B7F85194A6}"/>
              </a:ext>
            </a:extLst>
          </p:cNvPr>
          <p:cNvSpPr>
            <a:spLocks noGrp="1"/>
          </p:cNvSpPr>
          <p:nvPr/>
        </p:nvSpPr>
        <p:spPr>
          <a:xfrm>
            <a:off x="508000" y="4800600"/>
            <a:ext cx="1016000" cy="50800"/>
          </a:xfrm>
          <a:prstGeom prst="rect">
            <a:avLst/>
          </a:prstGeom>
          <a:solidFill>
            <a:srgbClr val="DA1884"/>
          </a:solidFill>
        </p:spPr>
        <p:txBody>
          <a:bodyPr/>
          <a:lstStyle/>
          <a:p>
            <a:endParaRPr/>
          </a:p>
        </p:txBody>
      </p:sp>
      <p:sp>
        <p:nvSpPr>
          <p:cNvPr id="10" name="Text 7">
            <a:extLst>
              <a:ext uri="{FF2B5EF4-FFF2-40B4-BE49-F238E27FC236}">
                <a16:creationId xmlns:a16="http://schemas.microsoft.com/office/drawing/2014/main" id="{162AE712-9355-459F-B6E3-BBCE3F7FF1AF}"/>
              </a:ext>
            </a:extLst>
          </p:cNvPr>
          <p:cNvSpPr>
            <a:spLocks noGrp="1"/>
          </p:cNvSpPr>
          <p:nvPr/>
        </p:nvSpPr>
        <p:spPr>
          <a:xfrm>
            <a:off x="508000" y="5029200"/>
            <a:ext cx="5207000" cy="635000"/>
          </a:xfrm>
          <a:prstGeom prst="rect">
            <a:avLst/>
          </a:prstGeom>
          <a:noFill/>
        </p:spPr>
        <p:txBody>
          <a:bodyPr wrap="square" lIns="0" tIns="0" rIns="0" bIns="0" anchor="t"/>
          <a:lstStyle/>
          <a:p>
            <a:pPr marL="0" indent="0" algn="l">
              <a:lnSpc>
                <a:spcPct val="125000"/>
              </a:lnSpc>
              <a:buNone/>
            </a:pPr>
            <a:r>
              <a:rPr sz="1500">
                <a:solidFill>
                  <a:srgbClr val="6B6B6B"/>
                </a:solidFill>
                <a:latin typeface="Arial"/>
                <a:ea typeface="Arial"/>
                <a:cs typeface="Arial"/>
              </a:rPr>
              <a:t>Protocol Studio live, then where the choice mattered for clients.</a:t>
            </a:r>
            <a:endParaRPr sz="1500"/>
          </a:p>
        </p:txBody>
      </p:sp>
      <p:sp>
        <p:nvSpPr>
          <p:cNvPr id="11" name="Shape 8">
            <a:extLst>
              <a:ext uri="{FF2B5EF4-FFF2-40B4-BE49-F238E27FC236}">
                <a16:creationId xmlns:a16="http://schemas.microsoft.com/office/drawing/2014/main" id="{788DB8FF-FC1F-4367-85BC-52D541CE8182}"/>
              </a:ext>
            </a:extLst>
          </p:cNvPr>
          <p:cNvSpPr>
            <a:spLocks noGrp="1"/>
          </p:cNvSpPr>
          <p:nvPr/>
        </p:nvSpPr>
        <p:spPr>
          <a:xfrm>
            <a:off x="6223000" y="2654300"/>
            <a:ext cx="5461000" cy="2057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9">
            <a:extLst>
              <a:ext uri="{FF2B5EF4-FFF2-40B4-BE49-F238E27FC236}">
                <a16:creationId xmlns:a16="http://schemas.microsoft.com/office/drawing/2014/main" id="{2473AE0D-F8DD-4DC2-877F-C1239F7C1F9A}"/>
              </a:ext>
            </a:extLst>
          </p:cNvPr>
          <p:cNvSpPr>
            <a:spLocks noGrp="1"/>
          </p:cNvSpPr>
          <p:nvPr/>
        </p:nvSpPr>
        <p:spPr>
          <a:xfrm>
            <a:off x="6223000" y="2654300"/>
            <a:ext cx="5461000" cy="50800"/>
          </a:xfrm>
          <a:prstGeom prst="rect">
            <a:avLst/>
          </a:prstGeom>
          <a:solidFill>
            <a:srgbClr val="DA1884"/>
          </a:solidFill>
        </p:spPr>
        <p:txBody>
          <a:bodyPr/>
          <a:lstStyle/>
          <a:p>
            <a:endParaRPr/>
          </a:p>
        </p:txBody>
      </p:sp>
      <p:sp>
        <p:nvSpPr>
          <p:cNvPr id="13" name="Text 10">
            <a:extLst>
              <a:ext uri="{FF2B5EF4-FFF2-40B4-BE49-F238E27FC236}">
                <a16:creationId xmlns:a16="http://schemas.microsoft.com/office/drawing/2014/main" id="{CC7D36DA-C5A0-4BF3-98C8-52D45A3B9B75}"/>
              </a:ext>
            </a:extLst>
          </p:cNvPr>
          <p:cNvSpPr>
            <a:spLocks noGrp="1"/>
          </p:cNvSpPr>
          <p:nvPr/>
        </p:nvSpPr>
        <p:spPr>
          <a:xfrm>
            <a:off x="6477000" y="2882900"/>
            <a:ext cx="4953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IN THIS SECTION</a:t>
            </a:r>
            <a:endParaRPr sz="1200"/>
          </a:p>
        </p:txBody>
      </p:sp>
      <p:sp>
        <p:nvSpPr>
          <p:cNvPr id="14" name="Text 11">
            <a:extLst>
              <a:ext uri="{FF2B5EF4-FFF2-40B4-BE49-F238E27FC236}">
                <a16:creationId xmlns:a16="http://schemas.microsoft.com/office/drawing/2014/main" id="{92944637-8C7F-45B0-9FA7-32213F3A8220}"/>
              </a:ext>
            </a:extLst>
          </p:cNvPr>
          <p:cNvSpPr>
            <a:spLocks noGrp="1"/>
          </p:cNvSpPr>
          <p:nvPr/>
        </p:nvSpPr>
        <p:spPr>
          <a:xfrm>
            <a:off x="6477000" y="32385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Live demo: three questions, three protocols</a:t>
            </a:r>
            <a:endParaRPr sz="1300"/>
          </a:p>
        </p:txBody>
      </p:sp>
      <p:sp>
        <p:nvSpPr>
          <p:cNvPr id="15" name="Text 12">
            <a:extLst>
              <a:ext uri="{FF2B5EF4-FFF2-40B4-BE49-F238E27FC236}">
                <a16:creationId xmlns:a16="http://schemas.microsoft.com/office/drawing/2014/main" id="{3902F1EC-AA3B-4C4D-8152-DD1C8BC80302}"/>
              </a:ext>
            </a:extLst>
          </p:cNvPr>
          <p:cNvSpPr>
            <a:spLocks noGrp="1"/>
          </p:cNvSpPr>
          <p:nvPr/>
        </p:nvSpPr>
        <p:spPr>
          <a:xfrm>
            <a:off x="6477000" y="37211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Large-scale distribution: REST and GraphQL</a:t>
            </a:r>
            <a:endParaRPr sz="1300"/>
          </a:p>
        </p:txBody>
      </p:sp>
      <p:sp>
        <p:nvSpPr>
          <p:cNvPr id="16" name="Text 13">
            <a:extLst>
              <a:ext uri="{FF2B5EF4-FFF2-40B4-BE49-F238E27FC236}">
                <a16:creationId xmlns:a16="http://schemas.microsoft.com/office/drawing/2014/main" id="{37CC10C4-13D4-4BE0-B8CF-833DF44DF858}"/>
              </a:ext>
            </a:extLst>
          </p:cNvPr>
          <p:cNvSpPr>
            <a:spLocks noGrp="1"/>
          </p:cNvSpPr>
          <p:nvPr/>
        </p:nvSpPr>
        <p:spPr>
          <a:xfrm>
            <a:off x="6477000" y="4203700"/>
            <a:ext cx="4953000" cy="406400"/>
          </a:xfrm>
          <a:prstGeom prst="rect">
            <a:avLst/>
          </a:prstGeom>
          <a:noFill/>
        </p:spPr>
        <p:txBody>
          <a:bodyPr wrap="square" lIns="0" tIns="0" rIns="0" bIns="0" anchor="t"/>
          <a:lstStyle/>
          <a:p>
            <a:pPr marL="0" indent="0" algn="l">
              <a:lnSpc>
                <a:spcPct val="115000"/>
              </a:lnSpc>
              <a:buNone/>
            </a:pPr>
            <a:r>
              <a:rPr sz="1300" dirty="0">
                <a:solidFill>
                  <a:srgbClr val="333333"/>
                </a:solidFill>
                <a:latin typeface="Arial"/>
                <a:ea typeface="Arial"/>
                <a:cs typeface="Arial"/>
              </a:rPr>
              <a:t>Global retail coffee: gRPC at the edge</a:t>
            </a:r>
            <a:endParaRPr sz="1300" dirty="0"/>
          </a:p>
        </p:txBody>
      </p:sp>
    </p:spTree>
    <p:extLst>
      <p:ext uri="{BB962C8B-B14F-4D97-AF65-F5344CB8AC3E}">
        <p14:creationId xmlns:p14="http://schemas.microsoft.com/office/powerpoint/2010/main" val="795739552"/>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0AE5F1A3-9511-433D-A88B-AEC019E4CA64}"/>
              </a:ext>
            </a:extLst>
          </p:cNvPr>
          <p:cNvPicPr>
            <a:picLocks noChangeAspect="1"/>
          </p:cNvPicPr>
          <p:nvPr/>
        </p:nvPicPr>
        <p:blipFill>
          <a:blip r:embed="rId4"/>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898B8EEB-F348-4407-A60D-457E8DFCF57D}"/>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10D42B30-5A70-4FFE-90B2-AD27F0D44B1C}"/>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LIVE DEMO</a:t>
            </a:r>
            <a:endParaRPr sz="1000"/>
          </a:p>
        </p:txBody>
      </p:sp>
      <p:sp>
        <p:nvSpPr>
          <p:cNvPr id="5" name="Text 2">
            <a:extLst>
              <a:ext uri="{FF2B5EF4-FFF2-40B4-BE49-F238E27FC236}">
                <a16:creationId xmlns:a16="http://schemas.microsoft.com/office/drawing/2014/main" id="{147463B8-476D-4AB7-9E74-F3317268F031}"/>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2815A659-1EA2-409E-8DEA-61C601F6C49F}"/>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16</a:t>
            </a:r>
            <a:endParaRPr sz="900"/>
          </a:p>
        </p:txBody>
      </p:sp>
      <p:sp>
        <p:nvSpPr>
          <p:cNvPr id="7" name="Text 4">
            <a:extLst>
              <a:ext uri="{FF2B5EF4-FFF2-40B4-BE49-F238E27FC236}">
                <a16:creationId xmlns:a16="http://schemas.microsoft.com/office/drawing/2014/main" id="{8FBF82B2-B04D-407D-AE7B-2C258EF25CA5}"/>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LIVE DEMO</a:t>
            </a:r>
            <a:endParaRPr sz="1200"/>
          </a:p>
        </p:txBody>
      </p:sp>
      <p:sp>
        <p:nvSpPr>
          <p:cNvPr id="8" name="Text 5">
            <a:extLst>
              <a:ext uri="{FF2B5EF4-FFF2-40B4-BE49-F238E27FC236}">
                <a16:creationId xmlns:a16="http://schemas.microsoft.com/office/drawing/2014/main" id="{264CEC44-61D3-445F-A145-9B27A01E7982}"/>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Demo: Let's Get Into the Code</a:t>
            </a:r>
            <a:endParaRPr sz="3000"/>
          </a:p>
        </p:txBody>
      </p:sp>
      <p:sp>
        <p:nvSpPr>
          <p:cNvPr id="9" name="Text 6">
            <a:extLst>
              <a:ext uri="{FF2B5EF4-FFF2-40B4-BE49-F238E27FC236}">
                <a16:creationId xmlns:a16="http://schemas.microsoft.com/office/drawing/2014/main" id="{2D7F2EDD-9F7E-4117-AF05-EA4E21321974}"/>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Ask a question, see the protocol and why it fits, then inspect the real request and response.</a:t>
            </a:r>
            <a:endParaRPr sz="1400"/>
          </a:p>
        </p:txBody>
      </p:sp>
      <p:sp>
        <p:nvSpPr>
          <p:cNvPr id="11" name="Shape 7">
            <a:extLst>
              <a:ext uri="{FF2B5EF4-FFF2-40B4-BE49-F238E27FC236}">
                <a16:creationId xmlns:a16="http://schemas.microsoft.com/office/drawing/2014/main" id="{10749DD9-FB88-4E32-9CC9-D3160DB993C6}"/>
              </a:ext>
            </a:extLst>
          </p:cNvPr>
          <p:cNvSpPr>
            <a:spLocks noGrp="1"/>
          </p:cNvSpPr>
          <p:nvPr/>
        </p:nvSpPr>
        <p:spPr>
          <a:xfrm>
            <a:off x="508000" y="2159000"/>
            <a:ext cx="358775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3FEF5379-B820-4D84-9C2D-C7C38B397771}"/>
              </a:ext>
            </a:extLst>
          </p:cNvPr>
          <p:cNvSpPr>
            <a:spLocks noGrp="1"/>
          </p:cNvSpPr>
          <p:nvPr/>
        </p:nvSpPr>
        <p:spPr>
          <a:xfrm>
            <a:off x="508000" y="2159000"/>
            <a:ext cx="358775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48C9D11A-E77C-4C61-847B-CB7D2277350C}"/>
              </a:ext>
            </a:extLst>
          </p:cNvPr>
          <p:cNvSpPr>
            <a:spLocks noGrp="1"/>
          </p:cNvSpPr>
          <p:nvPr/>
        </p:nvSpPr>
        <p:spPr>
          <a:xfrm>
            <a:off x="736600" y="2387600"/>
            <a:ext cx="3130550" cy="21336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REST · SIMPLE LOOKUP</a:t>
            </a:r>
            <a:endParaRPr sz="1200"/>
          </a:p>
          <a:p>
            <a:pPr marL="0" indent="0">
              <a:lnSpc>
                <a:spcPct val="115000"/>
              </a:lnSpc>
              <a:spcAft>
                <a:spcPts val="800"/>
              </a:spcAft>
              <a:buNone/>
            </a:pPr>
            <a:r>
              <a:rPr sz="1500" b="1">
                <a:solidFill>
                  <a:srgbClr val="141414"/>
                </a:solidFill>
                <a:latin typeface="Arial"/>
                <a:ea typeface="Arial"/>
                <a:cs typeface="Arial"/>
              </a:rPr>
              <a:t>“Tell me about the Millennium Falcon.”</a:t>
            </a:r>
            <a:endParaRPr sz="1200"/>
          </a:p>
          <a:p>
            <a:pPr marL="0" indent="0">
              <a:lnSpc>
                <a:spcPct val="115000"/>
              </a:lnSpc>
              <a:buNone/>
            </a:pPr>
            <a:r>
              <a:rPr sz="1200">
                <a:solidFill>
                  <a:srgbClr val="333333"/>
                </a:solidFill>
                <a:latin typeface="Arial"/>
                <a:ea typeface="Arial"/>
                <a:cs typeface="Arial"/>
              </a:rPr>
              <a:t>Routes to GET /api/catalog/starships/ship:5 and returns a cacheable JSON body.</a:t>
            </a:r>
            <a:endParaRPr sz="1200"/>
          </a:p>
        </p:txBody>
      </p:sp>
      <p:sp>
        <p:nvSpPr>
          <p:cNvPr id="14" name="Shape 10">
            <a:extLst>
              <a:ext uri="{FF2B5EF4-FFF2-40B4-BE49-F238E27FC236}">
                <a16:creationId xmlns:a16="http://schemas.microsoft.com/office/drawing/2014/main" id="{A6914ED6-C2DB-482F-97B1-4B0021D53761}"/>
              </a:ext>
            </a:extLst>
          </p:cNvPr>
          <p:cNvSpPr>
            <a:spLocks noGrp="1"/>
          </p:cNvSpPr>
          <p:nvPr/>
        </p:nvSpPr>
        <p:spPr>
          <a:xfrm>
            <a:off x="4298950" y="2159000"/>
            <a:ext cx="358775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5" name="Shape 11">
            <a:extLst>
              <a:ext uri="{FF2B5EF4-FFF2-40B4-BE49-F238E27FC236}">
                <a16:creationId xmlns:a16="http://schemas.microsoft.com/office/drawing/2014/main" id="{C2684F43-5210-4048-A227-EB5770FBEBAC}"/>
              </a:ext>
            </a:extLst>
          </p:cNvPr>
          <p:cNvSpPr>
            <a:spLocks noGrp="1"/>
          </p:cNvSpPr>
          <p:nvPr/>
        </p:nvSpPr>
        <p:spPr>
          <a:xfrm>
            <a:off x="4298950" y="2159000"/>
            <a:ext cx="3587750" cy="50800"/>
          </a:xfrm>
          <a:prstGeom prst="rect">
            <a:avLst/>
          </a:prstGeom>
          <a:solidFill>
            <a:srgbClr val="DA1884"/>
          </a:solidFill>
        </p:spPr>
        <p:txBody>
          <a:bodyPr/>
          <a:lstStyle/>
          <a:p>
            <a:endParaRPr/>
          </a:p>
        </p:txBody>
      </p:sp>
      <p:sp>
        <p:nvSpPr>
          <p:cNvPr id="16" name="Text 12">
            <a:extLst>
              <a:ext uri="{FF2B5EF4-FFF2-40B4-BE49-F238E27FC236}">
                <a16:creationId xmlns:a16="http://schemas.microsoft.com/office/drawing/2014/main" id="{BBE30D59-2134-4480-86C0-4040FCAE421B}"/>
              </a:ext>
            </a:extLst>
          </p:cNvPr>
          <p:cNvSpPr>
            <a:spLocks noGrp="1"/>
          </p:cNvSpPr>
          <p:nvPr/>
        </p:nvSpPr>
        <p:spPr>
          <a:xfrm>
            <a:off x="4527550" y="2387600"/>
            <a:ext cx="3130550" cy="21336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GRAPHQL · RELATIONSHIPS</a:t>
            </a:r>
            <a:endParaRPr sz="1200"/>
          </a:p>
          <a:p>
            <a:pPr marL="0" indent="0">
              <a:lnSpc>
                <a:spcPct val="115000"/>
              </a:lnSpc>
              <a:spcAft>
                <a:spcPts val="800"/>
              </a:spcAft>
              <a:buNone/>
            </a:pPr>
            <a:r>
              <a:rPr sz="1500" b="1">
                <a:solidFill>
                  <a:srgbClr val="141414"/>
                </a:solidFill>
                <a:latin typeface="Arial"/>
                <a:ea typeface="Arial"/>
                <a:cs typeface="Arial"/>
              </a:rPr>
              <a:t>“Which starships appear in A New Hope, and who is in its cast?”</a:t>
            </a:r>
            <a:endParaRPr sz="1200"/>
          </a:p>
          <a:p>
            <a:pPr marL="0" indent="0">
              <a:lnSpc>
                <a:spcPct val="115000"/>
              </a:lnSpc>
              <a:buNone/>
            </a:pPr>
            <a:r>
              <a:rPr sz="1200">
                <a:solidFill>
                  <a:srgbClr val="333333"/>
                </a:solidFill>
                <a:latin typeface="Arial"/>
                <a:ea typeface="Arial"/>
                <a:cs typeface="Arial"/>
              </a:rPr>
              <a:t>FilmShipsCast returns ship names and the film’s character cast.</a:t>
            </a:r>
            <a:endParaRPr sz="1200"/>
          </a:p>
        </p:txBody>
      </p:sp>
      <p:sp>
        <p:nvSpPr>
          <p:cNvPr id="17" name="Shape 13">
            <a:extLst>
              <a:ext uri="{FF2B5EF4-FFF2-40B4-BE49-F238E27FC236}">
                <a16:creationId xmlns:a16="http://schemas.microsoft.com/office/drawing/2014/main" id="{8347EEE1-46C5-4A61-990E-76F790EB1BA7}"/>
              </a:ext>
            </a:extLst>
          </p:cNvPr>
          <p:cNvSpPr>
            <a:spLocks noGrp="1"/>
          </p:cNvSpPr>
          <p:nvPr/>
        </p:nvSpPr>
        <p:spPr>
          <a:xfrm>
            <a:off x="8089900" y="2159000"/>
            <a:ext cx="358775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8" name="Shape 14">
            <a:extLst>
              <a:ext uri="{FF2B5EF4-FFF2-40B4-BE49-F238E27FC236}">
                <a16:creationId xmlns:a16="http://schemas.microsoft.com/office/drawing/2014/main" id="{68686AB8-0A9A-4794-9A1B-CD552D746C5C}"/>
              </a:ext>
            </a:extLst>
          </p:cNvPr>
          <p:cNvSpPr>
            <a:spLocks noGrp="1"/>
          </p:cNvSpPr>
          <p:nvPr/>
        </p:nvSpPr>
        <p:spPr>
          <a:xfrm>
            <a:off x="8089900" y="2159000"/>
            <a:ext cx="3587750" cy="50800"/>
          </a:xfrm>
          <a:prstGeom prst="rect">
            <a:avLst/>
          </a:prstGeom>
          <a:solidFill>
            <a:srgbClr val="DA1884"/>
          </a:solidFill>
        </p:spPr>
        <p:txBody>
          <a:bodyPr/>
          <a:lstStyle/>
          <a:p>
            <a:endParaRPr/>
          </a:p>
        </p:txBody>
      </p:sp>
      <p:sp>
        <p:nvSpPr>
          <p:cNvPr id="19" name="Text 15">
            <a:extLst>
              <a:ext uri="{FF2B5EF4-FFF2-40B4-BE49-F238E27FC236}">
                <a16:creationId xmlns:a16="http://schemas.microsoft.com/office/drawing/2014/main" id="{6D16009E-5D46-46E8-83E8-1A08067772B5}"/>
              </a:ext>
            </a:extLst>
          </p:cNvPr>
          <p:cNvSpPr>
            <a:spLocks noGrp="1"/>
          </p:cNvSpPr>
          <p:nvPr/>
        </p:nvSpPr>
        <p:spPr>
          <a:xfrm>
            <a:off x="8318500" y="2387600"/>
            <a:ext cx="3130550" cy="2133600"/>
          </a:xfrm>
          <a:prstGeom prst="rect">
            <a:avLst/>
          </a:prstGeom>
          <a:noFill/>
        </p:spPr>
        <p:txBody>
          <a:bodyPr wrap="square" lIns="0" tIns="0" rIns="0" bIns="0" anchor="t"/>
          <a:lstStyle/>
          <a:p>
            <a:pPr marL="0" indent="0">
              <a:lnSpc>
                <a:spcPct val="115000"/>
              </a:lnSpc>
              <a:spcAft>
                <a:spcPts val="800"/>
              </a:spcAft>
              <a:buNone/>
            </a:pPr>
            <a:r>
              <a:rPr sz="1200" b="1" dirty="0">
                <a:solidFill>
                  <a:srgbClr val="DA1884"/>
                </a:solidFill>
                <a:latin typeface="Arial"/>
                <a:ea typeface="Arial"/>
                <a:cs typeface="Arial"/>
              </a:rPr>
              <a:t>GRPC · STREAMING</a:t>
            </a:r>
            <a:endParaRPr sz="1200" dirty="0"/>
          </a:p>
          <a:p>
            <a:pPr marL="0" indent="0">
              <a:lnSpc>
                <a:spcPct val="115000"/>
              </a:lnSpc>
              <a:spcAft>
                <a:spcPts val="800"/>
              </a:spcAft>
              <a:buNone/>
            </a:pPr>
            <a:r>
              <a:rPr sz="1500" b="1" dirty="0">
                <a:solidFill>
                  <a:srgbClr val="141414"/>
                </a:solidFill>
                <a:latin typeface="Arial"/>
                <a:ea typeface="Arial"/>
                <a:cs typeface="Arial"/>
              </a:rPr>
              <a:t>“Track the Millennium Falcon.”</a:t>
            </a:r>
            <a:endParaRPr sz="1200" dirty="0"/>
          </a:p>
          <a:p>
            <a:pPr marL="0" indent="0">
              <a:lnSpc>
                <a:spcPct val="115000"/>
              </a:lnSpc>
              <a:buNone/>
            </a:pPr>
            <a:r>
              <a:rPr sz="1200" dirty="0">
                <a:solidFill>
                  <a:srgbClr val="333333"/>
                </a:solidFill>
                <a:latin typeface="Arial"/>
                <a:ea typeface="Arial"/>
                <a:cs typeface="Arial"/>
              </a:rPr>
              <a:t>One Watch subscription streams a 40-second simulated flight into an updating chat card.</a:t>
            </a:r>
            <a:endParaRPr sz="1200" dirty="0"/>
          </a:p>
        </p:txBody>
      </p:sp>
      <p:sp>
        <p:nvSpPr>
          <p:cNvPr id="20" name="Shape 16">
            <a:extLst>
              <a:ext uri="{FF2B5EF4-FFF2-40B4-BE49-F238E27FC236}">
                <a16:creationId xmlns:a16="http://schemas.microsoft.com/office/drawing/2014/main" id="{4C6FA401-4D21-4D52-8897-90C5FB8916F5}"/>
              </a:ext>
            </a:extLst>
          </p:cNvPr>
          <p:cNvSpPr>
            <a:spLocks noGrp="1"/>
          </p:cNvSpPr>
          <p:nvPr/>
        </p:nvSpPr>
        <p:spPr>
          <a:xfrm>
            <a:off x="508000" y="4927600"/>
            <a:ext cx="5486400" cy="1168400"/>
          </a:xfrm>
          <a:prstGeom prst="rect">
            <a:avLst/>
          </a:prstGeom>
          <a:solidFill>
            <a:srgbClr val="1B1B1F"/>
          </a:solidFill>
          <a:effectLst>
            <a:outerShdw blurRad="50800" dist="25400" dir="5400000" algn="bl" rotWithShape="0">
              <a:srgbClr val="000000">
                <a:alpha val="18000"/>
              </a:srgbClr>
            </a:outerShdw>
          </a:effectLst>
        </p:spPr>
        <p:txBody>
          <a:bodyPr/>
          <a:lstStyle/>
          <a:p>
            <a:endParaRPr/>
          </a:p>
        </p:txBody>
      </p:sp>
      <p:sp>
        <p:nvSpPr>
          <p:cNvPr id="21" name="Shape 17">
            <a:extLst>
              <a:ext uri="{FF2B5EF4-FFF2-40B4-BE49-F238E27FC236}">
                <a16:creationId xmlns:a16="http://schemas.microsoft.com/office/drawing/2014/main" id="{3C876CED-FDD0-4490-9F43-FDF11B580AA9}"/>
              </a:ext>
            </a:extLst>
          </p:cNvPr>
          <p:cNvSpPr>
            <a:spLocks noGrp="1"/>
          </p:cNvSpPr>
          <p:nvPr/>
        </p:nvSpPr>
        <p:spPr>
          <a:xfrm>
            <a:off x="508000" y="4927600"/>
            <a:ext cx="5486400" cy="355600"/>
          </a:xfrm>
          <a:prstGeom prst="rect">
            <a:avLst/>
          </a:prstGeom>
          <a:solidFill>
            <a:srgbClr val="DA1884"/>
          </a:solidFill>
        </p:spPr>
        <p:txBody>
          <a:bodyPr/>
          <a:lstStyle/>
          <a:p>
            <a:endParaRPr/>
          </a:p>
        </p:txBody>
      </p:sp>
      <p:sp>
        <p:nvSpPr>
          <p:cNvPr id="22" name="Text 18">
            <a:extLst>
              <a:ext uri="{FF2B5EF4-FFF2-40B4-BE49-F238E27FC236}">
                <a16:creationId xmlns:a16="http://schemas.microsoft.com/office/drawing/2014/main" id="{8E2ACC18-9C87-43C3-BE16-6E8588C91920}"/>
              </a:ext>
            </a:extLst>
          </p:cNvPr>
          <p:cNvSpPr>
            <a:spLocks noGrp="1"/>
          </p:cNvSpPr>
          <p:nvPr/>
        </p:nvSpPr>
        <p:spPr>
          <a:xfrm>
            <a:off x="711200" y="4927600"/>
            <a:ext cx="5080000" cy="355600"/>
          </a:xfrm>
          <a:prstGeom prst="rect">
            <a:avLst/>
          </a:prstGeom>
          <a:noFill/>
        </p:spPr>
        <p:txBody>
          <a:bodyPr wrap="square" lIns="0" tIns="0" rIns="0" bIns="0" anchor="ctr"/>
          <a:lstStyle/>
          <a:p>
            <a:pPr marL="0" indent="0" algn="l">
              <a:lnSpc>
                <a:spcPct val="110000"/>
              </a:lnSpc>
              <a:buNone/>
            </a:pPr>
            <a:r>
              <a:rPr sz="1200" b="1">
                <a:solidFill>
                  <a:srgbClr val="FFFFFF"/>
                </a:solidFill>
                <a:latin typeface="Arial"/>
                <a:ea typeface="Arial"/>
                <a:cs typeface="Arial"/>
              </a:rPr>
              <a:t>RUN IT</a:t>
            </a:r>
            <a:endParaRPr sz="1200"/>
          </a:p>
        </p:txBody>
      </p:sp>
      <p:sp>
        <p:nvSpPr>
          <p:cNvPr id="23" name="Text 19">
            <a:extLst>
              <a:ext uri="{FF2B5EF4-FFF2-40B4-BE49-F238E27FC236}">
                <a16:creationId xmlns:a16="http://schemas.microsoft.com/office/drawing/2014/main" id="{CD9B6A3B-1FDE-4785-A362-59F08B430C2F}"/>
              </a:ext>
            </a:extLst>
          </p:cNvPr>
          <p:cNvSpPr>
            <a:spLocks noGrp="1"/>
          </p:cNvSpPr>
          <p:nvPr/>
        </p:nvSpPr>
        <p:spPr>
          <a:xfrm>
            <a:off x="711200" y="5435600"/>
            <a:ext cx="5080000" cy="508000"/>
          </a:xfrm>
          <a:prstGeom prst="rect">
            <a:avLst/>
          </a:prstGeom>
          <a:noFill/>
        </p:spPr>
        <p:txBody>
          <a:bodyPr wrap="square" lIns="0" tIns="0" rIns="0" bIns="0" anchor="t"/>
          <a:lstStyle/>
          <a:p>
            <a:pPr marL="0" indent="0">
              <a:lnSpc>
                <a:spcPct val="120000"/>
              </a:lnSpc>
              <a:buNone/>
            </a:pPr>
            <a:r>
              <a:rPr sz="1200">
                <a:solidFill>
                  <a:srgbClr val="EDEDED"/>
                </a:solidFill>
                <a:latin typeface="Consolas"/>
                <a:ea typeface="Consolas"/>
                <a:cs typeface="Consolas"/>
              </a:rPr>
              <a:t>docker compose up --build -d</a:t>
            </a:r>
            <a:endParaRPr sz="1200"/>
          </a:p>
          <a:p>
            <a:pPr marL="0" indent="0">
              <a:lnSpc>
                <a:spcPct val="120000"/>
              </a:lnSpc>
              <a:buNone/>
            </a:pPr>
            <a:r>
              <a:rPr sz="1200">
                <a:solidFill>
                  <a:srgbClr val="EDEDED"/>
                </a:solidFill>
                <a:latin typeface="Consolas"/>
                <a:ea typeface="Consolas"/>
                <a:cs typeface="Consolas"/>
              </a:rPr>
              <a:t>open http://localhost:3000</a:t>
            </a:r>
            <a:endParaRPr sz="1200"/>
          </a:p>
        </p:txBody>
      </p:sp>
      <p:sp>
        <p:nvSpPr>
          <p:cNvPr id="24" name="Text 20">
            <a:extLst>
              <a:ext uri="{FF2B5EF4-FFF2-40B4-BE49-F238E27FC236}">
                <a16:creationId xmlns:a16="http://schemas.microsoft.com/office/drawing/2014/main" id="{8DBBE1FF-B8F8-499D-AD9B-0268F8CAE953}"/>
              </a:ext>
            </a:extLst>
          </p:cNvPr>
          <p:cNvSpPr>
            <a:spLocks noGrp="1"/>
          </p:cNvSpPr>
          <p:nvPr/>
        </p:nvSpPr>
        <p:spPr>
          <a:xfrm>
            <a:off x="6400800" y="4953000"/>
            <a:ext cx="52832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BUILT WITH</a:t>
            </a:r>
            <a:endParaRPr sz="1200"/>
          </a:p>
        </p:txBody>
      </p:sp>
      <p:sp>
        <p:nvSpPr>
          <p:cNvPr id="25" name="Text 21">
            <a:extLst>
              <a:ext uri="{FF2B5EF4-FFF2-40B4-BE49-F238E27FC236}">
                <a16:creationId xmlns:a16="http://schemas.microsoft.com/office/drawing/2014/main" id="{696A03C9-81D4-4717-9766-455214C2A1DF}"/>
              </a:ext>
            </a:extLst>
          </p:cNvPr>
          <p:cNvSpPr>
            <a:spLocks noGrp="1"/>
          </p:cNvSpPr>
          <p:nvPr/>
        </p:nvSpPr>
        <p:spPr>
          <a:xfrm>
            <a:off x="6400800" y="5232400"/>
            <a:ext cx="5283200" cy="825500"/>
          </a:xfrm>
          <a:prstGeom prst="rect">
            <a:avLst/>
          </a:prstGeom>
          <a:noFill/>
        </p:spPr>
        <p:txBody>
          <a:bodyPr wrap="square" lIns="0" tIns="0" rIns="0" bIns="0" anchor="t"/>
          <a:lstStyle/>
          <a:p>
            <a:pPr marL="0" indent="0" algn="l">
              <a:lnSpc>
                <a:spcPct val="130000"/>
              </a:lnSpc>
              <a:buNone/>
            </a:pPr>
            <a:r>
              <a:rPr sz="1200" dirty="0">
                <a:solidFill>
                  <a:srgbClr val="333333"/>
                </a:solidFill>
                <a:latin typeface="Arial"/>
                <a:ea typeface="Arial"/>
                <a:cs typeface="Arial"/>
              </a:rPr>
              <a:t>React 19 · TypeScript · assistant-</a:t>
            </a:r>
            <a:r>
              <a:rPr sz="1200" dirty="0" err="1">
                <a:solidFill>
                  <a:srgbClr val="333333"/>
                </a:solidFill>
                <a:latin typeface="Arial"/>
                <a:ea typeface="Arial"/>
                <a:cs typeface="Arial"/>
              </a:rPr>
              <a:t>ui</a:t>
            </a:r>
            <a:r>
              <a:rPr sz="1200" dirty="0">
                <a:solidFill>
                  <a:srgbClr val="333333"/>
                </a:solidFill>
                <a:latin typeface="Arial"/>
                <a:ea typeface="Arial"/>
                <a:cs typeface="Arial"/>
              </a:rPr>
              <a:t> · </a:t>
            </a:r>
            <a:r>
              <a:rPr sz="1200" dirty="0" err="1">
                <a:solidFill>
                  <a:srgbClr val="333333"/>
                </a:solidFill>
                <a:latin typeface="Arial"/>
                <a:ea typeface="Arial"/>
                <a:cs typeface="Arial"/>
              </a:rPr>
              <a:t>Zustand</a:t>
            </a:r>
            <a:r>
              <a:rPr sz="1200" dirty="0">
                <a:solidFill>
                  <a:srgbClr val="333333"/>
                </a:solidFill>
                <a:latin typeface="Arial"/>
                <a:ea typeface="Arial"/>
                <a:cs typeface="Arial"/>
              </a:rPr>
              <a:t> · Tailwind v4</a:t>
            </a:r>
            <a:endParaRPr sz="1200" dirty="0"/>
          </a:p>
          <a:p>
            <a:pPr marL="0" indent="0" algn="l">
              <a:lnSpc>
                <a:spcPct val="130000"/>
              </a:lnSpc>
              <a:buNone/>
            </a:pPr>
            <a:r>
              <a:rPr sz="1200" dirty="0">
                <a:solidFill>
                  <a:srgbClr val="333333"/>
                </a:solidFill>
                <a:latin typeface="Arial"/>
                <a:ea typeface="Arial"/>
                <a:cs typeface="Arial"/>
              </a:rPr>
              <a:t>Java 25 · Spring Boot 4.1 · Spring for GraphQL · </a:t>
            </a:r>
            <a:r>
              <a:rPr lang="en-US" sz="1200" dirty="0">
                <a:solidFill>
                  <a:srgbClr val="333333"/>
                </a:solidFill>
                <a:latin typeface="Arial"/>
                <a:ea typeface="Arial"/>
                <a:cs typeface="Arial"/>
              </a:rPr>
              <a:t>Spring for gRPC</a:t>
            </a:r>
            <a:endParaRPr sz="1200" dirty="0"/>
          </a:p>
          <a:p>
            <a:pPr marL="0" indent="0" algn="l">
              <a:lnSpc>
                <a:spcPct val="130000"/>
              </a:lnSpc>
              <a:buNone/>
            </a:pPr>
            <a:r>
              <a:rPr sz="1200" dirty="0" err="1">
                <a:solidFill>
                  <a:srgbClr val="333333"/>
                </a:solidFill>
                <a:latin typeface="Arial"/>
                <a:ea typeface="Arial"/>
                <a:cs typeface="Arial"/>
              </a:rPr>
              <a:t>Ollama</a:t>
            </a:r>
            <a:r>
              <a:rPr sz="1200" dirty="0">
                <a:solidFill>
                  <a:srgbClr val="333333"/>
                </a:solidFill>
                <a:latin typeface="Arial"/>
                <a:ea typeface="Arial"/>
                <a:cs typeface="Arial"/>
              </a:rPr>
              <a:t> (local) · </a:t>
            </a:r>
            <a:r>
              <a:rPr sz="1200" dirty="0" err="1">
                <a:solidFill>
                  <a:srgbClr val="333333"/>
                </a:solidFill>
                <a:latin typeface="Arial"/>
                <a:ea typeface="Arial"/>
                <a:cs typeface="Arial"/>
              </a:rPr>
              <a:t>Jev</a:t>
            </a:r>
            <a:r>
              <a:rPr sz="1200" dirty="0">
                <a:solidFill>
                  <a:srgbClr val="333333"/>
                </a:solidFill>
                <a:latin typeface="Arial"/>
                <a:ea typeface="Arial"/>
                <a:cs typeface="Arial"/>
              </a:rPr>
              <a:t> (optional, hosted)</a:t>
            </a:r>
            <a:endParaRPr sz="1200" dirty="0"/>
          </a:p>
        </p:txBody>
      </p:sp>
    </p:spTree>
    <p:extLst>
      <p:ext uri="{BB962C8B-B14F-4D97-AF65-F5344CB8AC3E}">
        <p14:creationId xmlns:p14="http://schemas.microsoft.com/office/powerpoint/2010/main" val="851204439"/>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1A5D3A46-1063-4016-94AE-3573B95ED740}"/>
              </a:ext>
            </a:extLst>
          </p:cNvPr>
          <p:cNvPicPr>
            <a:picLocks noChangeAspect="1"/>
          </p:cNvPicPr>
          <p:nvPr/>
        </p:nvPicPr>
        <p:blipFill>
          <a:blip r:embed="rId4"/>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C04A1DCC-6136-41E5-BB76-86E747372B5A}"/>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AB3F3FA2-ACC4-4E22-8845-205FFB0153E3}"/>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CLIENT STORIES</a:t>
            </a:r>
            <a:endParaRPr sz="1000"/>
          </a:p>
        </p:txBody>
      </p:sp>
      <p:sp>
        <p:nvSpPr>
          <p:cNvPr id="5" name="Text 2">
            <a:extLst>
              <a:ext uri="{FF2B5EF4-FFF2-40B4-BE49-F238E27FC236}">
                <a16:creationId xmlns:a16="http://schemas.microsoft.com/office/drawing/2014/main" id="{A47B9B39-19B6-4694-8124-353EE438937D}"/>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33877B7C-02BD-4C8D-BEF4-FACB4DCA0D4E}"/>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17</a:t>
            </a:r>
            <a:endParaRPr sz="900"/>
          </a:p>
        </p:txBody>
      </p:sp>
      <p:sp>
        <p:nvSpPr>
          <p:cNvPr id="7" name="Text 4">
            <a:extLst>
              <a:ext uri="{FF2B5EF4-FFF2-40B4-BE49-F238E27FC236}">
                <a16:creationId xmlns:a16="http://schemas.microsoft.com/office/drawing/2014/main" id="{07ADE5DC-6BC1-45C4-BFD4-9C98FF85A3DA}"/>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CLIENT STORY · DISTRIBUTION</a:t>
            </a:r>
            <a:endParaRPr sz="1200"/>
          </a:p>
        </p:txBody>
      </p:sp>
      <p:sp>
        <p:nvSpPr>
          <p:cNvPr id="8" name="Text 5">
            <a:extLst>
              <a:ext uri="{FF2B5EF4-FFF2-40B4-BE49-F238E27FC236}">
                <a16:creationId xmlns:a16="http://schemas.microsoft.com/office/drawing/2014/main" id="{2798A8B6-3270-4C88-836C-BC800B1ED58F}"/>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Large-Scale Distribution</a:t>
            </a:r>
            <a:endParaRPr sz="3000"/>
          </a:p>
        </p:txBody>
      </p:sp>
      <p:sp>
        <p:nvSpPr>
          <p:cNvPr id="9" name="Text 6">
            <a:extLst>
              <a:ext uri="{FF2B5EF4-FFF2-40B4-BE49-F238E27FC236}">
                <a16:creationId xmlns:a16="http://schemas.microsoft.com/office/drawing/2014/main" id="{08182AB1-BDF3-4648-977D-659D39B750EC}"/>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An automated material handling systems, equipment and consulting company.</a:t>
            </a:r>
            <a:endParaRPr sz="1400"/>
          </a:p>
        </p:txBody>
      </p:sp>
      <p:sp>
        <p:nvSpPr>
          <p:cNvPr id="11" name="Text 7">
            <a:extLst>
              <a:ext uri="{FF2B5EF4-FFF2-40B4-BE49-F238E27FC236}">
                <a16:creationId xmlns:a16="http://schemas.microsoft.com/office/drawing/2014/main" id="{07167F58-894F-43E3-AE07-42FCD73E4751}"/>
              </a:ext>
            </a:extLst>
          </p:cNvPr>
          <p:cNvSpPr>
            <a:spLocks noGrp="1"/>
          </p:cNvSpPr>
          <p:nvPr/>
        </p:nvSpPr>
        <p:spPr>
          <a:xfrm>
            <a:off x="508000" y="2159000"/>
            <a:ext cx="6731000" cy="571500"/>
          </a:xfrm>
          <a:prstGeom prst="rect">
            <a:avLst/>
          </a:prstGeom>
          <a:noFill/>
        </p:spPr>
        <p:txBody>
          <a:bodyPr wrap="square" lIns="0" tIns="0" rIns="0" bIns="0" anchor="t"/>
          <a:lstStyle/>
          <a:p>
            <a:pPr marL="0" indent="0" algn="l">
              <a:lnSpc>
                <a:spcPct val="120000"/>
              </a:lnSpc>
              <a:buNone/>
            </a:pPr>
            <a:r>
              <a:rPr sz="1500" b="1">
                <a:solidFill>
                  <a:srgbClr val="141414"/>
                </a:solidFill>
                <a:latin typeface="Arial"/>
                <a:ea typeface="Arial"/>
                <a:cs typeface="Arial"/>
              </a:rPr>
              <a:t>The client set out to build the next-generation warehouse execution system.</a:t>
            </a:r>
            <a:endParaRPr sz="1500"/>
          </a:p>
        </p:txBody>
      </p:sp>
      <p:sp>
        <p:nvSpPr>
          <p:cNvPr id="12" name="Shape 8">
            <a:extLst>
              <a:ext uri="{FF2B5EF4-FFF2-40B4-BE49-F238E27FC236}">
                <a16:creationId xmlns:a16="http://schemas.microsoft.com/office/drawing/2014/main" id="{609391BF-24D0-444E-8B11-0525138504B1}"/>
              </a:ext>
            </a:extLst>
          </p:cNvPr>
          <p:cNvSpPr>
            <a:spLocks noGrp="1"/>
          </p:cNvSpPr>
          <p:nvPr/>
        </p:nvSpPr>
        <p:spPr>
          <a:xfrm>
            <a:off x="508000" y="2870200"/>
            <a:ext cx="6731000" cy="2984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3" name="Shape 9">
            <a:extLst>
              <a:ext uri="{FF2B5EF4-FFF2-40B4-BE49-F238E27FC236}">
                <a16:creationId xmlns:a16="http://schemas.microsoft.com/office/drawing/2014/main" id="{67552BF8-E4C7-40F1-AB4F-F7401C64D54A}"/>
              </a:ext>
            </a:extLst>
          </p:cNvPr>
          <p:cNvSpPr>
            <a:spLocks noGrp="1"/>
          </p:cNvSpPr>
          <p:nvPr/>
        </p:nvSpPr>
        <p:spPr>
          <a:xfrm>
            <a:off x="508000" y="2870200"/>
            <a:ext cx="6731000" cy="406400"/>
          </a:xfrm>
          <a:prstGeom prst="rect">
            <a:avLst/>
          </a:prstGeom>
          <a:solidFill>
            <a:srgbClr val="DA1884"/>
          </a:solidFill>
        </p:spPr>
        <p:txBody>
          <a:bodyPr/>
          <a:lstStyle/>
          <a:p>
            <a:endParaRPr/>
          </a:p>
        </p:txBody>
      </p:sp>
      <p:sp>
        <p:nvSpPr>
          <p:cNvPr id="14" name="Text 10">
            <a:extLst>
              <a:ext uri="{FF2B5EF4-FFF2-40B4-BE49-F238E27FC236}">
                <a16:creationId xmlns:a16="http://schemas.microsoft.com/office/drawing/2014/main" id="{6A05C23E-7707-4A32-BB12-120749C5F5F1}"/>
              </a:ext>
            </a:extLst>
          </p:cNvPr>
          <p:cNvSpPr>
            <a:spLocks noGrp="1"/>
          </p:cNvSpPr>
          <p:nvPr/>
        </p:nvSpPr>
        <p:spPr>
          <a:xfrm>
            <a:off x="736600" y="2870200"/>
            <a:ext cx="6273800" cy="406400"/>
          </a:xfrm>
          <a:prstGeom prst="rect">
            <a:avLst/>
          </a:prstGeom>
          <a:noFill/>
        </p:spPr>
        <p:txBody>
          <a:bodyPr wrap="square" lIns="0" tIns="0" rIns="0" bIns="0" anchor="ctr"/>
          <a:lstStyle/>
          <a:p>
            <a:pPr marL="0" indent="0" algn="l">
              <a:lnSpc>
                <a:spcPct val="110000"/>
              </a:lnSpc>
              <a:buNone/>
            </a:pPr>
            <a:r>
              <a:rPr sz="1300" b="1">
                <a:solidFill>
                  <a:srgbClr val="FFFFFF"/>
                </a:solidFill>
                <a:latin typeface="Arial"/>
                <a:ea typeface="Arial"/>
                <a:cs typeface="Arial"/>
              </a:rPr>
              <a:t>The approach</a:t>
            </a:r>
            <a:endParaRPr sz="1300"/>
          </a:p>
        </p:txBody>
      </p:sp>
      <p:sp>
        <p:nvSpPr>
          <p:cNvPr id="15" name="Text 11">
            <a:extLst>
              <a:ext uri="{FF2B5EF4-FFF2-40B4-BE49-F238E27FC236}">
                <a16:creationId xmlns:a16="http://schemas.microsoft.com/office/drawing/2014/main" id="{F5EDD3E5-BE59-4039-8B20-EA85995F9522}"/>
              </a:ext>
            </a:extLst>
          </p:cNvPr>
          <p:cNvSpPr>
            <a:spLocks noGrp="1"/>
          </p:cNvSpPr>
          <p:nvPr/>
        </p:nvSpPr>
        <p:spPr>
          <a:xfrm>
            <a:off x="736600" y="3454400"/>
            <a:ext cx="6273800" cy="22479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Design “Waze for the warehouse” in the public cloud</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Complete automation, which had never been done before</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An industrial IoT solution: sorting, picking and conveyors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A “basecamp to the summit” delivery approach</a:t>
            </a:r>
            <a:endParaRPr sz="1200"/>
          </a:p>
        </p:txBody>
      </p:sp>
      <p:sp>
        <p:nvSpPr>
          <p:cNvPr id="16" name="Shape 12">
            <a:extLst>
              <a:ext uri="{FF2B5EF4-FFF2-40B4-BE49-F238E27FC236}">
                <a16:creationId xmlns:a16="http://schemas.microsoft.com/office/drawing/2014/main" id="{D8FC2B11-CE63-488A-9BE3-DC39AE1BA844}"/>
              </a:ext>
            </a:extLst>
          </p:cNvPr>
          <p:cNvSpPr>
            <a:spLocks noGrp="1"/>
          </p:cNvSpPr>
          <p:nvPr/>
        </p:nvSpPr>
        <p:spPr>
          <a:xfrm>
            <a:off x="7493000" y="2159000"/>
            <a:ext cx="4191000" cy="1778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7" name="Shape 13">
            <a:extLst>
              <a:ext uri="{FF2B5EF4-FFF2-40B4-BE49-F238E27FC236}">
                <a16:creationId xmlns:a16="http://schemas.microsoft.com/office/drawing/2014/main" id="{B0019242-E6F7-4797-AF17-AC5919F4DF9A}"/>
              </a:ext>
            </a:extLst>
          </p:cNvPr>
          <p:cNvSpPr>
            <a:spLocks noGrp="1"/>
          </p:cNvSpPr>
          <p:nvPr/>
        </p:nvSpPr>
        <p:spPr>
          <a:xfrm>
            <a:off x="7493000" y="2159000"/>
            <a:ext cx="4191000" cy="50800"/>
          </a:xfrm>
          <a:prstGeom prst="rect">
            <a:avLst/>
          </a:prstGeom>
          <a:solidFill>
            <a:srgbClr val="DA1884"/>
          </a:solidFill>
        </p:spPr>
        <p:txBody>
          <a:bodyPr/>
          <a:lstStyle/>
          <a:p>
            <a:endParaRPr/>
          </a:p>
        </p:txBody>
      </p:sp>
      <p:sp>
        <p:nvSpPr>
          <p:cNvPr id="18" name="Text 14">
            <a:extLst>
              <a:ext uri="{FF2B5EF4-FFF2-40B4-BE49-F238E27FC236}">
                <a16:creationId xmlns:a16="http://schemas.microsoft.com/office/drawing/2014/main" id="{1204D21C-1CB0-4DBE-B2AC-37FF759EB0E0}"/>
              </a:ext>
            </a:extLst>
          </p:cNvPr>
          <p:cNvSpPr>
            <a:spLocks noGrp="1"/>
          </p:cNvSpPr>
          <p:nvPr/>
        </p:nvSpPr>
        <p:spPr>
          <a:xfrm>
            <a:off x="7721600" y="2387600"/>
            <a:ext cx="3733800" cy="13716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PROTOCOLS IN PLAY</a:t>
            </a:r>
            <a:endParaRPr sz="1200"/>
          </a:p>
          <a:p>
            <a:pPr marL="0" indent="0">
              <a:lnSpc>
                <a:spcPct val="115000"/>
              </a:lnSpc>
              <a:spcAft>
                <a:spcPts val="800"/>
              </a:spcAft>
              <a:buNone/>
            </a:pPr>
            <a:r>
              <a:rPr sz="1500" b="1">
                <a:solidFill>
                  <a:srgbClr val="141414"/>
                </a:solidFill>
                <a:latin typeface="Arial"/>
                <a:ea typeface="Arial"/>
                <a:cs typeface="Arial"/>
              </a:rPr>
              <a:t>REST and GraphQL</a:t>
            </a:r>
            <a:endParaRPr sz="1200"/>
          </a:p>
          <a:p>
            <a:pPr marL="0" indent="0">
              <a:lnSpc>
                <a:spcPct val="115000"/>
              </a:lnSpc>
              <a:buNone/>
            </a:pPr>
            <a:r>
              <a:rPr sz="1200">
                <a:solidFill>
                  <a:srgbClr val="333333"/>
                </a:solidFill>
                <a:latin typeface="Arial"/>
                <a:ea typeface="Arial"/>
                <a:cs typeface="Arial"/>
              </a:rPr>
              <a:t>Microservices and functions expose REST APIs for resources and GraphQL for the connected warehouse view.</a:t>
            </a:r>
            <a:endParaRPr sz="1200"/>
          </a:p>
        </p:txBody>
      </p:sp>
      <p:sp>
        <p:nvSpPr>
          <p:cNvPr id="19" name="Shape 15">
            <a:extLst>
              <a:ext uri="{FF2B5EF4-FFF2-40B4-BE49-F238E27FC236}">
                <a16:creationId xmlns:a16="http://schemas.microsoft.com/office/drawing/2014/main" id="{A79AA854-31B7-4C81-B27C-3F997D780D5B}"/>
              </a:ext>
            </a:extLst>
          </p:cNvPr>
          <p:cNvSpPr>
            <a:spLocks noGrp="1"/>
          </p:cNvSpPr>
          <p:nvPr/>
        </p:nvSpPr>
        <p:spPr>
          <a:xfrm>
            <a:off x="7493000" y="4140200"/>
            <a:ext cx="4191000" cy="1714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BFD3BA41-7F7C-4B5D-AC85-56C2CD93B8EF}"/>
              </a:ext>
            </a:extLst>
          </p:cNvPr>
          <p:cNvSpPr>
            <a:spLocks noGrp="1"/>
          </p:cNvSpPr>
          <p:nvPr/>
        </p:nvSpPr>
        <p:spPr>
          <a:xfrm>
            <a:off x="7493000" y="4140200"/>
            <a:ext cx="4191000" cy="508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463F5FDA-B302-4D3C-84BA-0A9D3FF08135}"/>
              </a:ext>
            </a:extLst>
          </p:cNvPr>
          <p:cNvSpPr>
            <a:spLocks noGrp="1"/>
          </p:cNvSpPr>
          <p:nvPr/>
        </p:nvSpPr>
        <p:spPr>
          <a:xfrm>
            <a:off x="7721600" y="4368800"/>
            <a:ext cx="3733800" cy="1308100"/>
          </a:xfrm>
          <a:prstGeom prst="rect">
            <a:avLst/>
          </a:prstGeom>
          <a:noFill/>
        </p:spPr>
        <p:txBody>
          <a:bodyPr wrap="square" lIns="0" tIns="0" rIns="0" bIns="0" anchor="t"/>
          <a:lstStyle/>
          <a:p>
            <a:pPr marL="0" indent="0">
              <a:lnSpc>
                <a:spcPct val="115000"/>
              </a:lnSpc>
              <a:spcAft>
                <a:spcPts val="800"/>
              </a:spcAft>
              <a:buNone/>
            </a:pPr>
            <a:r>
              <a:rPr sz="1200" b="1" dirty="0">
                <a:solidFill>
                  <a:srgbClr val="DA1884"/>
                </a:solidFill>
                <a:latin typeface="Arial"/>
                <a:ea typeface="Arial"/>
                <a:cs typeface="Arial"/>
              </a:rPr>
              <a:t>WHERE IT IS GOING</a:t>
            </a:r>
            <a:endParaRPr sz="1200" dirty="0"/>
          </a:p>
          <a:p>
            <a:pPr marL="0" indent="0">
              <a:lnSpc>
                <a:spcPct val="115000"/>
              </a:lnSpc>
              <a:spcAft>
                <a:spcPts val="800"/>
              </a:spcAft>
              <a:buNone/>
            </a:pPr>
            <a:r>
              <a:rPr sz="1500" b="1" dirty="0">
                <a:solidFill>
                  <a:srgbClr val="141414"/>
                </a:solidFill>
                <a:latin typeface="Arial"/>
                <a:ea typeface="Arial"/>
                <a:cs typeface="Arial"/>
              </a:rPr>
              <a:t>Project “Jinan”</a:t>
            </a:r>
            <a:endParaRPr sz="1200" dirty="0"/>
          </a:p>
          <a:p>
            <a:pPr marL="0" indent="0">
              <a:lnSpc>
                <a:spcPct val="115000"/>
              </a:lnSpc>
              <a:buNone/>
            </a:pPr>
            <a:r>
              <a:rPr sz="1200" dirty="0">
                <a:solidFill>
                  <a:srgbClr val="333333"/>
                </a:solidFill>
                <a:latin typeface="Arial"/>
                <a:ea typeface="Arial"/>
                <a:cs typeface="Arial"/>
              </a:rPr>
              <a:t>A multi-year engagement to build the next platform. The name means “second son.”</a:t>
            </a:r>
            <a:endParaRPr sz="1200" dirty="0"/>
          </a:p>
        </p:txBody>
      </p:sp>
    </p:spTree>
    <p:extLst>
      <p:ext uri="{BB962C8B-B14F-4D97-AF65-F5344CB8AC3E}">
        <p14:creationId xmlns:p14="http://schemas.microsoft.com/office/powerpoint/2010/main" val="1259066661"/>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8FD138D2-2213-49DF-B787-FCF1A74F6FE0}"/>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AA7A2EFB-00C8-449F-97E0-88192C7F973B}"/>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6FBF1ED1-F6EF-4D47-B5B1-B6479939273C}"/>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CLIENT STORIES</a:t>
            </a:r>
            <a:endParaRPr sz="1000"/>
          </a:p>
        </p:txBody>
      </p:sp>
      <p:sp>
        <p:nvSpPr>
          <p:cNvPr id="5" name="Text 2">
            <a:extLst>
              <a:ext uri="{FF2B5EF4-FFF2-40B4-BE49-F238E27FC236}">
                <a16:creationId xmlns:a16="http://schemas.microsoft.com/office/drawing/2014/main" id="{7D75A38D-5899-40E3-B1FF-485904DA8080}"/>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6ED08289-F49E-4FF7-8D37-0817AD5370DE}"/>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18</a:t>
            </a:r>
            <a:endParaRPr sz="900"/>
          </a:p>
        </p:txBody>
      </p:sp>
      <p:sp>
        <p:nvSpPr>
          <p:cNvPr id="7" name="Text 4">
            <a:extLst>
              <a:ext uri="{FF2B5EF4-FFF2-40B4-BE49-F238E27FC236}">
                <a16:creationId xmlns:a16="http://schemas.microsoft.com/office/drawing/2014/main" id="{83CD959F-F07C-4AE6-A601-4EE4C9CC948C}"/>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CLIENT STORY · RETAIL</a:t>
            </a:r>
            <a:endParaRPr sz="1200"/>
          </a:p>
        </p:txBody>
      </p:sp>
      <p:sp>
        <p:nvSpPr>
          <p:cNvPr id="8" name="Text 5">
            <a:extLst>
              <a:ext uri="{FF2B5EF4-FFF2-40B4-BE49-F238E27FC236}">
                <a16:creationId xmlns:a16="http://schemas.microsoft.com/office/drawing/2014/main" id="{3B2C672A-A9FE-4482-AE15-95B0777601AD}"/>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Global Retail Coffee Manufacturer</a:t>
            </a:r>
            <a:endParaRPr sz="3000"/>
          </a:p>
        </p:txBody>
      </p:sp>
      <p:sp>
        <p:nvSpPr>
          <p:cNvPr id="9" name="Text 6">
            <a:extLst>
              <a:ext uri="{FF2B5EF4-FFF2-40B4-BE49-F238E27FC236}">
                <a16:creationId xmlns:a16="http://schemas.microsoft.com/office/drawing/2014/main" id="{300C35A9-4C73-4EF3-ADCF-8BE7D33DC8E0}"/>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Next-generation point of sale and order operations.</a:t>
            </a:r>
            <a:endParaRPr sz="1400"/>
          </a:p>
        </p:txBody>
      </p:sp>
      <p:sp>
        <p:nvSpPr>
          <p:cNvPr id="11" name="Shape 7">
            <a:extLst>
              <a:ext uri="{FF2B5EF4-FFF2-40B4-BE49-F238E27FC236}">
                <a16:creationId xmlns:a16="http://schemas.microsoft.com/office/drawing/2014/main" id="{D956FC87-46F9-4F93-A9BE-143901B6C1A8}"/>
              </a:ext>
            </a:extLst>
          </p:cNvPr>
          <p:cNvSpPr>
            <a:spLocks noGrp="1"/>
          </p:cNvSpPr>
          <p:nvPr/>
        </p:nvSpPr>
        <p:spPr>
          <a:xfrm>
            <a:off x="508000" y="2159000"/>
            <a:ext cx="3429000" cy="1549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6D2FD96E-0F90-4D97-B6B1-449DB00314C4}"/>
              </a:ext>
            </a:extLst>
          </p:cNvPr>
          <p:cNvSpPr>
            <a:spLocks noGrp="1"/>
          </p:cNvSpPr>
          <p:nvPr/>
        </p:nvSpPr>
        <p:spPr>
          <a:xfrm>
            <a:off x="508000" y="2159000"/>
            <a:ext cx="342900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42C0521A-BACD-4E81-BA5A-F1C3DC80D008}"/>
              </a:ext>
            </a:extLst>
          </p:cNvPr>
          <p:cNvSpPr>
            <a:spLocks noGrp="1"/>
          </p:cNvSpPr>
          <p:nvPr/>
        </p:nvSpPr>
        <p:spPr>
          <a:xfrm>
            <a:off x="736600" y="2349500"/>
            <a:ext cx="29718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LOCATIONS</a:t>
            </a:r>
            <a:endParaRPr sz="1200"/>
          </a:p>
        </p:txBody>
      </p:sp>
      <p:sp>
        <p:nvSpPr>
          <p:cNvPr id="14" name="Text 10">
            <a:extLst>
              <a:ext uri="{FF2B5EF4-FFF2-40B4-BE49-F238E27FC236}">
                <a16:creationId xmlns:a16="http://schemas.microsoft.com/office/drawing/2014/main" id="{1E93D0F9-FC2B-4FC9-8AFA-2B29749CE512}"/>
              </a:ext>
            </a:extLst>
          </p:cNvPr>
          <p:cNvSpPr>
            <a:spLocks noGrp="1"/>
          </p:cNvSpPr>
          <p:nvPr/>
        </p:nvSpPr>
        <p:spPr>
          <a:xfrm>
            <a:off x="736600" y="2616200"/>
            <a:ext cx="2971800" cy="635000"/>
          </a:xfrm>
          <a:prstGeom prst="rect">
            <a:avLst/>
          </a:prstGeom>
          <a:noFill/>
        </p:spPr>
        <p:txBody>
          <a:bodyPr wrap="square" lIns="0" tIns="0" rIns="0" bIns="0" anchor="ctr"/>
          <a:lstStyle/>
          <a:p>
            <a:pPr marL="0" indent="0" algn="l">
              <a:lnSpc>
                <a:spcPct val="110000"/>
              </a:lnSpc>
              <a:buNone/>
            </a:pPr>
            <a:r>
              <a:rPr sz="4000" b="1">
                <a:solidFill>
                  <a:srgbClr val="141414"/>
                </a:solidFill>
                <a:latin typeface="Arial"/>
                <a:ea typeface="Arial"/>
                <a:cs typeface="Arial"/>
              </a:rPr>
              <a:t>33k</a:t>
            </a:r>
            <a:endParaRPr sz="4000"/>
          </a:p>
        </p:txBody>
      </p:sp>
      <p:sp>
        <p:nvSpPr>
          <p:cNvPr id="15" name="Text 11">
            <a:extLst>
              <a:ext uri="{FF2B5EF4-FFF2-40B4-BE49-F238E27FC236}">
                <a16:creationId xmlns:a16="http://schemas.microsoft.com/office/drawing/2014/main" id="{29747CE4-BCC1-4AF5-AB13-B305B8137FFB}"/>
              </a:ext>
            </a:extLst>
          </p:cNvPr>
          <p:cNvSpPr>
            <a:spLocks noGrp="1"/>
          </p:cNvSpPr>
          <p:nvPr/>
        </p:nvSpPr>
        <p:spPr>
          <a:xfrm>
            <a:off x="736600" y="3327400"/>
            <a:ext cx="2971800" cy="215900"/>
          </a:xfrm>
          <a:prstGeom prst="rect">
            <a:avLst/>
          </a:prstGeom>
          <a:noFill/>
        </p:spPr>
        <p:txBody>
          <a:bodyPr wrap="square" lIns="0" tIns="0" rIns="0" bIns="0" anchor="t"/>
          <a:lstStyle/>
          <a:p>
            <a:pPr marL="0" indent="0" algn="l">
              <a:lnSpc>
                <a:spcPct val="110000"/>
              </a:lnSpc>
              <a:buNone/>
            </a:pPr>
            <a:r>
              <a:rPr sz="1200">
                <a:solidFill>
                  <a:srgbClr val="6B6B6B"/>
                </a:solidFill>
                <a:latin typeface="Arial"/>
                <a:ea typeface="Arial"/>
                <a:cs typeface="Arial"/>
              </a:rPr>
              <a:t>security and offline operation are key</a:t>
            </a:r>
            <a:endParaRPr sz="1200"/>
          </a:p>
        </p:txBody>
      </p:sp>
      <p:sp>
        <p:nvSpPr>
          <p:cNvPr id="16" name="Shape 12">
            <a:extLst>
              <a:ext uri="{FF2B5EF4-FFF2-40B4-BE49-F238E27FC236}">
                <a16:creationId xmlns:a16="http://schemas.microsoft.com/office/drawing/2014/main" id="{25D11877-1100-4C9F-AA16-AB4A6C6D051C}"/>
              </a:ext>
            </a:extLst>
          </p:cNvPr>
          <p:cNvSpPr>
            <a:spLocks noGrp="1"/>
          </p:cNvSpPr>
          <p:nvPr/>
        </p:nvSpPr>
        <p:spPr>
          <a:xfrm>
            <a:off x="508000" y="3911600"/>
            <a:ext cx="3429000" cy="19431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7" name="Shape 13">
            <a:extLst>
              <a:ext uri="{FF2B5EF4-FFF2-40B4-BE49-F238E27FC236}">
                <a16:creationId xmlns:a16="http://schemas.microsoft.com/office/drawing/2014/main" id="{FB3B89A7-F7B2-4C17-A33B-752E38CAD6A8}"/>
              </a:ext>
            </a:extLst>
          </p:cNvPr>
          <p:cNvSpPr>
            <a:spLocks noGrp="1"/>
          </p:cNvSpPr>
          <p:nvPr/>
        </p:nvSpPr>
        <p:spPr>
          <a:xfrm>
            <a:off x="508000" y="3911600"/>
            <a:ext cx="3429000" cy="50800"/>
          </a:xfrm>
          <a:prstGeom prst="rect">
            <a:avLst/>
          </a:prstGeom>
          <a:solidFill>
            <a:srgbClr val="DA1884"/>
          </a:solidFill>
        </p:spPr>
        <p:txBody>
          <a:bodyPr/>
          <a:lstStyle/>
          <a:p>
            <a:endParaRPr/>
          </a:p>
        </p:txBody>
      </p:sp>
      <p:sp>
        <p:nvSpPr>
          <p:cNvPr id="18" name="Text 14">
            <a:extLst>
              <a:ext uri="{FF2B5EF4-FFF2-40B4-BE49-F238E27FC236}">
                <a16:creationId xmlns:a16="http://schemas.microsoft.com/office/drawing/2014/main" id="{DBE6E971-7734-4EEC-9B82-93FAB6C60A75}"/>
              </a:ext>
            </a:extLst>
          </p:cNvPr>
          <p:cNvSpPr>
            <a:spLocks noGrp="1"/>
          </p:cNvSpPr>
          <p:nvPr/>
        </p:nvSpPr>
        <p:spPr>
          <a:xfrm>
            <a:off x="736600" y="4140200"/>
            <a:ext cx="2971800" cy="15367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WHERE IT IS GOING</a:t>
            </a:r>
            <a:endParaRPr sz="1200"/>
          </a:p>
          <a:p>
            <a:pPr marL="0" indent="0">
              <a:lnSpc>
                <a:spcPct val="115000"/>
              </a:lnSpc>
              <a:spcAft>
                <a:spcPts val="800"/>
              </a:spcAft>
              <a:buNone/>
            </a:pPr>
            <a:r>
              <a:rPr sz="1500" b="1">
                <a:solidFill>
                  <a:srgbClr val="141414"/>
                </a:solidFill>
                <a:latin typeface="Arial"/>
                <a:ea typeface="Arial"/>
                <a:cs typeface="Arial"/>
              </a:rPr>
              <a:t>The drive-thru</a:t>
            </a:r>
            <a:endParaRPr sz="1200"/>
          </a:p>
          <a:p>
            <a:pPr marL="0" indent="0">
              <a:lnSpc>
                <a:spcPct val="115000"/>
              </a:lnSpc>
              <a:buNone/>
            </a:pPr>
            <a:r>
              <a:rPr sz="1200">
                <a:solidFill>
                  <a:srgbClr val="333333"/>
                </a:solidFill>
                <a:latin typeface="Arial"/>
                <a:ea typeface="Arial"/>
                <a:cs typeface="Arial"/>
              </a:rPr>
              <a:t>Now engaged on opportunities to improve drive-thru experiences.</a:t>
            </a:r>
            <a:endParaRPr sz="1200"/>
          </a:p>
        </p:txBody>
      </p:sp>
      <p:sp>
        <p:nvSpPr>
          <p:cNvPr id="19" name="Text 15">
            <a:extLst>
              <a:ext uri="{FF2B5EF4-FFF2-40B4-BE49-F238E27FC236}">
                <a16:creationId xmlns:a16="http://schemas.microsoft.com/office/drawing/2014/main" id="{71AE39DE-0EBE-486F-8ABB-C2BBF81F63CF}"/>
              </a:ext>
            </a:extLst>
          </p:cNvPr>
          <p:cNvSpPr>
            <a:spLocks noGrp="1"/>
          </p:cNvSpPr>
          <p:nvPr/>
        </p:nvSpPr>
        <p:spPr>
          <a:xfrm>
            <a:off x="4191000" y="2159000"/>
            <a:ext cx="7493000" cy="571500"/>
          </a:xfrm>
          <a:prstGeom prst="rect">
            <a:avLst/>
          </a:prstGeom>
          <a:noFill/>
        </p:spPr>
        <p:txBody>
          <a:bodyPr wrap="square" lIns="0" tIns="0" rIns="0" bIns="0" anchor="t"/>
          <a:lstStyle/>
          <a:p>
            <a:pPr marL="0" indent="0" algn="l">
              <a:lnSpc>
                <a:spcPct val="120000"/>
              </a:lnSpc>
              <a:buNone/>
            </a:pPr>
            <a:r>
              <a:rPr sz="1500" b="1">
                <a:solidFill>
                  <a:srgbClr val="141414"/>
                </a:solidFill>
                <a:latin typeface="Arial"/>
                <a:ea typeface="Arial"/>
                <a:cs typeface="Arial"/>
              </a:rPr>
              <a:t>The client set out to build the next-generation POS and ordering system.</a:t>
            </a:r>
            <a:endParaRPr sz="1500"/>
          </a:p>
        </p:txBody>
      </p:sp>
      <p:sp>
        <p:nvSpPr>
          <p:cNvPr id="20" name="Shape 16">
            <a:extLst>
              <a:ext uri="{FF2B5EF4-FFF2-40B4-BE49-F238E27FC236}">
                <a16:creationId xmlns:a16="http://schemas.microsoft.com/office/drawing/2014/main" id="{700E1FB4-1837-4C04-95C3-0347E4C777C7}"/>
              </a:ext>
            </a:extLst>
          </p:cNvPr>
          <p:cNvSpPr>
            <a:spLocks noGrp="1"/>
          </p:cNvSpPr>
          <p:nvPr/>
        </p:nvSpPr>
        <p:spPr>
          <a:xfrm>
            <a:off x="4191000" y="2870200"/>
            <a:ext cx="7493000" cy="2984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1" name="Shape 17">
            <a:extLst>
              <a:ext uri="{FF2B5EF4-FFF2-40B4-BE49-F238E27FC236}">
                <a16:creationId xmlns:a16="http://schemas.microsoft.com/office/drawing/2014/main" id="{2D7FA955-3571-42AA-A14D-C7D85A82EC1D}"/>
              </a:ext>
            </a:extLst>
          </p:cNvPr>
          <p:cNvSpPr>
            <a:spLocks noGrp="1"/>
          </p:cNvSpPr>
          <p:nvPr/>
        </p:nvSpPr>
        <p:spPr>
          <a:xfrm>
            <a:off x="4191000" y="2870200"/>
            <a:ext cx="7493000" cy="406400"/>
          </a:xfrm>
          <a:prstGeom prst="rect">
            <a:avLst/>
          </a:prstGeom>
          <a:solidFill>
            <a:srgbClr val="DA1884"/>
          </a:solidFill>
        </p:spPr>
        <p:txBody>
          <a:bodyPr/>
          <a:lstStyle/>
          <a:p>
            <a:endParaRPr/>
          </a:p>
        </p:txBody>
      </p:sp>
      <p:sp>
        <p:nvSpPr>
          <p:cNvPr id="22" name="Text 18">
            <a:extLst>
              <a:ext uri="{FF2B5EF4-FFF2-40B4-BE49-F238E27FC236}">
                <a16:creationId xmlns:a16="http://schemas.microsoft.com/office/drawing/2014/main" id="{F9C5D286-AFBF-464B-93FF-F6843CD68FD0}"/>
              </a:ext>
            </a:extLst>
          </p:cNvPr>
          <p:cNvSpPr>
            <a:spLocks noGrp="1"/>
          </p:cNvSpPr>
          <p:nvPr/>
        </p:nvSpPr>
        <p:spPr>
          <a:xfrm>
            <a:off x="4419600" y="2870200"/>
            <a:ext cx="7035800" cy="406400"/>
          </a:xfrm>
          <a:prstGeom prst="rect">
            <a:avLst/>
          </a:prstGeom>
          <a:noFill/>
        </p:spPr>
        <p:txBody>
          <a:bodyPr wrap="square" lIns="0" tIns="0" rIns="0" bIns="0" anchor="ctr"/>
          <a:lstStyle/>
          <a:p>
            <a:pPr marL="0" indent="0" algn="l">
              <a:lnSpc>
                <a:spcPct val="110000"/>
              </a:lnSpc>
              <a:buNone/>
            </a:pPr>
            <a:r>
              <a:rPr sz="1300" b="1" dirty="0">
                <a:solidFill>
                  <a:srgbClr val="FFFFFF"/>
                </a:solidFill>
                <a:latin typeface="Arial"/>
                <a:ea typeface="Arial"/>
                <a:cs typeface="Arial"/>
              </a:rPr>
              <a:t>Why gRPC</a:t>
            </a:r>
            <a:endParaRPr sz="1300" dirty="0"/>
          </a:p>
        </p:txBody>
      </p:sp>
      <p:sp>
        <p:nvSpPr>
          <p:cNvPr id="23" name="Text 19">
            <a:extLst>
              <a:ext uri="{FF2B5EF4-FFF2-40B4-BE49-F238E27FC236}">
                <a16:creationId xmlns:a16="http://schemas.microsoft.com/office/drawing/2014/main" id="{C7CDB3C6-457A-40B9-A3F4-4C70C102FB6E}"/>
              </a:ext>
            </a:extLst>
          </p:cNvPr>
          <p:cNvSpPr>
            <a:spLocks noGrp="1"/>
          </p:cNvSpPr>
          <p:nvPr/>
        </p:nvSpPr>
        <p:spPr>
          <a:xfrm>
            <a:off x="4419600" y="3454400"/>
            <a:ext cx="7035800" cy="2247900"/>
          </a:xfrm>
          <a:prstGeom prst="rect">
            <a:avLst/>
          </a:prstGeom>
          <a:noFill/>
        </p:spPr>
        <p:txBody>
          <a:bodyPr wrap="square" lIns="0" tIns="0" rIns="0" bIns="0" anchor="t"/>
          <a:lstStyle/>
          <a:p>
            <a:pPr marL="342900" indent="-342900">
              <a:lnSpc>
                <a:spcPct val="115000"/>
              </a:lnSpc>
              <a:spcAft>
                <a:spcPts val="1000"/>
              </a:spcAft>
              <a:buSzPct val="100000"/>
              <a:buChar char="•"/>
            </a:pPr>
            <a:r>
              <a:rPr sz="1200" dirty="0">
                <a:solidFill>
                  <a:srgbClr val="333333"/>
                </a:solidFill>
                <a:latin typeface="Arial"/>
                <a:ea typeface="Arial"/>
                <a:cs typeface="Arial"/>
              </a:rPr>
              <a:t>Better experiences for both the barista partner and the customer</a:t>
            </a:r>
            <a:endParaRPr sz="1200" dirty="0"/>
          </a:p>
          <a:p>
            <a:pPr marL="342900" indent="-342900">
              <a:lnSpc>
                <a:spcPct val="115000"/>
              </a:lnSpc>
              <a:spcAft>
                <a:spcPts val="1000"/>
              </a:spcAft>
              <a:buSzPct val="100000"/>
              <a:buChar char="•"/>
            </a:pPr>
            <a:r>
              <a:rPr sz="1200" dirty="0">
                <a:solidFill>
                  <a:srgbClr val="333333"/>
                </a:solidFill>
                <a:latin typeface="Arial"/>
                <a:ea typeface="Arial"/>
                <a:cs typeface="Arial"/>
              </a:rPr>
              <a:t>Limited ability to expose endpoints at the store</a:t>
            </a:r>
            <a:endParaRPr sz="1200" dirty="0"/>
          </a:p>
          <a:p>
            <a:pPr marL="342900" indent="-342900">
              <a:lnSpc>
                <a:spcPct val="115000"/>
              </a:lnSpc>
              <a:spcAft>
                <a:spcPts val="1000"/>
              </a:spcAft>
              <a:buSzPct val="100000"/>
              <a:buChar char="•"/>
            </a:pPr>
            <a:r>
              <a:rPr sz="1200" dirty="0">
                <a:solidFill>
                  <a:srgbClr val="333333"/>
                </a:solidFill>
                <a:latin typeface="Arial"/>
                <a:ea typeface="Arial"/>
                <a:cs typeface="Arial"/>
              </a:rPr>
              <a:t>gRPC integration reduces exposure and increases performance</a:t>
            </a:r>
            <a:endParaRPr sz="1200" dirty="0"/>
          </a:p>
          <a:p>
            <a:pPr marL="342900" indent="-342900">
              <a:lnSpc>
                <a:spcPct val="115000"/>
              </a:lnSpc>
              <a:spcAft>
                <a:spcPts val="1000"/>
              </a:spcAft>
              <a:buSzPct val="100000"/>
              <a:buChar char="•"/>
            </a:pPr>
            <a:r>
              <a:rPr sz="1200" dirty="0">
                <a:solidFill>
                  <a:srgbClr val="333333"/>
                </a:solidFill>
                <a:latin typeface="Arial"/>
                <a:ea typeface="Arial"/>
                <a:cs typeface="Arial"/>
              </a:rPr>
              <a:t>Service-based integration built on typed gRPC contracts</a:t>
            </a:r>
            <a:endParaRPr sz="1200" dirty="0"/>
          </a:p>
        </p:txBody>
      </p:sp>
    </p:spTree>
    <p:extLst>
      <p:ext uri="{BB962C8B-B14F-4D97-AF65-F5344CB8AC3E}">
        <p14:creationId xmlns:p14="http://schemas.microsoft.com/office/powerpoint/2010/main" val="515521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D4A8BD36-FB66-4F3B-BCBF-1D65385C3452}"/>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8EA7740E-7E5B-4BF3-945E-85ADBBD1DED7}"/>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14CB29D9-CA60-473C-8AC8-E720D7BEF35B}"/>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CLOSING</a:t>
            </a:r>
            <a:endParaRPr sz="1000"/>
          </a:p>
        </p:txBody>
      </p:sp>
      <p:sp>
        <p:nvSpPr>
          <p:cNvPr id="5" name="Text 2">
            <a:extLst>
              <a:ext uri="{FF2B5EF4-FFF2-40B4-BE49-F238E27FC236}">
                <a16:creationId xmlns:a16="http://schemas.microsoft.com/office/drawing/2014/main" id="{CDC94D25-2F96-4F93-A7AE-614A5A9FAC72}"/>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412EE278-6B9D-4178-BCA6-B693FF8A3523}"/>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19</a:t>
            </a:r>
            <a:endParaRPr sz="900"/>
          </a:p>
        </p:txBody>
      </p:sp>
      <p:sp>
        <p:nvSpPr>
          <p:cNvPr id="7" name="Text 4">
            <a:extLst>
              <a:ext uri="{FF2B5EF4-FFF2-40B4-BE49-F238E27FC236}">
                <a16:creationId xmlns:a16="http://schemas.microsoft.com/office/drawing/2014/main" id="{A09D51C3-9DE9-47AA-BF99-C8A617006382}"/>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WHAT TO TAKE AWAY</a:t>
            </a:r>
            <a:endParaRPr sz="1200"/>
          </a:p>
        </p:txBody>
      </p:sp>
      <p:sp>
        <p:nvSpPr>
          <p:cNvPr id="8" name="Text 5">
            <a:extLst>
              <a:ext uri="{FF2B5EF4-FFF2-40B4-BE49-F238E27FC236}">
                <a16:creationId xmlns:a16="http://schemas.microsoft.com/office/drawing/2014/main" id="{BEA3AF91-F94B-4B4C-AA4F-3571D24D5753}"/>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Three Things to Take Away</a:t>
            </a:r>
            <a:endParaRPr sz="3000"/>
          </a:p>
        </p:txBody>
      </p:sp>
      <p:sp>
        <p:nvSpPr>
          <p:cNvPr id="9" name="Text 6">
            <a:extLst>
              <a:ext uri="{FF2B5EF4-FFF2-40B4-BE49-F238E27FC236}">
                <a16:creationId xmlns:a16="http://schemas.microsoft.com/office/drawing/2014/main" id="{C7FA8C3B-EDDE-49A0-B086-75C2CF7757FE}"/>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Pick the protocol per operation, design the contract first, and measure the whole path.</a:t>
            </a:r>
            <a:endParaRPr sz="1400"/>
          </a:p>
        </p:txBody>
      </p:sp>
      <p:sp>
        <p:nvSpPr>
          <p:cNvPr id="11" name="Shape 7">
            <a:extLst>
              <a:ext uri="{FF2B5EF4-FFF2-40B4-BE49-F238E27FC236}">
                <a16:creationId xmlns:a16="http://schemas.microsoft.com/office/drawing/2014/main" id="{29E12480-4246-4431-9AF9-A42044D463FD}"/>
              </a:ext>
            </a:extLst>
          </p:cNvPr>
          <p:cNvSpPr>
            <a:spLocks noGrp="1"/>
          </p:cNvSpPr>
          <p:nvPr/>
        </p:nvSpPr>
        <p:spPr>
          <a:xfrm>
            <a:off x="508000" y="2159000"/>
            <a:ext cx="3587750" cy="2476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A9B3AB68-0AA7-4A5E-8FD4-C87D9A785368}"/>
              </a:ext>
            </a:extLst>
          </p:cNvPr>
          <p:cNvSpPr>
            <a:spLocks noGrp="1"/>
          </p:cNvSpPr>
          <p:nvPr/>
        </p:nvSpPr>
        <p:spPr>
          <a:xfrm>
            <a:off x="508000" y="2159000"/>
            <a:ext cx="358775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F88B7705-28C2-4799-A9EA-707A0CB530C3}"/>
              </a:ext>
            </a:extLst>
          </p:cNvPr>
          <p:cNvSpPr>
            <a:spLocks noGrp="1"/>
          </p:cNvSpPr>
          <p:nvPr/>
        </p:nvSpPr>
        <p:spPr>
          <a:xfrm>
            <a:off x="736600" y="2387600"/>
            <a:ext cx="3130550" cy="2070100"/>
          </a:xfrm>
          <a:prstGeom prst="rect">
            <a:avLst/>
          </a:prstGeom>
          <a:noFill/>
        </p:spPr>
        <p:txBody>
          <a:bodyPr wrap="square" lIns="0" tIns="0" rIns="0" bIns="0" anchor="t"/>
          <a:lstStyle/>
          <a:p>
            <a:pPr marL="0" indent="0">
              <a:lnSpc>
                <a:spcPct val="115000"/>
              </a:lnSpc>
              <a:spcAft>
                <a:spcPts val="800"/>
              </a:spcAft>
              <a:buNone/>
            </a:pPr>
            <a:r>
              <a:rPr sz="1200" b="1" dirty="0">
                <a:solidFill>
                  <a:srgbClr val="DA1884"/>
                </a:solidFill>
                <a:latin typeface="Arial"/>
                <a:ea typeface="Arial"/>
                <a:cs typeface="Arial"/>
              </a:rPr>
              <a:t>01</a:t>
            </a:r>
            <a:endParaRPr sz="1200" dirty="0"/>
          </a:p>
          <a:p>
            <a:pPr marL="0" indent="0">
              <a:lnSpc>
                <a:spcPct val="115000"/>
              </a:lnSpc>
              <a:spcAft>
                <a:spcPts val="800"/>
              </a:spcAft>
              <a:buNone/>
            </a:pPr>
            <a:r>
              <a:rPr sz="1500" b="1" dirty="0">
                <a:solidFill>
                  <a:srgbClr val="141414"/>
                </a:solidFill>
                <a:latin typeface="Arial"/>
                <a:ea typeface="Arial"/>
                <a:cs typeface="Arial"/>
              </a:rPr>
              <a:t>Choose per operation</a:t>
            </a:r>
            <a:endParaRPr sz="1200" dirty="0"/>
          </a:p>
          <a:p>
            <a:pPr marL="0" indent="0">
              <a:lnSpc>
                <a:spcPct val="115000"/>
              </a:lnSpc>
              <a:buNone/>
            </a:pPr>
            <a:r>
              <a:rPr sz="1200" dirty="0">
                <a:solidFill>
                  <a:srgbClr val="333333"/>
                </a:solidFill>
                <a:latin typeface="Arial"/>
                <a:ea typeface="Arial"/>
                <a:cs typeface="Arial"/>
              </a:rPr>
              <a:t>REST for cacheable resources, GraphQL for related data, and gRPC for streams and service-to-service calls. Most systems use more than one.</a:t>
            </a:r>
            <a:endParaRPr sz="1200" dirty="0"/>
          </a:p>
        </p:txBody>
      </p:sp>
      <p:sp>
        <p:nvSpPr>
          <p:cNvPr id="14" name="Shape 10">
            <a:extLst>
              <a:ext uri="{FF2B5EF4-FFF2-40B4-BE49-F238E27FC236}">
                <a16:creationId xmlns:a16="http://schemas.microsoft.com/office/drawing/2014/main" id="{D9AAAB53-9756-4FB7-95D9-D5B7094132F2}"/>
              </a:ext>
            </a:extLst>
          </p:cNvPr>
          <p:cNvSpPr>
            <a:spLocks noGrp="1"/>
          </p:cNvSpPr>
          <p:nvPr/>
        </p:nvSpPr>
        <p:spPr>
          <a:xfrm>
            <a:off x="4298950" y="2159000"/>
            <a:ext cx="3587750" cy="2476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5" name="Shape 11">
            <a:extLst>
              <a:ext uri="{FF2B5EF4-FFF2-40B4-BE49-F238E27FC236}">
                <a16:creationId xmlns:a16="http://schemas.microsoft.com/office/drawing/2014/main" id="{956362ED-7267-4A53-ACA1-5E30B5775E22}"/>
              </a:ext>
            </a:extLst>
          </p:cNvPr>
          <p:cNvSpPr>
            <a:spLocks noGrp="1"/>
          </p:cNvSpPr>
          <p:nvPr/>
        </p:nvSpPr>
        <p:spPr>
          <a:xfrm>
            <a:off x="4298950" y="2159000"/>
            <a:ext cx="3587750" cy="50800"/>
          </a:xfrm>
          <a:prstGeom prst="rect">
            <a:avLst/>
          </a:prstGeom>
          <a:solidFill>
            <a:srgbClr val="DA1884"/>
          </a:solidFill>
        </p:spPr>
        <p:txBody>
          <a:bodyPr/>
          <a:lstStyle/>
          <a:p>
            <a:endParaRPr/>
          </a:p>
        </p:txBody>
      </p:sp>
      <p:sp>
        <p:nvSpPr>
          <p:cNvPr id="16" name="Text 12">
            <a:extLst>
              <a:ext uri="{FF2B5EF4-FFF2-40B4-BE49-F238E27FC236}">
                <a16:creationId xmlns:a16="http://schemas.microsoft.com/office/drawing/2014/main" id="{D0A1996B-09B7-42D1-AF0E-5BACBCAAD88A}"/>
              </a:ext>
            </a:extLst>
          </p:cNvPr>
          <p:cNvSpPr>
            <a:spLocks noGrp="1"/>
          </p:cNvSpPr>
          <p:nvPr/>
        </p:nvSpPr>
        <p:spPr>
          <a:xfrm>
            <a:off x="4527550" y="2387600"/>
            <a:ext cx="3130550" cy="20701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02</a:t>
            </a:r>
            <a:endParaRPr sz="1200"/>
          </a:p>
          <a:p>
            <a:pPr marL="0" indent="0">
              <a:lnSpc>
                <a:spcPct val="115000"/>
              </a:lnSpc>
              <a:spcAft>
                <a:spcPts val="800"/>
              </a:spcAft>
              <a:buNone/>
            </a:pPr>
            <a:r>
              <a:rPr sz="1500" b="1">
                <a:solidFill>
                  <a:srgbClr val="141414"/>
                </a:solidFill>
                <a:latin typeface="Arial"/>
                <a:ea typeface="Arial"/>
                <a:cs typeface="Arial"/>
              </a:rPr>
              <a:t>Design the contract first</a:t>
            </a:r>
            <a:endParaRPr sz="1200"/>
          </a:p>
          <a:p>
            <a:pPr marL="0" indent="0">
              <a:lnSpc>
                <a:spcPct val="115000"/>
              </a:lnSpc>
              <a:buNone/>
            </a:pPr>
            <a:r>
              <a:rPr sz="1200">
                <a:solidFill>
                  <a:srgbClr val="333333"/>
                </a:solidFill>
                <a:latin typeface="Arial"/>
                <a:ea typeface="Arial"/>
                <a:cs typeface="Arial"/>
              </a:rPr>
              <a:t>OpenAPI, SDL or .proto: the contract outlives any implementation and drives tooling, testing and code generation.</a:t>
            </a:r>
            <a:endParaRPr sz="1200"/>
          </a:p>
        </p:txBody>
      </p:sp>
      <p:sp>
        <p:nvSpPr>
          <p:cNvPr id="17" name="Shape 13">
            <a:extLst>
              <a:ext uri="{FF2B5EF4-FFF2-40B4-BE49-F238E27FC236}">
                <a16:creationId xmlns:a16="http://schemas.microsoft.com/office/drawing/2014/main" id="{CA846D87-142B-4690-9D44-D334A3A18D20}"/>
              </a:ext>
            </a:extLst>
          </p:cNvPr>
          <p:cNvSpPr>
            <a:spLocks noGrp="1"/>
          </p:cNvSpPr>
          <p:nvPr/>
        </p:nvSpPr>
        <p:spPr>
          <a:xfrm>
            <a:off x="8089900" y="2159000"/>
            <a:ext cx="3587750" cy="2476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8" name="Shape 14">
            <a:extLst>
              <a:ext uri="{FF2B5EF4-FFF2-40B4-BE49-F238E27FC236}">
                <a16:creationId xmlns:a16="http://schemas.microsoft.com/office/drawing/2014/main" id="{5BB54F73-55F1-4918-AD7A-79049E9114B6}"/>
              </a:ext>
            </a:extLst>
          </p:cNvPr>
          <p:cNvSpPr>
            <a:spLocks noGrp="1"/>
          </p:cNvSpPr>
          <p:nvPr/>
        </p:nvSpPr>
        <p:spPr>
          <a:xfrm>
            <a:off x="8089900" y="2159000"/>
            <a:ext cx="3587750" cy="50800"/>
          </a:xfrm>
          <a:prstGeom prst="rect">
            <a:avLst/>
          </a:prstGeom>
          <a:solidFill>
            <a:srgbClr val="DA1884"/>
          </a:solidFill>
        </p:spPr>
        <p:txBody>
          <a:bodyPr/>
          <a:lstStyle/>
          <a:p>
            <a:endParaRPr/>
          </a:p>
        </p:txBody>
      </p:sp>
      <p:sp>
        <p:nvSpPr>
          <p:cNvPr id="19" name="Text 15">
            <a:extLst>
              <a:ext uri="{FF2B5EF4-FFF2-40B4-BE49-F238E27FC236}">
                <a16:creationId xmlns:a16="http://schemas.microsoft.com/office/drawing/2014/main" id="{7DDF12DF-D132-465A-8BE5-A7DFECC22726}"/>
              </a:ext>
            </a:extLst>
          </p:cNvPr>
          <p:cNvSpPr>
            <a:spLocks noGrp="1"/>
          </p:cNvSpPr>
          <p:nvPr/>
        </p:nvSpPr>
        <p:spPr>
          <a:xfrm>
            <a:off x="8318500" y="2387600"/>
            <a:ext cx="3130550" cy="20701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03</a:t>
            </a:r>
            <a:endParaRPr sz="1200"/>
          </a:p>
          <a:p>
            <a:pPr marL="0" indent="0">
              <a:lnSpc>
                <a:spcPct val="115000"/>
              </a:lnSpc>
              <a:spcAft>
                <a:spcPts val="800"/>
              </a:spcAft>
              <a:buNone/>
            </a:pPr>
            <a:r>
              <a:rPr sz="1500" b="1">
                <a:solidFill>
                  <a:srgbClr val="141414"/>
                </a:solidFill>
                <a:latin typeface="Arial"/>
                <a:ea typeface="Arial"/>
                <a:cs typeface="Arial"/>
              </a:rPr>
              <a:t>Measure the whole path</a:t>
            </a:r>
            <a:endParaRPr sz="1200"/>
          </a:p>
          <a:p>
            <a:pPr marL="0" indent="0">
              <a:lnSpc>
                <a:spcPct val="115000"/>
              </a:lnSpc>
              <a:buNone/>
            </a:pPr>
            <a:r>
              <a:rPr sz="1200">
                <a:solidFill>
                  <a:srgbClr val="333333"/>
                </a:solidFill>
                <a:latin typeface="Arial"/>
                <a:ea typeface="Arial"/>
                <a:cs typeface="Arial"/>
              </a:rPr>
              <a:t>Round trips, payload size and caching decide real-world latency more than the protocol label does.</a:t>
            </a:r>
            <a:endParaRPr sz="1200"/>
          </a:p>
        </p:txBody>
      </p:sp>
      <p:sp>
        <p:nvSpPr>
          <p:cNvPr id="20" name="Shape 16">
            <a:extLst>
              <a:ext uri="{FF2B5EF4-FFF2-40B4-BE49-F238E27FC236}">
                <a16:creationId xmlns:a16="http://schemas.microsoft.com/office/drawing/2014/main" id="{B84E948B-A010-41ED-AA63-BC1378A6CBCA}"/>
              </a:ext>
            </a:extLst>
          </p:cNvPr>
          <p:cNvSpPr>
            <a:spLocks noGrp="1"/>
          </p:cNvSpPr>
          <p:nvPr/>
        </p:nvSpPr>
        <p:spPr>
          <a:xfrm>
            <a:off x="508000" y="4889500"/>
            <a:ext cx="11176000" cy="1079500"/>
          </a:xfrm>
          <a:prstGeom prst="rect">
            <a:avLst/>
          </a:prstGeom>
          <a:solidFill>
            <a:srgbClr val="DA1884"/>
          </a:solidFill>
          <a:effectLst>
            <a:outerShdw blurRad="50800" dist="25400" dir="5400000" algn="bl" rotWithShape="0">
              <a:srgbClr val="000000">
                <a:alpha val="18000"/>
              </a:srgbClr>
            </a:outerShdw>
          </a:effectLst>
        </p:spPr>
        <p:txBody>
          <a:bodyPr/>
          <a:lstStyle/>
          <a:p>
            <a:endParaRPr/>
          </a:p>
        </p:txBody>
      </p:sp>
      <p:sp>
        <p:nvSpPr>
          <p:cNvPr id="21" name="Text 17">
            <a:extLst>
              <a:ext uri="{FF2B5EF4-FFF2-40B4-BE49-F238E27FC236}">
                <a16:creationId xmlns:a16="http://schemas.microsoft.com/office/drawing/2014/main" id="{C412475B-8D5E-4DC7-B204-221724D9A572}"/>
              </a:ext>
            </a:extLst>
          </p:cNvPr>
          <p:cNvSpPr>
            <a:spLocks noGrp="1"/>
          </p:cNvSpPr>
          <p:nvPr/>
        </p:nvSpPr>
        <p:spPr>
          <a:xfrm>
            <a:off x="787400" y="5080000"/>
            <a:ext cx="10668000" cy="381000"/>
          </a:xfrm>
          <a:prstGeom prst="rect">
            <a:avLst/>
          </a:prstGeom>
          <a:noFill/>
        </p:spPr>
        <p:txBody>
          <a:bodyPr wrap="square" lIns="0" tIns="0" rIns="0" bIns="0" anchor="t"/>
          <a:lstStyle/>
          <a:p>
            <a:pPr marL="0" indent="0" algn="l">
              <a:lnSpc>
                <a:spcPct val="110000"/>
              </a:lnSpc>
              <a:buNone/>
            </a:pPr>
            <a:r>
              <a:rPr sz="1800" b="1">
                <a:solidFill>
                  <a:srgbClr val="FFFFFF"/>
                </a:solidFill>
                <a:latin typeface="Arial"/>
                <a:ea typeface="Arial"/>
                <a:cs typeface="Arial"/>
              </a:rPr>
              <a:t>“Three protocols. One question. The right call, made where you can see it.”</a:t>
            </a:r>
            <a:endParaRPr sz="1800"/>
          </a:p>
        </p:txBody>
      </p:sp>
      <p:sp>
        <p:nvSpPr>
          <p:cNvPr id="22" name="Text 18">
            <a:extLst>
              <a:ext uri="{FF2B5EF4-FFF2-40B4-BE49-F238E27FC236}">
                <a16:creationId xmlns:a16="http://schemas.microsoft.com/office/drawing/2014/main" id="{EA9A4914-E1C1-4A01-B8B3-016377401A20}"/>
              </a:ext>
            </a:extLst>
          </p:cNvPr>
          <p:cNvSpPr>
            <a:spLocks noGrp="1"/>
          </p:cNvSpPr>
          <p:nvPr/>
        </p:nvSpPr>
        <p:spPr>
          <a:xfrm>
            <a:off x="787400" y="5575300"/>
            <a:ext cx="10668000" cy="215900"/>
          </a:xfrm>
          <a:prstGeom prst="rect">
            <a:avLst/>
          </a:prstGeom>
          <a:noFill/>
        </p:spPr>
        <p:txBody>
          <a:bodyPr wrap="square" lIns="0" tIns="0" rIns="0" bIns="0" anchor="t"/>
          <a:lstStyle/>
          <a:p>
            <a:pPr marL="0" indent="0" algn="l">
              <a:lnSpc>
                <a:spcPct val="110000"/>
              </a:lnSpc>
              <a:buNone/>
            </a:pPr>
            <a:r>
              <a:rPr sz="1200" dirty="0">
                <a:solidFill>
                  <a:srgbClr val="FFFFFF"/>
                </a:solidFill>
                <a:latin typeface="Arial"/>
                <a:ea typeface="Arial"/>
                <a:cs typeface="Arial"/>
              </a:rPr>
              <a:t>Repository, runbook and measurements: [repository link]</a:t>
            </a:r>
            <a:endParaRPr sz="1200" dirty="0"/>
          </a:p>
        </p:txBody>
      </p:sp>
    </p:spTree>
    <p:extLst>
      <p:ext uri="{BB962C8B-B14F-4D97-AF65-F5344CB8AC3E}">
        <p14:creationId xmlns:p14="http://schemas.microsoft.com/office/powerpoint/2010/main" val="941591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E267F15-F30F-40A6-A9D3-B2B106A1EE70}"/>
              </a:ext>
            </a:extLst>
          </p:cNvPr>
          <p:cNvSpPr>
            <a:spLocks noGrp="1"/>
          </p:cNvSpPr>
          <p:nvPr/>
        </p:nvSpPr>
        <p:spPr>
          <a:xfrm>
            <a:off x="8128000" y="0"/>
            <a:ext cx="4064000" cy="6858000"/>
          </a:xfrm>
          <a:prstGeom prst="rect">
            <a:avLst/>
          </a:prstGeom>
          <a:solidFill>
            <a:srgbClr val="DA1884"/>
          </a:solidFill>
        </p:spPr>
        <p:txBody>
          <a:bodyPr/>
          <a:lstStyle/>
          <a:p>
            <a:endParaRPr/>
          </a:p>
        </p:txBody>
      </p:sp>
      <p:pic>
        <p:nvPicPr>
          <p:cNvPr id="3" name="Image 0">
            <a:extLst>
              <a:ext uri="{FF2B5EF4-FFF2-40B4-BE49-F238E27FC236}">
                <a16:creationId xmlns:a16="http://schemas.microsoft.com/office/drawing/2014/main" id="{C22A01BB-37AF-4CEB-968C-D556BFE66967}"/>
              </a:ext>
            </a:extLst>
          </p:cNvPr>
          <p:cNvPicPr>
            <a:picLocks noChangeAspect="1"/>
          </p:cNvPicPr>
          <p:nvPr/>
        </p:nvPicPr>
        <p:blipFill>
          <a:blip r:embed="rId3"/>
          <a:stretch>
            <a:fillRect/>
          </a:stretch>
        </p:blipFill>
        <p:spPr>
          <a:xfrm>
            <a:off x="609600" y="825500"/>
            <a:ext cx="1905000" cy="787400"/>
          </a:xfrm>
          <a:prstGeom prst="rect">
            <a:avLst/>
          </a:prstGeom>
        </p:spPr>
      </p:pic>
      <p:sp>
        <p:nvSpPr>
          <p:cNvPr id="4" name="Text 1">
            <a:extLst>
              <a:ext uri="{FF2B5EF4-FFF2-40B4-BE49-F238E27FC236}">
                <a16:creationId xmlns:a16="http://schemas.microsoft.com/office/drawing/2014/main" id="{743842D0-8028-4570-BECB-6900548DAACF}"/>
              </a:ext>
            </a:extLst>
          </p:cNvPr>
          <p:cNvSpPr>
            <a:spLocks noGrp="1"/>
          </p:cNvSpPr>
          <p:nvPr/>
        </p:nvSpPr>
        <p:spPr>
          <a:xfrm>
            <a:off x="609600" y="2095500"/>
            <a:ext cx="6985000" cy="228600"/>
          </a:xfrm>
          <a:prstGeom prst="rect">
            <a:avLst/>
          </a:prstGeom>
          <a:noFill/>
        </p:spPr>
        <p:txBody>
          <a:bodyPr wrap="square" lIns="0" tIns="0" rIns="0" bIns="0" anchor="t"/>
          <a:lstStyle/>
          <a:p>
            <a:pPr marL="0" indent="0" algn="l">
              <a:lnSpc>
                <a:spcPct val="110000"/>
              </a:lnSpc>
              <a:buNone/>
            </a:pPr>
            <a:r>
              <a:rPr sz="1300" b="1">
                <a:solidFill>
                  <a:srgbClr val="DA1884"/>
                </a:solidFill>
                <a:latin typeface="Arial"/>
                <a:ea typeface="Arial"/>
                <a:cs typeface="Arial"/>
              </a:rPr>
              <a:t>THANK YOU</a:t>
            </a:r>
            <a:endParaRPr sz="1300"/>
          </a:p>
        </p:txBody>
      </p:sp>
      <p:sp>
        <p:nvSpPr>
          <p:cNvPr id="5" name="Text 2">
            <a:extLst>
              <a:ext uri="{FF2B5EF4-FFF2-40B4-BE49-F238E27FC236}">
                <a16:creationId xmlns:a16="http://schemas.microsoft.com/office/drawing/2014/main" id="{C74257D8-A5EC-4373-B6BC-17671808DDCA}"/>
              </a:ext>
            </a:extLst>
          </p:cNvPr>
          <p:cNvSpPr>
            <a:spLocks noGrp="1"/>
          </p:cNvSpPr>
          <p:nvPr/>
        </p:nvSpPr>
        <p:spPr>
          <a:xfrm>
            <a:off x="609600" y="2413000"/>
            <a:ext cx="6985000" cy="889000"/>
          </a:xfrm>
          <a:prstGeom prst="rect">
            <a:avLst/>
          </a:prstGeom>
          <a:noFill/>
        </p:spPr>
        <p:txBody>
          <a:bodyPr wrap="square" lIns="0" tIns="0" rIns="0" bIns="0" anchor="t"/>
          <a:lstStyle/>
          <a:p>
            <a:pPr marL="0" indent="0" algn="l">
              <a:lnSpc>
                <a:spcPct val="110000"/>
              </a:lnSpc>
              <a:buNone/>
            </a:pPr>
            <a:r>
              <a:rPr sz="6000" b="1">
                <a:solidFill>
                  <a:srgbClr val="141414"/>
                </a:solidFill>
                <a:latin typeface="Arial"/>
                <a:ea typeface="Arial"/>
                <a:cs typeface="Arial"/>
              </a:rPr>
              <a:t>/questions</a:t>
            </a:r>
            <a:endParaRPr sz="6000"/>
          </a:p>
        </p:txBody>
      </p:sp>
      <p:sp>
        <p:nvSpPr>
          <p:cNvPr id="6" name="Shape 3">
            <a:extLst>
              <a:ext uri="{FF2B5EF4-FFF2-40B4-BE49-F238E27FC236}">
                <a16:creationId xmlns:a16="http://schemas.microsoft.com/office/drawing/2014/main" id="{36858F58-7B2C-4463-9D18-32D3BC0E9891}"/>
              </a:ext>
            </a:extLst>
          </p:cNvPr>
          <p:cNvSpPr>
            <a:spLocks noGrp="1"/>
          </p:cNvSpPr>
          <p:nvPr/>
        </p:nvSpPr>
        <p:spPr>
          <a:xfrm>
            <a:off x="609600" y="3479800"/>
            <a:ext cx="1016000" cy="50800"/>
          </a:xfrm>
          <a:prstGeom prst="rect">
            <a:avLst/>
          </a:prstGeom>
          <a:solidFill>
            <a:srgbClr val="DA1884"/>
          </a:solidFill>
        </p:spPr>
        <p:txBody>
          <a:bodyPr/>
          <a:lstStyle/>
          <a:p>
            <a:endParaRPr/>
          </a:p>
        </p:txBody>
      </p:sp>
      <p:sp>
        <p:nvSpPr>
          <p:cNvPr id="7" name="Text 4">
            <a:extLst>
              <a:ext uri="{FF2B5EF4-FFF2-40B4-BE49-F238E27FC236}">
                <a16:creationId xmlns:a16="http://schemas.microsoft.com/office/drawing/2014/main" id="{8AFCA576-603A-4C64-87C9-9314B8724D54}"/>
              </a:ext>
            </a:extLst>
          </p:cNvPr>
          <p:cNvSpPr>
            <a:spLocks noGrp="1"/>
          </p:cNvSpPr>
          <p:nvPr/>
        </p:nvSpPr>
        <p:spPr>
          <a:xfrm>
            <a:off x="609600" y="3746500"/>
            <a:ext cx="6985000" cy="762000"/>
          </a:xfrm>
          <a:prstGeom prst="rect">
            <a:avLst/>
          </a:prstGeom>
          <a:noFill/>
        </p:spPr>
        <p:txBody>
          <a:bodyPr wrap="square" lIns="0" tIns="0" rIns="0" bIns="0" anchor="t"/>
          <a:lstStyle/>
          <a:p>
            <a:pPr marL="0" indent="0">
              <a:lnSpc>
                <a:spcPct val="140000"/>
              </a:lnSpc>
              <a:buNone/>
            </a:pPr>
            <a:r>
              <a:rPr sz="1500" b="1">
                <a:solidFill>
                  <a:srgbClr val="333333"/>
                </a:solidFill>
                <a:latin typeface="Arial"/>
                <a:ea typeface="Arial"/>
                <a:cs typeface="Arial"/>
              </a:rPr>
              <a:t>[Presenter name]</a:t>
            </a:r>
            <a:r>
              <a:rPr sz="1500">
                <a:solidFill>
                  <a:srgbClr val="333333"/>
                </a:solidFill>
                <a:latin typeface="Arial"/>
                <a:ea typeface="Arial"/>
                <a:cs typeface="Arial"/>
              </a:rPr>
              <a:t>  |  [Title]</a:t>
            </a:r>
            <a:endParaRPr sz="1500"/>
          </a:p>
          <a:p>
            <a:pPr marL="0" indent="0">
              <a:lnSpc>
                <a:spcPct val="140000"/>
              </a:lnSpc>
              <a:buNone/>
            </a:pPr>
            <a:r>
              <a:rPr sz="1500" b="1">
                <a:solidFill>
                  <a:srgbClr val="333333"/>
                </a:solidFill>
                <a:latin typeface="Arial"/>
                <a:ea typeface="Arial"/>
                <a:cs typeface="Arial"/>
              </a:rPr>
              <a:t>[Presenter name]</a:t>
            </a:r>
            <a:r>
              <a:rPr sz="1500">
                <a:solidFill>
                  <a:srgbClr val="333333"/>
                </a:solidFill>
                <a:latin typeface="Arial"/>
                <a:ea typeface="Arial"/>
                <a:cs typeface="Arial"/>
              </a:rPr>
              <a:t>  |  [Title]</a:t>
            </a:r>
            <a:endParaRPr sz="1500"/>
          </a:p>
        </p:txBody>
      </p:sp>
      <p:sp>
        <p:nvSpPr>
          <p:cNvPr id="8" name="Text 5">
            <a:extLst>
              <a:ext uri="{FF2B5EF4-FFF2-40B4-BE49-F238E27FC236}">
                <a16:creationId xmlns:a16="http://schemas.microsoft.com/office/drawing/2014/main" id="{39DF1BDF-C64C-4DA2-A90C-EEE44803E12B}"/>
              </a:ext>
            </a:extLst>
          </p:cNvPr>
          <p:cNvSpPr>
            <a:spLocks noGrp="1"/>
          </p:cNvSpPr>
          <p:nvPr/>
        </p:nvSpPr>
        <p:spPr>
          <a:xfrm>
            <a:off x="609600" y="6578600"/>
            <a:ext cx="7366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9" name="Text 6">
            <a:extLst>
              <a:ext uri="{FF2B5EF4-FFF2-40B4-BE49-F238E27FC236}">
                <a16:creationId xmlns:a16="http://schemas.microsoft.com/office/drawing/2014/main" id="{07DA543E-90DF-4A38-A81B-432DAF4357DC}"/>
              </a:ext>
            </a:extLst>
          </p:cNvPr>
          <p:cNvSpPr>
            <a:spLocks noGrp="1"/>
          </p:cNvSpPr>
          <p:nvPr/>
        </p:nvSpPr>
        <p:spPr>
          <a:xfrm>
            <a:off x="8636000" y="1587500"/>
            <a:ext cx="3048000" cy="1524000"/>
          </a:xfrm>
          <a:prstGeom prst="rect">
            <a:avLst/>
          </a:prstGeom>
          <a:noFill/>
        </p:spPr>
        <p:txBody>
          <a:bodyPr wrap="square" lIns="0" tIns="0" rIns="0" bIns="0" anchor="t"/>
          <a:lstStyle/>
          <a:p>
            <a:pPr marL="0" indent="0" algn="l">
              <a:lnSpc>
                <a:spcPct val="105000"/>
              </a:lnSpc>
              <a:buNone/>
            </a:pPr>
            <a:r>
              <a:rPr sz="3000" b="1">
                <a:solidFill>
                  <a:srgbClr val="FFFFFF"/>
                </a:solidFill>
                <a:latin typeface="Arial"/>
                <a:ea typeface="Arial"/>
                <a:cs typeface="Arial"/>
              </a:rPr>
              <a:t>Try it yourself.</a:t>
            </a:r>
            <a:endParaRPr sz="3000"/>
          </a:p>
        </p:txBody>
      </p:sp>
      <p:sp>
        <p:nvSpPr>
          <p:cNvPr id="10" name="Shape 7">
            <a:extLst>
              <a:ext uri="{FF2B5EF4-FFF2-40B4-BE49-F238E27FC236}">
                <a16:creationId xmlns:a16="http://schemas.microsoft.com/office/drawing/2014/main" id="{84E5A3E4-3860-4F89-BD60-DAF3771FE8FE}"/>
              </a:ext>
            </a:extLst>
          </p:cNvPr>
          <p:cNvSpPr>
            <a:spLocks noGrp="1"/>
          </p:cNvSpPr>
          <p:nvPr/>
        </p:nvSpPr>
        <p:spPr>
          <a:xfrm>
            <a:off x="8636000" y="3238500"/>
            <a:ext cx="508000" cy="38100"/>
          </a:xfrm>
          <a:prstGeom prst="rect">
            <a:avLst/>
          </a:prstGeom>
          <a:solidFill>
            <a:srgbClr val="FFFFFF"/>
          </a:solidFill>
        </p:spPr>
        <p:txBody>
          <a:bodyPr/>
          <a:lstStyle/>
          <a:p>
            <a:endParaRPr/>
          </a:p>
        </p:txBody>
      </p:sp>
      <p:sp>
        <p:nvSpPr>
          <p:cNvPr id="11" name="Text 8">
            <a:extLst>
              <a:ext uri="{FF2B5EF4-FFF2-40B4-BE49-F238E27FC236}">
                <a16:creationId xmlns:a16="http://schemas.microsoft.com/office/drawing/2014/main" id="{523FAF2E-DA9B-460C-942E-6D817D374B3F}"/>
              </a:ext>
            </a:extLst>
          </p:cNvPr>
          <p:cNvSpPr>
            <a:spLocks noGrp="1"/>
          </p:cNvSpPr>
          <p:nvPr/>
        </p:nvSpPr>
        <p:spPr>
          <a:xfrm>
            <a:off x="8636000" y="3492500"/>
            <a:ext cx="3048000" cy="203200"/>
          </a:xfrm>
          <a:prstGeom prst="rect">
            <a:avLst/>
          </a:prstGeom>
          <a:noFill/>
        </p:spPr>
        <p:txBody>
          <a:bodyPr wrap="square" lIns="0" tIns="0" rIns="0" bIns="0" anchor="t"/>
          <a:lstStyle/>
          <a:p>
            <a:pPr marL="0" indent="0" algn="l">
              <a:lnSpc>
                <a:spcPct val="110000"/>
              </a:lnSpc>
              <a:buNone/>
            </a:pPr>
            <a:r>
              <a:rPr sz="1200" b="1">
                <a:solidFill>
                  <a:srgbClr val="FFFFFF"/>
                </a:solidFill>
                <a:latin typeface="Arial"/>
                <a:ea typeface="Arial"/>
                <a:cs typeface="Arial"/>
              </a:rPr>
              <a:t>01 · RUN</a:t>
            </a:r>
            <a:endParaRPr sz="1200"/>
          </a:p>
        </p:txBody>
      </p:sp>
      <p:sp>
        <p:nvSpPr>
          <p:cNvPr id="12" name="Text 9">
            <a:extLst>
              <a:ext uri="{FF2B5EF4-FFF2-40B4-BE49-F238E27FC236}">
                <a16:creationId xmlns:a16="http://schemas.microsoft.com/office/drawing/2014/main" id="{E450D591-88CE-4272-B11E-276BEF284E76}"/>
              </a:ext>
            </a:extLst>
          </p:cNvPr>
          <p:cNvSpPr>
            <a:spLocks noGrp="1"/>
          </p:cNvSpPr>
          <p:nvPr/>
        </p:nvSpPr>
        <p:spPr>
          <a:xfrm>
            <a:off x="8636000" y="3733800"/>
            <a:ext cx="3048000" cy="444500"/>
          </a:xfrm>
          <a:prstGeom prst="rect">
            <a:avLst/>
          </a:prstGeom>
          <a:noFill/>
        </p:spPr>
        <p:txBody>
          <a:bodyPr wrap="square" lIns="0" tIns="0" rIns="0" bIns="0" anchor="t"/>
          <a:lstStyle/>
          <a:p>
            <a:pPr marL="0" indent="0" algn="l">
              <a:lnSpc>
                <a:spcPct val="120000"/>
              </a:lnSpc>
              <a:buNone/>
            </a:pPr>
            <a:r>
              <a:rPr sz="1200">
                <a:solidFill>
                  <a:srgbClr val="FFFFFF"/>
                </a:solidFill>
                <a:latin typeface="Arial"/>
                <a:ea typeface="Arial"/>
                <a:cs typeface="Arial"/>
              </a:rPr>
              <a:t>docker compose up --build -d, then open localhost:3000.</a:t>
            </a:r>
            <a:endParaRPr sz="1200"/>
          </a:p>
        </p:txBody>
      </p:sp>
      <p:sp>
        <p:nvSpPr>
          <p:cNvPr id="13" name="Text 10">
            <a:extLst>
              <a:ext uri="{FF2B5EF4-FFF2-40B4-BE49-F238E27FC236}">
                <a16:creationId xmlns:a16="http://schemas.microsoft.com/office/drawing/2014/main" id="{EC578E1A-05E6-4241-9A39-3CF1F855BEA1}"/>
              </a:ext>
            </a:extLst>
          </p:cNvPr>
          <p:cNvSpPr>
            <a:spLocks noGrp="1"/>
          </p:cNvSpPr>
          <p:nvPr/>
        </p:nvSpPr>
        <p:spPr>
          <a:xfrm>
            <a:off x="8636000" y="4318000"/>
            <a:ext cx="3048000" cy="203200"/>
          </a:xfrm>
          <a:prstGeom prst="rect">
            <a:avLst/>
          </a:prstGeom>
          <a:noFill/>
        </p:spPr>
        <p:txBody>
          <a:bodyPr wrap="square" lIns="0" tIns="0" rIns="0" bIns="0" anchor="t"/>
          <a:lstStyle/>
          <a:p>
            <a:pPr marL="0" indent="0" algn="l">
              <a:lnSpc>
                <a:spcPct val="110000"/>
              </a:lnSpc>
              <a:buNone/>
            </a:pPr>
            <a:r>
              <a:rPr sz="1200" b="1">
                <a:solidFill>
                  <a:srgbClr val="FFFFFF"/>
                </a:solidFill>
                <a:latin typeface="Arial"/>
                <a:ea typeface="Arial"/>
                <a:cs typeface="Arial"/>
              </a:rPr>
              <a:t>02 · ASK</a:t>
            </a:r>
            <a:endParaRPr sz="1200"/>
          </a:p>
        </p:txBody>
      </p:sp>
      <p:sp>
        <p:nvSpPr>
          <p:cNvPr id="14" name="Text 11">
            <a:extLst>
              <a:ext uri="{FF2B5EF4-FFF2-40B4-BE49-F238E27FC236}">
                <a16:creationId xmlns:a16="http://schemas.microsoft.com/office/drawing/2014/main" id="{7A898B62-3966-4CAB-B5B6-612B144BD95C}"/>
              </a:ext>
            </a:extLst>
          </p:cNvPr>
          <p:cNvSpPr>
            <a:spLocks noGrp="1"/>
          </p:cNvSpPr>
          <p:nvPr/>
        </p:nvSpPr>
        <p:spPr>
          <a:xfrm>
            <a:off x="8636000" y="4559300"/>
            <a:ext cx="3048000" cy="444500"/>
          </a:xfrm>
          <a:prstGeom prst="rect">
            <a:avLst/>
          </a:prstGeom>
          <a:noFill/>
        </p:spPr>
        <p:txBody>
          <a:bodyPr wrap="square" lIns="0" tIns="0" rIns="0" bIns="0" anchor="t"/>
          <a:lstStyle/>
          <a:p>
            <a:pPr marL="0" indent="0" algn="l">
              <a:lnSpc>
                <a:spcPct val="120000"/>
              </a:lnSpc>
              <a:buNone/>
            </a:pPr>
            <a:r>
              <a:rPr sz="1200">
                <a:solidFill>
                  <a:srgbClr val="FFFFFF"/>
                </a:solidFill>
                <a:latin typeface="Arial"/>
                <a:ea typeface="Arial"/>
                <a:cs typeface="Arial"/>
              </a:rPr>
              <a:t>Use the three guided prompts, then ask your own.</a:t>
            </a:r>
            <a:endParaRPr sz="1200"/>
          </a:p>
        </p:txBody>
      </p:sp>
      <p:sp>
        <p:nvSpPr>
          <p:cNvPr id="15" name="Text 12">
            <a:extLst>
              <a:ext uri="{FF2B5EF4-FFF2-40B4-BE49-F238E27FC236}">
                <a16:creationId xmlns:a16="http://schemas.microsoft.com/office/drawing/2014/main" id="{CA37E6C3-0CF2-4F34-86A1-9603BC7ED0EE}"/>
              </a:ext>
            </a:extLst>
          </p:cNvPr>
          <p:cNvSpPr>
            <a:spLocks noGrp="1"/>
          </p:cNvSpPr>
          <p:nvPr/>
        </p:nvSpPr>
        <p:spPr>
          <a:xfrm>
            <a:off x="8636000" y="5143500"/>
            <a:ext cx="3048000" cy="203200"/>
          </a:xfrm>
          <a:prstGeom prst="rect">
            <a:avLst/>
          </a:prstGeom>
          <a:noFill/>
        </p:spPr>
        <p:txBody>
          <a:bodyPr wrap="square" lIns="0" tIns="0" rIns="0" bIns="0" anchor="t"/>
          <a:lstStyle/>
          <a:p>
            <a:pPr marL="0" indent="0" algn="l">
              <a:lnSpc>
                <a:spcPct val="110000"/>
              </a:lnSpc>
              <a:buNone/>
            </a:pPr>
            <a:r>
              <a:rPr sz="1200" b="1">
                <a:solidFill>
                  <a:srgbClr val="FFFFFF"/>
                </a:solidFill>
                <a:latin typeface="Arial"/>
                <a:ea typeface="Arial"/>
                <a:cs typeface="Arial"/>
              </a:rPr>
              <a:t>03 · INSPECT</a:t>
            </a:r>
            <a:endParaRPr sz="1200"/>
          </a:p>
        </p:txBody>
      </p:sp>
      <p:sp>
        <p:nvSpPr>
          <p:cNvPr id="16" name="Text 13">
            <a:extLst>
              <a:ext uri="{FF2B5EF4-FFF2-40B4-BE49-F238E27FC236}">
                <a16:creationId xmlns:a16="http://schemas.microsoft.com/office/drawing/2014/main" id="{2B1E0D36-C0B2-4CA3-8687-188B418EEAF9}"/>
              </a:ext>
            </a:extLst>
          </p:cNvPr>
          <p:cNvSpPr>
            <a:spLocks noGrp="1"/>
          </p:cNvSpPr>
          <p:nvPr/>
        </p:nvSpPr>
        <p:spPr>
          <a:xfrm>
            <a:off x="8636000" y="5384800"/>
            <a:ext cx="3048000" cy="444500"/>
          </a:xfrm>
          <a:prstGeom prst="rect">
            <a:avLst/>
          </a:prstGeom>
          <a:noFill/>
        </p:spPr>
        <p:txBody>
          <a:bodyPr wrap="square" lIns="0" tIns="0" rIns="0" bIns="0" anchor="t"/>
          <a:lstStyle/>
          <a:p>
            <a:pPr marL="0" indent="0" algn="l">
              <a:lnSpc>
                <a:spcPct val="120000"/>
              </a:lnSpc>
              <a:buNone/>
            </a:pPr>
            <a:r>
              <a:rPr sz="1200">
                <a:solidFill>
                  <a:srgbClr val="FFFFFF"/>
                </a:solidFill>
                <a:latin typeface="Arial"/>
                <a:ea typeface="Arial"/>
                <a:cs typeface="Arial"/>
              </a:rPr>
              <a:t>Open the inspector to see every payload and timing.</a:t>
            </a:r>
            <a:endParaRPr sz="1200"/>
          </a:p>
        </p:txBody>
      </p:sp>
      <p:sp>
        <p:nvSpPr>
          <p:cNvPr id="17" name="Text 14">
            <a:extLst>
              <a:ext uri="{FF2B5EF4-FFF2-40B4-BE49-F238E27FC236}">
                <a16:creationId xmlns:a16="http://schemas.microsoft.com/office/drawing/2014/main" id="{9C54FFD7-ECAC-4E9C-A85F-3715F46A7868}"/>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FFFFFF"/>
                </a:solidFill>
                <a:latin typeface="Arial"/>
                <a:ea typeface="Arial"/>
                <a:cs typeface="Arial"/>
              </a:rPr>
              <a:t>20</a:t>
            </a:r>
            <a:endParaRPr sz="900"/>
          </a:p>
        </p:txBody>
      </p:sp>
    </p:spTree>
    <p:extLst>
      <p:ext uri="{BB962C8B-B14F-4D97-AF65-F5344CB8AC3E}">
        <p14:creationId xmlns:p14="http://schemas.microsoft.com/office/powerpoint/2010/main" val="1626473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46A75915-EFFA-482B-B09F-1F8BAD855F2D}"/>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B3902B20-C103-4964-B187-B215B8172EE7}"/>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EE3DC4EE-54BA-470B-91E6-6BE45EEAF4B6}"/>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a:t>
            </a:r>
            <a:endParaRPr sz="1000"/>
          </a:p>
        </p:txBody>
      </p:sp>
      <p:sp>
        <p:nvSpPr>
          <p:cNvPr id="5" name="Text 2">
            <a:extLst>
              <a:ext uri="{FF2B5EF4-FFF2-40B4-BE49-F238E27FC236}">
                <a16:creationId xmlns:a16="http://schemas.microsoft.com/office/drawing/2014/main" id="{84D53D20-E1C1-4680-987F-AB3A54E4642E}"/>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E9C446D0-66EE-4273-8F88-C67BD7EC89C1}"/>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21</a:t>
            </a:r>
            <a:endParaRPr sz="900"/>
          </a:p>
        </p:txBody>
      </p:sp>
      <p:sp>
        <p:nvSpPr>
          <p:cNvPr id="7" name="Text 4">
            <a:extLst>
              <a:ext uri="{FF2B5EF4-FFF2-40B4-BE49-F238E27FC236}">
                <a16:creationId xmlns:a16="http://schemas.microsoft.com/office/drawing/2014/main" id="{BA620F38-CA22-4FD6-A3C5-715D74B84292}"/>
              </a:ext>
            </a:extLst>
          </p:cNvPr>
          <p:cNvSpPr>
            <a:spLocks noGrp="1"/>
          </p:cNvSpPr>
          <p:nvPr/>
        </p:nvSpPr>
        <p:spPr>
          <a:xfrm>
            <a:off x="457200" y="1587500"/>
            <a:ext cx="5080000" cy="1651000"/>
          </a:xfrm>
          <a:prstGeom prst="rect">
            <a:avLst/>
          </a:prstGeom>
          <a:noFill/>
        </p:spPr>
        <p:txBody>
          <a:bodyPr wrap="square" lIns="0" tIns="0" rIns="0" bIns="0" anchor="t"/>
          <a:lstStyle/>
          <a:p>
            <a:pPr marL="0" indent="0" algn="l">
              <a:lnSpc>
                <a:spcPct val="90000"/>
              </a:lnSpc>
              <a:buNone/>
            </a:pPr>
            <a:r>
              <a:rPr sz="12000" b="1">
                <a:solidFill>
                  <a:srgbClr val="DA1884"/>
                </a:solidFill>
                <a:latin typeface="Arial"/>
                <a:ea typeface="Arial"/>
                <a:cs typeface="Arial"/>
              </a:rPr>
              <a:t>A</a:t>
            </a:r>
            <a:endParaRPr sz="12000"/>
          </a:p>
        </p:txBody>
      </p:sp>
      <p:sp>
        <p:nvSpPr>
          <p:cNvPr id="8" name="Text 5">
            <a:extLst>
              <a:ext uri="{FF2B5EF4-FFF2-40B4-BE49-F238E27FC236}">
                <a16:creationId xmlns:a16="http://schemas.microsoft.com/office/drawing/2014/main" id="{7CC8E606-513E-45A7-8D91-1CF649EC6F17}"/>
              </a:ext>
            </a:extLst>
          </p:cNvPr>
          <p:cNvSpPr>
            <a:spLocks noGrp="1"/>
          </p:cNvSpPr>
          <p:nvPr/>
        </p:nvSpPr>
        <p:spPr>
          <a:xfrm>
            <a:off x="508000" y="3302000"/>
            <a:ext cx="5207000" cy="1320800"/>
          </a:xfrm>
          <a:prstGeom prst="rect">
            <a:avLst/>
          </a:prstGeom>
          <a:noFill/>
        </p:spPr>
        <p:txBody>
          <a:bodyPr wrap="square" lIns="0" tIns="0" rIns="0" bIns="0" anchor="t"/>
          <a:lstStyle/>
          <a:p>
            <a:pPr marL="0" indent="0" algn="l">
              <a:lnSpc>
                <a:spcPct val="100000"/>
              </a:lnSpc>
              <a:buNone/>
            </a:pPr>
            <a:r>
              <a:rPr sz="4400" b="1">
                <a:solidFill>
                  <a:srgbClr val="141414"/>
                </a:solidFill>
                <a:latin typeface="Arial"/>
                <a:ea typeface="Arial"/>
                <a:cs typeface="Arial"/>
              </a:rPr>
              <a:t>Appendix: AI Routing</a:t>
            </a:r>
            <a:endParaRPr sz="4400"/>
          </a:p>
        </p:txBody>
      </p:sp>
      <p:sp>
        <p:nvSpPr>
          <p:cNvPr id="9" name="Shape 6">
            <a:extLst>
              <a:ext uri="{FF2B5EF4-FFF2-40B4-BE49-F238E27FC236}">
                <a16:creationId xmlns:a16="http://schemas.microsoft.com/office/drawing/2014/main" id="{4ADC9082-3F99-4CE4-A9F3-1ABDE320B889}"/>
              </a:ext>
            </a:extLst>
          </p:cNvPr>
          <p:cNvSpPr>
            <a:spLocks noGrp="1"/>
          </p:cNvSpPr>
          <p:nvPr/>
        </p:nvSpPr>
        <p:spPr>
          <a:xfrm>
            <a:off x="508000" y="4800600"/>
            <a:ext cx="1016000" cy="50800"/>
          </a:xfrm>
          <a:prstGeom prst="rect">
            <a:avLst/>
          </a:prstGeom>
          <a:solidFill>
            <a:srgbClr val="DA1884"/>
          </a:solidFill>
        </p:spPr>
        <p:txBody>
          <a:bodyPr/>
          <a:lstStyle/>
          <a:p>
            <a:endParaRPr/>
          </a:p>
        </p:txBody>
      </p:sp>
      <p:sp>
        <p:nvSpPr>
          <p:cNvPr id="10" name="Text 7">
            <a:extLst>
              <a:ext uri="{FF2B5EF4-FFF2-40B4-BE49-F238E27FC236}">
                <a16:creationId xmlns:a16="http://schemas.microsoft.com/office/drawing/2014/main" id="{CC87DABB-2D85-4120-873F-2E1E423509F1}"/>
              </a:ext>
            </a:extLst>
          </p:cNvPr>
          <p:cNvSpPr>
            <a:spLocks noGrp="1"/>
          </p:cNvSpPr>
          <p:nvPr/>
        </p:nvSpPr>
        <p:spPr>
          <a:xfrm>
            <a:off x="508000" y="5029200"/>
            <a:ext cx="5207000" cy="635000"/>
          </a:xfrm>
          <a:prstGeom prst="rect">
            <a:avLst/>
          </a:prstGeom>
          <a:noFill/>
        </p:spPr>
        <p:txBody>
          <a:bodyPr wrap="square" lIns="0" tIns="0" rIns="0" bIns="0" anchor="t"/>
          <a:lstStyle/>
          <a:p>
            <a:pPr marL="0" indent="0" algn="l">
              <a:lnSpc>
                <a:spcPct val="125000"/>
              </a:lnSpc>
              <a:buNone/>
            </a:pPr>
            <a:r>
              <a:rPr sz="1500">
                <a:solidFill>
                  <a:srgbClr val="6B6B6B"/>
                </a:solidFill>
                <a:latin typeface="Arial"/>
                <a:ea typeface="Arial"/>
                <a:cs typeface="Arial"/>
              </a:rPr>
              <a:t>Reference material: how Protocol Studio lets a model choose the protocol.</a:t>
            </a:r>
            <a:endParaRPr sz="1500"/>
          </a:p>
        </p:txBody>
      </p:sp>
      <p:sp>
        <p:nvSpPr>
          <p:cNvPr id="11" name="Shape 8">
            <a:extLst>
              <a:ext uri="{FF2B5EF4-FFF2-40B4-BE49-F238E27FC236}">
                <a16:creationId xmlns:a16="http://schemas.microsoft.com/office/drawing/2014/main" id="{B6FD5BF5-5F4E-463D-9C5F-B307DB6860E9}"/>
              </a:ext>
            </a:extLst>
          </p:cNvPr>
          <p:cNvSpPr>
            <a:spLocks noGrp="1"/>
          </p:cNvSpPr>
          <p:nvPr/>
        </p:nvSpPr>
        <p:spPr>
          <a:xfrm>
            <a:off x="6223000" y="2413000"/>
            <a:ext cx="54610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9">
            <a:extLst>
              <a:ext uri="{FF2B5EF4-FFF2-40B4-BE49-F238E27FC236}">
                <a16:creationId xmlns:a16="http://schemas.microsoft.com/office/drawing/2014/main" id="{64E850A2-2700-4B75-84E8-A1EC7B2924B7}"/>
              </a:ext>
            </a:extLst>
          </p:cNvPr>
          <p:cNvSpPr>
            <a:spLocks noGrp="1"/>
          </p:cNvSpPr>
          <p:nvPr/>
        </p:nvSpPr>
        <p:spPr>
          <a:xfrm>
            <a:off x="6223000" y="2413000"/>
            <a:ext cx="5461000" cy="50800"/>
          </a:xfrm>
          <a:prstGeom prst="rect">
            <a:avLst/>
          </a:prstGeom>
          <a:solidFill>
            <a:srgbClr val="DA1884"/>
          </a:solidFill>
        </p:spPr>
        <p:txBody>
          <a:bodyPr/>
          <a:lstStyle/>
          <a:p>
            <a:endParaRPr/>
          </a:p>
        </p:txBody>
      </p:sp>
      <p:sp>
        <p:nvSpPr>
          <p:cNvPr id="13" name="Text 10">
            <a:extLst>
              <a:ext uri="{FF2B5EF4-FFF2-40B4-BE49-F238E27FC236}">
                <a16:creationId xmlns:a16="http://schemas.microsoft.com/office/drawing/2014/main" id="{5EFE4CD9-1BDD-4530-8B19-04F4578F0E00}"/>
              </a:ext>
            </a:extLst>
          </p:cNvPr>
          <p:cNvSpPr>
            <a:spLocks noGrp="1"/>
          </p:cNvSpPr>
          <p:nvPr/>
        </p:nvSpPr>
        <p:spPr>
          <a:xfrm>
            <a:off x="6477000" y="2641600"/>
            <a:ext cx="4953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IN THIS SECTION</a:t>
            </a:r>
            <a:endParaRPr sz="1200"/>
          </a:p>
        </p:txBody>
      </p:sp>
      <p:sp>
        <p:nvSpPr>
          <p:cNvPr id="14" name="Text 11">
            <a:extLst>
              <a:ext uri="{FF2B5EF4-FFF2-40B4-BE49-F238E27FC236}">
                <a16:creationId xmlns:a16="http://schemas.microsoft.com/office/drawing/2014/main" id="{2D0B0E6D-D892-46F8-B19A-6531FFFD1776}"/>
              </a:ext>
            </a:extLst>
          </p:cNvPr>
          <p:cNvSpPr>
            <a:spLocks noGrp="1"/>
          </p:cNvSpPr>
          <p:nvPr/>
        </p:nvSpPr>
        <p:spPr>
          <a:xfrm>
            <a:off x="6477000" y="29972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Architecture: how a question becomes a protocol call</a:t>
            </a:r>
            <a:endParaRPr sz="1300"/>
          </a:p>
        </p:txBody>
      </p:sp>
      <p:sp>
        <p:nvSpPr>
          <p:cNvPr id="15" name="Text 12">
            <a:extLst>
              <a:ext uri="{FF2B5EF4-FFF2-40B4-BE49-F238E27FC236}">
                <a16:creationId xmlns:a16="http://schemas.microsoft.com/office/drawing/2014/main" id="{8C6C4F66-68CD-4743-9696-3402BFA5EFBF}"/>
              </a:ext>
            </a:extLst>
          </p:cNvPr>
          <p:cNvSpPr>
            <a:spLocks noGrp="1"/>
          </p:cNvSpPr>
          <p:nvPr/>
        </p:nvSpPr>
        <p:spPr>
          <a:xfrm>
            <a:off x="6477000" y="34798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Ollama: local tool calling on a 4B model</a:t>
            </a:r>
            <a:endParaRPr sz="1300"/>
          </a:p>
        </p:txBody>
      </p:sp>
      <p:sp>
        <p:nvSpPr>
          <p:cNvPr id="16" name="Text 13">
            <a:extLst>
              <a:ext uri="{FF2B5EF4-FFF2-40B4-BE49-F238E27FC236}">
                <a16:creationId xmlns:a16="http://schemas.microsoft.com/office/drawing/2014/main" id="{9DDFAB72-0303-42C4-92DB-FF7349B3E2A0}"/>
              </a:ext>
            </a:extLst>
          </p:cNvPr>
          <p:cNvSpPr>
            <a:spLocks noGrp="1"/>
          </p:cNvSpPr>
          <p:nvPr/>
        </p:nvSpPr>
        <p:spPr>
          <a:xfrm>
            <a:off x="6477000" y="39624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Jev: structured decisions with confidence</a:t>
            </a:r>
            <a:endParaRPr sz="1300"/>
          </a:p>
        </p:txBody>
      </p:sp>
      <p:sp>
        <p:nvSpPr>
          <p:cNvPr id="17" name="Text 14">
            <a:extLst>
              <a:ext uri="{FF2B5EF4-FFF2-40B4-BE49-F238E27FC236}">
                <a16:creationId xmlns:a16="http://schemas.microsoft.com/office/drawing/2014/main" id="{2645A685-420A-4BD8-ABC3-3BCD223DB587}"/>
              </a:ext>
            </a:extLst>
          </p:cNvPr>
          <p:cNvSpPr>
            <a:spLocks noGrp="1"/>
          </p:cNvSpPr>
          <p:nvPr/>
        </p:nvSpPr>
        <p:spPr>
          <a:xfrm>
            <a:off x="6477000" y="44450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Guardrails and measured latency</a:t>
            </a:r>
            <a:endParaRPr sz="1300"/>
          </a:p>
        </p:txBody>
      </p:sp>
    </p:spTree>
    <p:extLst>
      <p:ext uri="{BB962C8B-B14F-4D97-AF65-F5344CB8AC3E}">
        <p14:creationId xmlns:p14="http://schemas.microsoft.com/office/powerpoint/2010/main" val="1542391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7794F142-C1FF-4422-A2D6-735A7F129FC7}"/>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708739DA-FB00-4B9D-BE46-A62E6BF67046}"/>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9F3D5ABD-C66A-4881-B5CE-8BF3B8466D61}"/>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a:ext uri="{FF2B5EF4-FFF2-40B4-BE49-F238E27FC236}">
                <a16:creationId xmlns:a16="http://schemas.microsoft.com/office/drawing/2014/main" id="{EADE2A5B-4BBB-4F96-96EB-34D3C3E4FDC1}"/>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6FC6717D-198F-4866-AFA5-19CC0F371A26}"/>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22</a:t>
            </a:r>
            <a:endParaRPr sz="900"/>
          </a:p>
        </p:txBody>
      </p:sp>
      <p:sp>
        <p:nvSpPr>
          <p:cNvPr id="7" name="Text 4">
            <a:extLst>
              <a:ext uri="{FF2B5EF4-FFF2-40B4-BE49-F238E27FC236}">
                <a16:creationId xmlns:a16="http://schemas.microsoft.com/office/drawing/2014/main" id="{BDEC8C38-DAEC-474A-897F-417A2762EEE5}"/>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ARCHITECTURE</a:t>
            </a:r>
            <a:endParaRPr sz="1200"/>
          </a:p>
        </p:txBody>
      </p:sp>
      <p:sp>
        <p:nvSpPr>
          <p:cNvPr id="8" name="Text 5">
            <a:extLst>
              <a:ext uri="{FF2B5EF4-FFF2-40B4-BE49-F238E27FC236}">
                <a16:creationId xmlns:a16="http://schemas.microsoft.com/office/drawing/2014/main" id="{ACC1E391-13C7-4625-ADA6-53ED11A278CD}"/>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How Protocol Studio Routes a Question</a:t>
            </a:r>
            <a:endParaRPr sz="3000"/>
          </a:p>
        </p:txBody>
      </p:sp>
      <p:sp>
        <p:nvSpPr>
          <p:cNvPr id="9" name="Text 6">
            <a:extLst>
              <a:ext uri="{FF2B5EF4-FFF2-40B4-BE49-F238E27FC236}">
                <a16:creationId xmlns:a16="http://schemas.microsoft.com/office/drawing/2014/main" id="{6CAE5D85-4F9C-43AD-9726-3A9007BB352C}"/>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One interface, IntentClassifier, with two implementations: Ollama by default and Jev optionally.</a:t>
            </a:r>
            <a:endParaRPr sz="1400"/>
          </a:p>
        </p:txBody>
      </p:sp>
      <p:sp>
        <p:nvSpPr>
          <p:cNvPr id="11" name="Shape 7">
            <a:extLst>
              <a:ext uri="{FF2B5EF4-FFF2-40B4-BE49-F238E27FC236}">
                <a16:creationId xmlns:a16="http://schemas.microsoft.com/office/drawing/2014/main" id="{0308BA0F-49E7-45AE-A999-DDC051E96D5F}"/>
              </a:ext>
            </a:extLst>
          </p:cNvPr>
          <p:cNvSpPr>
            <a:spLocks noGrp="1"/>
          </p:cNvSpPr>
          <p:nvPr/>
        </p:nvSpPr>
        <p:spPr>
          <a:xfrm>
            <a:off x="508000" y="2159000"/>
            <a:ext cx="19558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07144C8F-9AA0-4B95-8BC1-B29DA531E378}"/>
              </a:ext>
            </a:extLst>
          </p:cNvPr>
          <p:cNvSpPr>
            <a:spLocks noGrp="1"/>
          </p:cNvSpPr>
          <p:nvPr/>
        </p:nvSpPr>
        <p:spPr>
          <a:xfrm>
            <a:off x="508000" y="2159000"/>
            <a:ext cx="195580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5AA56A26-CBCE-4756-8C04-ADB350B4A543}"/>
              </a:ext>
            </a:extLst>
          </p:cNvPr>
          <p:cNvSpPr>
            <a:spLocks noGrp="1"/>
          </p:cNvSpPr>
          <p:nvPr/>
        </p:nvSpPr>
        <p:spPr>
          <a:xfrm>
            <a:off x="673100" y="2362200"/>
            <a:ext cx="1625600" cy="22225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01 · ASK</a:t>
            </a:r>
            <a:endParaRPr sz="1200"/>
          </a:p>
          <a:p>
            <a:pPr marL="0" indent="0">
              <a:lnSpc>
                <a:spcPct val="115000"/>
              </a:lnSpc>
              <a:spcAft>
                <a:spcPts val="800"/>
              </a:spcAft>
              <a:buNone/>
            </a:pPr>
            <a:r>
              <a:rPr sz="1300" b="1">
                <a:solidFill>
                  <a:srgbClr val="141414"/>
                </a:solidFill>
                <a:latin typeface="Arial"/>
                <a:ea typeface="Arial"/>
                <a:cs typeface="Arial"/>
              </a:rPr>
              <a:t>A plain question</a:t>
            </a:r>
            <a:endParaRPr sz="1200"/>
          </a:p>
          <a:p>
            <a:pPr marL="0" indent="0">
              <a:lnSpc>
                <a:spcPct val="115000"/>
              </a:lnSpc>
              <a:buNone/>
            </a:pPr>
            <a:r>
              <a:rPr sz="1200">
                <a:solidFill>
                  <a:srgbClr val="333333"/>
                </a:solidFill>
                <a:latin typeface="Arial"/>
                <a:ea typeface="Arial"/>
                <a:cs typeface="Arial"/>
              </a:rPr>
              <a:t>The browser posts the message and recent turns to /api/chat.</a:t>
            </a:r>
            <a:endParaRPr sz="1200"/>
          </a:p>
        </p:txBody>
      </p:sp>
      <p:sp>
        <p:nvSpPr>
          <p:cNvPr id="14" name="Shape 10">
            <a:extLst>
              <a:ext uri="{FF2B5EF4-FFF2-40B4-BE49-F238E27FC236}">
                <a16:creationId xmlns:a16="http://schemas.microsoft.com/office/drawing/2014/main" id="{0FABE742-F57C-4190-B153-D98BD17581C7}"/>
              </a:ext>
            </a:extLst>
          </p:cNvPr>
          <p:cNvSpPr>
            <a:spLocks noGrp="1"/>
          </p:cNvSpPr>
          <p:nvPr/>
        </p:nvSpPr>
        <p:spPr>
          <a:xfrm>
            <a:off x="2520950" y="3352800"/>
            <a:ext cx="241300" cy="152400"/>
          </a:xfrm>
          <a:prstGeom prst="rightArrow">
            <a:avLst/>
          </a:prstGeom>
          <a:solidFill>
            <a:srgbClr val="DA1884"/>
          </a:solidFill>
        </p:spPr>
        <p:txBody>
          <a:bodyPr/>
          <a:lstStyle/>
          <a:p>
            <a:endParaRPr/>
          </a:p>
        </p:txBody>
      </p:sp>
      <p:sp>
        <p:nvSpPr>
          <p:cNvPr id="15" name="Shape 11">
            <a:extLst>
              <a:ext uri="{FF2B5EF4-FFF2-40B4-BE49-F238E27FC236}">
                <a16:creationId xmlns:a16="http://schemas.microsoft.com/office/drawing/2014/main" id="{FC65BF2A-1ADE-4146-81E3-89D1D9A4AC9D}"/>
              </a:ext>
            </a:extLst>
          </p:cNvPr>
          <p:cNvSpPr>
            <a:spLocks noGrp="1"/>
          </p:cNvSpPr>
          <p:nvPr/>
        </p:nvSpPr>
        <p:spPr>
          <a:xfrm>
            <a:off x="2813050" y="2159000"/>
            <a:ext cx="19558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AD693990-E977-4753-B2A4-2E77D1F6FB29}"/>
              </a:ext>
            </a:extLst>
          </p:cNvPr>
          <p:cNvSpPr>
            <a:spLocks noGrp="1"/>
          </p:cNvSpPr>
          <p:nvPr/>
        </p:nvSpPr>
        <p:spPr>
          <a:xfrm>
            <a:off x="2813050" y="2159000"/>
            <a:ext cx="1955800" cy="50800"/>
          </a:xfrm>
          <a:prstGeom prst="rect">
            <a:avLst/>
          </a:prstGeom>
          <a:solidFill>
            <a:srgbClr val="DA1884"/>
          </a:solidFill>
        </p:spPr>
        <p:txBody>
          <a:bodyPr/>
          <a:lstStyle/>
          <a:p>
            <a:endParaRPr/>
          </a:p>
        </p:txBody>
      </p:sp>
      <p:sp>
        <p:nvSpPr>
          <p:cNvPr id="17" name="Text 13">
            <a:extLst>
              <a:ext uri="{FF2B5EF4-FFF2-40B4-BE49-F238E27FC236}">
                <a16:creationId xmlns:a16="http://schemas.microsoft.com/office/drawing/2014/main" id="{513032C7-55F2-4934-A432-FACFFC1D52AC}"/>
              </a:ext>
            </a:extLst>
          </p:cNvPr>
          <p:cNvSpPr>
            <a:spLocks noGrp="1"/>
          </p:cNvSpPr>
          <p:nvPr/>
        </p:nvSpPr>
        <p:spPr>
          <a:xfrm>
            <a:off x="2978150" y="2362200"/>
            <a:ext cx="1625600" cy="22225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02 · CLASSIFY</a:t>
            </a:r>
            <a:endParaRPr sz="1200"/>
          </a:p>
          <a:p>
            <a:pPr marL="0" indent="0">
              <a:lnSpc>
                <a:spcPct val="115000"/>
              </a:lnSpc>
              <a:spcAft>
                <a:spcPts val="800"/>
              </a:spcAft>
              <a:buNone/>
            </a:pPr>
            <a:r>
              <a:rPr sz="1300" b="1">
                <a:solidFill>
                  <a:srgbClr val="141414"/>
                </a:solidFill>
                <a:latin typeface="Arial"/>
                <a:ea typeface="Arial"/>
                <a:cs typeface="Arial"/>
              </a:rPr>
              <a:t>Ollama or Jev</a:t>
            </a:r>
            <a:endParaRPr sz="1200"/>
          </a:p>
          <a:p>
            <a:pPr marL="0" indent="0">
              <a:lnSpc>
                <a:spcPct val="115000"/>
              </a:lnSpc>
              <a:buNone/>
            </a:pPr>
            <a:r>
              <a:rPr sz="1200">
                <a:solidFill>
                  <a:srgbClr val="333333"/>
                </a:solidFill>
                <a:latin typeface="Arial"/>
                <a:ea typeface="Arial"/>
                <a:cs typeface="Arial"/>
              </a:rPr>
              <a:t>Picks one protocol and one allowlisted catalog target.</a:t>
            </a:r>
            <a:endParaRPr sz="1200"/>
          </a:p>
        </p:txBody>
      </p:sp>
      <p:sp>
        <p:nvSpPr>
          <p:cNvPr id="18" name="Shape 14">
            <a:extLst>
              <a:ext uri="{FF2B5EF4-FFF2-40B4-BE49-F238E27FC236}">
                <a16:creationId xmlns:a16="http://schemas.microsoft.com/office/drawing/2014/main" id="{E3C36FF3-B9A6-42D3-8D16-5665B30C6459}"/>
              </a:ext>
            </a:extLst>
          </p:cNvPr>
          <p:cNvSpPr>
            <a:spLocks noGrp="1"/>
          </p:cNvSpPr>
          <p:nvPr/>
        </p:nvSpPr>
        <p:spPr>
          <a:xfrm>
            <a:off x="4826000" y="3352800"/>
            <a:ext cx="241300" cy="152400"/>
          </a:xfrm>
          <a:prstGeom prst="rightArrow">
            <a:avLst/>
          </a:prstGeom>
          <a:solidFill>
            <a:srgbClr val="DA1884"/>
          </a:solidFill>
        </p:spPr>
        <p:txBody>
          <a:bodyPr/>
          <a:lstStyle/>
          <a:p>
            <a:endParaRPr/>
          </a:p>
        </p:txBody>
      </p:sp>
      <p:sp>
        <p:nvSpPr>
          <p:cNvPr id="19" name="Shape 15">
            <a:extLst>
              <a:ext uri="{FF2B5EF4-FFF2-40B4-BE49-F238E27FC236}">
                <a16:creationId xmlns:a16="http://schemas.microsoft.com/office/drawing/2014/main" id="{184DC0F4-6579-4EB6-838D-970EA9ECF1D8}"/>
              </a:ext>
            </a:extLst>
          </p:cNvPr>
          <p:cNvSpPr>
            <a:spLocks noGrp="1"/>
          </p:cNvSpPr>
          <p:nvPr/>
        </p:nvSpPr>
        <p:spPr>
          <a:xfrm>
            <a:off x="5118100" y="2159000"/>
            <a:ext cx="19558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6F175241-2202-4480-A2D0-E61D559024D5}"/>
              </a:ext>
            </a:extLst>
          </p:cNvPr>
          <p:cNvSpPr>
            <a:spLocks noGrp="1"/>
          </p:cNvSpPr>
          <p:nvPr/>
        </p:nvSpPr>
        <p:spPr>
          <a:xfrm>
            <a:off x="5118100" y="2159000"/>
            <a:ext cx="1955800" cy="508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06CA712E-9E08-4BDA-BF3D-8A1ED11DE9DF}"/>
              </a:ext>
            </a:extLst>
          </p:cNvPr>
          <p:cNvSpPr>
            <a:spLocks noGrp="1"/>
          </p:cNvSpPr>
          <p:nvPr/>
        </p:nvSpPr>
        <p:spPr>
          <a:xfrm>
            <a:off x="5283200" y="2362200"/>
            <a:ext cx="1625600" cy="22225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03 · DECIDE</a:t>
            </a:r>
            <a:endParaRPr sz="1200"/>
          </a:p>
          <a:p>
            <a:pPr marL="0" indent="0">
              <a:lnSpc>
                <a:spcPct val="115000"/>
              </a:lnSpc>
              <a:spcAft>
                <a:spcPts val="800"/>
              </a:spcAft>
              <a:buNone/>
            </a:pPr>
            <a:r>
              <a:rPr sz="1300" b="1">
                <a:solidFill>
                  <a:srgbClr val="141414"/>
                </a:solidFill>
                <a:latin typeface="Arial"/>
                <a:ea typeface="Arial"/>
                <a:cs typeface="Arial"/>
              </a:rPr>
              <a:t>A typed decision</a:t>
            </a:r>
            <a:endParaRPr sz="1200"/>
          </a:p>
          <a:p>
            <a:pPr marL="0" indent="0">
              <a:lnSpc>
                <a:spcPct val="115000"/>
              </a:lnSpc>
              <a:buNone/>
            </a:pPr>
            <a:r>
              <a:rPr sz="1200">
                <a:solidFill>
                  <a:srgbClr val="333333"/>
                </a:solidFill>
                <a:latin typeface="Arial"/>
                <a:ea typeface="Arial"/>
                <a:cs typeface="Arial"/>
              </a:rPr>
              <a:t>Only { protocol, target }: never a URL or query text.</a:t>
            </a:r>
            <a:endParaRPr sz="1200"/>
          </a:p>
        </p:txBody>
      </p:sp>
      <p:sp>
        <p:nvSpPr>
          <p:cNvPr id="22" name="Shape 18">
            <a:extLst>
              <a:ext uri="{FF2B5EF4-FFF2-40B4-BE49-F238E27FC236}">
                <a16:creationId xmlns:a16="http://schemas.microsoft.com/office/drawing/2014/main" id="{3A49220C-46A0-4889-B738-0DB2605BB921}"/>
              </a:ext>
            </a:extLst>
          </p:cNvPr>
          <p:cNvSpPr>
            <a:spLocks noGrp="1"/>
          </p:cNvSpPr>
          <p:nvPr/>
        </p:nvSpPr>
        <p:spPr>
          <a:xfrm>
            <a:off x="7131050" y="3352800"/>
            <a:ext cx="241300" cy="152400"/>
          </a:xfrm>
          <a:prstGeom prst="rightArrow">
            <a:avLst/>
          </a:prstGeom>
          <a:solidFill>
            <a:srgbClr val="DA1884"/>
          </a:solidFill>
        </p:spPr>
        <p:txBody>
          <a:bodyPr/>
          <a:lstStyle/>
          <a:p>
            <a:endParaRPr/>
          </a:p>
        </p:txBody>
      </p:sp>
      <p:sp>
        <p:nvSpPr>
          <p:cNvPr id="23" name="Shape 19">
            <a:extLst>
              <a:ext uri="{FF2B5EF4-FFF2-40B4-BE49-F238E27FC236}">
                <a16:creationId xmlns:a16="http://schemas.microsoft.com/office/drawing/2014/main" id="{0066F6A7-5260-43C2-84F9-3FC1F40B154D}"/>
              </a:ext>
            </a:extLst>
          </p:cNvPr>
          <p:cNvSpPr>
            <a:spLocks noGrp="1"/>
          </p:cNvSpPr>
          <p:nvPr/>
        </p:nvSpPr>
        <p:spPr>
          <a:xfrm>
            <a:off x="7423150" y="2159000"/>
            <a:ext cx="19558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DBB5C735-63EB-4C5A-9D38-36234EE5C7BD}"/>
              </a:ext>
            </a:extLst>
          </p:cNvPr>
          <p:cNvSpPr>
            <a:spLocks noGrp="1"/>
          </p:cNvSpPr>
          <p:nvPr/>
        </p:nvSpPr>
        <p:spPr>
          <a:xfrm>
            <a:off x="7423150" y="2159000"/>
            <a:ext cx="1955800" cy="508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2A600A50-A53B-4748-8527-06AD38E0BE0A}"/>
              </a:ext>
            </a:extLst>
          </p:cNvPr>
          <p:cNvSpPr>
            <a:spLocks noGrp="1"/>
          </p:cNvSpPr>
          <p:nvPr/>
        </p:nvSpPr>
        <p:spPr>
          <a:xfrm>
            <a:off x="7588250" y="2362200"/>
            <a:ext cx="1625600" cy="2222500"/>
          </a:xfrm>
          <a:prstGeom prst="rect">
            <a:avLst/>
          </a:prstGeom>
          <a:noFill/>
        </p:spPr>
        <p:txBody>
          <a:bodyPr wrap="square" lIns="0" tIns="0" rIns="0" bIns="0" anchor="t"/>
          <a:lstStyle/>
          <a:p>
            <a:pPr marL="0" indent="0">
              <a:lnSpc>
                <a:spcPct val="115000"/>
              </a:lnSpc>
              <a:spcAft>
                <a:spcPts val="800"/>
              </a:spcAft>
              <a:buNone/>
            </a:pPr>
            <a:r>
              <a:rPr sz="1200" b="1" dirty="0">
                <a:solidFill>
                  <a:srgbClr val="DA1884"/>
                </a:solidFill>
                <a:latin typeface="Arial"/>
                <a:ea typeface="Arial"/>
                <a:cs typeface="Arial"/>
              </a:rPr>
              <a:t>04 · EXECUTE</a:t>
            </a:r>
            <a:endParaRPr sz="1200" dirty="0"/>
          </a:p>
          <a:p>
            <a:pPr marL="0" indent="0">
              <a:lnSpc>
                <a:spcPct val="115000"/>
              </a:lnSpc>
              <a:spcAft>
                <a:spcPts val="800"/>
              </a:spcAft>
              <a:buNone/>
            </a:pPr>
            <a:r>
              <a:rPr sz="1300" b="1" dirty="0">
                <a:solidFill>
                  <a:srgbClr val="141414"/>
                </a:solidFill>
                <a:latin typeface="Arial"/>
                <a:ea typeface="Arial"/>
                <a:cs typeface="Arial"/>
              </a:rPr>
              <a:t>Real transport</a:t>
            </a:r>
            <a:endParaRPr sz="1200" dirty="0"/>
          </a:p>
          <a:p>
            <a:pPr marL="0" indent="0">
              <a:lnSpc>
                <a:spcPct val="115000"/>
              </a:lnSpc>
              <a:buNone/>
            </a:pPr>
            <a:r>
              <a:rPr sz="1200" dirty="0">
                <a:solidFill>
                  <a:srgbClr val="333333"/>
                </a:solidFill>
                <a:latin typeface="Arial"/>
                <a:ea typeface="Arial"/>
                <a:cs typeface="Arial"/>
              </a:rPr>
              <a:t>Calls its own REST, GraphQL or native gRPC endpoint.</a:t>
            </a:r>
            <a:endParaRPr sz="1200" dirty="0"/>
          </a:p>
        </p:txBody>
      </p:sp>
      <p:sp>
        <p:nvSpPr>
          <p:cNvPr id="26" name="Shape 22">
            <a:extLst>
              <a:ext uri="{FF2B5EF4-FFF2-40B4-BE49-F238E27FC236}">
                <a16:creationId xmlns:a16="http://schemas.microsoft.com/office/drawing/2014/main" id="{0D488AA5-E30D-4B62-B95A-D18EA4122E54}"/>
              </a:ext>
            </a:extLst>
          </p:cNvPr>
          <p:cNvSpPr>
            <a:spLocks noGrp="1"/>
          </p:cNvSpPr>
          <p:nvPr/>
        </p:nvSpPr>
        <p:spPr>
          <a:xfrm>
            <a:off x="9436100" y="3352800"/>
            <a:ext cx="241300" cy="152400"/>
          </a:xfrm>
          <a:prstGeom prst="rightArrow">
            <a:avLst/>
          </a:prstGeom>
          <a:solidFill>
            <a:srgbClr val="DA1884"/>
          </a:solidFill>
        </p:spPr>
        <p:txBody>
          <a:bodyPr/>
          <a:lstStyle/>
          <a:p>
            <a:endParaRPr/>
          </a:p>
        </p:txBody>
      </p:sp>
      <p:sp>
        <p:nvSpPr>
          <p:cNvPr id="27" name="Shape 23">
            <a:extLst>
              <a:ext uri="{FF2B5EF4-FFF2-40B4-BE49-F238E27FC236}">
                <a16:creationId xmlns:a16="http://schemas.microsoft.com/office/drawing/2014/main" id="{07DC3B8E-C3BF-49B3-B230-CEC71BD9E0D6}"/>
              </a:ext>
            </a:extLst>
          </p:cNvPr>
          <p:cNvSpPr>
            <a:spLocks noGrp="1"/>
          </p:cNvSpPr>
          <p:nvPr/>
        </p:nvSpPr>
        <p:spPr>
          <a:xfrm>
            <a:off x="9728200" y="2159000"/>
            <a:ext cx="19558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8" name="Shape 24">
            <a:extLst>
              <a:ext uri="{FF2B5EF4-FFF2-40B4-BE49-F238E27FC236}">
                <a16:creationId xmlns:a16="http://schemas.microsoft.com/office/drawing/2014/main" id="{0584BE73-1DF8-44C5-B2E2-47EE187C1E62}"/>
              </a:ext>
            </a:extLst>
          </p:cNvPr>
          <p:cNvSpPr>
            <a:spLocks noGrp="1"/>
          </p:cNvSpPr>
          <p:nvPr/>
        </p:nvSpPr>
        <p:spPr>
          <a:xfrm>
            <a:off x="9728200" y="2159000"/>
            <a:ext cx="1955800" cy="50800"/>
          </a:xfrm>
          <a:prstGeom prst="rect">
            <a:avLst/>
          </a:prstGeom>
          <a:solidFill>
            <a:srgbClr val="DA1884"/>
          </a:solidFill>
        </p:spPr>
        <p:txBody>
          <a:bodyPr/>
          <a:lstStyle/>
          <a:p>
            <a:endParaRPr/>
          </a:p>
        </p:txBody>
      </p:sp>
      <p:sp>
        <p:nvSpPr>
          <p:cNvPr id="29" name="Text 25">
            <a:extLst>
              <a:ext uri="{FF2B5EF4-FFF2-40B4-BE49-F238E27FC236}">
                <a16:creationId xmlns:a16="http://schemas.microsoft.com/office/drawing/2014/main" id="{6ED3759D-36E4-4C73-99E8-52231C5A122E}"/>
              </a:ext>
            </a:extLst>
          </p:cNvPr>
          <p:cNvSpPr>
            <a:spLocks noGrp="1"/>
          </p:cNvSpPr>
          <p:nvPr/>
        </p:nvSpPr>
        <p:spPr>
          <a:xfrm>
            <a:off x="9893300" y="2362200"/>
            <a:ext cx="1625600" cy="22225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05 · ANSWER</a:t>
            </a:r>
            <a:endParaRPr sz="1200"/>
          </a:p>
          <a:p>
            <a:pPr marL="0" indent="0">
              <a:lnSpc>
                <a:spcPct val="115000"/>
              </a:lnSpc>
              <a:spcAft>
                <a:spcPts val="800"/>
              </a:spcAft>
              <a:buNone/>
            </a:pPr>
            <a:r>
              <a:rPr sz="1300" b="1">
                <a:solidFill>
                  <a:srgbClr val="141414"/>
                </a:solidFill>
                <a:latin typeface="Arial"/>
                <a:ea typeface="Arial"/>
                <a:cs typeface="Arial"/>
              </a:rPr>
              <a:t>Compose, inspect</a:t>
            </a:r>
            <a:endParaRPr sz="1200"/>
          </a:p>
          <a:p>
            <a:pPr marL="0" indent="0">
              <a:lnSpc>
                <a:spcPct val="115000"/>
              </a:lnSpc>
              <a:buNone/>
            </a:pPr>
            <a:r>
              <a:rPr sz="1200">
                <a:solidFill>
                  <a:srgbClr val="333333"/>
                </a:solidFill>
                <a:latin typeface="Arial"/>
                <a:ea typeface="Arial"/>
                <a:cs typeface="Arial"/>
              </a:rPr>
              <a:t>Built from the response, with payloads and timings shown.</a:t>
            </a:r>
            <a:endParaRPr sz="1200"/>
          </a:p>
        </p:txBody>
      </p:sp>
      <p:sp>
        <p:nvSpPr>
          <p:cNvPr id="30" name="Shape 26">
            <a:extLst>
              <a:ext uri="{FF2B5EF4-FFF2-40B4-BE49-F238E27FC236}">
                <a16:creationId xmlns:a16="http://schemas.microsoft.com/office/drawing/2014/main" id="{E33015F1-0097-4167-B17D-16A9D81D46F5}"/>
              </a:ext>
            </a:extLst>
          </p:cNvPr>
          <p:cNvSpPr>
            <a:spLocks noGrp="1"/>
          </p:cNvSpPr>
          <p:nvPr/>
        </p:nvSpPr>
        <p:spPr>
          <a:xfrm>
            <a:off x="508000" y="5016500"/>
            <a:ext cx="11176000" cy="698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31" name="Shape 27">
            <a:extLst>
              <a:ext uri="{FF2B5EF4-FFF2-40B4-BE49-F238E27FC236}">
                <a16:creationId xmlns:a16="http://schemas.microsoft.com/office/drawing/2014/main" id="{5FF2D3E4-7860-4D37-A6B9-4663C2F3685F}"/>
              </a:ext>
            </a:extLst>
          </p:cNvPr>
          <p:cNvSpPr>
            <a:spLocks noGrp="1"/>
          </p:cNvSpPr>
          <p:nvPr/>
        </p:nvSpPr>
        <p:spPr>
          <a:xfrm>
            <a:off x="508000" y="5016500"/>
            <a:ext cx="76200" cy="698500"/>
          </a:xfrm>
          <a:prstGeom prst="rect">
            <a:avLst/>
          </a:prstGeom>
          <a:solidFill>
            <a:srgbClr val="DA1884"/>
          </a:solidFill>
        </p:spPr>
        <p:txBody>
          <a:bodyPr/>
          <a:lstStyle/>
          <a:p>
            <a:endParaRPr/>
          </a:p>
        </p:txBody>
      </p:sp>
      <p:sp>
        <p:nvSpPr>
          <p:cNvPr id="32" name="Text 28">
            <a:extLst>
              <a:ext uri="{FF2B5EF4-FFF2-40B4-BE49-F238E27FC236}">
                <a16:creationId xmlns:a16="http://schemas.microsoft.com/office/drawing/2014/main" id="{3FBA6989-CC9A-464A-82F9-BA5D4161BD69}"/>
              </a:ext>
            </a:extLst>
          </p:cNvPr>
          <p:cNvSpPr>
            <a:spLocks noGrp="1"/>
          </p:cNvSpPr>
          <p:nvPr/>
        </p:nvSpPr>
        <p:spPr>
          <a:xfrm>
            <a:off x="787400" y="5016500"/>
            <a:ext cx="10668000" cy="6985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The model chooses the route. It never supplies the data.  </a:t>
            </a:r>
            <a:r>
              <a:rPr sz="1200">
                <a:solidFill>
                  <a:srgbClr val="141414"/>
                </a:solidFill>
                <a:latin typeface="Arial"/>
                <a:ea typeface="Arial"/>
                <a:cs typeface="Arial"/>
              </a:rPr>
              <a:t>Answers are composed deterministically from what the protocol returned, so a routing mistake is visible and no facts are invented.</a:t>
            </a:r>
            <a:endParaRPr sz="1200"/>
          </a:p>
        </p:txBody>
      </p:sp>
    </p:spTree>
    <p:extLst>
      <p:ext uri="{BB962C8B-B14F-4D97-AF65-F5344CB8AC3E}">
        <p14:creationId xmlns:p14="http://schemas.microsoft.com/office/powerpoint/2010/main" val="1689868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5D99CAAB-31CD-4124-9A6F-D47B18ECCF34}"/>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5B6ED3BF-8C9E-4A22-8EF7-FA9F4CB66E9F}"/>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6EE7371C-0711-459B-89D2-11BAA4AE7643}"/>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a:ext uri="{FF2B5EF4-FFF2-40B4-BE49-F238E27FC236}">
                <a16:creationId xmlns:a16="http://schemas.microsoft.com/office/drawing/2014/main" id="{88B66110-8C3D-42C0-BAFC-0DAF60E8EE35}"/>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2631B7C3-0BA3-40A4-BA1E-04B44F2E4C40}"/>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23</a:t>
            </a:r>
            <a:endParaRPr sz="900"/>
          </a:p>
        </p:txBody>
      </p:sp>
      <p:sp>
        <p:nvSpPr>
          <p:cNvPr id="7" name="Text 4">
            <a:extLst>
              <a:ext uri="{FF2B5EF4-FFF2-40B4-BE49-F238E27FC236}">
                <a16:creationId xmlns:a16="http://schemas.microsoft.com/office/drawing/2014/main" id="{5B38DACC-D53B-4DDB-8715-4AE8309BBBFB}"/>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AI ROUTING · OLLAMA</a:t>
            </a:r>
            <a:endParaRPr sz="1200"/>
          </a:p>
        </p:txBody>
      </p:sp>
      <p:sp>
        <p:nvSpPr>
          <p:cNvPr id="8" name="Text 5">
            <a:extLst>
              <a:ext uri="{FF2B5EF4-FFF2-40B4-BE49-F238E27FC236}">
                <a16:creationId xmlns:a16="http://schemas.microsoft.com/office/drawing/2014/main" id="{A7E123C5-E1D6-4967-8CFB-EA85A51E1DDD}"/>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Local Routing with Ollama Tool Calling</a:t>
            </a:r>
            <a:endParaRPr sz="3000"/>
          </a:p>
        </p:txBody>
      </p:sp>
      <p:sp>
        <p:nvSpPr>
          <p:cNvPr id="9" name="Text 6">
            <a:extLst>
              <a:ext uri="{FF2B5EF4-FFF2-40B4-BE49-F238E27FC236}">
                <a16:creationId xmlns:a16="http://schemas.microsoft.com/office/drawing/2014/main" id="{3F7689EC-1800-49C0-B821-82E393E0D79F}"/>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Genuine tool calling on a small local model: no API key and no cloud dependency.</a:t>
            </a:r>
            <a:endParaRPr sz="1400"/>
          </a:p>
        </p:txBody>
      </p:sp>
      <p:sp>
        <p:nvSpPr>
          <p:cNvPr id="11" name="Shape 7">
            <a:extLst>
              <a:ext uri="{FF2B5EF4-FFF2-40B4-BE49-F238E27FC236}">
                <a16:creationId xmlns:a16="http://schemas.microsoft.com/office/drawing/2014/main" id="{81BB381C-B0B8-4062-9FF1-FE9F0C156A2E}"/>
              </a:ext>
            </a:extLst>
          </p:cNvPr>
          <p:cNvSpPr>
            <a:spLocks noGrp="1"/>
          </p:cNvSpPr>
          <p:nvPr/>
        </p:nvSpPr>
        <p:spPr>
          <a:xfrm>
            <a:off x="508000" y="2159000"/>
            <a:ext cx="5588000" cy="3810000"/>
          </a:xfrm>
          <a:prstGeom prst="rect">
            <a:avLst/>
          </a:prstGeom>
          <a:solidFill>
            <a:srgbClr val="1B1B1F"/>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37BB79C8-61E3-46ED-A5CD-481848589D75}"/>
              </a:ext>
            </a:extLst>
          </p:cNvPr>
          <p:cNvSpPr>
            <a:spLocks noGrp="1"/>
          </p:cNvSpPr>
          <p:nvPr/>
        </p:nvSpPr>
        <p:spPr>
          <a:xfrm>
            <a:off x="508000" y="2159000"/>
            <a:ext cx="5588000" cy="3556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E58C6DEA-9ABE-4AB7-A165-19A224C1E022}"/>
              </a:ext>
            </a:extLst>
          </p:cNvPr>
          <p:cNvSpPr>
            <a:spLocks noGrp="1"/>
          </p:cNvSpPr>
          <p:nvPr/>
        </p:nvSpPr>
        <p:spPr>
          <a:xfrm>
            <a:off x="711200" y="2159000"/>
            <a:ext cx="5181600" cy="355600"/>
          </a:xfrm>
          <a:prstGeom prst="rect">
            <a:avLst/>
          </a:prstGeom>
          <a:noFill/>
        </p:spPr>
        <p:txBody>
          <a:bodyPr wrap="square" lIns="0" tIns="0" rIns="0" bIns="0" anchor="ctr"/>
          <a:lstStyle/>
          <a:p>
            <a:pPr marL="0" indent="0" algn="l">
              <a:lnSpc>
                <a:spcPct val="110000"/>
              </a:lnSpc>
              <a:buNone/>
            </a:pPr>
            <a:r>
              <a:rPr sz="1200" b="1">
                <a:solidFill>
                  <a:srgbClr val="FFFFFF"/>
                </a:solidFill>
                <a:latin typeface="Arial"/>
                <a:ea typeface="Arial"/>
                <a:cs typeface="Arial"/>
              </a:rPr>
              <a:t>ONE TOOL PER OPERATION</a:t>
            </a:r>
            <a:endParaRPr sz="1200"/>
          </a:p>
        </p:txBody>
      </p:sp>
      <p:sp>
        <p:nvSpPr>
          <p:cNvPr id="14" name="Text 10">
            <a:extLst>
              <a:ext uri="{FF2B5EF4-FFF2-40B4-BE49-F238E27FC236}">
                <a16:creationId xmlns:a16="http://schemas.microsoft.com/office/drawing/2014/main" id="{19988A27-7F15-493C-9472-0DC54CF95DE8}"/>
              </a:ext>
            </a:extLst>
          </p:cNvPr>
          <p:cNvSpPr>
            <a:spLocks noGrp="1"/>
          </p:cNvSpPr>
          <p:nvPr/>
        </p:nvSpPr>
        <p:spPr>
          <a:xfrm>
            <a:off x="711200" y="2667000"/>
            <a:ext cx="5181600" cy="3149600"/>
          </a:xfrm>
          <a:prstGeom prst="rect">
            <a:avLst/>
          </a:prstGeom>
          <a:noFill/>
        </p:spPr>
        <p:txBody>
          <a:bodyPr wrap="square" lIns="0" tIns="0" rIns="0" bIns="0" anchor="t"/>
          <a:lstStyle/>
          <a:p>
            <a:pPr marL="0" indent="0">
              <a:lnSpc>
                <a:spcPct val="120000"/>
              </a:lnSpc>
              <a:buNone/>
            </a:pPr>
            <a:r>
              <a:rPr sz="1200">
                <a:solidFill>
                  <a:srgbClr val="EDEDED"/>
                </a:solidFill>
                <a:latin typeface="Consolas"/>
                <a:ea typeface="Consolas"/>
                <a:cs typeface="Consolas"/>
              </a:rPr>
              <a:t>{</a:t>
            </a:r>
            <a:endParaRPr sz="1200"/>
          </a:p>
          <a:p>
            <a:pPr marL="0" indent="0">
              <a:lnSpc>
                <a:spcPct val="120000"/>
              </a:lnSpc>
              <a:buNone/>
            </a:pPr>
            <a:r>
              <a:rPr sz="1200">
                <a:solidFill>
                  <a:srgbClr val="EDEDED"/>
                </a:solidFill>
                <a:latin typeface="Consolas"/>
                <a:ea typeface="Consolas"/>
                <a:cs typeface="Consolas"/>
              </a:rPr>
              <a:t xml:space="preserve">  "type": "function",</a:t>
            </a:r>
            <a:endParaRPr sz="1200"/>
          </a:p>
          <a:p>
            <a:pPr marL="0" indent="0">
              <a:lnSpc>
                <a:spcPct val="120000"/>
              </a:lnSpc>
              <a:buNone/>
            </a:pPr>
            <a:r>
              <a:rPr sz="1200">
                <a:solidFill>
                  <a:srgbClr val="EDEDED"/>
                </a:solidFill>
                <a:latin typeface="Consolas"/>
                <a:ea typeface="Consolas"/>
                <a:cs typeface="Consolas"/>
              </a:rPr>
              <a:t xml:space="preserve">  "function": {</a:t>
            </a:r>
            <a:endParaRPr sz="1200"/>
          </a:p>
          <a:p>
            <a:pPr marL="0" indent="0">
              <a:lnSpc>
                <a:spcPct val="120000"/>
              </a:lnSpc>
              <a:buNone/>
            </a:pPr>
            <a:r>
              <a:rPr sz="1200">
                <a:solidFill>
                  <a:srgbClr val="EDEDED"/>
                </a:solidFill>
                <a:latin typeface="Consolas"/>
                <a:ea typeface="Consolas"/>
                <a:cs typeface="Consolas"/>
              </a:rPr>
              <a:t xml:space="preserve">    "name": "FILM_SHIPS_CAST",</a:t>
            </a:r>
            <a:endParaRPr sz="1200"/>
          </a:p>
          <a:p>
            <a:pPr marL="0" indent="0">
              <a:lnSpc>
                <a:spcPct val="120000"/>
              </a:lnSpc>
              <a:buNone/>
            </a:pPr>
            <a:r>
              <a:rPr sz="1200">
                <a:solidFill>
                  <a:srgbClr val="EDEDED"/>
                </a:solidFill>
                <a:latin typeface="Consolas"/>
                <a:ea typeface="Consolas"/>
                <a:cs typeface="Consolas"/>
              </a:rPr>
              <a:t xml:space="preserve">    "description": "Ships and film cast",</a:t>
            </a:r>
            <a:endParaRPr sz="1200"/>
          </a:p>
          <a:p>
            <a:pPr marL="0" indent="0">
              <a:lnSpc>
                <a:spcPct val="120000"/>
              </a:lnSpc>
              <a:buNone/>
            </a:pPr>
            <a:r>
              <a:rPr sz="1200">
                <a:solidFill>
                  <a:srgbClr val="EDEDED"/>
                </a:solidFill>
                <a:latin typeface="Consolas"/>
                <a:ea typeface="Consolas"/>
                <a:cs typeface="Consolas"/>
              </a:rPr>
              <a:t xml:space="preserve">    "parameters": {</a:t>
            </a:r>
            <a:endParaRPr sz="1200"/>
          </a:p>
          <a:p>
            <a:pPr marL="0" indent="0">
              <a:lnSpc>
                <a:spcPct val="120000"/>
              </a:lnSpc>
              <a:buNone/>
            </a:pPr>
            <a:r>
              <a:rPr sz="1200">
                <a:solidFill>
                  <a:srgbClr val="EDEDED"/>
                </a:solidFill>
                <a:latin typeface="Consolas"/>
                <a:ea typeface="Consolas"/>
                <a:cs typeface="Consolas"/>
              </a:rPr>
              <a:t xml:space="preserve">      "properties": { "target": {</a:t>
            </a:r>
            <a:endParaRPr sz="1200"/>
          </a:p>
          <a:p>
            <a:pPr marL="0" indent="0">
              <a:lnSpc>
                <a:spcPct val="120000"/>
              </a:lnSpc>
              <a:buNone/>
            </a:pPr>
            <a:r>
              <a:rPr sz="1200">
                <a:solidFill>
                  <a:srgbClr val="EDEDED"/>
                </a:solidFill>
                <a:latin typeface="Consolas"/>
                <a:ea typeface="Consolas"/>
                <a:cs typeface="Consolas"/>
              </a:rPr>
              <a:t xml:space="preserve">        "type": "string",</a:t>
            </a:r>
            <a:endParaRPr sz="1200"/>
          </a:p>
          <a:p>
            <a:pPr marL="0" indent="0">
              <a:lnSpc>
                <a:spcPct val="120000"/>
              </a:lnSpc>
              <a:buNone/>
            </a:pPr>
            <a:r>
              <a:rPr sz="1200">
                <a:solidFill>
                  <a:srgbClr val="EDEDED"/>
                </a:solidFill>
                <a:latin typeface="Consolas"/>
                <a:ea typeface="Consolas"/>
                <a:cs typeface="Consolas"/>
              </a:rPr>
              <a:t xml:space="preserve">        "enum": ["film:1", …, "none"]</a:t>
            </a:r>
            <a:endParaRPr sz="1200"/>
          </a:p>
          <a:p>
            <a:pPr marL="0" indent="0">
              <a:lnSpc>
                <a:spcPct val="120000"/>
              </a:lnSpc>
              <a:buNone/>
            </a:pPr>
            <a:r>
              <a:rPr sz="1200">
                <a:solidFill>
                  <a:srgbClr val="EDEDED"/>
                </a:solidFill>
                <a:latin typeface="Consolas"/>
                <a:ea typeface="Consolas"/>
                <a:cs typeface="Consolas"/>
              </a:rPr>
              <a:t xml:space="preserve">      } },</a:t>
            </a:r>
            <a:endParaRPr sz="1200"/>
          </a:p>
          <a:p>
            <a:pPr marL="0" indent="0">
              <a:lnSpc>
                <a:spcPct val="120000"/>
              </a:lnSpc>
              <a:buNone/>
            </a:pPr>
            <a:r>
              <a:rPr sz="1200">
                <a:solidFill>
                  <a:srgbClr val="EDEDED"/>
                </a:solidFill>
                <a:latin typeface="Consolas"/>
                <a:ea typeface="Consolas"/>
                <a:cs typeface="Consolas"/>
              </a:rPr>
              <a:t xml:space="preserve">      "required": ["target"]</a:t>
            </a:r>
            <a:endParaRPr sz="1200"/>
          </a:p>
          <a:p>
            <a:pPr marL="0" indent="0">
              <a:lnSpc>
                <a:spcPct val="120000"/>
              </a:lnSpc>
              <a:buNone/>
            </a:pPr>
            <a:r>
              <a:rPr sz="1200">
                <a:solidFill>
                  <a:srgbClr val="EDEDED"/>
                </a:solidFill>
                <a:latin typeface="Consolas"/>
                <a:ea typeface="Consolas"/>
                <a:cs typeface="Consolas"/>
              </a:rPr>
              <a:t>} } }</a:t>
            </a:r>
            <a:endParaRPr sz="1200"/>
          </a:p>
        </p:txBody>
      </p:sp>
      <p:sp>
        <p:nvSpPr>
          <p:cNvPr id="15" name="Shape 11">
            <a:extLst>
              <a:ext uri="{FF2B5EF4-FFF2-40B4-BE49-F238E27FC236}">
                <a16:creationId xmlns:a16="http://schemas.microsoft.com/office/drawing/2014/main" id="{46066D26-04E6-42B1-AE2C-DC69F87B48AB}"/>
              </a:ext>
            </a:extLst>
          </p:cNvPr>
          <p:cNvSpPr>
            <a:spLocks noGrp="1"/>
          </p:cNvSpPr>
          <p:nvPr/>
        </p:nvSpPr>
        <p:spPr>
          <a:xfrm>
            <a:off x="6299200" y="2159000"/>
            <a:ext cx="5384800" cy="8763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EC715924-4B0F-4577-99EF-7BF8E70DD9DD}"/>
              </a:ext>
            </a:extLst>
          </p:cNvPr>
          <p:cNvSpPr>
            <a:spLocks noGrp="1"/>
          </p:cNvSpPr>
          <p:nvPr/>
        </p:nvSpPr>
        <p:spPr>
          <a:xfrm>
            <a:off x="6299200" y="2159000"/>
            <a:ext cx="63500" cy="876300"/>
          </a:xfrm>
          <a:prstGeom prst="rect">
            <a:avLst/>
          </a:prstGeom>
          <a:solidFill>
            <a:srgbClr val="DA1884"/>
          </a:solidFill>
        </p:spPr>
        <p:txBody>
          <a:bodyPr/>
          <a:lstStyle/>
          <a:p>
            <a:endParaRPr/>
          </a:p>
        </p:txBody>
      </p:sp>
      <p:sp>
        <p:nvSpPr>
          <p:cNvPr id="17" name="Text 13">
            <a:extLst>
              <a:ext uri="{FF2B5EF4-FFF2-40B4-BE49-F238E27FC236}">
                <a16:creationId xmlns:a16="http://schemas.microsoft.com/office/drawing/2014/main" id="{12045AFB-A591-4049-ADF0-AB4512C4CD40}"/>
              </a:ext>
            </a:extLst>
          </p:cNvPr>
          <p:cNvSpPr>
            <a:spLocks noGrp="1"/>
          </p:cNvSpPr>
          <p:nvPr/>
        </p:nvSpPr>
        <p:spPr>
          <a:xfrm>
            <a:off x="6527800" y="23114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a:ext uri="{FF2B5EF4-FFF2-40B4-BE49-F238E27FC236}">
                <a16:creationId xmlns:a16="http://schemas.microsoft.com/office/drawing/2014/main" id="{C36D9E6A-433A-4130-8C59-25A7E99CF6A2}"/>
              </a:ext>
            </a:extLst>
          </p:cNvPr>
          <p:cNvSpPr>
            <a:spLocks noGrp="1"/>
          </p:cNvSpPr>
          <p:nvPr/>
        </p:nvSpPr>
        <p:spPr>
          <a:xfrm>
            <a:off x="7035800" y="2311400"/>
            <a:ext cx="4445000" cy="622300"/>
          </a:xfrm>
          <a:prstGeom prst="rect">
            <a:avLst/>
          </a:prstGeom>
          <a:noFill/>
        </p:spPr>
        <p:txBody>
          <a:bodyPr wrap="square" lIns="0" tIns="0" rIns="0" bIns="0" anchor="t"/>
          <a:lstStyle/>
          <a:p>
            <a:pPr marL="0" indent="0">
              <a:lnSpc>
                <a:spcPct val="115000"/>
              </a:lnSpc>
              <a:spcAft>
                <a:spcPts val="400"/>
              </a:spcAft>
              <a:buNone/>
            </a:pPr>
            <a:r>
              <a:rPr sz="1300" b="1" dirty="0">
                <a:solidFill>
                  <a:srgbClr val="141414"/>
                </a:solidFill>
                <a:latin typeface="Arial"/>
                <a:ea typeface="Arial"/>
                <a:cs typeface="Arial"/>
              </a:rPr>
              <a:t>The tool chooses the operation</a:t>
            </a:r>
            <a:endParaRPr sz="1300" dirty="0"/>
          </a:p>
          <a:p>
            <a:pPr marL="0" indent="0">
              <a:lnSpc>
                <a:spcPct val="115000"/>
              </a:lnSpc>
              <a:buNone/>
            </a:pPr>
            <a:r>
              <a:rPr sz="1200" dirty="0">
                <a:solidFill>
                  <a:srgbClr val="333333"/>
                </a:solidFill>
                <a:latin typeface="Arial"/>
                <a:ea typeface="Arial"/>
                <a:cs typeface="Arial"/>
              </a:rPr>
              <a:t>Each reviewed operation fixes its protocol and request.</a:t>
            </a:r>
            <a:endParaRPr sz="1300" dirty="0"/>
          </a:p>
        </p:txBody>
      </p:sp>
      <p:sp>
        <p:nvSpPr>
          <p:cNvPr id="19" name="Shape 15">
            <a:extLst>
              <a:ext uri="{FF2B5EF4-FFF2-40B4-BE49-F238E27FC236}">
                <a16:creationId xmlns:a16="http://schemas.microsoft.com/office/drawing/2014/main" id="{252B00AF-0977-4966-8875-E06B92025B25}"/>
              </a:ext>
            </a:extLst>
          </p:cNvPr>
          <p:cNvSpPr>
            <a:spLocks noGrp="1"/>
          </p:cNvSpPr>
          <p:nvPr/>
        </p:nvSpPr>
        <p:spPr>
          <a:xfrm>
            <a:off x="6299200" y="3124200"/>
            <a:ext cx="5384800" cy="8763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B29AEFCD-64D4-4FAC-89EA-D8820F16A08A}"/>
              </a:ext>
            </a:extLst>
          </p:cNvPr>
          <p:cNvSpPr>
            <a:spLocks noGrp="1"/>
          </p:cNvSpPr>
          <p:nvPr/>
        </p:nvSpPr>
        <p:spPr>
          <a:xfrm>
            <a:off x="6299200" y="3124200"/>
            <a:ext cx="63500" cy="8763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DC1B0302-2E02-44C6-A673-509A4BBBD244}"/>
              </a:ext>
            </a:extLst>
          </p:cNvPr>
          <p:cNvSpPr>
            <a:spLocks noGrp="1"/>
          </p:cNvSpPr>
          <p:nvPr/>
        </p:nvSpPr>
        <p:spPr>
          <a:xfrm>
            <a:off x="6527800" y="32766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a:ext uri="{FF2B5EF4-FFF2-40B4-BE49-F238E27FC236}">
                <a16:creationId xmlns:a16="http://schemas.microsoft.com/office/drawing/2014/main" id="{54A31785-6E42-4FB4-929F-22B22A9D170B}"/>
              </a:ext>
            </a:extLst>
          </p:cNvPr>
          <p:cNvSpPr>
            <a:spLocks noGrp="1"/>
          </p:cNvSpPr>
          <p:nvPr/>
        </p:nvSpPr>
        <p:spPr>
          <a:xfrm>
            <a:off x="7035800" y="3276600"/>
            <a:ext cx="4445000" cy="6223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Enum-bound targets</a:t>
            </a:r>
            <a:endParaRPr sz="1300"/>
          </a:p>
          <a:p>
            <a:pPr marL="0" indent="0">
              <a:lnSpc>
                <a:spcPct val="115000"/>
              </a:lnSpc>
              <a:buNone/>
            </a:pPr>
            <a:r>
              <a:rPr sz="1200">
                <a:solidFill>
                  <a:srgbClr val="333333"/>
                </a:solidFill>
                <a:latin typeface="Arial"/>
                <a:ea typeface="Arial"/>
                <a:cs typeface="Arial"/>
              </a:rPr>
              <a:t>Character IDs and ship/film crew targets stay allowlisted.</a:t>
            </a:r>
            <a:endParaRPr sz="1300"/>
          </a:p>
        </p:txBody>
      </p:sp>
      <p:sp>
        <p:nvSpPr>
          <p:cNvPr id="23" name="Shape 19">
            <a:extLst>
              <a:ext uri="{FF2B5EF4-FFF2-40B4-BE49-F238E27FC236}">
                <a16:creationId xmlns:a16="http://schemas.microsoft.com/office/drawing/2014/main" id="{99F730BA-549A-4831-A97D-64760CF8A1CC}"/>
              </a:ext>
            </a:extLst>
          </p:cNvPr>
          <p:cNvSpPr>
            <a:spLocks noGrp="1"/>
          </p:cNvSpPr>
          <p:nvPr/>
        </p:nvSpPr>
        <p:spPr>
          <a:xfrm>
            <a:off x="6299200" y="4089400"/>
            <a:ext cx="5384800" cy="8763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BDD54C9A-6AC8-4819-BB9D-448A72B5D729}"/>
              </a:ext>
            </a:extLst>
          </p:cNvPr>
          <p:cNvSpPr>
            <a:spLocks noGrp="1"/>
          </p:cNvSpPr>
          <p:nvPr/>
        </p:nvSpPr>
        <p:spPr>
          <a:xfrm>
            <a:off x="6299200" y="4089400"/>
            <a:ext cx="63500" cy="8763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7B25269B-7669-438D-BC8E-175FF2C1953B}"/>
              </a:ext>
            </a:extLst>
          </p:cNvPr>
          <p:cNvSpPr>
            <a:spLocks noGrp="1"/>
          </p:cNvSpPr>
          <p:nvPr/>
        </p:nvSpPr>
        <p:spPr>
          <a:xfrm>
            <a:off x="6527800" y="42418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a:ext uri="{FF2B5EF4-FFF2-40B4-BE49-F238E27FC236}">
                <a16:creationId xmlns:a16="http://schemas.microsoft.com/office/drawing/2014/main" id="{EEFA5503-6244-4F4C-9BE8-10C890EF714E}"/>
              </a:ext>
            </a:extLst>
          </p:cNvPr>
          <p:cNvSpPr>
            <a:spLocks noGrp="1"/>
          </p:cNvSpPr>
          <p:nvPr/>
        </p:nvSpPr>
        <p:spPr>
          <a:xfrm>
            <a:off x="7035800" y="4241800"/>
            <a:ext cx="4445000" cy="6223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A pinned small model</a:t>
            </a:r>
            <a:endParaRPr sz="1300"/>
          </a:p>
          <a:p>
            <a:pPr marL="0" indent="0">
              <a:lnSpc>
                <a:spcPct val="115000"/>
              </a:lnSpc>
              <a:buNone/>
            </a:pPr>
            <a:r>
              <a:rPr sz="1200">
                <a:solidFill>
                  <a:srgbClr val="333333"/>
                </a:solidFill>
                <a:latin typeface="Arial"/>
                <a:ea typeface="Arial"/>
                <a:cs typeface="Arial"/>
              </a:rPr>
              <a:t>qwen3:4b-instruct-2507 (q4_K_M), no thinking mode, runs locally.</a:t>
            </a:r>
            <a:endParaRPr sz="1300"/>
          </a:p>
        </p:txBody>
      </p:sp>
      <p:sp>
        <p:nvSpPr>
          <p:cNvPr id="27" name="Shape 23">
            <a:extLst>
              <a:ext uri="{FF2B5EF4-FFF2-40B4-BE49-F238E27FC236}">
                <a16:creationId xmlns:a16="http://schemas.microsoft.com/office/drawing/2014/main" id="{2FEB3607-8619-45F8-8AF8-CCEAA7C15F6C}"/>
              </a:ext>
            </a:extLst>
          </p:cNvPr>
          <p:cNvSpPr>
            <a:spLocks noGrp="1"/>
          </p:cNvSpPr>
          <p:nvPr/>
        </p:nvSpPr>
        <p:spPr>
          <a:xfrm>
            <a:off x="6299200" y="5054600"/>
            <a:ext cx="5384800" cy="8763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8" name="Shape 24">
            <a:extLst>
              <a:ext uri="{FF2B5EF4-FFF2-40B4-BE49-F238E27FC236}">
                <a16:creationId xmlns:a16="http://schemas.microsoft.com/office/drawing/2014/main" id="{7FB6BEEF-D117-4E23-9ED5-DAE0D2294892}"/>
              </a:ext>
            </a:extLst>
          </p:cNvPr>
          <p:cNvSpPr>
            <a:spLocks noGrp="1"/>
          </p:cNvSpPr>
          <p:nvPr/>
        </p:nvSpPr>
        <p:spPr>
          <a:xfrm>
            <a:off x="6299200" y="5054600"/>
            <a:ext cx="63500" cy="876300"/>
          </a:xfrm>
          <a:prstGeom prst="rect">
            <a:avLst/>
          </a:prstGeom>
          <a:solidFill>
            <a:srgbClr val="DA1884"/>
          </a:solidFill>
        </p:spPr>
        <p:txBody>
          <a:bodyPr/>
          <a:lstStyle/>
          <a:p>
            <a:endParaRPr/>
          </a:p>
        </p:txBody>
      </p:sp>
      <p:sp>
        <p:nvSpPr>
          <p:cNvPr id="29" name="Text 25">
            <a:extLst>
              <a:ext uri="{FF2B5EF4-FFF2-40B4-BE49-F238E27FC236}">
                <a16:creationId xmlns:a16="http://schemas.microsoft.com/office/drawing/2014/main" id="{4E9DC57D-28F8-4C3C-837B-56145043D73A}"/>
              </a:ext>
            </a:extLst>
          </p:cNvPr>
          <p:cNvSpPr>
            <a:spLocks noGrp="1"/>
          </p:cNvSpPr>
          <p:nvPr/>
        </p:nvSpPr>
        <p:spPr>
          <a:xfrm>
            <a:off x="6527800" y="52070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04</a:t>
            </a:r>
            <a:endParaRPr sz="1600"/>
          </a:p>
        </p:txBody>
      </p:sp>
      <p:sp>
        <p:nvSpPr>
          <p:cNvPr id="30" name="Text 26">
            <a:extLst>
              <a:ext uri="{FF2B5EF4-FFF2-40B4-BE49-F238E27FC236}">
                <a16:creationId xmlns:a16="http://schemas.microsoft.com/office/drawing/2014/main" id="{BC4B3EDC-5378-46F0-A625-9131107026D9}"/>
              </a:ext>
            </a:extLst>
          </p:cNvPr>
          <p:cNvSpPr>
            <a:spLocks noGrp="1"/>
          </p:cNvSpPr>
          <p:nvPr/>
        </p:nvSpPr>
        <p:spPr>
          <a:xfrm>
            <a:off x="7035800" y="5207000"/>
            <a:ext cx="4445000" cy="6223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Tuned for latency</a:t>
            </a:r>
            <a:endParaRPr sz="1300"/>
          </a:p>
          <a:p>
            <a:pPr marL="0" indent="0">
              <a:lnSpc>
                <a:spcPct val="115000"/>
              </a:lnSpc>
              <a:buNone/>
            </a:pPr>
            <a:r>
              <a:rPr sz="1200">
                <a:solidFill>
                  <a:srgbClr val="333333"/>
                </a:solidFill>
                <a:latin typeface="Arial"/>
                <a:ea typeface="Arial"/>
                <a:cs typeface="Arial"/>
              </a:rPr>
              <a:t>Temperature 0, 96-token cap, 30-minute keep-alive, startup warm-up.</a:t>
            </a:r>
            <a:endParaRPr sz="1300"/>
          </a:p>
        </p:txBody>
      </p:sp>
    </p:spTree>
    <p:extLst>
      <p:ext uri="{BB962C8B-B14F-4D97-AF65-F5344CB8AC3E}">
        <p14:creationId xmlns:p14="http://schemas.microsoft.com/office/powerpoint/2010/main" val="2566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B6B00A07-BB4B-43B8-9FB0-2ABA9EDDACF0}"/>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81CC15C1-A146-4240-BEC4-FECFD98DAB0B}"/>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CD7F9CFB-A567-49ED-8B0B-0447313C57A4}"/>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a:ext uri="{FF2B5EF4-FFF2-40B4-BE49-F238E27FC236}">
                <a16:creationId xmlns:a16="http://schemas.microsoft.com/office/drawing/2014/main" id="{769D02C9-BEBE-43C1-A8CF-72182960F636}"/>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4F738A52-3673-4C90-9985-DE2AF09BBD8D}"/>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24</a:t>
            </a:r>
            <a:endParaRPr sz="900"/>
          </a:p>
        </p:txBody>
      </p:sp>
      <p:sp>
        <p:nvSpPr>
          <p:cNvPr id="7" name="Text 4">
            <a:extLst>
              <a:ext uri="{FF2B5EF4-FFF2-40B4-BE49-F238E27FC236}">
                <a16:creationId xmlns:a16="http://schemas.microsoft.com/office/drawing/2014/main" id="{50CDC538-1437-44D9-8EC5-DD48F414FFE2}"/>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AI ROUTING · JEV</a:t>
            </a:r>
            <a:endParaRPr sz="1200"/>
          </a:p>
        </p:txBody>
      </p:sp>
      <p:sp>
        <p:nvSpPr>
          <p:cNvPr id="8" name="Text 5">
            <a:extLst>
              <a:ext uri="{FF2B5EF4-FFF2-40B4-BE49-F238E27FC236}">
                <a16:creationId xmlns:a16="http://schemas.microsoft.com/office/drawing/2014/main" id="{A44C8830-FD59-48CB-8768-C2ABA2FC8FD4}"/>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Jev: A Decision Model, Not a Text Generator</a:t>
            </a:r>
            <a:endParaRPr sz="3000"/>
          </a:p>
        </p:txBody>
      </p:sp>
      <p:sp>
        <p:nvSpPr>
          <p:cNvPr id="9" name="Text 6">
            <a:extLst>
              <a:ext uri="{FF2B5EF4-FFF2-40B4-BE49-F238E27FC236}">
                <a16:creationId xmlns:a16="http://schemas.microsoft.com/office/drawing/2014/main" id="{96FD63C0-00F6-47E3-817F-7AF5C19BBFF4}"/>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Two typed Choice questions replace free-form generation, which suits a small, closed decision space.</a:t>
            </a:r>
            <a:endParaRPr sz="1400"/>
          </a:p>
        </p:txBody>
      </p:sp>
      <p:sp>
        <p:nvSpPr>
          <p:cNvPr id="11" name="Shape 7">
            <a:extLst>
              <a:ext uri="{FF2B5EF4-FFF2-40B4-BE49-F238E27FC236}">
                <a16:creationId xmlns:a16="http://schemas.microsoft.com/office/drawing/2014/main" id="{D68ABAC7-8565-4B67-BFF1-EF801DBC2E18}"/>
              </a:ext>
            </a:extLst>
          </p:cNvPr>
          <p:cNvSpPr>
            <a:spLocks noGrp="1"/>
          </p:cNvSpPr>
          <p:nvPr/>
        </p:nvSpPr>
        <p:spPr>
          <a:xfrm>
            <a:off x="508000" y="2159000"/>
            <a:ext cx="5588000" cy="3810000"/>
          </a:xfrm>
          <a:prstGeom prst="rect">
            <a:avLst/>
          </a:prstGeom>
          <a:solidFill>
            <a:srgbClr val="1B1B1F"/>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57CFAC12-2FA4-4F2F-808E-C1373AD697AD}"/>
              </a:ext>
            </a:extLst>
          </p:cNvPr>
          <p:cNvSpPr>
            <a:spLocks noGrp="1"/>
          </p:cNvSpPr>
          <p:nvPr/>
        </p:nvSpPr>
        <p:spPr>
          <a:xfrm>
            <a:off x="508000" y="2159000"/>
            <a:ext cx="5588000" cy="3556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2C4F7059-5583-4B98-9D43-AF914C10124C}"/>
              </a:ext>
            </a:extLst>
          </p:cNvPr>
          <p:cNvSpPr>
            <a:spLocks noGrp="1"/>
          </p:cNvSpPr>
          <p:nvPr/>
        </p:nvSpPr>
        <p:spPr>
          <a:xfrm>
            <a:off x="711200" y="2159000"/>
            <a:ext cx="5181600" cy="355600"/>
          </a:xfrm>
          <a:prstGeom prst="rect">
            <a:avLst/>
          </a:prstGeom>
          <a:noFill/>
        </p:spPr>
        <p:txBody>
          <a:bodyPr wrap="square" lIns="0" tIns="0" rIns="0" bIns="0" anchor="ctr"/>
          <a:lstStyle/>
          <a:p>
            <a:pPr marL="0" indent="0" algn="l">
              <a:lnSpc>
                <a:spcPct val="110000"/>
              </a:lnSpc>
              <a:buNone/>
            </a:pPr>
            <a:r>
              <a:rPr sz="1200" b="1">
                <a:solidFill>
                  <a:srgbClr val="FFFFFF"/>
                </a:solidFill>
                <a:latin typeface="Arial"/>
                <a:ea typeface="Arial"/>
                <a:cs typeface="Arial"/>
              </a:rPr>
              <a:t>POST /V1/SYSTEMONE</a:t>
            </a:r>
            <a:endParaRPr sz="1200"/>
          </a:p>
        </p:txBody>
      </p:sp>
      <p:sp>
        <p:nvSpPr>
          <p:cNvPr id="14" name="Text 10">
            <a:extLst>
              <a:ext uri="{FF2B5EF4-FFF2-40B4-BE49-F238E27FC236}">
                <a16:creationId xmlns:a16="http://schemas.microsoft.com/office/drawing/2014/main" id="{0AF6C7B9-0A46-4187-A850-611272263008}"/>
              </a:ext>
            </a:extLst>
          </p:cNvPr>
          <p:cNvSpPr>
            <a:spLocks noGrp="1"/>
          </p:cNvSpPr>
          <p:nvPr/>
        </p:nvSpPr>
        <p:spPr>
          <a:xfrm>
            <a:off x="711200" y="2667000"/>
            <a:ext cx="5181600" cy="3149600"/>
          </a:xfrm>
          <a:prstGeom prst="rect">
            <a:avLst/>
          </a:prstGeom>
          <a:noFill/>
        </p:spPr>
        <p:txBody>
          <a:bodyPr wrap="square" lIns="0" tIns="0" rIns="0" bIns="0" anchor="t"/>
          <a:lstStyle/>
          <a:p>
            <a:pPr marL="0" indent="0">
              <a:lnSpc>
                <a:spcPct val="120000"/>
              </a:lnSpc>
              <a:buNone/>
            </a:pPr>
            <a:r>
              <a:rPr sz="1200" dirty="0">
                <a:solidFill>
                  <a:srgbClr val="EDEDED"/>
                </a:solidFill>
                <a:latin typeface="Consolas"/>
                <a:ea typeface="Consolas"/>
                <a:cs typeface="Consolas"/>
              </a:rPr>
              <a:t>{</a:t>
            </a:r>
            <a:endParaRPr sz="1200" dirty="0"/>
          </a:p>
          <a:p>
            <a:pPr marL="0" indent="0">
              <a:lnSpc>
                <a:spcPct val="120000"/>
              </a:lnSpc>
              <a:buNone/>
            </a:pPr>
            <a:r>
              <a:rPr sz="1200" dirty="0">
                <a:solidFill>
                  <a:srgbClr val="EDEDED"/>
                </a:solidFill>
                <a:latin typeface="Consolas"/>
                <a:ea typeface="Consolas"/>
                <a:cs typeface="Consolas"/>
              </a:rPr>
              <a:t xml:space="preserve">  "model": "jev-latest",</a:t>
            </a:r>
            <a:endParaRPr sz="1200" dirty="0"/>
          </a:p>
          <a:p>
            <a:pPr marL="0" indent="0">
              <a:lnSpc>
                <a:spcPct val="120000"/>
              </a:lnSpc>
              <a:buNone/>
            </a:pPr>
            <a:r>
              <a:rPr sz="1200" dirty="0">
                <a:solidFill>
                  <a:srgbClr val="EDEDED"/>
                </a:solidFill>
                <a:latin typeface="Consolas"/>
                <a:ea typeface="Consolas"/>
                <a:cs typeface="Consolas"/>
              </a:rPr>
              <a:t xml:space="preserve">  "state": "Context … Latest question …",</a:t>
            </a:r>
            <a:endParaRPr sz="1200" dirty="0"/>
          </a:p>
          <a:p>
            <a:pPr marL="0" indent="0">
              <a:lnSpc>
                <a:spcPct val="120000"/>
              </a:lnSpc>
              <a:buNone/>
            </a:pPr>
            <a:r>
              <a:rPr sz="1200" dirty="0">
                <a:solidFill>
                  <a:srgbClr val="EDEDED"/>
                </a:solidFill>
                <a:latin typeface="Consolas"/>
                <a:ea typeface="Consolas"/>
                <a:cs typeface="Consolas"/>
              </a:rPr>
              <a:t xml:space="preserve">  "questions": {</a:t>
            </a:r>
            <a:endParaRPr sz="1200" dirty="0"/>
          </a:p>
          <a:p>
            <a:pPr marL="0" indent="0">
              <a:lnSpc>
                <a:spcPct val="120000"/>
              </a:lnSpc>
              <a:buNone/>
            </a:pPr>
            <a:r>
              <a:rPr sz="1200" dirty="0">
                <a:solidFill>
                  <a:srgbClr val="EDEDED"/>
                </a:solidFill>
                <a:latin typeface="Consolas"/>
                <a:ea typeface="Consolas"/>
                <a:cs typeface="Consolas"/>
              </a:rPr>
              <a:t xml:space="preserve">    "operation": { "type": "choice",</a:t>
            </a:r>
            <a:endParaRPr sz="1200" dirty="0"/>
          </a:p>
          <a:p>
            <a:pPr marL="0" indent="0">
              <a:lnSpc>
                <a:spcPct val="120000"/>
              </a:lnSpc>
              <a:buNone/>
            </a:pPr>
            <a:r>
              <a:rPr sz="1200" dirty="0">
                <a:solidFill>
                  <a:srgbClr val="EDEDED"/>
                </a:solidFill>
                <a:latin typeface="Consolas"/>
                <a:ea typeface="Consolas"/>
                <a:cs typeface="Consolas"/>
              </a:rPr>
              <a:t xml:space="preserve">      "criteria": {</a:t>
            </a:r>
            <a:endParaRPr sz="1200" dirty="0"/>
          </a:p>
          <a:p>
            <a:pPr marL="0" indent="0">
              <a:lnSpc>
                <a:spcPct val="120000"/>
              </a:lnSpc>
              <a:buNone/>
            </a:pPr>
            <a:r>
              <a:rPr sz="1200" dirty="0">
                <a:solidFill>
                  <a:srgbClr val="EDEDED"/>
                </a:solidFill>
                <a:latin typeface="Consolas"/>
                <a:ea typeface="Consolas"/>
                <a:cs typeface="Consolas"/>
              </a:rPr>
              <a:t xml:space="preserve">        "FILM_SHIPS_CAST": "…",</a:t>
            </a:r>
            <a:endParaRPr sz="1200" dirty="0"/>
          </a:p>
          <a:p>
            <a:pPr marL="0" indent="0">
              <a:lnSpc>
                <a:spcPct val="120000"/>
              </a:lnSpc>
              <a:buNone/>
            </a:pPr>
            <a:r>
              <a:rPr sz="1200" dirty="0">
                <a:solidFill>
                  <a:srgbClr val="EDEDED"/>
                </a:solidFill>
                <a:latin typeface="Consolas"/>
                <a:ea typeface="Consolas"/>
                <a:cs typeface="Consolas"/>
              </a:rPr>
              <a:t xml:space="preserve">        "SHIP_CREW": "…", "TRACK": "…" } },</a:t>
            </a:r>
            <a:endParaRPr sz="1200" dirty="0"/>
          </a:p>
          <a:p>
            <a:pPr marL="0" indent="0">
              <a:lnSpc>
                <a:spcPct val="120000"/>
              </a:lnSpc>
              <a:buNone/>
            </a:pPr>
            <a:r>
              <a:rPr sz="1200" dirty="0">
                <a:solidFill>
                  <a:srgbClr val="EDEDED"/>
                </a:solidFill>
                <a:latin typeface="Consolas"/>
                <a:ea typeface="Consolas"/>
                <a:cs typeface="Consolas"/>
              </a:rPr>
              <a:t xml:space="preserve">    "target": { "type": "choice",</a:t>
            </a:r>
            <a:endParaRPr sz="1200" dirty="0"/>
          </a:p>
          <a:p>
            <a:pPr marL="0" indent="0">
              <a:lnSpc>
                <a:spcPct val="120000"/>
              </a:lnSpc>
              <a:buNone/>
            </a:pPr>
            <a:r>
              <a:rPr sz="1200" dirty="0">
                <a:solidFill>
                  <a:srgbClr val="EDEDED"/>
                </a:solidFill>
                <a:latin typeface="Consolas"/>
                <a:ea typeface="Consolas"/>
                <a:cs typeface="Consolas"/>
              </a:rPr>
              <a:t xml:space="preserve">      "criteria": { "film:1": "…" } }</a:t>
            </a:r>
            <a:endParaRPr sz="1200" dirty="0"/>
          </a:p>
          <a:p>
            <a:pPr marL="0" indent="0">
              <a:lnSpc>
                <a:spcPct val="120000"/>
              </a:lnSpc>
              <a:buNone/>
            </a:pPr>
            <a:r>
              <a:rPr sz="1200" dirty="0">
                <a:solidFill>
                  <a:srgbClr val="EDEDED"/>
                </a:solidFill>
                <a:latin typeface="Consolas"/>
                <a:ea typeface="Consolas"/>
                <a:cs typeface="Consolas"/>
              </a:rPr>
              <a:t xml:space="preserve">  }</a:t>
            </a:r>
            <a:endParaRPr sz="1200" dirty="0"/>
          </a:p>
          <a:p>
            <a:pPr marL="0" indent="0">
              <a:lnSpc>
                <a:spcPct val="120000"/>
              </a:lnSpc>
              <a:buNone/>
            </a:pPr>
            <a:r>
              <a:rPr sz="1200" dirty="0">
                <a:solidFill>
                  <a:srgbClr val="EDEDED"/>
                </a:solidFill>
                <a:latin typeface="Consolas"/>
                <a:ea typeface="Consolas"/>
                <a:cs typeface="Consolas"/>
              </a:rPr>
              <a:t>}</a:t>
            </a:r>
            <a:endParaRPr sz="1200" dirty="0"/>
          </a:p>
        </p:txBody>
      </p:sp>
      <p:sp>
        <p:nvSpPr>
          <p:cNvPr id="15" name="Shape 11">
            <a:extLst>
              <a:ext uri="{FF2B5EF4-FFF2-40B4-BE49-F238E27FC236}">
                <a16:creationId xmlns:a16="http://schemas.microsoft.com/office/drawing/2014/main" id="{A8E0C2CC-5DA0-44CE-8D3A-62D42C03590E}"/>
              </a:ext>
            </a:extLst>
          </p:cNvPr>
          <p:cNvSpPr>
            <a:spLocks noGrp="1"/>
          </p:cNvSpPr>
          <p:nvPr/>
        </p:nvSpPr>
        <p:spPr>
          <a:xfrm>
            <a:off x="6299200" y="2159000"/>
            <a:ext cx="5384800" cy="1168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79A1CEEE-B111-404C-9CC7-0210D66A10EC}"/>
              </a:ext>
            </a:extLst>
          </p:cNvPr>
          <p:cNvSpPr>
            <a:spLocks noGrp="1"/>
          </p:cNvSpPr>
          <p:nvPr/>
        </p:nvSpPr>
        <p:spPr>
          <a:xfrm>
            <a:off x="6299200" y="2159000"/>
            <a:ext cx="63500" cy="1168400"/>
          </a:xfrm>
          <a:prstGeom prst="rect">
            <a:avLst/>
          </a:prstGeom>
          <a:solidFill>
            <a:srgbClr val="DA1884"/>
          </a:solidFill>
        </p:spPr>
        <p:txBody>
          <a:bodyPr/>
          <a:lstStyle/>
          <a:p>
            <a:endParaRPr/>
          </a:p>
        </p:txBody>
      </p:sp>
      <p:sp>
        <p:nvSpPr>
          <p:cNvPr id="17" name="Text 13">
            <a:extLst>
              <a:ext uri="{FF2B5EF4-FFF2-40B4-BE49-F238E27FC236}">
                <a16:creationId xmlns:a16="http://schemas.microsoft.com/office/drawing/2014/main" id="{9558E863-4CC7-4EAF-83ED-0310A90480BC}"/>
              </a:ext>
            </a:extLst>
          </p:cNvPr>
          <p:cNvSpPr>
            <a:spLocks noGrp="1"/>
          </p:cNvSpPr>
          <p:nvPr/>
        </p:nvSpPr>
        <p:spPr>
          <a:xfrm>
            <a:off x="6527800" y="23114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a:ext uri="{FF2B5EF4-FFF2-40B4-BE49-F238E27FC236}">
                <a16:creationId xmlns:a16="http://schemas.microsoft.com/office/drawing/2014/main" id="{C818EADA-6396-4668-A33B-31B6B8DBA288}"/>
              </a:ext>
            </a:extLst>
          </p:cNvPr>
          <p:cNvSpPr>
            <a:spLocks noGrp="1"/>
          </p:cNvSpPr>
          <p:nvPr/>
        </p:nvSpPr>
        <p:spPr>
          <a:xfrm>
            <a:off x="7035800" y="2311400"/>
            <a:ext cx="4445000" cy="9144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Answers, not prose</a:t>
            </a:r>
            <a:endParaRPr sz="1300"/>
          </a:p>
          <a:p>
            <a:pPr marL="0" indent="0">
              <a:lnSpc>
                <a:spcPct val="115000"/>
              </a:lnSpc>
              <a:buNone/>
            </a:pPr>
            <a:r>
              <a:rPr sz="1200">
                <a:solidFill>
                  <a:srgbClr val="333333"/>
                </a:solidFill>
                <a:latin typeface="Arial"/>
                <a:ea typeface="Arial"/>
                <a:cs typeface="Arial"/>
              </a:rPr>
              <a:t>Each question returns a choice with confidence and probabilities, shown in the inspector.</a:t>
            </a:r>
            <a:endParaRPr sz="1300"/>
          </a:p>
        </p:txBody>
      </p:sp>
      <p:sp>
        <p:nvSpPr>
          <p:cNvPr id="19" name="Shape 15">
            <a:extLst>
              <a:ext uri="{FF2B5EF4-FFF2-40B4-BE49-F238E27FC236}">
                <a16:creationId xmlns:a16="http://schemas.microsoft.com/office/drawing/2014/main" id="{BC749F26-F96C-4719-9BE0-50D8FA83AC80}"/>
              </a:ext>
            </a:extLst>
          </p:cNvPr>
          <p:cNvSpPr>
            <a:spLocks noGrp="1"/>
          </p:cNvSpPr>
          <p:nvPr/>
        </p:nvSpPr>
        <p:spPr>
          <a:xfrm>
            <a:off x="6299200" y="3454400"/>
            <a:ext cx="5384800" cy="1168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36499EBC-4DAF-42B1-A6AF-6A52922CB81C}"/>
              </a:ext>
            </a:extLst>
          </p:cNvPr>
          <p:cNvSpPr>
            <a:spLocks noGrp="1"/>
          </p:cNvSpPr>
          <p:nvPr/>
        </p:nvSpPr>
        <p:spPr>
          <a:xfrm>
            <a:off x="6299200" y="3454400"/>
            <a:ext cx="63500" cy="11684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F7AAC9A4-5725-4B2F-8517-046F4C3D8B6F}"/>
              </a:ext>
            </a:extLst>
          </p:cNvPr>
          <p:cNvSpPr>
            <a:spLocks noGrp="1"/>
          </p:cNvSpPr>
          <p:nvPr/>
        </p:nvSpPr>
        <p:spPr>
          <a:xfrm>
            <a:off x="6527800" y="36068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a:ext uri="{FF2B5EF4-FFF2-40B4-BE49-F238E27FC236}">
                <a16:creationId xmlns:a16="http://schemas.microsoft.com/office/drawing/2014/main" id="{007F1C75-A907-4543-94D1-D40F47370562}"/>
              </a:ext>
            </a:extLst>
          </p:cNvPr>
          <p:cNvSpPr>
            <a:spLocks noGrp="1"/>
          </p:cNvSpPr>
          <p:nvPr/>
        </p:nvSpPr>
        <p:spPr>
          <a:xfrm>
            <a:off x="7035800" y="3606800"/>
            <a:ext cx="4445000" cy="9144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Same contract as Ollama</a:t>
            </a:r>
            <a:endParaRPr sz="1300"/>
          </a:p>
          <a:p>
            <a:pPr marL="0" indent="0">
              <a:lnSpc>
                <a:spcPct val="115000"/>
              </a:lnSpc>
              <a:buNone/>
            </a:pPr>
            <a:r>
              <a:rPr sz="1200">
                <a:solidFill>
                  <a:srgbClr val="333333"/>
                </a:solidFill>
                <a:latin typeface="Arial"/>
                <a:ea typeface="Arial"/>
                <a:cs typeface="Arial"/>
              </a:rPr>
              <a:t>Plugs in behind IntentClassifier with AI_PROVIDER=jev.</a:t>
            </a:r>
            <a:endParaRPr sz="1300"/>
          </a:p>
        </p:txBody>
      </p:sp>
      <p:sp>
        <p:nvSpPr>
          <p:cNvPr id="23" name="Shape 19">
            <a:extLst>
              <a:ext uri="{FF2B5EF4-FFF2-40B4-BE49-F238E27FC236}">
                <a16:creationId xmlns:a16="http://schemas.microsoft.com/office/drawing/2014/main" id="{92DC9C74-A84D-4CBE-846E-D46FD0301719}"/>
              </a:ext>
            </a:extLst>
          </p:cNvPr>
          <p:cNvSpPr>
            <a:spLocks noGrp="1"/>
          </p:cNvSpPr>
          <p:nvPr/>
        </p:nvSpPr>
        <p:spPr>
          <a:xfrm>
            <a:off x="6299200" y="4749800"/>
            <a:ext cx="5384800" cy="1168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6F57ED7D-283B-4294-B6CB-F1CAD1BF8A10}"/>
              </a:ext>
            </a:extLst>
          </p:cNvPr>
          <p:cNvSpPr>
            <a:spLocks noGrp="1"/>
          </p:cNvSpPr>
          <p:nvPr/>
        </p:nvSpPr>
        <p:spPr>
          <a:xfrm>
            <a:off x="6299200" y="4749800"/>
            <a:ext cx="63500" cy="11684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6E9BC272-1C19-4F2E-98E7-C3E47802AD41}"/>
              </a:ext>
            </a:extLst>
          </p:cNvPr>
          <p:cNvSpPr>
            <a:spLocks noGrp="1"/>
          </p:cNvSpPr>
          <p:nvPr/>
        </p:nvSpPr>
        <p:spPr>
          <a:xfrm>
            <a:off x="6527800" y="49022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a:ext uri="{FF2B5EF4-FFF2-40B4-BE49-F238E27FC236}">
                <a16:creationId xmlns:a16="http://schemas.microsoft.com/office/drawing/2014/main" id="{2AEC2539-5CEF-42C3-A912-B92426250F6C}"/>
              </a:ext>
            </a:extLst>
          </p:cNvPr>
          <p:cNvSpPr>
            <a:spLocks noGrp="1"/>
          </p:cNvSpPr>
          <p:nvPr/>
        </p:nvSpPr>
        <p:spPr>
          <a:xfrm>
            <a:off x="7035800" y="4902200"/>
            <a:ext cx="4445000" cy="9144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Hosted by TypeSafe</a:t>
            </a:r>
            <a:endParaRPr sz="1300"/>
          </a:p>
          <a:p>
            <a:pPr marL="0" indent="0">
              <a:lnSpc>
                <a:spcPct val="115000"/>
              </a:lnSpc>
              <a:buNone/>
            </a:pPr>
            <a:r>
              <a:rPr sz="1200">
                <a:solidFill>
                  <a:srgbClr val="333333"/>
                </a:solidFill>
                <a:latin typeface="Arial"/>
                <a:ea typeface="Arial"/>
                <a:cs typeface="Arial"/>
              </a:rPr>
              <a:t>Needs internet and TYPESAFE_API_KEY, and the key never leaves the server.</a:t>
            </a:r>
            <a:endParaRPr sz="1300"/>
          </a:p>
        </p:txBody>
      </p:sp>
    </p:spTree>
    <p:extLst>
      <p:ext uri="{BB962C8B-B14F-4D97-AF65-F5344CB8AC3E}">
        <p14:creationId xmlns:p14="http://schemas.microsoft.com/office/powerpoint/2010/main" val="141594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351AB158-1EFC-4C37-8CCE-8E7C4A935064}"/>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EB4C9F4B-A5D1-4719-B7D6-68487D55B04F}"/>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86CF376C-CAED-4253-8B91-5C75F0AE9544}"/>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a:ext uri="{FF2B5EF4-FFF2-40B4-BE49-F238E27FC236}">
                <a16:creationId xmlns:a16="http://schemas.microsoft.com/office/drawing/2014/main" id="{0FC368FE-91A2-4EF6-860E-8947079951CE}"/>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714F76C2-91AF-4F45-9D20-8DA68ADE2FB6}"/>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25</a:t>
            </a:r>
            <a:endParaRPr sz="900"/>
          </a:p>
        </p:txBody>
      </p:sp>
      <p:sp>
        <p:nvSpPr>
          <p:cNvPr id="7" name="Text 4">
            <a:extLst>
              <a:ext uri="{FF2B5EF4-FFF2-40B4-BE49-F238E27FC236}">
                <a16:creationId xmlns:a16="http://schemas.microsoft.com/office/drawing/2014/main" id="{7B74C271-4D2E-4432-B36B-D474C2EA1B2B}"/>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CHOOSING A ROUTER</a:t>
            </a:r>
            <a:endParaRPr sz="1200"/>
          </a:p>
        </p:txBody>
      </p:sp>
      <p:sp>
        <p:nvSpPr>
          <p:cNvPr id="8" name="Text 5">
            <a:extLst>
              <a:ext uri="{FF2B5EF4-FFF2-40B4-BE49-F238E27FC236}">
                <a16:creationId xmlns:a16="http://schemas.microsoft.com/office/drawing/2014/main" id="{710A7F92-5356-45D3-AEF2-278502A2E0A4}"/>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Ollama vs Jev</a:t>
            </a:r>
            <a:endParaRPr sz="3000"/>
          </a:p>
        </p:txBody>
      </p:sp>
      <p:sp>
        <p:nvSpPr>
          <p:cNvPr id="9" name="Text 6">
            <a:extLst>
              <a:ext uri="{FF2B5EF4-FFF2-40B4-BE49-F238E27FC236}">
                <a16:creationId xmlns:a16="http://schemas.microsoft.com/office/drawing/2014/main" id="{6D01B983-8DF4-45FE-8CC7-E1A21733523F}"/>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Two ways to make the same decision. Swap between them with one environment variable.</a:t>
            </a:r>
            <a:endParaRPr sz="1400"/>
          </a:p>
        </p:txBody>
      </p:sp>
      <p:graphicFrame>
        <p:nvGraphicFramePr>
          <p:cNvPr id="26" name="Table 0">
            <a:extLst>
              <a:ext uri="{FF2B5EF4-FFF2-40B4-BE49-F238E27FC236}">
                <a16:creationId xmlns:a16="http://schemas.microsoft.com/office/drawing/2014/main" id="{DCCA6A1B-8561-457A-B52F-B442B90DA76A}"/>
              </a:ext>
            </a:extLst>
          </p:cNvPr>
          <p:cNvGraphicFramePr/>
          <p:nvPr/>
        </p:nvGraphicFramePr>
        <p:xfrm>
          <a:off x="508000" y="2159000"/>
          <a:ext cx="11176000" cy="2755900"/>
        </p:xfrm>
        <a:graphic>
          <a:graphicData uri="http://schemas.openxmlformats.org/drawingml/2006/table">
            <a:tbl>
              <a:tblPr/>
              <a:tblGrid>
                <a:gridCol w="2458720">
                  <a:extLst>
                    <a:ext uri="{9D8B030D-6E8A-4147-A177-3AD203B41FA5}">
                      <a16:colId xmlns:a16="http://schemas.microsoft.com/office/drawing/2014/main" val="20000"/>
                    </a:ext>
                  </a:extLst>
                </a:gridCol>
                <a:gridCol w="4358640">
                  <a:extLst>
                    <a:ext uri="{9D8B030D-6E8A-4147-A177-3AD203B41FA5}">
                      <a16:colId xmlns:a16="http://schemas.microsoft.com/office/drawing/2014/main" val="20001"/>
                    </a:ext>
                  </a:extLst>
                </a:gridCol>
                <a:gridCol w="4358640">
                  <a:extLst>
                    <a:ext uri="{9D8B030D-6E8A-4147-A177-3AD203B41FA5}">
                      <a16:colId xmlns:a16="http://schemas.microsoft.com/office/drawing/2014/main" val="20002"/>
                    </a:ext>
                  </a:extLst>
                </a:gridCol>
              </a:tblGrid>
              <a:tr h="393700">
                <a:tc>
                  <a:txBody>
                    <a:bodyPr/>
                    <a:lstStyle/>
                    <a:p>
                      <a:pPr marL="0" indent="0">
                        <a:buNone/>
                      </a:pP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300" b="1">
                          <a:solidFill>
                            <a:srgbClr val="FFFFFF"/>
                          </a:solidFill>
                          <a:latin typeface="Arial"/>
                          <a:ea typeface="Arial"/>
                          <a:cs typeface="Arial"/>
                        </a:rPr>
                        <a:t>Ollama (default)</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300" b="1">
                          <a:solidFill>
                            <a:srgbClr val="FFFFFF"/>
                          </a:solidFill>
                          <a:latin typeface="Arial"/>
                          <a:ea typeface="Arial"/>
                          <a:cs typeface="Arial"/>
                        </a:rPr>
                        <a:t>Jev (optional)</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extLst>
                  <a:ext uri="{0D108BD9-81ED-4DB2-BD59-A6C34878D82A}">
                    <a16:rowId xmlns:a16="http://schemas.microsoft.com/office/drawing/2014/main" val="10000"/>
                  </a:ext>
                </a:extLst>
              </a:tr>
              <a:tr h="393700">
                <a:tc>
                  <a:txBody>
                    <a:bodyPr/>
                    <a:lstStyle/>
                    <a:p>
                      <a:pPr marL="0" indent="0">
                        <a:buNone/>
                      </a:pPr>
                      <a:r>
                        <a:rPr sz="1300" b="1">
                          <a:solidFill>
                            <a:srgbClr val="141414"/>
                          </a:solidFill>
                          <a:latin typeface="Arial"/>
                          <a:ea typeface="Arial"/>
                          <a:cs typeface="Arial"/>
                        </a:rPr>
                        <a:t>Mechanism</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Tool calling across reviewed operations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Two typed Choice questions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1"/>
                  </a:ext>
                </a:extLst>
              </a:tr>
              <a:tr h="393700">
                <a:tc>
                  <a:txBody>
                    <a:bodyPr/>
                    <a:lstStyle/>
                    <a:p>
                      <a:pPr marL="0" indent="0">
                        <a:buNone/>
                      </a:pPr>
                      <a:r>
                        <a:rPr sz="1300" b="1">
                          <a:solidFill>
                            <a:srgbClr val="141414"/>
                          </a:solidFill>
                          <a:latin typeface="Arial"/>
                          <a:ea typeface="Arial"/>
                          <a:cs typeface="Arial"/>
                        </a:rPr>
                        <a:t>Where it runs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Locally, in Docker or native on the host</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Hosted TypeSafe API</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2"/>
                  </a:ext>
                </a:extLst>
              </a:tr>
              <a:tr h="393700">
                <a:tc>
                  <a:txBody>
                    <a:bodyPr/>
                    <a:lstStyle/>
                    <a:p>
                      <a:pPr marL="0" indent="0">
                        <a:buNone/>
                      </a:pPr>
                      <a:r>
                        <a:rPr sz="1300" b="1">
                          <a:solidFill>
                            <a:srgbClr val="141414"/>
                          </a:solidFill>
                          <a:latin typeface="Arial"/>
                          <a:ea typeface="Arial"/>
                          <a:cs typeface="Arial"/>
                        </a:rPr>
                        <a:t>Output</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One tool call plus an enum target</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A choice per question</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3"/>
                  </a:ext>
                </a:extLst>
              </a:tr>
              <a:tr h="393700">
                <a:tc>
                  <a:txBody>
                    <a:bodyPr/>
                    <a:lstStyle/>
                    <a:p>
                      <a:pPr marL="0" indent="0">
                        <a:buNone/>
                      </a:pPr>
                      <a:r>
                        <a:rPr sz="1300" b="1">
                          <a:solidFill>
                            <a:srgbClr val="141414"/>
                          </a:solidFill>
                          <a:latin typeface="Arial"/>
                          <a:ea typeface="Arial"/>
                          <a:cs typeface="Arial"/>
                        </a:rPr>
                        <a:t>Confidence</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None reported, and none invented</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Confidence and probabilities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4"/>
                  </a:ext>
                </a:extLst>
              </a:tr>
              <a:tr h="393700">
                <a:tc>
                  <a:txBody>
                    <a:bodyPr/>
                    <a:lstStyle/>
                    <a:p>
                      <a:pPr marL="0" indent="0">
                        <a:buNone/>
                      </a:pPr>
                      <a:r>
                        <a:rPr sz="1300" b="1">
                          <a:solidFill>
                            <a:srgbClr val="141414"/>
                          </a:solidFill>
                          <a:latin typeface="Arial"/>
                          <a:ea typeface="Arial"/>
                          <a:cs typeface="Arial"/>
                        </a:rPr>
                        <a:t>Setup</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Pull a model of several GB once</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API key and internet access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5"/>
                  </a:ext>
                </a:extLst>
              </a:tr>
              <a:tr h="393700">
                <a:tc>
                  <a:txBody>
                    <a:bodyPr/>
                    <a:lstStyle/>
                    <a:p>
                      <a:pPr marL="0" indent="0">
                        <a:buNone/>
                      </a:pPr>
                      <a:r>
                        <a:rPr sz="1300" b="1">
                          <a:solidFill>
                            <a:srgbClr val="141414"/>
                          </a:solidFill>
                          <a:latin typeface="Arial"/>
                          <a:ea typeface="Arial"/>
                          <a:cs typeface="Arial"/>
                        </a:rPr>
                        <a:t>Best for</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Offline demos and data residency</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Closed decisions that need calibrated confidence</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2" name="Shape 7">
            <a:extLst>
              <a:ext uri="{FF2B5EF4-FFF2-40B4-BE49-F238E27FC236}">
                <a16:creationId xmlns:a16="http://schemas.microsoft.com/office/drawing/2014/main" id="{5736922F-9442-46CF-A0C9-2D330F5F399E}"/>
              </a:ext>
            </a:extLst>
          </p:cNvPr>
          <p:cNvSpPr>
            <a:spLocks noGrp="1"/>
          </p:cNvSpPr>
          <p:nvPr/>
        </p:nvSpPr>
        <p:spPr>
          <a:xfrm>
            <a:off x="508000" y="5270500"/>
            <a:ext cx="11176000" cy="635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3" name="Shape 8">
            <a:extLst>
              <a:ext uri="{FF2B5EF4-FFF2-40B4-BE49-F238E27FC236}">
                <a16:creationId xmlns:a16="http://schemas.microsoft.com/office/drawing/2014/main" id="{37EADFCD-3355-4392-902C-BB073F267027}"/>
              </a:ext>
            </a:extLst>
          </p:cNvPr>
          <p:cNvSpPr>
            <a:spLocks noGrp="1"/>
          </p:cNvSpPr>
          <p:nvPr/>
        </p:nvSpPr>
        <p:spPr>
          <a:xfrm>
            <a:off x="508000" y="5270500"/>
            <a:ext cx="76200" cy="635000"/>
          </a:xfrm>
          <a:prstGeom prst="rect">
            <a:avLst/>
          </a:prstGeom>
          <a:solidFill>
            <a:srgbClr val="DA1884"/>
          </a:solidFill>
        </p:spPr>
        <p:txBody>
          <a:bodyPr/>
          <a:lstStyle/>
          <a:p>
            <a:endParaRPr/>
          </a:p>
        </p:txBody>
      </p:sp>
      <p:sp>
        <p:nvSpPr>
          <p:cNvPr id="14" name="Text 9">
            <a:extLst>
              <a:ext uri="{FF2B5EF4-FFF2-40B4-BE49-F238E27FC236}">
                <a16:creationId xmlns:a16="http://schemas.microsoft.com/office/drawing/2014/main" id="{58C24E94-20A2-49C2-AB0D-4E6AC3C0BC19}"/>
              </a:ext>
            </a:extLst>
          </p:cNvPr>
          <p:cNvSpPr>
            <a:spLocks noGrp="1"/>
          </p:cNvSpPr>
          <p:nvPr/>
        </p:nvSpPr>
        <p:spPr>
          <a:xfrm>
            <a:off x="787400" y="5270500"/>
            <a:ext cx="10668000" cy="6350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Presenter overrides  </a:t>
            </a:r>
            <a:r>
              <a:rPr sz="1200">
                <a:solidFill>
                  <a:srgbClr val="141414"/>
                </a:solidFill>
                <a:latin typeface="Arial"/>
                <a:ea typeface="Arial"/>
                <a:cs typeface="Arial"/>
              </a:rPr>
              <a:t>bypass the model entirely for one question, and the UI says so. They are never passed off as AI classification.</a:t>
            </a:r>
            <a:endParaRPr sz="1200"/>
          </a:p>
        </p:txBody>
      </p:sp>
    </p:spTree>
    <p:extLst>
      <p:ext uri="{BB962C8B-B14F-4D97-AF65-F5344CB8AC3E}">
        <p14:creationId xmlns:p14="http://schemas.microsoft.com/office/powerpoint/2010/main" val="1571419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F22032A1-6D24-404F-8F2F-BDEFFA9B76EC}"/>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80CD4954-2194-4699-A838-4375C5B87534}"/>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0E83E5A5-96CD-43E5-AC7A-69509123217C}"/>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a:ext uri="{FF2B5EF4-FFF2-40B4-BE49-F238E27FC236}">
                <a16:creationId xmlns:a16="http://schemas.microsoft.com/office/drawing/2014/main" id="{9813930D-52C7-4CA9-8014-0439E2D40F49}"/>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B475B50E-6599-4334-B47A-9A6BEAE10C1D}"/>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26</a:t>
            </a:r>
            <a:endParaRPr sz="900"/>
          </a:p>
        </p:txBody>
      </p:sp>
      <p:sp>
        <p:nvSpPr>
          <p:cNvPr id="7" name="Text 4">
            <a:extLst>
              <a:ext uri="{FF2B5EF4-FFF2-40B4-BE49-F238E27FC236}">
                <a16:creationId xmlns:a16="http://schemas.microsoft.com/office/drawing/2014/main" id="{A721C629-3964-49CF-BD44-FB4F90E1E2BE}"/>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GUARDRAILS</a:t>
            </a:r>
            <a:endParaRPr sz="1200"/>
          </a:p>
        </p:txBody>
      </p:sp>
      <p:sp>
        <p:nvSpPr>
          <p:cNvPr id="8" name="Text 5">
            <a:extLst>
              <a:ext uri="{FF2B5EF4-FFF2-40B4-BE49-F238E27FC236}">
                <a16:creationId xmlns:a16="http://schemas.microsoft.com/office/drawing/2014/main" id="{074286E7-F8A4-4632-8ECF-8502EC7F07D2}"/>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Five Rules That Keep the Router Honest</a:t>
            </a:r>
            <a:endParaRPr sz="3000"/>
          </a:p>
        </p:txBody>
      </p:sp>
      <p:sp>
        <p:nvSpPr>
          <p:cNvPr id="9" name="Text 6">
            <a:extLst>
              <a:ext uri="{FF2B5EF4-FFF2-40B4-BE49-F238E27FC236}">
                <a16:creationId xmlns:a16="http://schemas.microsoft.com/office/drawing/2014/main" id="{243A53D1-7F41-48CE-AD1F-87922BE74597}"/>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The model gets a narrow job, and the system makes every choice it makes visible.</a:t>
            </a:r>
            <a:endParaRPr sz="1400"/>
          </a:p>
        </p:txBody>
      </p:sp>
      <p:sp>
        <p:nvSpPr>
          <p:cNvPr id="11" name="Shape 7">
            <a:extLst>
              <a:ext uri="{FF2B5EF4-FFF2-40B4-BE49-F238E27FC236}">
                <a16:creationId xmlns:a16="http://schemas.microsoft.com/office/drawing/2014/main" id="{5CC767F1-587C-4AEA-8C93-5036F2B84ED6}"/>
              </a:ext>
            </a:extLst>
          </p:cNvPr>
          <p:cNvSpPr>
            <a:spLocks noGrp="1"/>
          </p:cNvSpPr>
          <p:nvPr/>
        </p:nvSpPr>
        <p:spPr>
          <a:xfrm>
            <a:off x="508000" y="2159000"/>
            <a:ext cx="11176000" cy="698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6F48AF79-2B21-4D97-B2C7-9679649861EA}"/>
              </a:ext>
            </a:extLst>
          </p:cNvPr>
          <p:cNvSpPr>
            <a:spLocks noGrp="1"/>
          </p:cNvSpPr>
          <p:nvPr/>
        </p:nvSpPr>
        <p:spPr>
          <a:xfrm>
            <a:off x="508000" y="2159000"/>
            <a:ext cx="63500" cy="6985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4AE506BE-E91D-4632-BE84-0C3A4B9B30ED}"/>
              </a:ext>
            </a:extLst>
          </p:cNvPr>
          <p:cNvSpPr>
            <a:spLocks noGrp="1"/>
          </p:cNvSpPr>
          <p:nvPr/>
        </p:nvSpPr>
        <p:spPr>
          <a:xfrm>
            <a:off x="787400" y="2159000"/>
            <a:ext cx="482600" cy="6985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01</a:t>
            </a:r>
            <a:endParaRPr sz="1800"/>
          </a:p>
        </p:txBody>
      </p:sp>
      <p:sp>
        <p:nvSpPr>
          <p:cNvPr id="14" name="Text 10">
            <a:extLst>
              <a:ext uri="{FF2B5EF4-FFF2-40B4-BE49-F238E27FC236}">
                <a16:creationId xmlns:a16="http://schemas.microsoft.com/office/drawing/2014/main" id="{A8405A81-F68B-4E9C-BC57-00F5C8486EAC}"/>
              </a:ext>
            </a:extLst>
          </p:cNvPr>
          <p:cNvSpPr>
            <a:spLocks noGrp="1"/>
          </p:cNvSpPr>
          <p:nvPr/>
        </p:nvSpPr>
        <p:spPr>
          <a:xfrm>
            <a:off x="1397000" y="2159000"/>
            <a:ext cx="2540000" cy="6985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Allowlisted targets</a:t>
            </a:r>
            <a:endParaRPr sz="1300"/>
          </a:p>
        </p:txBody>
      </p:sp>
      <p:sp>
        <p:nvSpPr>
          <p:cNvPr id="15" name="Text 11">
            <a:extLst>
              <a:ext uri="{FF2B5EF4-FFF2-40B4-BE49-F238E27FC236}">
                <a16:creationId xmlns:a16="http://schemas.microsoft.com/office/drawing/2014/main" id="{24D8170A-D8DC-4401-842F-F545545889B9}"/>
              </a:ext>
            </a:extLst>
          </p:cNvPr>
          <p:cNvSpPr>
            <a:spLocks noGrp="1"/>
          </p:cNvSpPr>
          <p:nvPr/>
        </p:nvSpPr>
        <p:spPr>
          <a:xfrm>
            <a:off x="4140200" y="2159000"/>
            <a:ext cx="4470400" cy="6985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Models choose catalog IDs through an enum or criteria, never URLs, queries or service names.</a:t>
            </a:r>
            <a:endParaRPr sz="1200"/>
          </a:p>
        </p:txBody>
      </p:sp>
      <p:sp>
        <p:nvSpPr>
          <p:cNvPr id="16" name="Text 12">
            <a:extLst>
              <a:ext uri="{FF2B5EF4-FFF2-40B4-BE49-F238E27FC236}">
                <a16:creationId xmlns:a16="http://schemas.microsoft.com/office/drawing/2014/main" id="{709962A9-BAA3-4C1C-A055-3E5D5C8A5A6B}"/>
              </a:ext>
            </a:extLst>
          </p:cNvPr>
          <p:cNvSpPr>
            <a:spLocks noGrp="1"/>
          </p:cNvSpPr>
          <p:nvPr/>
        </p:nvSpPr>
        <p:spPr>
          <a:xfrm>
            <a:off x="8763000" y="2159000"/>
            <a:ext cx="2667000" cy="6985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Blocks injected or hallucinated calls</a:t>
            </a:r>
            <a:endParaRPr sz="1200"/>
          </a:p>
        </p:txBody>
      </p:sp>
      <p:sp>
        <p:nvSpPr>
          <p:cNvPr id="17" name="Shape 13">
            <a:extLst>
              <a:ext uri="{FF2B5EF4-FFF2-40B4-BE49-F238E27FC236}">
                <a16:creationId xmlns:a16="http://schemas.microsoft.com/office/drawing/2014/main" id="{41C0DA14-0E3A-4AF1-A410-0BCE4EFF32DE}"/>
              </a:ext>
            </a:extLst>
          </p:cNvPr>
          <p:cNvSpPr>
            <a:spLocks noGrp="1"/>
          </p:cNvSpPr>
          <p:nvPr/>
        </p:nvSpPr>
        <p:spPr>
          <a:xfrm>
            <a:off x="508000" y="2946400"/>
            <a:ext cx="11176000" cy="698500"/>
          </a:xfrm>
          <a:prstGeom prst="rect">
            <a:avLst/>
          </a:prstGeom>
          <a:solidFill>
            <a:srgbClr val="FFFFFF"/>
          </a:solidFill>
          <a:effectLst>
            <a:outerShdw blurRad="50800" dist="25400" dir="5400000" algn="bl" rotWithShape="0">
              <a:srgbClr val="000000">
                <a:alpha val="18000"/>
              </a:srgbClr>
            </a:outerShdw>
          </a:effectLst>
        </p:spPr>
        <p:txBody>
          <a:bodyPr/>
          <a:lstStyle/>
          <a:p>
            <a:endParaRPr/>
          </a:p>
        </p:txBody>
      </p:sp>
      <p:sp>
        <p:nvSpPr>
          <p:cNvPr id="18" name="Shape 14">
            <a:extLst>
              <a:ext uri="{FF2B5EF4-FFF2-40B4-BE49-F238E27FC236}">
                <a16:creationId xmlns:a16="http://schemas.microsoft.com/office/drawing/2014/main" id="{8CE26BFF-E90F-43E0-8D08-5AC6E9558516}"/>
              </a:ext>
            </a:extLst>
          </p:cNvPr>
          <p:cNvSpPr>
            <a:spLocks noGrp="1"/>
          </p:cNvSpPr>
          <p:nvPr/>
        </p:nvSpPr>
        <p:spPr>
          <a:xfrm>
            <a:off x="508000" y="2946400"/>
            <a:ext cx="63500" cy="698500"/>
          </a:xfrm>
          <a:prstGeom prst="rect">
            <a:avLst/>
          </a:prstGeom>
          <a:solidFill>
            <a:srgbClr val="DA1884"/>
          </a:solidFill>
        </p:spPr>
        <p:txBody>
          <a:bodyPr/>
          <a:lstStyle/>
          <a:p>
            <a:endParaRPr/>
          </a:p>
        </p:txBody>
      </p:sp>
      <p:sp>
        <p:nvSpPr>
          <p:cNvPr id="19" name="Text 15">
            <a:extLst>
              <a:ext uri="{FF2B5EF4-FFF2-40B4-BE49-F238E27FC236}">
                <a16:creationId xmlns:a16="http://schemas.microsoft.com/office/drawing/2014/main" id="{8AEE11B6-74B6-4039-851E-0A6BF2A0BA5E}"/>
              </a:ext>
            </a:extLst>
          </p:cNvPr>
          <p:cNvSpPr>
            <a:spLocks noGrp="1"/>
          </p:cNvSpPr>
          <p:nvPr/>
        </p:nvSpPr>
        <p:spPr>
          <a:xfrm>
            <a:off x="787400" y="2946400"/>
            <a:ext cx="482600" cy="6985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02</a:t>
            </a:r>
            <a:endParaRPr sz="1800"/>
          </a:p>
        </p:txBody>
      </p:sp>
      <p:sp>
        <p:nvSpPr>
          <p:cNvPr id="20" name="Text 16">
            <a:extLst>
              <a:ext uri="{FF2B5EF4-FFF2-40B4-BE49-F238E27FC236}">
                <a16:creationId xmlns:a16="http://schemas.microsoft.com/office/drawing/2014/main" id="{349B41FB-444D-4160-A836-D60D77353BF7}"/>
              </a:ext>
            </a:extLst>
          </p:cNvPr>
          <p:cNvSpPr>
            <a:spLocks noGrp="1"/>
          </p:cNvSpPr>
          <p:nvPr/>
        </p:nvSpPr>
        <p:spPr>
          <a:xfrm>
            <a:off x="1397000" y="2946400"/>
            <a:ext cx="2540000" cy="6985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No hidden fallback</a:t>
            </a:r>
            <a:endParaRPr sz="1300"/>
          </a:p>
        </p:txBody>
      </p:sp>
      <p:sp>
        <p:nvSpPr>
          <p:cNvPr id="21" name="Text 17">
            <a:extLst>
              <a:ext uri="{FF2B5EF4-FFF2-40B4-BE49-F238E27FC236}">
                <a16:creationId xmlns:a16="http://schemas.microsoft.com/office/drawing/2014/main" id="{13BA3276-785F-4C6A-8E39-D13044BC4DAB}"/>
              </a:ext>
            </a:extLst>
          </p:cNvPr>
          <p:cNvSpPr>
            <a:spLocks noGrp="1"/>
          </p:cNvSpPr>
          <p:nvPr/>
        </p:nvSpPr>
        <p:spPr>
          <a:xfrm>
            <a:off x="4140200" y="2946400"/>
            <a:ext cx="4470400" cy="6985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Invalid output or an unavailable provider shows an error. Nothing is keyword-routed and labeled as AI.</a:t>
            </a:r>
            <a:endParaRPr sz="1200"/>
          </a:p>
        </p:txBody>
      </p:sp>
      <p:sp>
        <p:nvSpPr>
          <p:cNvPr id="22" name="Text 18">
            <a:extLst>
              <a:ext uri="{FF2B5EF4-FFF2-40B4-BE49-F238E27FC236}">
                <a16:creationId xmlns:a16="http://schemas.microsoft.com/office/drawing/2014/main" id="{6A6DCFA9-F60A-4208-9996-92C0E6218A00}"/>
              </a:ext>
            </a:extLst>
          </p:cNvPr>
          <p:cNvSpPr>
            <a:spLocks noGrp="1"/>
          </p:cNvSpPr>
          <p:nvPr/>
        </p:nvSpPr>
        <p:spPr>
          <a:xfrm>
            <a:off x="8763000" y="2946400"/>
            <a:ext cx="2667000" cy="6985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What you see is what the model did</a:t>
            </a:r>
            <a:endParaRPr sz="1200"/>
          </a:p>
        </p:txBody>
      </p:sp>
      <p:sp>
        <p:nvSpPr>
          <p:cNvPr id="23" name="Shape 19">
            <a:extLst>
              <a:ext uri="{FF2B5EF4-FFF2-40B4-BE49-F238E27FC236}">
                <a16:creationId xmlns:a16="http://schemas.microsoft.com/office/drawing/2014/main" id="{6DF9F421-E78C-42D2-A52E-653C698790D7}"/>
              </a:ext>
            </a:extLst>
          </p:cNvPr>
          <p:cNvSpPr>
            <a:spLocks noGrp="1"/>
          </p:cNvSpPr>
          <p:nvPr/>
        </p:nvSpPr>
        <p:spPr>
          <a:xfrm>
            <a:off x="508000" y="3733800"/>
            <a:ext cx="11176000" cy="698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1BD8156E-C59E-4F52-99FC-A103D59D34CB}"/>
              </a:ext>
            </a:extLst>
          </p:cNvPr>
          <p:cNvSpPr>
            <a:spLocks noGrp="1"/>
          </p:cNvSpPr>
          <p:nvPr/>
        </p:nvSpPr>
        <p:spPr>
          <a:xfrm>
            <a:off x="508000" y="3733800"/>
            <a:ext cx="63500" cy="6985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3915DD33-31C4-4106-B4D0-3B5D3C5A83A6}"/>
              </a:ext>
            </a:extLst>
          </p:cNvPr>
          <p:cNvSpPr>
            <a:spLocks noGrp="1"/>
          </p:cNvSpPr>
          <p:nvPr/>
        </p:nvSpPr>
        <p:spPr>
          <a:xfrm>
            <a:off x="787400" y="3733800"/>
            <a:ext cx="482600" cy="6985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03</a:t>
            </a:r>
            <a:endParaRPr sz="1800"/>
          </a:p>
        </p:txBody>
      </p:sp>
      <p:sp>
        <p:nvSpPr>
          <p:cNvPr id="26" name="Text 22">
            <a:extLst>
              <a:ext uri="{FF2B5EF4-FFF2-40B4-BE49-F238E27FC236}">
                <a16:creationId xmlns:a16="http://schemas.microsoft.com/office/drawing/2014/main" id="{4F3AD437-A381-4660-A69D-3CEFE4FC5536}"/>
              </a:ext>
            </a:extLst>
          </p:cNvPr>
          <p:cNvSpPr>
            <a:spLocks noGrp="1"/>
          </p:cNvSpPr>
          <p:nvPr/>
        </p:nvSpPr>
        <p:spPr>
          <a:xfrm>
            <a:off x="1397000" y="3733800"/>
            <a:ext cx="2540000" cy="6985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Labeled overrides</a:t>
            </a:r>
            <a:endParaRPr sz="1300"/>
          </a:p>
        </p:txBody>
      </p:sp>
      <p:sp>
        <p:nvSpPr>
          <p:cNvPr id="27" name="Text 23">
            <a:extLst>
              <a:ext uri="{FF2B5EF4-FFF2-40B4-BE49-F238E27FC236}">
                <a16:creationId xmlns:a16="http://schemas.microsoft.com/office/drawing/2014/main" id="{F8ED7268-2EEE-476A-87EB-0B4C86BEED36}"/>
              </a:ext>
            </a:extLst>
          </p:cNvPr>
          <p:cNvSpPr>
            <a:spLocks noGrp="1"/>
          </p:cNvSpPr>
          <p:nvPr/>
        </p:nvSpPr>
        <p:spPr>
          <a:xfrm>
            <a:off x="4140200" y="3733800"/>
            <a:ext cx="4470400" cy="6985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Presenter overrides apply to one question, then the router resets to Auto.</a:t>
            </a:r>
            <a:endParaRPr sz="1200"/>
          </a:p>
        </p:txBody>
      </p:sp>
      <p:sp>
        <p:nvSpPr>
          <p:cNvPr id="28" name="Text 24">
            <a:extLst>
              <a:ext uri="{FF2B5EF4-FFF2-40B4-BE49-F238E27FC236}">
                <a16:creationId xmlns:a16="http://schemas.microsoft.com/office/drawing/2014/main" id="{0D4594D9-E66D-4007-A8DF-B5E076C5A844}"/>
              </a:ext>
            </a:extLst>
          </p:cNvPr>
          <p:cNvSpPr>
            <a:spLocks noGrp="1"/>
          </p:cNvSpPr>
          <p:nvPr/>
        </p:nvSpPr>
        <p:spPr>
          <a:xfrm>
            <a:off x="8763000" y="3733800"/>
            <a:ext cx="2667000" cy="6985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Demos never stall on a cold model</a:t>
            </a:r>
            <a:endParaRPr sz="1200"/>
          </a:p>
        </p:txBody>
      </p:sp>
      <p:sp>
        <p:nvSpPr>
          <p:cNvPr id="29" name="Shape 25">
            <a:extLst>
              <a:ext uri="{FF2B5EF4-FFF2-40B4-BE49-F238E27FC236}">
                <a16:creationId xmlns:a16="http://schemas.microsoft.com/office/drawing/2014/main" id="{FF066EEB-DEE4-48C9-A9FA-D4D53D06BE49}"/>
              </a:ext>
            </a:extLst>
          </p:cNvPr>
          <p:cNvSpPr>
            <a:spLocks noGrp="1"/>
          </p:cNvSpPr>
          <p:nvPr/>
        </p:nvSpPr>
        <p:spPr>
          <a:xfrm>
            <a:off x="508000" y="4521200"/>
            <a:ext cx="11176000" cy="698500"/>
          </a:xfrm>
          <a:prstGeom prst="rect">
            <a:avLst/>
          </a:prstGeom>
          <a:solidFill>
            <a:srgbClr val="FFFFFF"/>
          </a:solidFill>
          <a:effectLst>
            <a:outerShdw blurRad="50800" dist="25400" dir="5400000" algn="bl" rotWithShape="0">
              <a:srgbClr val="000000">
                <a:alpha val="18000"/>
              </a:srgbClr>
            </a:outerShdw>
          </a:effectLst>
        </p:spPr>
        <p:txBody>
          <a:bodyPr/>
          <a:lstStyle/>
          <a:p>
            <a:endParaRPr/>
          </a:p>
        </p:txBody>
      </p:sp>
      <p:sp>
        <p:nvSpPr>
          <p:cNvPr id="30" name="Shape 26">
            <a:extLst>
              <a:ext uri="{FF2B5EF4-FFF2-40B4-BE49-F238E27FC236}">
                <a16:creationId xmlns:a16="http://schemas.microsoft.com/office/drawing/2014/main" id="{C4A90BB3-463E-410E-A877-B25F3C91EBAB}"/>
              </a:ext>
            </a:extLst>
          </p:cNvPr>
          <p:cNvSpPr>
            <a:spLocks noGrp="1"/>
          </p:cNvSpPr>
          <p:nvPr/>
        </p:nvSpPr>
        <p:spPr>
          <a:xfrm>
            <a:off x="508000" y="4521200"/>
            <a:ext cx="63500" cy="698500"/>
          </a:xfrm>
          <a:prstGeom prst="rect">
            <a:avLst/>
          </a:prstGeom>
          <a:solidFill>
            <a:srgbClr val="DA1884"/>
          </a:solidFill>
        </p:spPr>
        <p:txBody>
          <a:bodyPr/>
          <a:lstStyle/>
          <a:p>
            <a:endParaRPr/>
          </a:p>
        </p:txBody>
      </p:sp>
      <p:sp>
        <p:nvSpPr>
          <p:cNvPr id="31" name="Text 27">
            <a:extLst>
              <a:ext uri="{FF2B5EF4-FFF2-40B4-BE49-F238E27FC236}">
                <a16:creationId xmlns:a16="http://schemas.microsoft.com/office/drawing/2014/main" id="{B16C81A8-9506-4FE9-88B8-BF99BFED61D7}"/>
              </a:ext>
            </a:extLst>
          </p:cNvPr>
          <p:cNvSpPr>
            <a:spLocks noGrp="1"/>
          </p:cNvSpPr>
          <p:nvPr/>
        </p:nvSpPr>
        <p:spPr>
          <a:xfrm>
            <a:off x="787400" y="4521200"/>
            <a:ext cx="482600" cy="6985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04</a:t>
            </a:r>
            <a:endParaRPr sz="1800"/>
          </a:p>
        </p:txBody>
      </p:sp>
      <p:sp>
        <p:nvSpPr>
          <p:cNvPr id="32" name="Text 28">
            <a:extLst>
              <a:ext uri="{FF2B5EF4-FFF2-40B4-BE49-F238E27FC236}">
                <a16:creationId xmlns:a16="http://schemas.microsoft.com/office/drawing/2014/main" id="{A9FBF281-C395-4744-8185-1DBA702AEE3A}"/>
              </a:ext>
            </a:extLst>
          </p:cNvPr>
          <p:cNvSpPr>
            <a:spLocks noGrp="1"/>
          </p:cNvSpPr>
          <p:nvPr/>
        </p:nvSpPr>
        <p:spPr>
          <a:xfrm>
            <a:off x="1397000" y="4521200"/>
            <a:ext cx="2540000" cy="6985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Grounded answers</a:t>
            </a:r>
            <a:endParaRPr sz="1300"/>
          </a:p>
        </p:txBody>
      </p:sp>
      <p:sp>
        <p:nvSpPr>
          <p:cNvPr id="33" name="Text 29">
            <a:extLst>
              <a:ext uri="{FF2B5EF4-FFF2-40B4-BE49-F238E27FC236}">
                <a16:creationId xmlns:a16="http://schemas.microsoft.com/office/drawing/2014/main" id="{A8A9DFDE-5BCA-4198-B450-6B663E752DF4}"/>
              </a:ext>
            </a:extLst>
          </p:cNvPr>
          <p:cNvSpPr>
            <a:spLocks noGrp="1"/>
          </p:cNvSpPr>
          <p:nvPr/>
        </p:nvSpPr>
        <p:spPr>
          <a:xfrm>
            <a:off x="4140200" y="4521200"/>
            <a:ext cx="4470400" cy="6985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Every answer is composed from the actual transport response.</a:t>
            </a:r>
            <a:endParaRPr sz="1200"/>
          </a:p>
        </p:txBody>
      </p:sp>
      <p:sp>
        <p:nvSpPr>
          <p:cNvPr id="34" name="Text 30">
            <a:extLst>
              <a:ext uri="{FF2B5EF4-FFF2-40B4-BE49-F238E27FC236}">
                <a16:creationId xmlns:a16="http://schemas.microsoft.com/office/drawing/2014/main" id="{0B4A4DCB-5388-4CFE-9995-8B3F2079C4CC}"/>
              </a:ext>
            </a:extLst>
          </p:cNvPr>
          <p:cNvSpPr>
            <a:spLocks noGrp="1"/>
          </p:cNvSpPr>
          <p:nvPr/>
        </p:nvSpPr>
        <p:spPr>
          <a:xfrm>
            <a:off x="8763000" y="4521200"/>
            <a:ext cx="2667000" cy="6985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No invented facts</a:t>
            </a:r>
            <a:endParaRPr sz="1200"/>
          </a:p>
        </p:txBody>
      </p:sp>
      <p:sp>
        <p:nvSpPr>
          <p:cNvPr id="35" name="Shape 31">
            <a:extLst>
              <a:ext uri="{FF2B5EF4-FFF2-40B4-BE49-F238E27FC236}">
                <a16:creationId xmlns:a16="http://schemas.microsoft.com/office/drawing/2014/main" id="{18E08CDC-1124-43E1-89EB-ADE6A5CB315C}"/>
              </a:ext>
            </a:extLst>
          </p:cNvPr>
          <p:cNvSpPr>
            <a:spLocks noGrp="1"/>
          </p:cNvSpPr>
          <p:nvPr/>
        </p:nvSpPr>
        <p:spPr>
          <a:xfrm>
            <a:off x="508000" y="5308600"/>
            <a:ext cx="11176000" cy="698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36" name="Shape 32">
            <a:extLst>
              <a:ext uri="{FF2B5EF4-FFF2-40B4-BE49-F238E27FC236}">
                <a16:creationId xmlns:a16="http://schemas.microsoft.com/office/drawing/2014/main" id="{53DF0165-B3E0-4271-9A8E-48163BA1423B}"/>
              </a:ext>
            </a:extLst>
          </p:cNvPr>
          <p:cNvSpPr>
            <a:spLocks noGrp="1"/>
          </p:cNvSpPr>
          <p:nvPr/>
        </p:nvSpPr>
        <p:spPr>
          <a:xfrm>
            <a:off x="508000" y="5308600"/>
            <a:ext cx="63500" cy="698500"/>
          </a:xfrm>
          <a:prstGeom prst="rect">
            <a:avLst/>
          </a:prstGeom>
          <a:solidFill>
            <a:srgbClr val="DA1884"/>
          </a:solidFill>
        </p:spPr>
        <p:txBody>
          <a:bodyPr/>
          <a:lstStyle/>
          <a:p>
            <a:endParaRPr/>
          </a:p>
        </p:txBody>
      </p:sp>
      <p:sp>
        <p:nvSpPr>
          <p:cNvPr id="37" name="Text 33">
            <a:extLst>
              <a:ext uri="{FF2B5EF4-FFF2-40B4-BE49-F238E27FC236}">
                <a16:creationId xmlns:a16="http://schemas.microsoft.com/office/drawing/2014/main" id="{0B9378D1-E3D0-4A14-824D-7ADA9E0A663A}"/>
              </a:ext>
            </a:extLst>
          </p:cNvPr>
          <p:cNvSpPr>
            <a:spLocks noGrp="1"/>
          </p:cNvSpPr>
          <p:nvPr/>
        </p:nvSpPr>
        <p:spPr>
          <a:xfrm>
            <a:off x="787400" y="5308600"/>
            <a:ext cx="482600" cy="6985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05</a:t>
            </a:r>
            <a:endParaRPr sz="1800"/>
          </a:p>
        </p:txBody>
      </p:sp>
      <p:sp>
        <p:nvSpPr>
          <p:cNvPr id="38" name="Text 34">
            <a:extLst>
              <a:ext uri="{FF2B5EF4-FFF2-40B4-BE49-F238E27FC236}">
                <a16:creationId xmlns:a16="http://schemas.microsoft.com/office/drawing/2014/main" id="{421F3DBF-073A-4768-BD05-7A5F23D88093}"/>
              </a:ext>
            </a:extLst>
          </p:cNvPr>
          <p:cNvSpPr>
            <a:spLocks noGrp="1"/>
          </p:cNvSpPr>
          <p:nvPr/>
        </p:nvSpPr>
        <p:spPr>
          <a:xfrm>
            <a:off x="1397000" y="5308600"/>
            <a:ext cx="2540000" cy="6985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Secrets stay server-side</a:t>
            </a:r>
            <a:endParaRPr sz="1300"/>
          </a:p>
        </p:txBody>
      </p:sp>
      <p:sp>
        <p:nvSpPr>
          <p:cNvPr id="39" name="Text 35">
            <a:extLst>
              <a:ext uri="{FF2B5EF4-FFF2-40B4-BE49-F238E27FC236}">
                <a16:creationId xmlns:a16="http://schemas.microsoft.com/office/drawing/2014/main" id="{77BC26EE-AD30-4001-A2F6-BC8F72B606AA}"/>
              </a:ext>
            </a:extLst>
          </p:cNvPr>
          <p:cNvSpPr>
            <a:spLocks noGrp="1"/>
          </p:cNvSpPr>
          <p:nvPr/>
        </p:nvSpPr>
        <p:spPr>
          <a:xfrm>
            <a:off x="4140200" y="5308600"/>
            <a:ext cx="4470400" cy="6985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Keys and auth headers never reach the browser. Ports bind to loopback.</a:t>
            </a:r>
            <a:endParaRPr sz="1200"/>
          </a:p>
        </p:txBody>
      </p:sp>
      <p:sp>
        <p:nvSpPr>
          <p:cNvPr id="40" name="Text 36">
            <a:extLst>
              <a:ext uri="{FF2B5EF4-FFF2-40B4-BE49-F238E27FC236}">
                <a16:creationId xmlns:a16="http://schemas.microsoft.com/office/drawing/2014/main" id="{BE36CE0D-88F0-49B6-A137-BDCC999D5E07}"/>
              </a:ext>
            </a:extLst>
          </p:cNvPr>
          <p:cNvSpPr>
            <a:spLocks noGrp="1"/>
          </p:cNvSpPr>
          <p:nvPr/>
        </p:nvSpPr>
        <p:spPr>
          <a:xfrm>
            <a:off x="8763000" y="5308600"/>
            <a:ext cx="2667000" cy="6985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Safe local-first defaults</a:t>
            </a:r>
            <a:endParaRPr sz="1200"/>
          </a:p>
        </p:txBody>
      </p:sp>
    </p:spTree>
    <p:extLst>
      <p:ext uri="{BB962C8B-B14F-4D97-AF65-F5344CB8AC3E}">
        <p14:creationId xmlns:p14="http://schemas.microsoft.com/office/powerpoint/2010/main" val="1325290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27CD1ABD-36FF-4DEF-96A8-14111852EA46}"/>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DD4A6E2C-7300-49FD-8680-657A401E7565}"/>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93172DAB-1383-4A71-B5AE-6F56CB4EF813}"/>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a:ext uri="{FF2B5EF4-FFF2-40B4-BE49-F238E27FC236}">
                <a16:creationId xmlns:a16="http://schemas.microsoft.com/office/drawing/2014/main" id="{96E90D5E-8A71-4D24-9711-BCC178F70AC8}"/>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51AD27EB-B3C3-4DFE-81C0-4125B1219818}"/>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27</a:t>
            </a:r>
            <a:endParaRPr sz="900"/>
          </a:p>
        </p:txBody>
      </p:sp>
      <p:sp>
        <p:nvSpPr>
          <p:cNvPr id="7" name="Text 4">
            <a:extLst>
              <a:ext uri="{FF2B5EF4-FFF2-40B4-BE49-F238E27FC236}">
                <a16:creationId xmlns:a16="http://schemas.microsoft.com/office/drawing/2014/main" id="{54130017-F214-41C7-B444-DDE8C7F96802}"/>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MEASURED, NOT PROMISED</a:t>
            </a:r>
            <a:endParaRPr sz="1200"/>
          </a:p>
        </p:txBody>
      </p:sp>
      <p:sp>
        <p:nvSpPr>
          <p:cNvPr id="8" name="Text 5">
            <a:extLst>
              <a:ext uri="{FF2B5EF4-FFF2-40B4-BE49-F238E27FC236}">
                <a16:creationId xmlns:a16="http://schemas.microsoft.com/office/drawing/2014/main" id="{E7891520-3841-41ED-9085-CE34A723788C}"/>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What the Router Costs</a:t>
            </a:r>
            <a:endParaRPr sz="3000"/>
          </a:p>
        </p:txBody>
      </p:sp>
      <p:sp>
        <p:nvSpPr>
          <p:cNvPr id="9" name="Text 6">
            <a:extLst>
              <a:ext uri="{FF2B5EF4-FFF2-40B4-BE49-F238E27FC236}">
                <a16:creationId xmlns:a16="http://schemas.microsoft.com/office/drawing/2014/main" id="{FEB99F2D-1690-426E-BEB2-919E83659D89}"/>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Historical baseline with the earlier catalog. Warm, sequential runs with native Ollama on Apple Silicon.</a:t>
            </a:r>
            <a:endParaRPr sz="1400"/>
          </a:p>
        </p:txBody>
      </p:sp>
      <p:sp>
        <p:nvSpPr>
          <p:cNvPr id="11" name="Shape 7">
            <a:extLst>
              <a:ext uri="{FF2B5EF4-FFF2-40B4-BE49-F238E27FC236}">
                <a16:creationId xmlns:a16="http://schemas.microsoft.com/office/drawing/2014/main" id="{4EB0AD1E-3674-4F22-9927-FB27C35425D2}"/>
              </a:ext>
            </a:extLst>
          </p:cNvPr>
          <p:cNvSpPr>
            <a:spLocks noGrp="1"/>
          </p:cNvSpPr>
          <p:nvPr/>
        </p:nvSpPr>
        <p:spPr>
          <a:xfrm>
            <a:off x="508000" y="2159000"/>
            <a:ext cx="3587750" cy="1549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89F88EE6-CBD4-4260-B10A-C864AF57632D}"/>
              </a:ext>
            </a:extLst>
          </p:cNvPr>
          <p:cNvSpPr>
            <a:spLocks noGrp="1"/>
          </p:cNvSpPr>
          <p:nvPr/>
        </p:nvSpPr>
        <p:spPr>
          <a:xfrm>
            <a:off x="508000" y="2159000"/>
            <a:ext cx="358775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AA29B48B-595E-4114-8CC1-43FF38BFF862}"/>
              </a:ext>
            </a:extLst>
          </p:cNvPr>
          <p:cNvSpPr>
            <a:spLocks noGrp="1"/>
          </p:cNvSpPr>
          <p:nvPr/>
        </p:nvSpPr>
        <p:spPr>
          <a:xfrm>
            <a:off x="736600" y="2349500"/>
            <a:ext cx="313055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REST</a:t>
            </a:r>
            <a:endParaRPr sz="1200"/>
          </a:p>
        </p:txBody>
      </p:sp>
      <p:sp>
        <p:nvSpPr>
          <p:cNvPr id="14" name="Text 10">
            <a:extLst>
              <a:ext uri="{FF2B5EF4-FFF2-40B4-BE49-F238E27FC236}">
                <a16:creationId xmlns:a16="http://schemas.microsoft.com/office/drawing/2014/main" id="{606CE8FA-BA28-46F5-9953-3C2CC5B73A06}"/>
              </a:ext>
            </a:extLst>
          </p:cNvPr>
          <p:cNvSpPr>
            <a:spLocks noGrp="1"/>
          </p:cNvSpPr>
          <p:nvPr/>
        </p:nvSpPr>
        <p:spPr>
          <a:xfrm>
            <a:off x="736600" y="2616200"/>
            <a:ext cx="3130550" cy="635000"/>
          </a:xfrm>
          <a:prstGeom prst="rect">
            <a:avLst/>
          </a:prstGeom>
          <a:noFill/>
        </p:spPr>
        <p:txBody>
          <a:bodyPr wrap="square" lIns="0" tIns="0" rIns="0" bIns="0" anchor="ctr"/>
          <a:lstStyle/>
          <a:p>
            <a:pPr marL="0" indent="0" algn="l">
              <a:lnSpc>
                <a:spcPct val="110000"/>
              </a:lnSpc>
              <a:buNone/>
            </a:pPr>
            <a:r>
              <a:rPr sz="4000" b="1">
                <a:solidFill>
                  <a:srgbClr val="141414"/>
                </a:solidFill>
                <a:latin typeface="Arial"/>
                <a:ea typeface="Arial"/>
                <a:cs typeface="Arial"/>
              </a:rPr>
              <a:t>1.11 s</a:t>
            </a:r>
            <a:endParaRPr sz="4000"/>
          </a:p>
        </p:txBody>
      </p:sp>
      <p:sp>
        <p:nvSpPr>
          <p:cNvPr id="15" name="Text 11">
            <a:extLst>
              <a:ext uri="{FF2B5EF4-FFF2-40B4-BE49-F238E27FC236}">
                <a16:creationId xmlns:a16="http://schemas.microsoft.com/office/drawing/2014/main" id="{32765C5A-F4A2-40C9-844E-11AB5676E133}"/>
              </a:ext>
            </a:extLst>
          </p:cNvPr>
          <p:cNvSpPr>
            <a:spLocks noGrp="1"/>
          </p:cNvSpPr>
          <p:nvPr/>
        </p:nvSpPr>
        <p:spPr>
          <a:xfrm>
            <a:off x="736600" y="3327400"/>
            <a:ext cx="3130550" cy="215900"/>
          </a:xfrm>
          <a:prstGeom prst="rect">
            <a:avLst/>
          </a:prstGeom>
          <a:noFill/>
        </p:spPr>
        <p:txBody>
          <a:bodyPr wrap="square" lIns="0" tIns="0" rIns="0" bIns="0" anchor="t"/>
          <a:lstStyle/>
          <a:p>
            <a:pPr marL="0" indent="0" algn="l">
              <a:lnSpc>
                <a:spcPct val="110000"/>
              </a:lnSpc>
              <a:buNone/>
            </a:pPr>
            <a:r>
              <a:rPr sz="1200">
                <a:solidFill>
                  <a:srgbClr val="6B6B6B"/>
                </a:solidFill>
                <a:latin typeface="Arial"/>
                <a:ea typeface="Arial"/>
                <a:cs typeface="Arial"/>
              </a:rPr>
              <a:t>median complete response</a:t>
            </a:r>
            <a:endParaRPr sz="1200"/>
          </a:p>
        </p:txBody>
      </p:sp>
      <p:sp>
        <p:nvSpPr>
          <p:cNvPr id="16" name="Shape 12">
            <a:extLst>
              <a:ext uri="{FF2B5EF4-FFF2-40B4-BE49-F238E27FC236}">
                <a16:creationId xmlns:a16="http://schemas.microsoft.com/office/drawing/2014/main" id="{FC722FB4-4D4C-4BCE-888B-3262714ADA6E}"/>
              </a:ext>
            </a:extLst>
          </p:cNvPr>
          <p:cNvSpPr>
            <a:spLocks noGrp="1"/>
          </p:cNvSpPr>
          <p:nvPr/>
        </p:nvSpPr>
        <p:spPr>
          <a:xfrm>
            <a:off x="4298950" y="2159000"/>
            <a:ext cx="3587750" cy="1549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7" name="Shape 13">
            <a:extLst>
              <a:ext uri="{FF2B5EF4-FFF2-40B4-BE49-F238E27FC236}">
                <a16:creationId xmlns:a16="http://schemas.microsoft.com/office/drawing/2014/main" id="{B8D69AA5-B6AC-41CA-83DB-550E47277087}"/>
              </a:ext>
            </a:extLst>
          </p:cNvPr>
          <p:cNvSpPr>
            <a:spLocks noGrp="1"/>
          </p:cNvSpPr>
          <p:nvPr/>
        </p:nvSpPr>
        <p:spPr>
          <a:xfrm>
            <a:off x="4298950" y="2159000"/>
            <a:ext cx="3587750" cy="50800"/>
          </a:xfrm>
          <a:prstGeom prst="rect">
            <a:avLst/>
          </a:prstGeom>
          <a:solidFill>
            <a:srgbClr val="DA1884"/>
          </a:solidFill>
        </p:spPr>
        <p:txBody>
          <a:bodyPr/>
          <a:lstStyle/>
          <a:p>
            <a:endParaRPr/>
          </a:p>
        </p:txBody>
      </p:sp>
      <p:sp>
        <p:nvSpPr>
          <p:cNvPr id="18" name="Text 14">
            <a:extLst>
              <a:ext uri="{FF2B5EF4-FFF2-40B4-BE49-F238E27FC236}">
                <a16:creationId xmlns:a16="http://schemas.microsoft.com/office/drawing/2014/main" id="{05F55FF6-7B52-4B8C-800B-69C9DD4CC4DE}"/>
              </a:ext>
            </a:extLst>
          </p:cNvPr>
          <p:cNvSpPr>
            <a:spLocks noGrp="1"/>
          </p:cNvSpPr>
          <p:nvPr/>
        </p:nvSpPr>
        <p:spPr>
          <a:xfrm>
            <a:off x="4527550" y="2349500"/>
            <a:ext cx="313055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GRAPHQL</a:t>
            </a:r>
            <a:endParaRPr sz="1200"/>
          </a:p>
        </p:txBody>
      </p:sp>
      <p:sp>
        <p:nvSpPr>
          <p:cNvPr id="19" name="Text 15">
            <a:extLst>
              <a:ext uri="{FF2B5EF4-FFF2-40B4-BE49-F238E27FC236}">
                <a16:creationId xmlns:a16="http://schemas.microsoft.com/office/drawing/2014/main" id="{27520F4C-2893-42DE-AA16-A4181237728E}"/>
              </a:ext>
            </a:extLst>
          </p:cNvPr>
          <p:cNvSpPr>
            <a:spLocks noGrp="1"/>
          </p:cNvSpPr>
          <p:nvPr/>
        </p:nvSpPr>
        <p:spPr>
          <a:xfrm>
            <a:off x="4527550" y="2616200"/>
            <a:ext cx="3130550" cy="635000"/>
          </a:xfrm>
          <a:prstGeom prst="rect">
            <a:avLst/>
          </a:prstGeom>
          <a:noFill/>
        </p:spPr>
        <p:txBody>
          <a:bodyPr wrap="square" lIns="0" tIns="0" rIns="0" bIns="0" anchor="ctr"/>
          <a:lstStyle/>
          <a:p>
            <a:pPr marL="0" indent="0" algn="l">
              <a:lnSpc>
                <a:spcPct val="110000"/>
              </a:lnSpc>
              <a:buNone/>
            </a:pPr>
            <a:r>
              <a:rPr sz="4000" b="1">
                <a:solidFill>
                  <a:srgbClr val="141414"/>
                </a:solidFill>
                <a:latin typeface="Arial"/>
                <a:ea typeface="Arial"/>
                <a:cs typeface="Arial"/>
              </a:rPr>
              <a:t>1.26 s</a:t>
            </a:r>
            <a:endParaRPr sz="4000"/>
          </a:p>
        </p:txBody>
      </p:sp>
      <p:sp>
        <p:nvSpPr>
          <p:cNvPr id="20" name="Text 16">
            <a:extLst>
              <a:ext uri="{FF2B5EF4-FFF2-40B4-BE49-F238E27FC236}">
                <a16:creationId xmlns:a16="http://schemas.microsoft.com/office/drawing/2014/main" id="{E41A5137-B4B4-4B64-8567-7BB68CA428FD}"/>
              </a:ext>
            </a:extLst>
          </p:cNvPr>
          <p:cNvSpPr>
            <a:spLocks noGrp="1"/>
          </p:cNvSpPr>
          <p:nvPr/>
        </p:nvSpPr>
        <p:spPr>
          <a:xfrm>
            <a:off x="4527550" y="3327400"/>
            <a:ext cx="3130550" cy="215900"/>
          </a:xfrm>
          <a:prstGeom prst="rect">
            <a:avLst/>
          </a:prstGeom>
          <a:noFill/>
        </p:spPr>
        <p:txBody>
          <a:bodyPr wrap="square" lIns="0" tIns="0" rIns="0" bIns="0" anchor="t"/>
          <a:lstStyle/>
          <a:p>
            <a:pPr marL="0" indent="0" algn="l">
              <a:lnSpc>
                <a:spcPct val="110000"/>
              </a:lnSpc>
              <a:buNone/>
            </a:pPr>
            <a:r>
              <a:rPr sz="1200">
                <a:solidFill>
                  <a:srgbClr val="6B6B6B"/>
                </a:solidFill>
                <a:latin typeface="Arial"/>
                <a:ea typeface="Arial"/>
                <a:cs typeface="Arial"/>
              </a:rPr>
              <a:t>median complete response</a:t>
            </a:r>
            <a:endParaRPr sz="1200"/>
          </a:p>
        </p:txBody>
      </p:sp>
      <p:sp>
        <p:nvSpPr>
          <p:cNvPr id="21" name="Shape 17">
            <a:extLst>
              <a:ext uri="{FF2B5EF4-FFF2-40B4-BE49-F238E27FC236}">
                <a16:creationId xmlns:a16="http://schemas.microsoft.com/office/drawing/2014/main" id="{E9B03E46-A7E0-4E2D-BCB7-D4F235CDAB36}"/>
              </a:ext>
            </a:extLst>
          </p:cNvPr>
          <p:cNvSpPr>
            <a:spLocks noGrp="1"/>
          </p:cNvSpPr>
          <p:nvPr/>
        </p:nvSpPr>
        <p:spPr>
          <a:xfrm>
            <a:off x="8089900" y="2159000"/>
            <a:ext cx="3587750" cy="1549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2" name="Shape 18">
            <a:extLst>
              <a:ext uri="{FF2B5EF4-FFF2-40B4-BE49-F238E27FC236}">
                <a16:creationId xmlns:a16="http://schemas.microsoft.com/office/drawing/2014/main" id="{FB8BB179-73C0-4F88-BDC6-A7F7CB992C66}"/>
              </a:ext>
            </a:extLst>
          </p:cNvPr>
          <p:cNvSpPr>
            <a:spLocks noGrp="1"/>
          </p:cNvSpPr>
          <p:nvPr/>
        </p:nvSpPr>
        <p:spPr>
          <a:xfrm>
            <a:off x="8089900" y="2159000"/>
            <a:ext cx="3587750" cy="50800"/>
          </a:xfrm>
          <a:prstGeom prst="rect">
            <a:avLst/>
          </a:prstGeom>
          <a:solidFill>
            <a:srgbClr val="DA1884"/>
          </a:solidFill>
        </p:spPr>
        <p:txBody>
          <a:bodyPr/>
          <a:lstStyle/>
          <a:p>
            <a:endParaRPr/>
          </a:p>
        </p:txBody>
      </p:sp>
      <p:sp>
        <p:nvSpPr>
          <p:cNvPr id="23" name="Text 19">
            <a:extLst>
              <a:ext uri="{FF2B5EF4-FFF2-40B4-BE49-F238E27FC236}">
                <a16:creationId xmlns:a16="http://schemas.microsoft.com/office/drawing/2014/main" id="{42D26352-AEEF-4DDF-8ABC-8249AC0DD910}"/>
              </a:ext>
            </a:extLst>
          </p:cNvPr>
          <p:cNvSpPr>
            <a:spLocks noGrp="1"/>
          </p:cNvSpPr>
          <p:nvPr/>
        </p:nvSpPr>
        <p:spPr>
          <a:xfrm>
            <a:off x="8318500" y="2349500"/>
            <a:ext cx="3130550" cy="215900"/>
          </a:xfrm>
          <a:prstGeom prst="rect">
            <a:avLst/>
          </a:prstGeom>
          <a:noFill/>
        </p:spPr>
        <p:txBody>
          <a:bodyPr wrap="square" lIns="0" tIns="0" rIns="0" bIns="0" anchor="t"/>
          <a:lstStyle/>
          <a:p>
            <a:pPr marL="0" indent="0" algn="l">
              <a:lnSpc>
                <a:spcPct val="110000"/>
              </a:lnSpc>
              <a:buNone/>
            </a:pPr>
            <a:r>
              <a:rPr sz="1200" b="1" dirty="0">
                <a:solidFill>
                  <a:srgbClr val="DA1884"/>
                </a:solidFill>
                <a:latin typeface="Arial"/>
                <a:ea typeface="Arial"/>
                <a:cs typeface="Arial"/>
              </a:rPr>
              <a:t>GRPC</a:t>
            </a:r>
            <a:endParaRPr sz="1200" dirty="0"/>
          </a:p>
        </p:txBody>
      </p:sp>
      <p:sp>
        <p:nvSpPr>
          <p:cNvPr id="24" name="Text 20">
            <a:extLst>
              <a:ext uri="{FF2B5EF4-FFF2-40B4-BE49-F238E27FC236}">
                <a16:creationId xmlns:a16="http://schemas.microsoft.com/office/drawing/2014/main" id="{DA6B6A92-1963-457C-8E48-5B9D1D472924}"/>
              </a:ext>
            </a:extLst>
          </p:cNvPr>
          <p:cNvSpPr>
            <a:spLocks noGrp="1"/>
          </p:cNvSpPr>
          <p:nvPr/>
        </p:nvSpPr>
        <p:spPr>
          <a:xfrm>
            <a:off x="8318500" y="2616200"/>
            <a:ext cx="3130550" cy="635000"/>
          </a:xfrm>
          <a:prstGeom prst="rect">
            <a:avLst/>
          </a:prstGeom>
          <a:noFill/>
        </p:spPr>
        <p:txBody>
          <a:bodyPr wrap="square" lIns="0" tIns="0" rIns="0" bIns="0" anchor="ctr"/>
          <a:lstStyle/>
          <a:p>
            <a:pPr marL="0" indent="0" algn="l">
              <a:lnSpc>
                <a:spcPct val="110000"/>
              </a:lnSpc>
              <a:buNone/>
            </a:pPr>
            <a:r>
              <a:rPr sz="4000" b="1">
                <a:solidFill>
                  <a:srgbClr val="141414"/>
                </a:solidFill>
                <a:latin typeface="Arial"/>
                <a:ea typeface="Arial"/>
                <a:cs typeface="Arial"/>
              </a:rPr>
              <a:t>1.86 s</a:t>
            </a:r>
            <a:endParaRPr sz="4000"/>
          </a:p>
        </p:txBody>
      </p:sp>
      <p:sp>
        <p:nvSpPr>
          <p:cNvPr id="25" name="Text 21">
            <a:extLst>
              <a:ext uri="{FF2B5EF4-FFF2-40B4-BE49-F238E27FC236}">
                <a16:creationId xmlns:a16="http://schemas.microsoft.com/office/drawing/2014/main" id="{BB124006-21FA-4554-A96A-4A52D07D15E6}"/>
              </a:ext>
            </a:extLst>
          </p:cNvPr>
          <p:cNvSpPr>
            <a:spLocks noGrp="1"/>
          </p:cNvSpPr>
          <p:nvPr/>
        </p:nvSpPr>
        <p:spPr>
          <a:xfrm>
            <a:off x="8318500" y="3327400"/>
            <a:ext cx="3130550" cy="215900"/>
          </a:xfrm>
          <a:prstGeom prst="rect">
            <a:avLst/>
          </a:prstGeom>
          <a:noFill/>
        </p:spPr>
        <p:txBody>
          <a:bodyPr wrap="square" lIns="0" tIns="0" rIns="0" bIns="0" anchor="t"/>
          <a:lstStyle/>
          <a:p>
            <a:pPr marL="0" indent="0" algn="l">
              <a:lnSpc>
                <a:spcPct val="110000"/>
              </a:lnSpc>
              <a:buNone/>
            </a:pPr>
            <a:r>
              <a:rPr sz="1200">
                <a:solidFill>
                  <a:srgbClr val="6B6B6B"/>
                </a:solidFill>
                <a:latin typeface="Arial"/>
                <a:ea typeface="Arial"/>
                <a:cs typeface="Arial"/>
              </a:rPr>
              <a:t>includes three streamed snapshots</a:t>
            </a:r>
            <a:endParaRPr sz="1200"/>
          </a:p>
        </p:txBody>
      </p:sp>
      <p:sp>
        <p:nvSpPr>
          <p:cNvPr id="26" name="Text 22">
            <a:extLst>
              <a:ext uri="{FF2B5EF4-FFF2-40B4-BE49-F238E27FC236}">
                <a16:creationId xmlns:a16="http://schemas.microsoft.com/office/drawing/2014/main" id="{8DC2CCC9-69B3-469E-A3A1-7D5E10A074BA}"/>
              </a:ext>
            </a:extLst>
          </p:cNvPr>
          <p:cNvSpPr>
            <a:spLocks noGrp="1"/>
          </p:cNvSpPr>
          <p:nvPr/>
        </p:nvSpPr>
        <p:spPr>
          <a:xfrm>
            <a:off x="508000" y="3911600"/>
            <a:ext cx="11176000" cy="215900"/>
          </a:xfrm>
          <a:prstGeom prst="rect">
            <a:avLst/>
          </a:prstGeom>
          <a:noFill/>
        </p:spPr>
        <p:txBody>
          <a:bodyPr wrap="square" lIns="0" tIns="0" rIns="0" bIns="0" anchor="ctr"/>
          <a:lstStyle/>
          <a:p>
            <a:pPr marL="0" indent="0">
              <a:buNone/>
            </a:pPr>
            <a:r>
              <a:rPr sz="1200" b="1">
                <a:solidFill>
                  <a:srgbClr val="DA1884"/>
                </a:solidFill>
                <a:latin typeface="Arial"/>
                <a:ea typeface="Arial"/>
                <a:cs typeface="Arial"/>
              </a:rPr>
              <a:t>■ Routing (model)</a:t>
            </a:r>
            <a:r>
              <a:rPr sz="1200" b="1">
                <a:solidFill>
                  <a:srgbClr val="6B6B6B"/>
                </a:solidFill>
                <a:latin typeface="Arial"/>
                <a:ea typeface="Arial"/>
                <a:cs typeface="Arial"/>
              </a:rPr>
              <a:t>     ■ Protocol execution</a:t>
            </a:r>
            <a:r>
              <a:rPr sz="1200">
                <a:solidFill>
                  <a:srgbClr val="6B6B6B"/>
                </a:solidFill>
                <a:latin typeface="Arial"/>
                <a:ea typeface="Arial"/>
                <a:cs typeface="Arial"/>
              </a:rPr>
              <a:t>     (round 3 sample)</a:t>
            </a:r>
            <a:endParaRPr sz="1200"/>
          </a:p>
        </p:txBody>
      </p:sp>
      <p:sp>
        <p:nvSpPr>
          <p:cNvPr id="27" name="Text 23">
            <a:extLst>
              <a:ext uri="{FF2B5EF4-FFF2-40B4-BE49-F238E27FC236}">
                <a16:creationId xmlns:a16="http://schemas.microsoft.com/office/drawing/2014/main" id="{CBD621E4-E852-4032-888D-F70CFB270318}"/>
              </a:ext>
            </a:extLst>
          </p:cNvPr>
          <p:cNvSpPr>
            <a:spLocks noGrp="1"/>
          </p:cNvSpPr>
          <p:nvPr/>
        </p:nvSpPr>
        <p:spPr>
          <a:xfrm>
            <a:off x="508000" y="4229100"/>
            <a:ext cx="952500" cy="254000"/>
          </a:xfrm>
          <a:prstGeom prst="rect">
            <a:avLst/>
          </a:prstGeom>
          <a:noFill/>
        </p:spPr>
        <p:txBody>
          <a:bodyPr wrap="square" lIns="0" tIns="0" rIns="0" bIns="0" anchor="ctr"/>
          <a:lstStyle/>
          <a:p>
            <a:pPr marL="0" indent="0" algn="l">
              <a:lnSpc>
                <a:spcPct val="110000"/>
              </a:lnSpc>
              <a:buNone/>
            </a:pPr>
            <a:r>
              <a:rPr sz="1200" b="1">
                <a:solidFill>
                  <a:srgbClr val="141414"/>
                </a:solidFill>
                <a:latin typeface="Arial"/>
                <a:ea typeface="Arial"/>
                <a:cs typeface="Arial"/>
              </a:rPr>
              <a:t>REST</a:t>
            </a:r>
            <a:endParaRPr sz="1200"/>
          </a:p>
        </p:txBody>
      </p:sp>
      <p:sp>
        <p:nvSpPr>
          <p:cNvPr id="28" name="Shape 24">
            <a:extLst>
              <a:ext uri="{FF2B5EF4-FFF2-40B4-BE49-F238E27FC236}">
                <a16:creationId xmlns:a16="http://schemas.microsoft.com/office/drawing/2014/main" id="{DBE286C9-C95B-46A3-8B23-5B42EDA6CFB5}"/>
              </a:ext>
            </a:extLst>
          </p:cNvPr>
          <p:cNvSpPr>
            <a:spLocks noGrp="1"/>
          </p:cNvSpPr>
          <p:nvPr/>
        </p:nvSpPr>
        <p:spPr>
          <a:xfrm>
            <a:off x="1612900" y="4229100"/>
            <a:ext cx="3606800" cy="254000"/>
          </a:xfrm>
          <a:prstGeom prst="rect">
            <a:avLst/>
          </a:prstGeom>
          <a:solidFill>
            <a:srgbClr val="DA1884"/>
          </a:solidFill>
        </p:spPr>
        <p:txBody>
          <a:bodyPr/>
          <a:lstStyle/>
          <a:p>
            <a:endParaRPr/>
          </a:p>
        </p:txBody>
      </p:sp>
      <p:sp>
        <p:nvSpPr>
          <p:cNvPr id="29" name="Shape 25">
            <a:extLst>
              <a:ext uri="{FF2B5EF4-FFF2-40B4-BE49-F238E27FC236}">
                <a16:creationId xmlns:a16="http://schemas.microsoft.com/office/drawing/2014/main" id="{B7A6CD35-324A-49C0-BA59-730FA764210B}"/>
              </a:ext>
            </a:extLst>
          </p:cNvPr>
          <p:cNvSpPr>
            <a:spLocks noGrp="1"/>
          </p:cNvSpPr>
          <p:nvPr/>
        </p:nvSpPr>
        <p:spPr>
          <a:xfrm>
            <a:off x="5219700" y="4229100"/>
            <a:ext cx="25400" cy="254000"/>
          </a:xfrm>
          <a:prstGeom prst="rect">
            <a:avLst/>
          </a:prstGeom>
          <a:solidFill>
            <a:srgbClr val="6B6B6B"/>
          </a:solidFill>
        </p:spPr>
        <p:txBody>
          <a:bodyPr/>
          <a:lstStyle/>
          <a:p>
            <a:endParaRPr/>
          </a:p>
        </p:txBody>
      </p:sp>
      <p:sp>
        <p:nvSpPr>
          <p:cNvPr id="30" name="Text 26">
            <a:extLst>
              <a:ext uri="{FF2B5EF4-FFF2-40B4-BE49-F238E27FC236}">
                <a16:creationId xmlns:a16="http://schemas.microsoft.com/office/drawing/2014/main" id="{5344CA83-2EB4-4286-A0BF-98C51DFDBBE1}"/>
              </a:ext>
            </a:extLst>
          </p:cNvPr>
          <p:cNvSpPr>
            <a:spLocks noGrp="1"/>
          </p:cNvSpPr>
          <p:nvPr/>
        </p:nvSpPr>
        <p:spPr>
          <a:xfrm>
            <a:off x="5397500" y="4229100"/>
            <a:ext cx="3810000" cy="254000"/>
          </a:xfrm>
          <a:prstGeom prst="rect">
            <a:avLst/>
          </a:prstGeom>
          <a:noFill/>
        </p:spPr>
        <p:txBody>
          <a:bodyPr wrap="square" lIns="0" tIns="0" rIns="0" bIns="0" anchor="ctr"/>
          <a:lstStyle/>
          <a:p>
            <a:pPr marL="0" indent="0" algn="l">
              <a:lnSpc>
                <a:spcPct val="110000"/>
              </a:lnSpc>
              <a:buNone/>
            </a:pPr>
            <a:r>
              <a:rPr sz="1200">
                <a:solidFill>
                  <a:srgbClr val="333333"/>
                </a:solidFill>
                <a:latin typeface="Arial"/>
                <a:ea typeface="Arial"/>
                <a:cs typeface="Arial"/>
              </a:rPr>
              <a:t>1,093 ms routing + 4 ms protocol</a:t>
            </a:r>
            <a:endParaRPr sz="1200"/>
          </a:p>
        </p:txBody>
      </p:sp>
      <p:sp>
        <p:nvSpPr>
          <p:cNvPr id="31" name="Text 27">
            <a:extLst>
              <a:ext uri="{FF2B5EF4-FFF2-40B4-BE49-F238E27FC236}">
                <a16:creationId xmlns:a16="http://schemas.microsoft.com/office/drawing/2014/main" id="{D4A65D30-D43E-414D-AC65-76CD421501CD}"/>
              </a:ext>
            </a:extLst>
          </p:cNvPr>
          <p:cNvSpPr>
            <a:spLocks noGrp="1"/>
          </p:cNvSpPr>
          <p:nvPr/>
        </p:nvSpPr>
        <p:spPr>
          <a:xfrm>
            <a:off x="508000" y="4597400"/>
            <a:ext cx="952500" cy="254000"/>
          </a:xfrm>
          <a:prstGeom prst="rect">
            <a:avLst/>
          </a:prstGeom>
          <a:noFill/>
        </p:spPr>
        <p:txBody>
          <a:bodyPr wrap="square" lIns="0" tIns="0" rIns="0" bIns="0" anchor="ctr"/>
          <a:lstStyle/>
          <a:p>
            <a:pPr marL="0" indent="0" algn="l">
              <a:lnSpc>
                <a:spcPct val="110000"/>
              </a:lnSpc>
              <a:buNone/>
            </a:pPr>
            <a:r>
              <a:rPr sz="1200" b="1">
                <a:solidFill>
                  <a:srgbClr val="141414"/>
                </a:solidFill>
                <a:latin typeface="Arial"/>
                <a:ea typeface="Arial"/>
                <a:cs typeface="Arial"/>
              </a:rPr>
              <a:t>GraphQL</a:t>
            </a:r>
            <a:endParaRPr sz="1200"/>
          </a:p>
        </p:txBody>
      </p:sp>
      <p:sp>
        <p:nvSpPr>
          <p:cNvPr id="32" name="Shape 28">
            <a:extLst>
              <a:ext uri="{FF2B5EF4-FFF2-40B4-BE49-F238E27FC236}">
                <a16:creationId xmlns:a16="http://schemas.microsoft.com/office/drawing/2014/main" id="{E1B6BAC4-2216-4C14-9D1B-085E256BD8AC}"/>
              </a:ext>
            </a:extLst>
          </p:cNvPr>
          <p:cNvSpPr>
            <a:spLocks noGrp="1"/>
          </p:cNvSpPr>
          <p:nvPr/>
        </p:nvSpPr>
        <p:spPr>
          <a:xfrm>
            <a:off x="1612900" y="4597400"/>
            <a:ext cx="4095750" cy="254000"/>
          </a:xfrm>
          <a:prstGeom prst="rect">
            <a:avLst/>
          </a:prstGeom>
          <a:solidFill>
            <a:srgbClr val="DA1884"/>
          </a:solidFill>
        </p:spPr>
        <p:txBody>
          <a:bodyPr/>
          <a:lstStyle/>
          <a:p>
            <a:endParaRPr/>
          </a:p>
        </p:txBody>
      </p:sp>
      <p:sp>
        <p:nvSpPr>
          <p:cNvPr id="33" name="Shape 29">
            <a:extLst>
              <a:ext uri="{FF2B5EF4-FFF2-40B4-BE49-F238E27FC236}">
                <a16:creationId xmlns:a16="http://schemas.microsoft.com/office/drawing/2014/main" id="{F402B9F7-E823-4BFC-9F65-500BCB300164}"/>
              </a:ext>
            </a:extLst>
          </p:cNvPr>
          <p:cNvSpPr>
            <a:spLocks noGrp="1"/>
          </p:cNvSpPr>
          <p:nvPr/>
        </p:nvSpPr>
        <p:spPr>
          <a:xfrm>
            <a:off x="5708650" y="4597400"/>
            <a:ext cx="25400" cy="254000"/>
          </a:xfrm>
          <a:prstGeom prst="rect">
            <a:avLst/>
          </a:prstGeom>
          <a:solidFill>
            <a:srgbClr val="6B6B6B"/>
          </a:solidFill>
        </p:spPr>
        <p:txBody>
          <a:bodyPr/>
          <a:lstStyle/>
          <a:p>
            <a:endParaRPr/>
          </a:p>
        </p:txBody>
      </p:sp>
      <p:sp>
        <p:nvSpPr>
          <p:cNvPr id="34" name="Text 30">
            <a:extLst>
              <a:ext uri="{FF2B5EF4-FFF2-40B4-BE49-F238E27FC236}">
                <a16:creationId xmlns:a16="http://schemas.microsoft.com/office/drawing/2014/main" id="{D4DAF64D-21BC-4551-8D07-7777CCCCE7DE}"/>
              </a:ext>
            </a:extLst>
          </p:cNvPr>
          <p:cNvSpPr>
            <a:spLocks noGrp="1"/>
          </p:cNvSpPr>
          <p:nvPr/>
        </p:nvSpPr>
        <p:spPr>
          <a:xfrm>
            <a:off x="5886450" y="4597400"/>
            <a:ext cx="3810000" cy="254000"/>
          </a:xfrm>
          <a:prstGeom prst="rect">
            <a:avLst/>
          </a:prstGeom>
          <a:noFill/>
        </p:spPr>
        <p:txBody>
          <a:bodyPr wrap="square" lIns="0" tIns="0" rIns="0" bIns="0" anchor="ctr"/>
          <a:lstStyle/>
          <a:p>
            <a:pPr marL="0" indent="0" algn="l">
              <a:lnSpc>
                <a:spcPct val="110000"/>
              </a:lnSpc>
              <a:buNone/>
            </a:pPr>
            <a:r>
              <a:rPr sz="1200">
                <a:solidFill>
                  <a:srgbClr val="333333"/>
                </a:solidFill>
                <a:latin typeface="Arial"/>
                <a:ea typeface="Arial"/>
                <a:cs typeface="Arial"/>
              </a:rPr>
              <a:t>1,241 ms routing + 7 ms protocol</a:t>
            </a:r>
            <a:endParaRPr sz="1200"/>
          </a:p>
        </p:txBody>
      </p:sp>
      <p:sp>
        <p:nvSpPr>
          <p:cNvPr id="35" name="Text 31">
            <a:extLst>
              <a:ext uri="{FF2B5EF4-FFF2-40B4-BE49-F238E27FC236}">
                <a16:creationId xmlns:a16="http://schemas.microsoft.com/office/drawing/2014/main" id="{9A1380A6-7BB4-405D-BB32-0F10E04F041E}"/>
              </a:ext>
            </a:extLst>
          </p:cNvPr>
          <p:cNvSpPr>
            <a:spLocks noGrp="1"/>
          </p:cNvSpPr>
          <p:nvPr/>
        </p:nvSpPr>
        <p:spPr>
          <a:xfrm>
            <a:off x="508000" y="4965700"/>
            <a:ext cx="952500" cy="254000"/>
          </a:xfrm>
          <a:prstGeom prst="rect">
            <a:avLst/>
          </a:prstGeom>
          <a:noFill/>
        </p:spPr>
        <p:txBody>
          <a:bodyPr wrap="square" lIns="0" tIns="0" rIns="0" bIns="0" anchor="ctr"/>
          <a:lstStyle/>
          <a:p>
            <a:pPr marL="0" indent="0" algn="l">
              <a:lnSpc>
                <a:spcPct val="110000"/>
              </a:lnSpc>
              <a:buNone/>
            </a:pPr>
            <a:r>
              <a:rPr sz="1200" b="1" dirty="0">
                <a:solidFill>
                  <a:srgbClr val="141414"/>
                </a:solidFill>
                <a:latin typeface="Arial"/>
                <a:ea typeface="Arial"/>
                <a:cs typeface="Arial"/>
              </a:rPr>
              <a:t>gRPC</a:t>
            </a:r>
            <a:endParaRPr sz="1200" dirty="0"/>
          </a:p>
        </p:txBody>
      </p:sp>
      <p:sp>
        <p:nvSpPr>
          <p:cNvPr id="36" name="Shape 32">
            <a:extLst>
              <a:ext uri="{FF2B5EF4-FFF2-40B4-BE49-F238E27FC236}">
                <a16:creationId xmlns:a16="http://schemas.microsoft.com/office/drawing/2014/main" id="{CF6911C9-2903-4BA1-97C2-947A4FB5B029}"/>
              </a:ext>
            </a:extLst>
          </p:cNvPr>
          <p:cNvSpPr>
            <a:spLocks noGrp="1"/>
          </p:cNvSpPr>
          <p:nvPr/>
        </p:nvSpPr>
        <p:spPr>
          <a:xfrm>
            <a:off x="1612900" y="4965700"/>
            <a:ext cx="3670300" cy="254000"/>
          </a:xfrm>
          <a:prstGeom prst="rect">
            <a:avLst/>
          </a:prstGeom>
          <a:solidFill>
            <a:srgbClr val="DA1884"/>
          </a:solidFill>
        </p:spPr>
        <p:txBody>
          <a:bodyPr/>
          <a:lstStyle/>
          <a:p>
            <a:endParaRPr/>
          </a:p>
        </p:txBody>
      </p:sp>
      <p:sp>
        <p:nvSpPr>
          <p:cNvPr id="37" name="Shape 33">
            <a:extLst>
              <a:ext uri="{FF2B5EF4-FFF2-40B4-BE49-F238E27FC236}">
                <a16:creationId xmlns:a16="http://schemas.microsoft.com/office/drawing/2014/main" id="{72622EAE-5FE6-42FF-BEEB-F9559A17A664}"/>
              </a:ext>
            </a:extLst>
          </p:cNvPr>
          <p:cNvSpPr>
            <a:spLocks noGrp="1"/>
          </p:cNvSpPr>
          <p:nvPr/>
        </p:nvSpPr>
        <p:spPr>
          <a:xfrm>
            <a:off x="5283200" y="4965700"/>
            <a:ext cx="2362200" cy="254000"/>
          </a:xfrm>
          <a:prstGeom prst="rect">
            <a:avLst/>
          </a:prstGeom>
          <a:solidFill>
            <a:srgbClr val="6B6B6B"/>
          </a:solidFill>
        </p:spPr>
        <p:txBody>
          <a:bodyPr/>
          <a:lstStyle/>
          <a:p>
            <a:endParaRPr/>
          </a:p>
        </p:txBody>
      </p:sp>
      <p:sp>
        <p:nvSpPr>
          <p:cNvPr id="38" name="Text 34">
            <a:extLst>
              <a:ext uri="{FF2B5EF4-FFF2-40B4-BE49-F238E27FC236}">
                <a16:creationId xmlns:a16="http://schemas.microsoft.com/office/drawing/2014/main" id="{511B91BA-F9B3-43FD-9C4D-A667CA775550}"/>
              </a:ext>
            </a:extLst>
          </p:cNvPr>
          <p:cNvSpPr>
            <a:spLocks noGrp="1"/>
          </p:cNvSpPr>
          <p:nvPr/>
        </p:nvSpPr>
        <p:spPr>
          <a:xfrm>
            <a:off x="7797800" y="4965700"/>
            <a:ext cx="3810000" cy="254000"/>
          </a:xfrm>
          <a:prstGeom prst="rect">
            <a:avLst/>
          </a:prstGeom>
          <a:noFill/>
        </p:spPr>
        <p:txBody>
          <a:bodyPr wrap="square" lIns="0" tIns="0" rIns="0" bIns="0" anchor="ctr"/>
          <a:lstStyle/>
          <a:p>
            <a:pPr marL="0" indent="0" algn="l">
              <a:lnSpc>
                <a:spcPct val="110000"/>
              </a:lnSpc>
              <a:buNone/>
            </a:pPr>
            <a:r>
              <a:rPr sz="1200">
                <a:solidFill>
                  <a:srgbClr val="333333"/>
                </a:solidFill>
                <a:latin typeface="Arial"/>
                <a:ea typeface="Arial"/>
                <a:cs typeface="Arial"/>
              </a:rPr>
              <a:t>1,112 ms routing + 716 ms stream*</a:t>
            </a:r>
            <a:endParaRPr sz="1200"/>
          </a:p>
        </p:txBody>
      </p:sp>
      <p:sp>
        <p:nvSpPr>
          <p:cNvPr id="39" name="Text 35">
            <a:extLst>
              <a:ext uri="{FF2B5EF4-FFF2-40B4-BE49-F238E27FC236}">
                <a16:creationId xmlns:a16="http://schemas.microsoft.com/office/drawing/2014/main" id="{CF485B8E-CC61-49CF-902D-F9FC2A0C27CE}"/>
              </a:ext>
            </a:extLst>
          </p:cNvPr>
          <p:cNvSpPr>
            <a:spLocks noGrp="1"/>
          </p:cNvSpPr>
          <p:nvPr/>
        </p:nvSpPr>
        <p:spPr>
          <a:xfrm>
            <a:off x="508000" y="5461000"/>
            <a:ext cx="11176000" cy="508000"/>
          </a:xfrm>
          <a:prstGeom prst="rect">
            <a:avLst/>
          </a:prstGeom>
          <a:noFill/>
        </p:spPr>
        <p:txBody>
          <a:bodyPr wrap="square" lIns="0" tIns="0" rIns="0" bIns="0" anchor="t"/>
          <a:lstStyle/>
          <a:p>
            <a:pPr marL="0" indent="0" algn="l">
              <a:lnSpc>
                <a:spcPct val="120000"/>
              </a:lnSpc>
              <a:buNone/>
            </a:pPr>
            <a:r>
              <a:rPr sz="1200">
                <a:solidFill>
                  <a:srgbClr val="6B6B6B"/>
                </a:solidFill>
                <a:latin typeface="Arial"/>
                <a:ea typeface="Arial"/>
                <a:cs typeface="Arial"/>
              </a:rPr>
              <a:t>* includes 700 ms of deliberate pacing between stream requests. Three runs per protocol; this is a request diagnostic, not a load test or protocol benchmark.</a:t>
            </a:r>
            <a:endParaRPr sz="1200"/>
          </a:p>
        </p:txBody>
      </p:sp>
    </p:spTree>
    <p:extLst>
      <p:ext uri="{BB962C8B-B14F-4D97-AF65-F5344CB8AC3E}">
        <p14:creationId xmlns:p14="http://schemas.microsoft.com/office/powerpoint/2010/main" val="8835625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d4def53c-905d-442a-ba22-72ae0f5bcf4f}" enabled="1" method="Standard" siteId="{6c637512-c417-4e78-9d62-b61258e4b619}" contentBits="0" removed="0"/>
</clbl:labelList>
</file>

<file path=docProps/app.xml><?xml version="1.0" encoding="utf-8"?>
<Properties xmlns="http://schemas.openxmlformats.org/officeDocument/2006/extended-properties" xmlns:vt="http://schemas.openxmlformats.org/officeDocument/2006/docPropsVTypes">
  <TotalTime>4</TotalTime>
  <Words>8262</Words>
  <Application>Microsoft Macintosh PowerPoint</Application>
  <DocSecurity>0</DocSecurity>
  <PresentationFormat>Widescreen</PresentationFormat>
  <Paragraphs>981</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Steve Pietrek</cp:lastModifiedBy>
  <cp:revision>2</cp:revision>
  <dcterms:created xsi:type="dcterms:W3CDTF">2026-10-04T22:22:57Z</dcterms:created>
  <dcterms:modified xsi:type="dcterms:W3CDTF">2026-10-09T00:13:05Z</dcterms:modified>
</cp:coreProperties>
</file>