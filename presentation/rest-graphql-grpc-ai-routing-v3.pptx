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21"/>
    <p:restoredTop sz="94610"/>
  </p:normalViewPr>
  <p:slideViewPr>
    <p:cSldViewPr snapToGrid="0" snapToObjects="1">
      <p:cViewPr varScale="1">
        <p:scale>
          <a:sx n="123" d="100"/>
          <a:sy n="123" d="100"/>
        </p:scale>
        <p:origin x="600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presProps" Target="presProps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53542798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SAY:
</a:t>
            </a:r>
          </a:p>
          <a:p>
            <a:r>
              <a:rPr lang="en-US" dirty="0"/>
              <a:t>"Thank you all for being here. There is a lot on the agenda today, and we do not take your time lightly."
</a:t>
            </a:r>
          </a:p>
          <a:p>
            <a:r>
              <a:rPr lang="en-US" dirty="0"/>
              <a:t>
</a:t>
            </a:r>
          </a:p>
          <a:p>
            <a:r>
              <a:rPr lang="en-US" dirty="0"/>
              <a:t>"This is a 300-level session on REST, GraphQL and gRPC. Not a beginner overview, and not a vendor pitch."
</a:t>
            </a:r>
          </a:p>
          <a:p>
            <a:r>
              <a:rPr lang="en-US" dirty="0"/>
              <a:t>
</a:t>
            </a:r>
          </a:p>
          <a:p>
            <a:r>
              <a:rPr lang="en-US" dirty="0"/>
              <a:t>1. "We will look at where each protocol fits and where it strains."
</a:t>
            </a:r>
          </a:p>
          <a:p>
            <a:r>
              <a:rPr lang="en-US" dirty="0"/>
              <a:t>2. "We will show all three running side by side in one application — real traffic, nothing mocked."
</a:t>
            </a:r>
          </a:p>
          <a:p>
            <a:r>
              <a:rPr lang="en-US" dirty="0"/>
              <a:t>3. "And we will share what we have seen in the field, with clients who had to make this choice for real."
</a:t>
            </a:r>
          </a:p>
          <a:p>
            <a:r>
              <a:rPr lang="en-US" dirty="0"/>
              <a:t>
</a:t>
            </a:r>
          </a:p>
          <a:p>
            <a:r>
              <a:rPr lang="en-US" dirty="0"/>
              <a:t>BE CLEAR ABOUT THIS:
</a:t>
            </a:r>
          </a:p>
          <a:p>
            <a:r>
              <a:rPr lang="en-US" dirty="0"/>
              <a:t>"There is no winner in this talk. The goal is to leave you with a way to choose, not a protocol to adopt."
</a:t>
            </a:r>
          </a:p>
          <a:p>
            <a:r>
              <a:rPr lang="en-US" dirty="0"/>
              <a:t>
</a:t>
            </a:r>
          </a:p>
          <a:p>
            <a:r>
              <a:rPr lang="en-US" dirty="0"/>
              <a:t>TRANSITION:
</a:t>
            </a:r>
          </a:p>
          <a:p>
            <a:r>
              <a:rPr lang="en-US" dirty="0"/>
              <a:t>"Let me show you how the session is laid out."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SAY:
</a:t>
            </a:r>
          </a:p>
          <a:p>
            <a:r>
              <a:rPr lang="en-US" dirty="0"/>
              <a:t>"Here is the shape of the session."
</a:t>
            </a:r>
          </a:p>
          <a:p>
            <a:r>
              <a:rPr lang="en-US" dirty="0"/>
              <a:t>
</a:t>
            </a:r>
          </a:p>
          <a:p>
            <a:r>
              <a:rPr lang="en-US" dirty="0"/>
              <a:t>1. "Section one is the landscape — why this choice is still contentious, how the three compare, and the data set we will use throughout."
</a:t>
            </a:r>
          </a:p>
          <a:p>
            <a:r>
              <a:rPr lang="en-US" dirty="0"/>
              <a:t>2. "Section two is the protocols themselves. Each one gets two slides: the concept, then the working code."
</a:t>
            </a:r>
          </a:p>
          <a:p>
            <a:r>
              <a:rPr lang="en-US" dirty="0"/>
              <a:t>3. "Section three is the live demo and two client stories from the field."
</a:t>
            </a:r>
          </a:p>
          <a:p>
            <a:r>
              <a:rPr lang="en-US" dirty="0"/>
              <a:t>4. "There is an appendix on how the demo uses AI to route questions. We will cover it if time allows, or in Q&amp;A."
</a:t>
            </a:r>
          </a:p>
          <a:p>
            <a:r>
              <a:rPr lang="en-US" dirty="0"/>
              <a:t>
</a:t>
            </a:r>
          </a:p>
          <a:p>
            <a:r>
              <a:rPr lang="en-US" dirty="0"/>
              <a:t>BE CLEAR ABOUT THIS:
</a:t>
            </a:r>
          </a:p>
          <a:p>
            <a:r>
              <a:rPr lang="en-US" dirty="0"/>
              <a:t>"Everything you see today runs. Every request in the demo is real HTTP, GraphQL or gRPC traffic you can inspect."
</a:t>
            </a:r>
          </a:p>
          <a:p>
            <a:r>
              <a:rPr lang="en-US" dirty="0"/>
              <a:t>
</a:t>
            </a:r>
          </a:p>
          <a:p>
            <a:r>
              <a:rPr lang="en-US" dirty="0"/>
              <a:t>TRANSITION:
</a:t>
            </a:r>
          </a:p>
          <a:p>
            <a:r>
              <a:rPr lang="en-US" dirty="0"/>
              <a:t>"Let's start with the landscape."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SAY:
</a:t>
            </a:r>
          </a:p>
          <a:p>
            <a:r>
              <a:rPr lang="en-US" dirty="0"/>
              <a:t>"Section one: the landscape."
</a:t>
            </a:r>
          </a:p>
          <a:p>
            <a:r>
              <a:rPr lang="en-US" dirty="0"/>
              <a:t>
</a:t>
            </a:r>
          </a:p>
          <a:p>
            <a:r>
              <a:rPr lang="en-US" dirty="0"/>
              <a:t>"Three short slides here — the problem, the comparison, and the data we will use for every example."
</a:t>
            </a:r>
          </a:p>
          <a:p>
            <a:r>
              <a:rPr lang="en-US" dirty="0"/>
              <a:t>
</a:t>
            </a:r>
          </a:p>
          <a:p>
            <a:r>
              <a:rPr lang="en-US" dirty="0"/>
              <a:t>TRANSITION:
</a:t>
            </a:r>
          </a:p>
          <a:p>
            <a:r>
              <a:rPr lang="en-US" dirty="0"/>
              <a:t>"First, why this is still a debate at all."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SAY:
</a:t>
            </a:r>
          </a:p>
          <a:p>
            <a:r>
              <a:rPr lang="en-US" dirty="0"/>
              <a:t>"The standard for exchanging data between frontends, backends and integrations has always been contentious."
</a:t>
            </a:r>
          </a:p>
          <a:p>
            <a:r>
              <a:rPr lang="en-US" dirty="0"/>
              <a:t>
</a:t>
            </a:r>
          </a:p>
          <a:p>
            <a:r>
              <a:rPr lang="en-US" dirty="0"/>
              <a:t>1. "Every team has a default. Frontend teams reach for one thing, backend teams for another, integration teams for a third — and the contract becomes a negotiation."
</a:t>
            </a:r>
          </a:p>
          <a:p>
            <a:r>
              <a:rPr lang="en-US" dirty="0"/>
              <a:t>2. "Each protocol has a sweet spot. Cacheable resources, client-shaped graphs and low-latency streams are genuinely different problems."
</a:t>
            </a:r>
          </a:p>
          <a:p>
            <a:r>
              <a:rPr lang="en-US" dirty="0"/>
              <a:t>3. "So the practical answer is to choose per operation. Most systems we see in production run more than one protocol, deliberately."
</a:t>
            </a:r>
          </a:p>
          <a:p>
            <a:r>
              <a:rPr lang="en-US" dirty="0"/>
              <a:t>
</a:t>
            </a:r>
          </a:p>
          <a:p>
            <a:r>
              <a:rPr lang="en-US" dirty="0"/>
              <a:t>BE CLEAR ABOUT THIS:
</a:t>
            </a:r>
          </a:p>
          <a:p>
            <a:r>
              <a:rPr lang="en-US" dirty="0"/>
              <a:t>"The question is not which protocol wins. It is which one fits the operation in front of you."
</a:t>
            </a:r>
          </a:p>
          <a:p>
            <a:r>
              <a:rPr lang="en-US" dirty="0"/>
              <a:t>
</a:t>
            </a:r>
          </a:p>
          <a:p>
            <a:r>
              <a:rPr lang="en-US" dirty="0"/>
              <a:t>TRANSITION:
</a:t>
            </a:r>
          </a:p>
          <a:p>
            <a:r>
              <a:rPr lang="en-US" dirty="0"/>
              <a:t>"Let's put them side by side."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SAY:
</a:t>
            </a:r>
          </a:p>
          <a:p>
            <a:r>
              <a:rPr lang="en-US" dirty="0"/>
              <a:t>"Here are the same questions asked of all three."
</a:t>
            </a:r>
          </a:p>
          <a:p>
            <a:r>
              <a:rPr lang="en-US" dirty="0"/>
              <a:t>
</a:t>
            </a:r>
          </a:p>
          <a:p>
            <a:r>
              <a:rPr lang="en-US" dirty="0"/>
              <a:t>1. "Transport and payload: REST and GraphQL are HTTP and JSON. gRPC requires HTTP/2 and uses binary Protobuf."
</a:t>
            </a:r>
          </a:p>
          <a:p>
            <a:r>
              <a:rPr lang="en-US" dirty="0"/>
              <a:t>2. "Contract: optional for REST with OpenAPI, required for GraphQL with its schema, and required for gRPC with the proto file."
</a:t>
            </a:r>
          </a:p>
          <a:p>
            <a:r>
              <a:rPr lang="en-US" dirty="0"/>
              <a:t>3. "Caching is where REST is strongest — it gets HTTP and CDN caching for free. GraphQL and gRPC have to work harder."
</a:t>
            </a:r>
          </a:p>
          <a:p>
            <a:r>
              <a:rPr lang="en-US" dirty="0"/>
              <a:t>4. "Streaming and browser support are where gRPC stands out, in both directions: it streams natively, but browsers need gRPC-Web or a bridge."
</a:t>
            </a:r>
          </a:p>
          <a:p>
            <a:r>
              <a:rPr lang="en-US" dirty="0"/>
              <a:t>
</a:t>
            </a:r>
          </a:p>
          <a:p>
            <a:r>
              <a:rPr lang="en-US" dirty="0"/>
              <a:t>BE CLEAR ABOUT THIS:
</a:t>
            </a:r>
          </a:p>
          <a:p>
            <a:r>
              <a:rPr lang="en-US" dirty="0"/>
              <a:t>"Two corrections from last year's version of this table: GraphQL does stream, through subscriptions, and gRPC does not run natively in a browser. Our demo bridges it, and we will show you how."
</a:t>
            </a:r>
          </a:p>
          <a:p>
            <a:r>
              <a:rPr lang="en-US" dirty="0"/>
              <a:t>
</a:t>
            </a:r>
          </a:p>
          <a:p>
            <a:r>
              <a:rPr lang="en-US" dirty="0"/>
              <a:t>TRANSITION:
</a:t>
            </a:r>
          </a:p>
          <a:p>
            <a:r>
              <a:rPr lang="en-US" dirty="0"/>
              <a:t>"To make this concrete, here is the data every example uses."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SAY:
</a:t>
            </a:r>
          </a:p>
          <a:p>
            <a:r>
              <a:rPr lang="en-US" dirty="0"/>
              <a:t>"One catalog sits behind all three protocols."
</a:t>
            </a:r>
          </a:p>
          <a:p>
            <a:r>
              <a:rPr lang="en-US" dirty="0"/>
              <a:t>
</a:t>
            </a:r>
          </a:p>
          <a:p>
            <a:r>
              <a:rPr lang="en-US" dirty="0"/>
              <a:t>1. "Nineteen starships, six films, four producers — carried forward from last year's demo with the original IDs and relationships."
</a:t>
            </a:r>
          </a:p>
          <a:p>
            <a:r>
              <a:rPr lang="en-US" dirty="0"/>
              <a:t>2. "Ships appear in many films. Films have many producers. Those many-to-many links are the interesting part."
</a:t>
            </a:r>
          </a:p>
          <a:p>
            <a:r>
              <a:rPr lang="en-US" dirty="0"/>
              <a:t>3. "It is an immutable, in-memory catalog. REST, GraphQL and gRPC all read exactly the same data, so any difference you see comes from the protocol."
</a:t>
            </a:r>
          </a:p>
          <a:p>
            <a:r>
              <a:rPr lang="en-US" dirty="0"/>
              <a:t>
</a:t>
            </a:r>
          </a:p>
          <a:p>
            <a:r>
              <a:rPr lang="en-US" dirty="0"/>
              <a:t>BE CLEAR ABOUT THIS:
</a:t>
            </a:r>
          </a:p>
          <a:p>
            <a:r>
              <a:rPr lang="en-US" dirty="0"/>
              <a:t>"The relationships are the point. Ship to film to producer is exactly the nested shape where GraphQL shines and REST needs follow-up calls."
</a:t>
            </a:r>
          </a:p>
          <a:p>
            <a:r>
              <a:rPr lang="en-US" dirty="0"/>
              <a:t>
</a:t>
            </a:r>
          </a:p>
          <a:p>
            <a:r>
              <a:rPr lang="en-US" dirty="0"/>
              <a:t>TRANSITION:
</a:t>
            </a:r>
          </a:p>
          <a:p>
            <a:r>
              <a:rPr lang="en-US" dirty="0"/>
              <a:t>"With that in place, let's go protocol by protocol."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SAY:
</a:t>
            </a:r>
          </a:p>
          <a:p>
            <a:r>
              <a:rPr lang="en-US" dirty="0"/>
              <a:t>"Section two: the protocols."
</a:t>
            </a:r>
          </a:p>
          <a:p>
            <a:r>
              <a:rPr lang="en-US" dirty="0"/>
              <a:t>
</a:t>
            </a:r>
          </a:p>
          <a:p>
            <a:r>
              <a:rPr lang="en-US" dirty="0"/>
              <a:t>"Each one gets two slides — the concept first, then the exact code the demo runs. We finish with a short history and a usage comparison."
</a:t>
            </a:r>
          </a:p>
          <a:p>
            <a:r>
              <a:rPr lang="en-US" dirty="0"/>
              <a:t>
</a:t>
            </a:r>
          </a:p>
          <a:p>
            <a:r>
              <a:rPr lang="en-US" dirty="0"/>
              <a:t>TRANSITION:
</a:t>
            </a:r>
          </a:p>
          <a:p>
            <a:r>
              <a:rPr lang="en-US" dirty="0"/>
              <a:t>"We start with the one everyone knows: REST."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SAY:
</a:t>
            </a:r>
          </a:p>
          <a:p>
            <a:r>
              <a:rPr lang="en-US" dirty="0"/>
              <a:t>"REST is resources over HTTP. Every resource has a URL and the HTTP verbs carry the intent."
</a:t>
            </a:r>
          </a:p>
          <a:p>
            <a:r>
              <a:rPr lang="en-US" dirty="0"/>
              <a:t>
</a:t>
            </a:r>
          </a:p>
          <a:p>
            <a:r>
              <a:rPr lang="en-US" dirty="0"/>
              <a:t>1. "Where it shines: standard verbs and status codes, native caching through browsers, CDNs and proxies, and tooling that every developer and every partner already has."
</a:t>
            </a:r>
          </a:p>
          <a:p>
            <a:r>
              <a:rPr lang="en-US" dirty="0"/>
              <a:t>2. "Where it strains: fixed payloads over-fetch, related data means extra round trips, versions multiply as clients diverge, and there is no first-class streaming."
</a:t>
            </a:r>
          </a:p>
          <a:p>
            <a:r>
              <a:rPr lang="en-US" dirty="0"/>
              <a:t>
</a:t>
            </a:r>
          </a:p>
          <a:p>
            <a:r>
              <a:rPr lang="en-US" dirty="0"/>
              <a:t>BE CLEAR ABOUT THIS:
</a:t>
            </a:r>
          </a:p>
          <a:p>
            <a:r>
              <a:rPr lang="en-US" dirty="0"/>
              <a:t>"REST is still the right default for simple, cacheable, stateless APIs — especially anything you publish to people outside your team."
</a:t>
            </a:r>
          </a:p>
          <a:p>
            <a:r>
              <a:rPr lang="en-US" dirty="0"/>
              <a:t>
</a:t>
            </a:r>
          </a:p>
          <a:p>
            <a:r>
              <a:rPr lang="en-US" dirty="0"/>
              <a:t>TRANSITION:
</a:t>
            </a:r>
          </a:p>
          <a:p>
            <a:r>
              <a:rPr lang="en-US" dirty="0"/>
              <a:t>"Here is what that looks like in the demo."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SAY:
</a:t>
            </a:r>
          </a:p>
          <a:p>
            <a:r>
              <a:rPr lang="en-US" dirty="0"/>
              <a:t>"In Protocol Studio, single-resource lookups go to REST."
</a:t>
            </a:r>
          </a:p>
          <a:p>
            <a:r>
              <a:rPr lang="en-US" dirty="0"/>
              <a:t>
</a:t>
            </a:r>
          </a:p>
          <a:p>
            <a:r>
              <a:rPr lang="en-US" dirty="0"/>
              <a:t>1. "One route per resource — starships, films and producers — on Spring MVC."
</a:t>
            </a:r>
          </a:p>
          <a:p>
            <a:r>
              <a:rPr lang="en-US" dirty="0"/>
              <a:t>2. "Starship reads return Cache-Control max-age of five minutes, so any HTTP cache along the way can help."
</a:t>
            </a:r>
          </a:p>
          <a:p>
            <a:r>
              <a:rPr lang="en-US" dirty="0"/>
              <a:t>3. "Questions about speed, length or details of one thing are routed here."
</a:t>
            </a:r>
          </a:p>
          <a:p>
            <a:r>
              <a:rPr lang="en-US" dirty="0"/>
              <a:t>
</a:t>
            </a:r>
          </a:p>
          <a:p>
            <a:r>
              <a:rPr lang="en-US" dirty="0"/>
              <a:t>BE CLEAR ABOUT THIS:
</a:t>
            </a:r>
          </a:p>
          <a:p>
            <a:r>
              <a:rPr lang="en-US" dirty="0"/>
              <a:t>"Notice the films array. If I want the producers of those films, REST needs more calls. That is the gap GraphQL fills."
</a:t>
            </a:r>
          </a:p>
          <a:p>
            <a:r>
              <a:rPr lang="en-US" dirty="0"/>
              <a:t>
</a:t>
            </a:r>
          </a:p>
          <a:p>
            <a:r>
              <a:rPr lang="en-US" dirty="0"/>
              <a:t>TRANSITION:
</a:t>
            </a:r>
          </a:p>
          <a:p>
            <a:r>
              <a:rPr lang="en-US" dirty="0"/>
              <a:t>"So let's look at GraphQL."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SAY:
</a:t>
            </a:r>
          </a:p>
          <a:p>
            <a:r>
              <a:rPr lang="en-US" dirty="0"/>
              <a:t>"GraphQL is one endpoint and one typed schema, and the client decides the shape of the response."
</a:t>
            </a:r>
          </a:p>
          <a:p>
            <a:r>
              <a:rPr lang="en-US" dirty="0"/>
              <a:t>
</a:t>
            </a:r>
          </a:p>
          <a:p>
            <a:r>
              <a:rPr lang="en-US" dirty="0"/>
              <a:t>1. "Where it shines: the schema describes the whole graph, clients ask for exactly the fields a screen needs, and nested relationships come back in one round trip."
</a:t>
            </a:r>
          </a:p>
          <a:p>
            <a:r>
              <a:rPr lang="en-US" dirty="0"/>
              <a:t>2. "Where it strains: HTTP caching is harder because everything is a POST to one URL, resolvers can cause N+1 load without batching, and public APIs need depth and cost limits."
</a:t>
            </a:r>
          </a:p>
          <a:p>
            <a:r>
              <a:rPr lang="en-US" dirty="0"/>
              <a:t>
</a:t>
            </a:r>
          </a:p>
          <a:p>
            <a:r>
              <a:rPr lang="en-US" dirty="0"/>
              <a:t>BE CLEAR ABOUT THIS:
</a:t>
            </a:r>
          </a:p>
          <a:p>
            <a:r>
              <a:rPr lang="en-US" dirty="0"/>
              <a:t>"GraphQL moves the shaping work to the client — and moves the cost to the server. Plan for resolvers, batching and limits from day one."
</a:t>
            </a:r>
          </a:p>
          <a:p>
            <a:r>
              <a:rPr lang="en-US" dirty="0"/>
              <a:t>
</a:t>
            </a:r>
          </a:p>
          <a:p>
            <a:r>
              <a:rPr lang="en-US" dirty="0"/>
              <a:t>TRANSITION:
</a:t>
            </a:r>
          </a:p>
          <a:p>
            <a:r>
              <a:rPr lang="en-US" dirty="0"/>
              <a:t>"Here is the query the demo sends."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SAY:
</a:t>
            </a:r>
          </a:p>
          <a:p>
            <a:r>
              <a:rPr lang="en-US" dirty="0"/>
              <a:t>"Relationship questions go to GraphQL."
</a:t>
            </a:r>
          </a:p>
          <a:p>
            <a:r>
              <a:rPr lang="en-US" dirty="0"/>
              <a:t>
</a:t>
            </a:r>
          </a:p>
          <a:p>
            <a:r>
              <a:rPr lang="en-US" dirty="0"/>
              <a:t>1. "One query — ExploreStarships — returns starships, their films, and each film's producers in a single request."
</a:t>
            </a:r>
          </a:p>
          <a:p>
            <a:r>
              <a:rPr lang="en-US" dirty="0"/>
              <a:t>2. "It runs on Spring for GraphQL, with resolvers reading the same catalog REST serves."
</a:t>
            </a:r>
          </a:p>
          <a:p>
            <a:r>
              <a:rPr lang="en-US" dirty="0"/>
              <a:t>3. "Even for a single ship, questions like 'which films' or 'who produced' are routed here, because the operation is about relationships."
</a:t>
            </a:r>
          </a:p>
          <a:p>
            <a:r>
              <a:rPr lang="en-US" dirty="0"/>
              <a:t>
</a:t>
            </a:r>
          </a:p>
          <a:p>
            <a:r>
              <a:rPr lang="en-US" dirty="0"/>
              <a:t>BE CLEAR ABOUT THIS:
</a:t>
            </a:r>
          </a:p>
          <a:p>
            <a:r>
              <a:rPr lang="en-US" dirty="0"/>
              <a:t>"The protocol is chosen by the operation, not by how many entities are involved."
</a:t>
            </a:r>
          </a:p>
          <a:p>
            <a:r>
              <a:rPr lang="en-US" dirty="0"/>
              <a:t>
</a:t>
            </a:r>
          </a:p>
          <a:p>
            <a:r>
              <a:rPr lang="en-US" dirty="0"/>
              <a:t>TRANSITION:
</a:t>
            </a:r>
          </a:p>
          <a:p>
            <a:r>
              <a:rPr lang="en-US" dirty="0"/>
              <a:t>"Now the one that behaves most differently: gRPC."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SAY:
</a:t>
            </a:r>
          </a:p>
          <a:p>
            <a:r>
              <a:rPr lang="en-US" dirty="0"/>
              <a:t>"gRPC is contract-first RPC over HTTP/2, with compact binary Protobuf messages."
</a:t>
            </a:r>
          </a:p>
          <a:p>
            <a:r>
              <a:rPr lang="en-US" dirty="0"/>
              <a:t>
</a:t>
            </a:r>
          </a:p>
          <a:p>
            <a:r>
              <a:rPr lang="en-US" dirty="0"/>
              <a:t>1. "Where it shines: generated clients from one proto file in many languages, HTTP/2 multiplexing, four call types including bidirectional streaming, and deadlines and cancellation built in."
</a:t>
            </a:r>
          </a:p>
          <a:p>
            <a:r>
              <a:rPr lang="en-US" dirty="0"/>
              <a:t>2. "Where it strains: browsers need gRPC-Web or a bridge, binary payloads are harder to debug, you need HTTP/2 end to end through every proxy, and field numbers are forever."
</a:t>
            </a:r>
          </a:p>
          <a:p>
            <a:r>
              <a:rPr lang="en-US" dirty="0"/>
              <a:t>
</a:t>
            </a:r>
          </a:p>
          <a:p>
            <a:r>
              <a:rPr lang="en-US" dirty="0"/>
              <a:t>BE CLEAR ABOUT THIS:
</a:t>
            </a:r>
          </a:p>
          <a:p>
            <a:r>
              <a:rPr lang="en-US" dirty="0"/>
              <a:t>"gRPC is the right tool for internal service-to-service calls, low-latency paths and real-time streams — not usually for your public API."
</a:t>
            </a:r>
          </a:p>
          <a:p>
            <a:r>
              <a:rPr lang="en-US" dirty="0"/>
              <a:t>
</a:t>
            </a:r>
          </a:p>
          <a:p>
            <a:r>
              <a:rPr lang="en-US" dirty="0"/>
              <a:t>TRANSITION:
</a:t>
            </a:r>
          </a:p>
          <a:p>
            <a:r>
              <a:rPr lang="en-US" dirty="0"/>
              <a:t>"Here is the contract behind the demo's streaming feature."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SAY:
</a:t>
            </a:r>
          </a:p>
          <a:p>
            <a:r>
              <a:rPr lang="en-US" dirty="0"/>
              <a:t>"Tracking questions go to gRPC, over a real bidirectional stream on port 9090."
</a:t>
            </a:r>
          </a:p>
          <a:p>
            <a:r>
              <a:rPr lang="en-US" dirty="0"/>
              <a:t>
</a:t>
            </a:r>
          </a:p>
          <a:p>
            <a:r>
              <a:rPr lang="en-US" dirty="0"/>
              <a:t>1. "The client sends three track requests while the response stream stays open, and the server answers each one with a snapshot."
</a:t>
            </a:r>
          </a:p>
          <a:p>
            <a:r>
              <a:rPr lang="en-US" dirty="0"/>
              <a:t>2. "Each snapshot is bridged to the browser as newline-delimited JSON the moment it arrives."
</a:t>
            </a:r>
          </a:p>
          <a:p>
            <a:r>
              <a:rPr lang="en-US" dirty="0"/>
              <a:t>3. "The call has a ten-second deadline, and the sizes you see count serialized Protobuf bytes."
</a:t>
            </a:r>
          </a:p>
          <a:p>
            <a:r>
              <a:rPr lang="en-US" dirty="0"/>
              <a:t>
</a:t>
            </a:r>
          </a:p>
          <a:p>
            <a:r>
              <a:rPr lang="en-US" dirty="0"/>
              <a:t>BE CLEAR ABOUT THIS:
</a:t>
            </a:r>
          </a:p>
          <a:p>
            <a:r>
              <a:rPr lang="en-US" dirty="0"/>
              <a:t>"There is a deliberate 350-millisecond pause between requests so you can watch the snapshots arrive. The timestamps are real, and we do not fabricate any telemetry."
</a:t>
            </a:r>
          </a:p>
          <a:p>
            <a:r>
              <a:rPr lang="en-US" dirty="0"/>
              <a:t>
</a:t>
            </a:r>
          </a:p>
          <a:p>
            <a:r>
              <a:rPr lang="en-US" dirty="0"/>
              <a:t>TRANSITION:
</a:t>
            </a:r>
          </a:p>
          <a:p>
            <a:r>
              <a:rPr lang="en-US" dirty="0"/>
              <a:t>"Before the demo, a quick look at where these three came from."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SAY:
</a:t>
            </a:r>
          </a:p>
          <a:p>
            <a:r>
              <a:rPr lang="en-US" dirty="0"/>
              <a:t>"Each of these answered the problem of its moment."
</a:t>
            </a:r>
          </a:p>
          <a:p>
            <a:r>
              <a:rPr lang="en-US" dirty="0"/>
              <a:t>
</a:t>
            </a:r>
          </a:p>
          <a:p>
            <a:r>
              <a:rPr lang="en-US" dirty="0"/>
              <a:t>1. "REST was described in Roy Fielding's dissertation in 2000."
</a:t>
            </a:r>
          </a:p>
          <a:p>
            <a:r>
              <a:rPr lang="en-US" dirty="0"/>
              <a:t>2. "GraphQL was built inside Facebook in 2012 for mobile, and published as a spec in 2015."
</a:t>
            </a:r>
          </a:p>
          <a:p>
            <a:r>
              <a:rPr lang="en-US" dirty="0"/>
              <a:t>3. "gRPC was open-sourced by Google in 2015, reached 1.0 in 2016, and joined the CNCF in 2017."
</a:t>
            </a:r>
          </a:p>
          <a:p>
            <a:r>
              <a:rPr lang="en-US" dirty="0"/>
              <a:t>
</a:t>
            </a:r>
          </a:p>
          <a:p>
            <a:r>
              <a:rPr lang="en-US" dirty="0"/>
              <a:t>"On the practical side: REST has the lowest learning curve and the largest ecosystem. GraphQL and gRPC are both mature, and gRPC's learning curve is mostly the toolchain rather than the concepts."
</a:t>
            </a:r>
          </a:p>
          <a:p>
            <a:r>
              <a:rPr lang="en-US" dirty="0"/>
              <a:t>
</a:t>
            </a:r>
          </a:p>
          <a:p>
            <a:r>
              <a:rPr lang="en-US" dirty="0"/>
              <a:t>TRANSITION:
</a:t>
            </a:r>
          </a:p>
          <a:p>
            <a:r>
              <a:rPr lang="en-US" dirty="0"/>
              <a:t>"Enough slides. Let's look at it running."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SAY:
</a:t>
            </a:r>
          </a:p>
          <a:p>
            <a:r>
              <a:rPr lang="en-US" dirty="0"/>
              <a:t>"Section three: the demo, and then two stories from the field."
</a:t>
            </a:r>
          </a:p>
          <a:p>
            <a:r>
              <a:rPr lang="en-US" dirty="0"/>
              <a:t>
</a:t>
            </a:r>
          </a:p>
          <a:p>
            <a:r>
              <a:rPr lang="en-US" dirty="0"/>
              <a:t>TRANSITION:
</a:t>
            </a:r>
          </a:p>
          <a:p>
            <a:r>
              <a:rPr lang="en-US" dirty="0"/>
              <a:t>"Let me switch over to Protocol Studio."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SAY:
</a:t>
            </a:r>
          </a:p>
          <a:p>
            <a:r>
              <a:rPr lang="en-US" dirty="0"/>
              <a:t>"This is Protocol Studio. You ask a question in plain language, the app picks a protocol, and the inspector shows you the real request and response."
</a:t>
            </a:r>
          </a:p>
          <a:p>
            <a:r>
              <a:rPr lang="en-US" dirty="0"/>
              <a:t>
</a:t>
            </a:r>
          </a:p>
          <a:p>
            <a:r>
              <a:rPr lang="en-US" dirty="0"/>
              <a:t>DO:
</a:t>
            </a:r>
          </a:p>
          <a:p>
            <a:r>
              <a:rPr lang="en-US" dirty="0"/>
              <a:t>1. Ask: "Tell me about the Millennium Falcon." Point out the REST route, the Cache-Control header and the response size.
</a:t>
            </a:r>
          </a:p>
          <a:p>
            <a:r>
              <a:rPr lang="en-US" dirty="0"/>
              <a:t>2. Ask: "Which starships appear in A New Hope, and who produced it?" Show the GraphQL query and the nested response.
</a:t>
            </a:r>
          </a:p>
          <a:p>
            <a:r>
              <a:rPr lang="en-US" dirty="0"/>
              <a:t>3. Ask: "Track the Millennium Falcon." Let the three gRPC snapshots stream in, then open the decoded Protobuf.
</a:t>
            </a:r>
          </a:p>
          <a:p>
            <a:r>
              <a:rPr lang="en-US" dirty="0"/>
              <a:t>
</a:t>
            </a:r>
          </a:p>
          <a:p>
            <a:r>
              <a:rPr lang="en-US" dirty="0"/>
              <a:t>BE CLEAR ABOUT THIS:
</a:t>
            </a:r>
          </a:p>
          <a:p>
            <a:r>
              <a:rPr lang="en-US" dirty="0"/>
              <a:t>"If the model is slow to warm up, I will use a presenter override — and the screen will say it is an override. We never pass a manual choice off as AI."
</a:t>
            </a:r>
          </a:p>
          <a:p>
            <a:r>
              <a:rPr lang="en-US" dirty="0"/>
              <a:t>
</a:t>
            </a:r>
          </a:p>
          <a:p>
            <a:r>
              <a:rPr lang="en-US" dirty="0"/>
              <a:t>TRANSITION:
</a:t>
            </a:r>
          </a:p>
          <a:p>
            <a:r>
              <a:rPr lang="en-US" dirty="0"/>
              <a:t>"That is the lab version. Here is what this looks like with real clients."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SAY:
</a:t>
            </a:r>
          </a:p>
          <a:p>
            <a:r>
              <a:rPr lang="en-US" dirty="0"/>
              <a:t>"Our first client is a large-scale distribution company — automated material handling systems, equipment and consulting."
</a:t>
            </a:r>
          </a:p>
          <a:p>
            <a:r>
              <a:rPr lang="en-US" dirty="0"/>
              <a:t>
</a:t>
            </a:r>
          </a:p>
          <a:p>
            <a:r>
              <a:rPr lang="en-US" dirty="0"/>
              <a:t>1. "They set out to build the next-generation warehouse execution system: 'Waze for the warehouse', in the public cloud."
</a:t>
            </a:r>
          </a:p>
          <a:p>
            <a:r>
              <a:rPr lang="en-US" dirty="0"/>
              <a:t>2. "Complete automation, which had not been done before, across an industrial IoT estate — sorting, picking and conveyors."
</a:t>
            </a:r>
          </a:p>
          <a:p>
            <a:r>
              <a:rPr lang="en-US" dirty="0"/>
              <a:t>3. "It is built on microservices and functions, with REST for resources and GraphQL for the connected view of the warehouse."
</a:t>
            </a:r>
          </a:p>
          <a:p>
            <a:r>
              <a:rPr lang="en-US" dirty="0"/>
              <a:t>
</a:t>
            </a:r>
          </a:p>
          <a:p>
            <a:r>
              <a:rPr lang="en-US" dirty="0"/>
              <a:t>BE CLEAR ABOUT THIS:
</a:t>
            </a:r>
          </a:p>
          <a:p>
            <a:r>
              <a:rPr lang="en-US" dirty="0"/>
              <a:t>"This is a case of choosing per operation: REST where the resource is the unit, GraphQL where the relationships are the product."
</a:t>
            </a:r>
          </a:p>
          <a:p>
            <a:r>
              <a:rPr lang="en-US" dirty="0"/>
              <a:t>
</a:t>
            </a:r>
          </a:p>
          <a:p>
            <a:r>
              <a:rPr lang="en-US" dirty="0"/>
              <a:t>TRANSITION:
</a:t>
            </a:r>
          </a:p>
          <a:p>
            <a:r>
              <a:rPr lang="en-US" dirty="0"/>
              <a:t>"The second story made a very different choice."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SAY:
</a:t>
            </a:r>
          </a:p>
          <a:p>
            <a:r>
              <a:rPr lang="en-US" dirty="0"/>
              <a:t>"Our second client is a global retail coffee company, rebuilding point of sale and ordering."
</a:t>
            </a:r>
          </a:p>
          <a:p>
            <a:r>
              <a:rPr lang="en-US" dirty="0"/>
              <a:t>
</a:t>
            </a:r>
          </a:p>
          <a:p>
            <a:r>
              <a:rPr lang="en-US" dirty="0"/>
              <a:t>1. "Thirty-three thousand locations. Security and offline operation are non-negotiable."
</a:t>
            </a:r>
          </a:p>
          <a:p>
            <a:r>
              <a:rPr lang="en-US" dirty="0"/>
              <a:t>2. "They have limited ability to expose endpoints at the store."
</a:t>
            </a:r>
          </a:p>
          <a:p>
            <a:r>
              <a:rPr lang="en-US" dirty="0"/>
              <a:t>3. "gRPC integration reduced that exposure and increased performance, with typed contracts between services."
</a:t>
            </a:r>
          </a:p>
          <a:p>
            <a:r>
              <a:rPr lang="en-US" dirty="0"/>
              <a:t>
</a:t>
            </a:r>
          </a:p>
          <a:p>
            <a:r>
              <a:rPr lang="en-US" dirty="0"/>
              <a:t>BE CLEAR ABOUT THIS:
</a:t>
            </a:r>
          </a:p>
          <a:p>
            <a:r>
              <a:rPr lang="en-US" dirty="0"/>
              <a:t>"Same decision process, different answer. The constraints — exposure, offline, performance — pointed to gRPC."
</a:t>
            </a:r>
          </a:p>
          <a:p>
            <a:r>
              <a:rPr lang="en-US" dirty="0"/>
              <a:t>
</a:t>
            </a:r>
          </a:p>
          <a:p>
            <a:r>
              <a:rPr lang="en-US" dirty="0"/>
              <a:t>TRANSITION:
</a:t>
            </a:r>
          </a:p>
          <a:p>
            <a:r>
              <a:rPr lang="en-US" dirty="0"/>
              <a:t>"So what should you take away from all of this?"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SAY:
</a:t>
            </a:r>
          </a:p>
          <a:p>
            <a:r>
              <a:rPr lang="en-US" dirty="0"/>
              <a:t>"Three things to take away."
</a:t>
            </a:r>
          </a:p>
          <a:p>
            <a:r>
              <a:rPr lang="en-US" dirty="0"/>
              <a:t>
</a:t>
            </a:r>
          </a:p>
          <a:p>
            <a:r>
              <a:rPr lang="en-US" dirty="0"/>
              <a:t>1. "Choose per operation. REST for cacheable resources, GraphQL for related data, gRPC for streams and service-to-service calls. Most systems use more than one."
</a:t>
            </a:r>
          </a:p>
          <a:p>
            <a:r>
              <a:rPr lang="en-US" dirty="0"/>
              <a:t>2. "Design the contract first. OpenAPI, schema or proto file — the contract outlives the implementation and drives your tooling, tests and code generation."
</a:t>
            </a:r>
          </a:p>
          <a:p>
            <a:r>
              <a:rPr lang="en-US" dirty="0"/>
              <a:t>3. "Measure the whole path. Round trips, payload size and caching decide real-world latency more than the protocol label does."
</a:t>
            </a:r>
          </a:p>
          <a:p>
            <a:r>
              <a:rPr lang="en-US" dirty="0"/>
              <a:t>
</a:t>
            </a:r>
          </a:p>
          <a:p>
            <a:r>
              <a:rPr lang="en-US" dirty="0"/>
              <a:t>BE CLEAR ABOUT THIS:
</a:t>
            </a:r>
          </a:p>
          <a:p>
            <a:r>
              <a:rPr lang="en-US" dirty="0"/>
              <a:t>"Everything you saw today is in the repository — the code, the runbook and the measurements — so you can run it yourself."
</a:t>
            </a:r>
          </a:p>
          <a:p>
            <a:r>
              <a:rPr lang="en-US" dirty="0"/>
              <a:t>
</a:t>
            </a:r>
          </a:p>
          <a:p>
            <a:r>
              <a:rPr lang="en-US" dirty="0"/>
              <a:t>TRANSITION:
</a:t>
            </a:r>
          </a:p>
          <a:p>
            <a:r>
              <a:rPr lang="en-US" dirty="0"/>
              <a:t>"With that, let's open it up."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SAY:
</a:t>
            </a:r>
          </a:p>
          <a:p>
            <a:r>
              <a:rPr lang="en-US" dirty="0"/>
              <a:t>"Thank you. We would love to take your questions."
</a:t>
            </a:r>
          </a:p>
          <a:p>
            <a:r>
              <a:rPr lang="en-US" dirty="0"/>
              <a:t>
</a:t>
            </a:r>
          </a:p>
          <a:p>
            <a:r>
              <a:rPr lang="en-US" dirty="0"/>
              <a:t>"If you want to try it yourself, it is one command: docker compose up, then open localhost:3000. No API keys needed."
</a:t>
            </a:r>
          </a:p>
          <a:p>
            <a:r>
              <a:rPr lang="en-US" dirty="0"/>
              <a:t>
</a:t>
            </a:r>
          </a:p>
          <a:p>
            <a:r>
              <a:rPr lang="en-US" dirty="0"/>
              <a:t>IF ASKED ABOUT AI:
</a:t>
            </a:r>
          </a:p>
          <a:p>
            <a:r>
              <a:rPr lang="en-US" dirty="0"/>
              <a:t>"The appendix covers how the demo lets a local model or Jev choose the protocol — I am happy to walk through it."
</a:t>
            </a:r>
          </a:p>
          <a:p>
            <a:r>
              <a:rPr lang="en-US" dirty="0"/>
              <a:t>
</a:t>
            </a:r>
          </a:p>
          <a:p>
            <a:r>
              <a:rPr lang="en-US" dirty="0"/>
              <a:t>(Replace the presenter placeholders before presenting.)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SAY:
</a:t>
            </a:r>
          </a:p>
          <a:p>
            <a:r>
              <a:rPr lang="en-US" dirty="0"/>
              <a:t>"This appendix explains how Protocol Studio lets a model choose the protocol — without letting it invent the answer."
</a:t>
            </a:r>
          </a:p>
          <a:p>
            <a:r>
              <a:rPr lang="en-US" dirty="0"/>
              <a:t>
</a:t>
            </a:r>
          </a:p>
          <a:p>
            <a:r>
              <a:rPr lang="en-US" dirty="0"/>
              <a:t>1. "The architecture: how a question becomes a protocol call."
</a:t>
            </a:r>
          </a:p>
          <a:p>
            <a:r>
              <a:rPr lang="en-US" dirty="0"/>
              <a:t>2. "Two ways to make the decision: Ollama tool calling on a small local model, and Jev's structured decisions."
</a:t>
            </a:r>
          </a:p>
          <a:p>
            <a:r>
              <a:rPr lang="en-US" dirty="0"/>
              <a:t>3. "The guardrails, and what it costs in latency."
</a:t>
            </a:r>
          </a:p>
          <a:p>
            <a:r>
              <a:rPr lang="en-US" dirty="0"/>
              <a:t>
</a:t>
            </a:r>
          </a:p>
          <a:p>
            <a:r>
              <a:rPr lang="en-US" dirty="0"/>
              <a:t>TRANSITION:
</a:t>
            </a:r>
          </a:p>
          <a:p>
            <a:r>
              <a:rPr lang="en-US" dirty="0"/>
              <a:t>"Here is the path a question takes."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SAY:
</a:t>
            </a:r>
          </a:p>
          <a:p>
            <a:r>
              <a:rPr lang="en-US" dirty="0"/>
              <a:t>"Every question goes through five steps."
</a:t>
            </a:r>
          </a:p>
          <a:p>
            <a:r>
              <a:rPr lang="en-US" dirty="0"/>
              <a:t>
</a:t>
            </a:r>
          </a:p>
          <a:p>
            <a:r>
              <a:rPr lang="en-US" dirty="0"/>
              <a:t>1. "The browser posts the message and recent turns."
</a:t>
            </a:r>
          </a:p>
          <a:p>
            <a:r>
              <a:rPr lang="en-US" dirty="0"/>
              <a:t>2. "A classifier — Ollama or Jev, behind one interface — picks one protocol and one allowlisted target."
</a:t>
            </a:r>
          </a:p>
          <a:p>
            <a:r>
              <a:rPr lang="en-US" dirty="0"/>
              <a:t>3. "The decision is just protocol plus target. Never a URL, never query text."
</a:t>
            </a:r>
          </a:p>
          <a:p>
            <a:r>
              <a:rPr lang="en-US" dirty="0"/>
              <a:t>4. "The server calls its own REST, GraphQL or native gRPC endpoint — real traffic."
</a:t>
            </a:r>
          </a:p>
          <a:p>
            <a:r>
              <a:rPr lang="en-US" dirty="0"/>
              <a:t>5. "The answer is composed from the response, and the inspector shows the payloads and timings."
</a:t>
            </a:r>
          </a:p>
          <a:p>
            <a:r>
              <a:rPr lang="en-US" dirty="0"/>
              <a:t>
</a:t>
            </a:r>
          </a:p>
          <a:p>
            <a:r>
              <a:rPr lang="en-US" dirty="0"/>
              <a:t>BE CLEAR ABOUT THIS:
</a:t>
            </a:r>
          </a:p>
          <a:p>
            <a:r>
              <a:rPr lang="en-US" dirty="0"/>
              <a:t>"The model chooses the route. It never supplies the data. If it routes wrongly, you can see it — and it cannot invent facts."
</a:t>
            </a:r>
          </a:p>
          <a:p>
            <a:r>
              <a:rPr lang="en-US" dirty="0"/>
              <a:t>
</a:t>
            </a:r>
          </a:p>
          <a:p>
            <a:r>
              <a:rPr lang="en-US" dirty="0"/>
              <a:t>TRANSITION:
</a:t>
            </a:r>
          </a:p>
          <a:p>
            <a:r>
              <a:rPr lang="en-US" dirty="0"/>
              <a:t>"Let's look at the default router: Ollama."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SAY:
</a:t>
            </a:r>
          </a:p>
          <a:p>
            <a:r>
              <a:rPr lang="en-US" dirty="0"/>
              <a:t>"The default is genuine tool calling on a small local model — no API key, and no cloud dependency."
</a:t>
            </a:r>
          </a:p>
          <a:p>
            <a:r>
              <a:rPr lang="en-US" dirty="0"/>
              <a:t>
</a:t>
            </a:r>
          </a:p>
          <a:p>
            <a:r>
              <a:rPr lang="en-US" dirty="0"/>
              <a:t>1. "There is one tool per protocol. The tool the model calls is the decision."
</a:t>
            </a:r>
          </a:p>
          <a:p>
            <a:r>
              <a:rPr lang="en-US" dirty="0"/>
              <a:t>2. "The target is an enum, so the model can only pick catalog IDs that exist."
</a:t>
            </a:r>
          </a:p>
          <a:p>
            <a:r>
              <a:rPr lang="en-US" dirty="0"/>
              <a:t>3. "We pin a four-billion-parameter instruct model without thinking mode, running locally."
</a:t>
            </a:r>
          </a:p>
          <a:p>
            <a:r>
              <a:rPr lang="en-US" dirty="0"/>
              <a:t>4. "It is tuned for latency: temperature zero, a 96-token cap, a thirty-minute keep-alive and a warm-up at startup."
</a:t>
            </a:r>
          </a:p>
          <a:p>
            <a:r>
              <a:rPr lang="en-US" dirty="0"/>
              <a:t>
</a:t>
            </a:r>
          </a:p>
          <a:p>
            <a:r>
              <a:rPr lang="en-US" dirty="0"/>
              <a:t>BE CLEAR ABOUT THIS:
</a:t>
            </a:r>
          </a:p>
          <a:p>
            <a:r>
              <a:rPr lang="en-US" dirty="0"/>
              <a:t>"Pin the exact model tag. The unqualified tag resolves to a thinking model that burns tokens before it calls a tool."
</a:t>
            </a:r>
          </a:p>
          <a:p>
            <a:r>
              <a:rPr lang="en-US" dirty="0"/>
              <a:t>
</a:t>
            </a:r>
          </a:p>
          <a:p>
            <a:r>
              <a:rPr lang="en-US" dirty="0"/>
              <a:t>TRANSITION:
</a:t>
            </a:r>
          </a:p>
          <a:p>
            <a:r>
              <a:rPr lang="en-US" dirty="0"/>
              <a:t>"The alternative is a model built for decisions rather than text."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SAY:
</a:t>
            </a:r>
          </a:p>
          <a:p>
            <a:r>
              <a:rPr lang="en-US" dirty="0"/>
              <a:t>"Jev is a decision model, not a text generator."
</a:t>
            </a:r>
          </a:p>
          <a:p>
            <a:r>
              <a:rPr lang="en-US" dirty="0"/>
              <a:t>
</a:t>
            </a:r>
          </a:p>
          <a:p>
            <a:r>
              <a:rPr lang="en-US" dirty="0"/>
              <a:t>1. "Instead of generating text, we ask two typed choice questions: which protocol, and which target."
</a:t>
            </a:r>
          </a:p>
          <a:p>
            <a:r>
              <a:rPr lang="en-US" dirty="0"/>
              <a:t>2. "Each answer comes back with a confidence and probabilities, and we show them in the inspector."
</a:t>
            </a:r>
          </a:p>
          <a:p>
            <a:r>
              <a:rPr lang="en-US" dirty="0"/>
              <a:t>3. "It plugs in behind the same interface — one environment variable switches providers."
</a:t>
            </a:r>
          </a:p>
          <a:p>
            <a:r>
              <a:rPr lang="en-US" dirty="0"/>
              <a:t>4. "It is hosted by TypeSafe, so it needs internet access and an API key. The key never leaves the server."
</a:t>
            </a:r>
          </a:p>
          <a:p>
            <a:r>
              <a:rPr lang="en-US" dirty="0"/>
              <a:t>
</a:t>
            </a:r>
          </a:p>
          <a:p>
            <a:r>
              <a:rPr lang="en-US" dirty="0"/>
              <a:t>BE CLEAR ABOUT THIS:
</a:t>
            </a:r>
          </a:p>
          <a:p>
            <a:r>
              <a:rPr lang="en-US" dirty="0"/>
              <a:t>"Jev is optional. For a small, closed decision like this one, a structured decision fits better than free-form generation."
</a:t>
            </a:r>
          </a:p>
          <a:p>
            <a:r>
              <a:rPr lang="en-US" dirty="0"/>
              <a:t>
</a:t>
            </a:r>
          </a:p>
          <a:p>
            <a:r>
              <a:rPr lang="en-US" dirty="0"/>
              <a:t>TRANSITION:
</a:t>
            </a:r>
          </a:p>
          <a:p>
            <a:r>
              <a:rPr lang="en-US" dirty="0"/>
              <a:t>"So how do you choose between them?"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SAY:
</a:t>
            </a:r>
          </a:p>
          <a:p>
            <a:r>
              <a:rPr lang="en-US" dirty="0"/>
              <a:t>"Both routers make the same decision in different ways."
</a:t>
            </a:r>
          </a:p>
          <a:p>
            <a:r>
              <a:rPr lang="en-US" dirty="0"/>
              <a:t>
</a:t>
            </a:r>
          </a:p>
          <a:p>
            <a:r>
              <a:rPr lang="en-US" dirty="0"/>
              <a:t>1. "Ollama runs locally and works offline, which matters for demos and data residency. It does not report confidence, and we do not invent one."
</a:t>
            </a:r>
          </a:p>
          <a:p>
            <a:r>
              <a:rPr lang="en-US" dirty="0"/>
              <a:t>2. "Jev is hosted, needs a key, and gives you calibrated confidence per decision."
</a:t>
            </a:r>
          </a:p>
          <a:p>
            <a:r>
              <a:rPr lang="en-US" dirty="0"/>
              <a:t>
</a:t>
            </a:r>
          </a:p>
          <a:p>
            <a:r>
              <a:rPr lang="en-US" dirty="0"/>
              <a:t>BE CLEAR ABOUT THIS:
</a:t>
            </a:r>
          </a:p>
          <a:p>
            <a:r>
              <a:rPr lang="en-US" dirty="0"/>
              <a:t>"Presenter overrides bypass the model for one question, and the UI says so every time."
</a:t>
            </a:r>
          </a:p>
          <a:p>
            <a:r>
              <a:rPr lang="en-US" dirty="0"/>
              <a:t>
</a:t>
            </a:r>
          </a:p>
          <a:p>
            <a:r>
              <a:rPr lang="en-US" dirty="0"/>
              <a:t>TRANSITION:
</a:t>
            </a:r>
          </a:p>
          <a:p>
            <a:r>
              <a:rPr lang="en-US" dirty="0"/>
              <a:t>"That brings us to the rules that keep this honest."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SAY:
</a:t>
            </a:r>
          </a:p>
          <a:p>
            <a:r>
              <a:rPr lang="en-US" dirty="0"/>
              <a:t>"Five rules make it safe to put a model in the request path."
</a:t>
            </a:r>
          </a:p>
          <a:p>
            <a:r>
              <a:rPr lang="en-US" dirty="0"/>
              <a:t>
</a:t>
            </a:r>
          </a:p>
          <a:p>
            <a:r>
              <a:rPr lang="en-US" dirty="0"/>
              <a:t>1. "Allowlisted targets — the model picks from catalog IDs, never URLs or queries."
</a:t>
            </a:r>
          </a:p>
          <a:p>
            <a:r>
              <a:rPr lang="en-US" dirty="0"/>
              <a:t>2. "No hidden fallback — if the model fails, you see an error, not keyword routing labeled as AI."
</a:t>
            </a:r>
          </a:p>
          <a:p>
            <a:r>
              <a:rPr lang="en-US" dirty="0"/>
              <a:t>3. "Labeled overrides — they apply to one question, then routing resets to Auto."
</a:t>
            </a:r>
          </a:p>
          <a:p>
            <a:r>
              <a:rPr lang="en-US" dirty="0"/>
              <a:t>4. "Grounded answers — every answer is built from the actual transport response."
</a:t>
            </a:r>
          </a:p>
          <a:p>
            <a:r>
              <a:rPr lang="en-US" dirty="0"/>
              <a:t>5. "Secrets stay server-side, and ports bind to loopback by default."
</a:t>
            </a:r>
          </a:p>
          <a:p>
            <a:r>
              <a:rPr lang="en-US" dirty="0"/>
              <a:t>
</a:t>
            </a:r>
          </a:p>
          <a:p>
            <a:r>
              <a:rPr lang="en-US" dirty="0"/>
              <a:t>TRANSITION:
</a:t>
            </a:r>
          </a:p>
          <a:p>
            <a:r>
              <a:rPr lang="en-US" dirty="0"/>
              <a:t>"Finally, what does the router cost?"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SAY:
</a:t>
            </a:r>
          </a:p>
          <a:p>
            <a:r>
              <a:rPr lang="en-US" dirty="0"/>
              <a:t>"These are medians to a complete response, on warm runs with native Ollama on Apple Silicon."
</a:t>
            </a:r>
          </a:p>
          <a:p>
            <a:r>
              <a:rPr lang="en-US" dirty="0"/>
              <a:t>
</a:t>
            </a:r>
          </a:p>
          <a:p>
            <a:r>
              <a:rPr lang="en-US" dirty="0"/>
              <a:t>1. "REST in 1.11 seconds, GraphQL in 1.26, gRPC in 1.86 including three streamed snapshots."
</a:t>
            </a:r>
          </a:p>
          <a:p>
            <a:r>
              <a:rPr lang="en-US" dirty="0"/>
              <a:t>2. "Routing is the cost — about a second on a warm four-billion-parameter model. REST and GraphQL execute in single-digit milliseconds."
</a:t>
            </a:r>
          </a:p>
          <a:p>
            <a:r>
              <a:rPr lang="en-US" dirty="0"/>
              <a:t>3. "Most of the gRPC stream time is the deliberate pacing, so you can watch it happen."
</a:t>
            </a:r>
          </a:p>
          <a:p>
            <a:r>
              <a:rPr lang="en-US" dirty="0"/>
              <a:t>
</a:t>
            </a:r>
          </a:p>
          <a:p>
            <a:r>
              <a:rPr lang="en-US" dirty="0"/>
              <a:t>BE CLEAR ABOUT THIS:
</a:t>
            </a:r>
          </a:p>
          <a:p>
            <a:r>
              <a:rPr lang="en-US" dirty="0"/>
              <a:t>"This is a request diagnostic from three runs per protocol, not a load test or a protocol benchmark. You can reproduce it with the benchmark script in the repository."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128000" y="0"/>
            <a:ext cx="4064000" cy="6858000"/>
          </a:xfrm>
          <a:prstGeom prst="rect">
            <a:avLst/>
          </a:prstGeom>
          <a:solidFill>
            <a:srgbClr val="DA1884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3" name="Image 0" descr="/private/tmp/claude-501/-Users-spietrek-Projects-dev2next/d6614435-6e88-43b0-8755-153d1251090d/scratchpad/assets/insight-stack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" y="825500"/>
            <a:ext cx="1905000" cy="78740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609600" y="2095500"/>
            <a:ext cx="6985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DA18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TECHNICAL SESSION</a:t>
            </a:r>
            <a:endParaRPr lang="en-US" sz="1300" dirty="0"/>
          </a:p>
        </p:txBody>
      </p:sp>
      <p:sp>
        <p:nvSpPr>
          <p:cNvPr id="5" name="Text 2"/>
          <p:cNvSpPr txBox="1"/>
          <p:nvPr/>
        </p:nvSpPr>
        <p:spPr>
          <a:xfrm>
            <a:off x="609600" y="2374900"/>
            <a:ext cx="711200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36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REST vs GraphQL vs gRPC</a:t>
            </a:r>
            <a:endParaRPr lang="en-US" sz="3600" dirty="0"/>
          </a:p>
        </p:txBody>
      </p:sp>
      <p:sp>
        <p:nvSpPr>
          <p:cNvPr id="6" name="Text 3"/>
          <p:cNvSpPr txBox="1"/>
          <p:nvPr/>
        </p:nvSpPr>
        <p:spPr>
          <a:xfrm>
            <a:off x="609600" y="3111500"/>
            <a:ext cx="69850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Choosing the right API protocol for the operation in front of you.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609600" y="3911600"/>
            <a:ext cx="50800" cy="1371600"/>
          </a:xfrm>
          <a:prstGeom prst="rect">
            <a:avLst/>
          </a:prstGeom>
          <a:solidFill>
            <a:srgbClr val="DA188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5"/>
          <p:cNvSpPr txBox="1"/>
          <p:nvPr/>
        </p:nvSpPr>
        <p:spPr>
          <a:xfrm>
            <a:off x="863600" y="3937000"/>
            <a:ext cx="673100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200" b="1" dirty="0">
                <a:solidFill>
                  <a:srgbClr val="DA18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IT IS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863600" y="4216400"/>
            <a:ext cx="6731000" cy="1079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300-level tour of REST, GraphQL and gRPC through one working app, Protocol Studio: a local or hosted model routes each question to the protocol that fits, and every request is real traffic you can inspect.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609600" y="5842000"/>
            <a:ext cx="698500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200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[Conference name] 2026   •   Insight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609600" y="6578600"/>
            <a:ext cx="7366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900" dirty="0">
                <a:solidFill>
                  <a:srgbClr val="9E9E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Insight Proprietary &amp; Confidential.  Do Not Copy or Distribute.  © 2026 Insight.  All Rights Reserved.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8636000" y="1587500"/>
            <a:ext cx="3048000" cy="152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protocols.</a:t>
            </a:r>
            <a:endParaRPr lang="en-US" sz="3000" dirty="0"/>
          </a:p>
          <a:p>
            <a:pPr marL="0" indent="0" algn="l">
              <a:lnSpc>
                <a:spcPct val="10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question.</a:t>
            </a:r>
            <a:endParaRPr lang="en-US" sz="3000" dirty="0"/>
          </a:p>
          <a:p>
            <a:pPr marL="0" indent="0" algn="l">
              <a:lnSpc>
                <a:spcPct val="10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right call.</a:t>
            </a:r>
            <a:endParaRPr lang="en-US" sz="3000" dirty="0"/>
          </a:p>
        </p:txBody>
      </p:sp>
      <p:sp>
        <p:nvSpPr>
          <p:cNvPr id="13" name="Shape 10"/>
          <p:cNvSpPr/>
          <p:nvPr/>
        </p:nvSpPr>
        <p:spPr>
          <a:xfrm>
            <a:off x="8636000" y="3238500"/>
            <a:ext cx="508000" cy="381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1"/>
          <p:cNvSpPr txBox="1"/>
          <p:nvPr/>
        </p:nvSpPr>
        <p:spPr>
          <a:xfrm>
            <a:off x="8636000" y="3492500"/>
            <a:ext cx="3048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· THE PROTOCOLS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8636000" y="3733800"/>
            <a:ext cx="3048000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REST, GraphQL and gRPC compared on real traffic.</a:t>
            </a:r>
            <a:endParaRPr 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8636000" y="4318000"/>
            <a:ext cx="3048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· THE DEMO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8636000" y="4559300"/>
            <a:ext cx="3048000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app, three protocols, every request inspectable.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8636000" y="5143500"/>
            <a:ext cx="3048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· THE FIELD</a:t>
            </a:r>
            <a:endParaRPr lang="en-US" sz="1200" dirty="0"/>
          </a:p>
        </p:txBody>
      </p:sp>
      <p:sp>
        <p:nvSpPr>
          <p:cNvPr id="19" name="Text 16"/>
          <p:cNvSpPr txBox="1"/>
          <p:nvPr/>
        </p:nvSpPr>
        <p:spPr>
          <a:xfrm>
            <a:off x="8636000" y="5384800"/>
            <a:ext cx="3048000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Client stories where the choice mattered.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private/tmp/claude-501/-Users-spietrek-Projects-dev2next/d6614435-6e88-43b0-8755-153d1251090d/scratchpad/assets/insight-stack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8000" y="152400"/>
            <a:ext cx="990600" cy="4064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3556000" y="406400"/>
            <a:ext cx="5080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10000"/>
              </a:lnSpc>
              <a:buNone/>
            </a:pPr>
            <a:r>
              <a:rPr lang="en-US" sz="1000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Protocol Studio  —  REST · GraphQL · gRPC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6350000" y="406400"/>
            <a:ext cx="5334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DA18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AGENDA</a:t>
            </a:r>
            <a:endParaRPr lang="en-US" sz="1000" dirty="0"/>
          </a:p>
        </p:txBody>
      </p:sp>
      <p:sp>
        <p:nvSpPr>
          <p:cNvPr id="5" name="Text 2"/>
          <p:cNvSpPr txBox="1"/>
          <p:nvPr/>
        </p:nvSpPr>
        <p:spPr>
          <a:xfrm>
            <a:off x="508000" y="6578600"/>
            <a:ext cx="889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900" dirty="0">
                <a:solidFill>
                  <a:srgbClr val="9E9E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Insight Proprietary &amp; Confidential.  Do Not Copy or Distribute.  © 2026 Insight.  All Rights Reserved.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10922000" y="6578600"/>
            <a:ext cx="762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lnSpc>
                <a:spcPct val="110000"/>
              </a:lnSpc>
              <a:buNone/>
            </a:pPr>
            <a:r>
              <a:rPr lang="en-US" sz="900" dirty="0">
                <a:solidFill>
                  <a:srgbClr val="9E9E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  <p:sp>
        <p:nvSpPr>
          <p:cNvPr id="7" name="Text 4"/>
          <p:cNvSpPr txBox="1"/>
          <p:nvPr/>
        </p:nvSpPr>
        <p:spPr>
          <a:xfrm>
            <a:off x="508000" y="889000"/>
            <a:ext cx="1117600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200" b="1" dirty="0">
                <a:solidFill>
                  <a:srgbClr val="DA18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TODAY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508000" y="1130300"/>
            <a:ext cx="11176000" cy="482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Expectations &amp; Takeaways</a:t>
            </a:r>
            <a:endParaRPr lang="en-US" sz="3000" dirty="0"/>
          </a:p>
        </p:txBody>
      </p:sp>
      <p:sp>
        <p:nvSpPr>
          <p:cNvPr id="9" name="Text 6"/>
          <p:cNvSpPr txBox="1"/>
          <p:nvPr/>
        </p:nvSpPr>
        <p:spPr>
          <a:xfrm>
            <a:off x="508000" y="1663700"/>
            <a:ext cx="11176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400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sections, one running application. Every example is real HTTP, GraphQL and gRPC traffic, with no mocks.</a:t>
            </a:r>
            <a:endParaRPr lang="en-US" sz="1400" dirty="0"/>
          </a:p>
        </p:txBody>
      </p:sp>
      <p:sp>
        <p:nvSpPr>
          <p:cNvPr id="11" name="Shape 7"/>
          <p:cNvSpPr/>
          <p:nvPr/>
        </p:nvSpPr>
        <p:spPr>
          <a:xfrm>
            <a:off x="508000" y="2159000"/>
            <a:ext cx="11176000" cy="736600"/>
          </a:xfrm>
          <a:prstGeom prst="rect">
            <a:avLst/>
          </a:prstGeom>
          <a:solidFill>
            <a:srgbClr val="F4F4F4"/>
          </a:solidFill>
          <a:ln/>
          <a:effectLst>
            <a:outerShdw blurRad="50800" dist="25400" dir="54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Shape 8"/>
          <p:cNvSpPr/>
          <p:nvPr/>
        </p:nvSpPr>
        <p:spPr>
          <a:xfrm>
            <a:off x="508000" y="2159000"/>
            <a:ext cx="63500" cy="736600"/>
          </a:xfrm>
          <a:prstGeom prst="rect">
            <a:avLst/>
          </a:prstGeom>
          <a:solidFill>
            <a:srgbClr val="DA188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9"/>
          <p:cNvSpPr txBox="1"/>
          <p:nvPr/>
        </p:nvSpPr>
        <p:spPr>
          <a:xfrm>
            <a:off x="787400" y="2159000"/>
            <a:ext cx="482600" cy="736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DA18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800" dirty="0"/>
          </a:p>
        </p:txBody>
      </p:sp>
      <p:sp>
        <p:nvSpPr>
          <p:cNvPr id="14" name="Text 10"/>
          <p:cNvSpPr txBox="1"/>
          <p:nvPr/>
        </p:nvSpPr>
        <p:spPr>
          <a:xfrm>
            <a:off x="1397000" y="2159000"/>
            <a:ext cx="2540000" cy="736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Landscape</a:t>
            </a:r>
            <a:endParaRPr lang="en-US" sz="1300" dirty="0"/>
          </a:p>
        </p:txBody>
      </p:sp>
      <p:sp>
        <p:nvSpPr>
          <p:cNvPr id="15" name="Text 11"/>
          <p:cNvSpPr txBox="1"/>
          <p:nvPr/>
        </p:nvSpPr>
        <p:spPr>
          <a:xfrm>
            <a:off x="4140200" y="2159000"/>
            <a:ext cx="4470400" cy="736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protocol choice is still contentious, the key comparisons, and the demo data set.</a:t>
            </a:r>
            <a:endParaRPr lang="en-US" sz="1200" dirty="0"/>
          </a:p>
        </p:txBody>
      </p:sp>
      <p:sp>
        <p:nvSpPr>
          <p:cNvPr id="16" name="Text 12"/>
          <p:cNvSpPr txBox="1"/>
          <p:nvPr/>
        </p:nvSpPr>
        <p:spPr>
          <a:xfrm>
            <a:off x="8763000" y="2159000"/>
            <a:ext cx="2667000" cy="736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200" i="1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Context</a:t>
            </a:r>
            <a:endParaRPr lang="en-US" sz="1200" dirty="0"/>
          </a:p>
        </p:txBody>
      </p:sp>
      <p:sp>
        <p:nvSpPr>
          <p:cNvPr id="17" name="Shape 13"/>
          <p:cNvSpPr/>
          <p:nvPr/>
        </p:nvSpPr>
        <p:spPr>
          <a:xfrm>
            <a:off x="508000" y="2997200"/>
            <a:ext cx="11176000" cy="73660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54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8" name="Shape 14"/>
          <p:cNvSpPr/>
          <p:nvPr/>
        </p:nvSpPr>
        <p:spPr>
          <a:xfrm>
            <a:off x="508000" y="2997200"/>
            <a:ext cx="63500" cy="736600"/>
          </a:xfrm>
          <a:prstGeom prst="rect">
            <a:avLst/>
          </a:prstGeom>
          <a:solidFill>
            <a:srgbClr val="DA188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Text 15"/>
          <p:cNvSpPr txBox="1"/>
          <p:nvPr/>
        </p:nvSpPr>
        <p:spPr>
          <a:xfrm>
            <a:off x="787400" y="2997200"/>
            <a:ext cx="482600" cy="736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DA18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800" dirty="0"/>
          </a:p>
        </p:txBody>
      </p:sp>
      <p:sp>
        <p:nvSpPr>
          <p:cNvPr id="20" name="Text 16"/>
          <p:cNvSpPr txBox="1"/>
          <p:nvPr/>
        </p:nvSpPr>
        <p:spPr>
          <a:xfrm>
            <a:off x="1397000" y="2997200"/>
            <a:ext cx="2540000" cy="736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Protocols</a:t>
            </a:r>
            <a:endParaRPr lang="en-US" sz="1300" dirty="0"/>
          </a:p>
        </p:txBody>
      </p:sp>
      <p:sp>
        <p:nvSpPr>
          <p:cNvPr id="21" name="Text 17"/>
          <p:cNvSpPr txBox="1"/>
          <p:nvPr/>
        </p:nvSpPr>
        <p:spPr>
          <a:xfrm>
            <a:off x="4140200" y="2997200"/>
            <a:ext cx="4470400" cy="736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REST, GraphQL and gRPC, each covered twice: first the concept, then the working code.</a:t>
            </a:r>
            <a:endParaRPr lang="en-US" sz="1200" dirty="0"/>
          </a:p>
        </p:txBody>
      </p:sp>
      <p:sp>
        <p:nvSpPr>
          <p:cNvPr id="22" name="Text 18"/>
          <p:cNvSpPr txBox="1"/>
          <p:nvPr/>
        </p:nvSpPr>
        <p:spPr>
          <a:xfrm>
            <a:off x="8763000" y="2997200"/>
            <a:ext cx="2667000" cy="736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200" i="1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slides per protocol</a:t>
            </a:r>
            <a:endParaRPr lang="en-US" sz="1200" dirty="0"/>
          </a:p>
        </p:txBody>
      </p:sp>
      <p:sp>
        <p:nvSpPr>
          <p:cNvPr id="23" name="Shape 19"/>
          <p:cNvSpPr/>
          <p:nvPr/>
        </p:nvSpPr>
        <p:spPr>
          <a:xfrm>
            <a:off x="508000" y="3835400"/>
            <a:ext cx="11176000" cy="736600"/>
          </a:xfrm>
          <a:prstGeom prst="rect">
            <a:avLst/>
          </a:prstGeom>
          <a:solidFill>
            <a:srgbClr val="F4F4F4"/>
          </a:solidFill>
          <a:ln/>
          <a:effectLst>
            <a:outerShdw blurRad="50800" dist="25400" dir="54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4" name="Shape 20"/>
          <p:cNvSpPr/>
          <p:nvPr/>
        </p:nvSpPr>
        <p:spPr>
          <a:xfrm>
            <a:off x="508000" y="3835400"/>
            <a:ext cx="63500" cy="736600"/>
          </a:xfrm>
          <a:prstGeom prst="rect">
            <a:avLst/>
          </a:prstGeom>
          <a:solidFill>
            <a:srgbClr val="DA188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Text 21"/>
          <p:cNvSpPr txBox="1"/>
          <p:nvPr/>
        </p:nvSpPr>
        <p:spPr>
          <a:xfrm>
            <a:off x="787400" y="3835400"/>
            <a:ext cx="482600" cy="736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DA18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800" dirty="0"/>
          </a:p>
        </p:txBody>
      </p:sp>
      <p:sp>
        <p:nvSpPr>
          <p:cNvPr id="26" name="Text 22"/>
          <p:cNvSpPr txBox="1"/>
          <p:nvPr/>
        </p:nvSpPr>
        <p:spPr>
          <a:xfrm>
            <a:off x="1397000" y="3835400"/>
            <a:ext cx="2540000" cy="736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Demo &amp; Field Stories</a:t>
            </a:r>
            <a:endParaRPr lang="en-US" sz="1300" dirty="0"/>
          </a:p>
        </p:txBody>
      </p:sp>
      <p:sp>
        <p:nvSpPr>
          <p:cNvPr id="27" name="Text 23"/>
          <p:cNvSpPr txBox="1"/>
          <p:nvPr/>
        </p:nvSpPr>
        <p:spPr>
          <a:xfrm>
            <a:off x="4140200" y="3835400"/>
            <a:ext cx="4470400" cy="736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Protocol Studio live, then client stories where the choice mattered.</a:t>
            </a:r>
            <a:endParaRPr lang="en-US" sz="1200" dirty="0"/>
          </a:p>
        </p:txBody>
      </p:sp>
      <p:sp>
        <p:nvSpPr>
          <p:cNvPr id="28" name="Text 24"/>
          <p:cNvSpPr txBox="1"/>
          <p:nvPr/>
        </p:nvSpPr>
        <p:spPr>
          <a:xfrm>
            <a:off x="8763000" y="3835400"/>
            <a:ext cx="2667000" cy="736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200" i="1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Success from the field</a:t>
            </a:r>
            <a:endParaRPr lang="en-US" sz="1200" dirty="0"/>
          </a:p>
        </p:txBody>
      </p:sp>
      <p:sp>
        <p:nvSpPr>
          <p:cNvPr id="29" name="Shape 25"/>
          <p:cNvSpPr/>
          <p:nvPr/>
        </p:nvSpPr>
        <p:spPr>
          <a:xfrm>
            <a:off x="508000" y="4673600"/>
            <a:ext cx="11176000" cy="73660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54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0" name="Shape 26"/>
          <p:cNvSpPr/>
          <p:nvPr/>
        </p:nvSpPr>
        <p:spPr>
          <a:xfrm>
            <a:off x="508000" y="4673600"/>
            <a:ext cx="63500" cy="736600"/>
          </a:xfrm>
          <a:prstGeom prst="rect">
            <a:avLst/>
          </a:prstGeom>
          <a:solidFill>
            <a:srgbClr val="DA188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1" name="Text 27"/>
          <p:cNvSpPr txBox="1"/>
          <p:nvPr/>
        </p:nvSpPr>
        <p:spPr>
          <a:xfrm>
            <a:off x="787400" y="4673600"/>
            <a:ext cx="482600" cy="736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DA18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32" name="Text 28"/>
          <p:cNvSpPr txBox="1"/>
          <p:nvPr/>
        </p:nvSpPr>
        <p:spPr>
          <a:xfrm>
            <a:off x="1397000" y="4673600"/>
            <a:ext cx="2540000" cy="736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Appendix: AI Routing</a:t>
            </a:r>
            <a:endParaRPr lang="en-US" sz="1300" dirty="0"/>
          </a:p>
        </p:txBody>
      </p:sp>
      <p:sp>
        <p:nvSpPr>
          <p:cNvPr id="33" name="Text 29"/>
          <p:cNvSpPr txBox="1"/>
          <p:nvPr/>
        </p:nvSpPr>
        <p:spPr>
          <a:xfrm>
            <a:off x="4140200" y="4673600"/>
            <a:ext cx="4470400" cy="736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the demo lets Ollama or Jev choose the protocol, with guardrails and latency.</a:t>
            </a:r>
            <a:endParaRPr lang="en-US" sz="1200" dirty="0"/>
          </a:p>
        </p:txBody>
      </p:sp>
      <p:sp>
        <p:nvSpPr>
          <p:cNvPr id="34" name="Text 30"/>
          <p:cNvSpPr txBox="1"/>
          <p:nvPr/>
        </p:nvSpPr>
        <p:spPr>
          <a:xfrm>
            <a:off x="8763000" y="4673600"/>
            <a:ext cx="2667000" cy="736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200" i="1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 permitting</a:t>
            </a:r>
            <a:endParaRPr lang="en-US" sz="1200" dirty="0"/>
          </a:p>
        </p:txBody>
      </p:sp>
      <p:sp>
        <p:nvSpPr>
          <p:cNvPr id="35" name="Shape 31"/>
          <p:cNvSpPr/>
          <p:nvPr/>
        </p:nvSpPr>
        <p:spPr>
          <a:xfrm>
            <a:off x="508000" y="5588000"/>
            <a:ext cx="11176000" cy="609600"/>
          </a:xfrm>
          <a:prstGeom prst="rect">
            <a:avLst/>
          </a:prstGeom>
          <a:solidFill>
            <a:srgbClr val="F4F4F4"/>
          </a:solidFill>
          <a:ln/>
          <a:effectLst>
            <a:outerShdw blurRad="50800" dist="25400" dir="54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6" name="Shape 32"/>
          <p:cNvSpPr/>
          <p:nvPr/>
        </p:nvSpPr>
        <p:spPr>
          <a:xfrm>
            <a:off x="508000" y="5588000"/>
            <a:ext cx="76200" cy="609600"/>
          </a:xfrm>
          <a:prstGeom prst="rect">
            <a:avLst/>
          </a:prstGeom>
          <a:solidFill>
            <a:srgbClr val="DA188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7" name="Text 33"/>
          <p:cNvSpPr txBox="1"/>
          <p:nvPr/>
        </p:nvSpPr>
        <p:spPr>
          <a:xfrm>
            <a:off x="787400" y="5588000"/>
            <a:ext cx="106680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300-level.  </a:t>
            </a:r>
            <a:r>
              <a:rPr lang="en-US" sz="1200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assume you have built an API before. The focus is trade-offs you can apply on Monday.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private/tmp/claude-501/-Users-spietrek-Projects-dev2next/d6614435-6e88-43b0-8755-153d1251090d/scratchpad/assets/insight-stack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8000" y="152400"/>
            <a:ext cx="990600" cy="4064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3556000" y="406400"/>
            <a:ext cx="5080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10000"/>
              </a:lnSpc>
              <a:buNone/>
            </a:pPr>
            <a:r>
              <a:rPr lang="en-US" sz="1000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Protocol Studio  —  REST · GraphQL · gRPC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6350000" y="406400"/>
            <a:ext cx="5334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DA18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SECTION 01</a:t>
            </a:r>
            <a:endParaRPr lang="en-US" sz="1000" dirty="0"/>
          </a:p>
        </p:txBody>
      </p:sp>
      <p:sp>
        <p:nvSpPr>
          <p:cNvPr id="5" name="Text 2"/>
          <p:cNvSpPr txBox="1"/>
          <p:nvPr/>
        </p:nvSpPr>
        <p:spPr>
          <a:xfrm>
            <a:off x="508000" y="6578600"/>
            <a:ext cx="889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900" dirty="0">
                <a:solidFill>
                  <a:srgbClr val="9E9E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Insight Proprietary &amp; Confidential.  Do Not Copy or Distribute.  © 2026 Insight.  All Rights Reserved.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10922000" y="6578600"/>
            <a:ext cx="762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lnSpc>
                <a:spcPct val="110000"/>
              </a:lnSpc>
              <a:buNone/>
            </a:pPr>
            <a:r>
              <a:rPr lang="en-US" sz="900" dirty="0">
                <a:solidFill>
                  <a:srgbClr val="9E9E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1587500"/>
            <a:ext cx="5080000" cy="165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90000"/>
              </a:lnSpc>
              <a:buNone/>
            </a:pPr>
            <a:r>
              <a:rPr lang="en-US" sz="12000" b="1" dirty="0">
                <a:solidFill>
                  <a:srgbClr val="DA18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2000" dirty="0"/>
          </a:p>
        </p:txBody>
      </p:sp>
      <p:sp>
        <p:nvSpPr>
          <p:cNvPr id="8" name="Text 5"/>
          <p:cNvSpPr txBox="1"/>
          <p:nvPr/>
        </p:nvSpPr>
        <p:spPr>
          <a:xfrm>
            <a:off x="508000" y="3302000"/>
            <a:ext cx="5207000" cy="66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44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Landscape</a:t>
            </a:r>
            <a:endParaRPr lang="en-US" sz="4400" dirty="0"/>
          </a:p>
        </p:txBody>
      </p:sp>
      <p:sp>
        <p:nvSpPr>
          <p:cNvPr id="9" name="Shape 6"/>
          <p:cNvSpPr/>
          <p:nvPr/>
        </p:nvSpPr>
        <p:spPr>
          <a:xfrm>
            <a:off x="508000" y="4140200"/>
            <a:ext cx="1016000" cy="50800"/>
          </a:xfrm>
          <a:prstGeom prst="rect">
            <a:avLst/>
          </a:prstGeom>
          <a:solidFill>
            <a:srgbClr val="DA188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7"/>
          <p:cNvSpPr txBox="1"/>
          <p:nvPr/>
        </p:nvSpPr>
        <p:spPr>
          <a:xfrm>
            <a:off x="508000" y="4368800"/>
            <a:ext cx="520700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500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protocol choice is still contentious, and how the three compare.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6223000" y="2654300"/>
            <a:ext cx="5461000" cy="2057400"/>
          </a:xfrm>
          <a:prstGeom prst="rect">
            <a:avLst/>
          </a:prstGeom>
          <a:solidFill>
            <a:srgbClr val="F4F4F4"/>
          </a:solidFill>
          <a:ln/>
          <a:effectLst>
            <a:outerShdw blurRad="50800" dist="25400" dir="54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Shape 9"/>
          <p:cNvSpPr/>
          <p:nvPr/>
        </p:nvSpPr>
        <p:spPr>
          <a:xfrm>
            <a:off x="6223000" y="2654300"/>
            <a:ext cx="5461000" cy="50800"/>
          </a:xfrm>
          <a:prstGeom prst="rect">
            <a:avLst/>
          </a:prstGeom>
          <a:solidFill>
            <a:srgbClr val="DA188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0"/>
          <p:cNvSpPr txBox="1"/>
          <p:nvPr/>
        </p:nvSpPr>
        <p:spPr>
          <a:xfrm>
            <a:off x="6477000" y="2882900"/>
            <a:ext cx="495300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200" b="1" dirty="0">
                <a:solidFill>
                  <a:srgbClr val="DA18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THIS SECTION</a:t>
            </a:r>
            <a:endParaRPr lang="en-US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6477000" y="3238500"/>
            <a:ext cx="4953000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Defining the Frontier: the problem every integration team hits</a:t>
            </a:r>
            <a:endParaRPr lang="en-US" sz="1300" dirty="0"/>
          </a:p>
        </p:txBody>
      </p:sp>
      <p:sp>
        <p:nvSpPr>
          <p:cNvPr id="15" name="Text 12"/>
          <p:cNvSpPr txBox="1"/>
          <p:nvPr/>
        </p:nvSpPr>
        <p:spPr>
          <a:xfrm>
            <a:off x="6477000" y="3721100"/>
            <a:ext cx="4953000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Comparisons: transport, contract, caching and streaming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6477000" y="4203700"/>
            <a:ext cx="4953000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Demo Data Set: one catalog behind all three protocols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private/tmp/claude-501/-Users-spietrek-Projects-dev2next/d6614435-6e88-43b0-8755-153d1251090d/scratchpad/assets/insight-stack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8000" y="152400"/>
            <a:ext cx="990600" cy="4064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3556000" y="406400"/>
            <a:ext cx="5080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10000"/>
              </a:lnSpc>
              <a:buNone/>
            </a:pPr>
            <a:r>
              <a:rPr lang="en-US" sz="1000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Protocol Studio  —  REST · GraphQL · gRPC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6350000" y="406400"/>
            <a:ext cx="5334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DA18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LANDSCAPE</a:t>
            </a:r>
            <a:endParaRPr lang="en-US" sz="1000" dirty="0"/>
          </a:p>
        </p:txBody>
      </p:sp>
      <p:sp>
        <p:nvSpPr>
          <p:cNvPr id="5" name="Text 2"/>
          <p:cNvSpPr txBox="1"/>
          <p:nvPr/>
        </p:nvSpPr>
        <p:spPr>
          <a:xfrm>
            <a:off x="508000" y="6578600"/>
            <a:ext cx="889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900" dirty="0">
                <a:solidFill>
                  <a:srgbClr val="9E9E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Insight Proprietary &amp; Confidential.  Do Not Copy or Distribute.  © 2026 Insight.  All Rights Reserved.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10922000" y="6578600"/>
            <a:ext cx="762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lnSpc>
                <a:spcPct val="110000"/>
              </a:lnSpc>
              <a:buNone/>
            </a:pPr>
            <a:r>
              <a:rPr lang="en-US" sz="900" dirty="0">
                <a:solidFill>
                  <a:srgbClr val="9E9E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  <p:sp>
        <p:nvSpPr>
          <p:cNvPr id="7" name="Text 4"/>
          <p:cNvSpPr txBox="1"/>
          <p:nvPr/>
        </p:nvSpPr>
        <p:spPr>
          <a:xfrm>
            <a:off x="508000" y="889000"/>
            <a:ext cx="1117600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200" b="1" dirty="0">
                <a:solidFill>
                  <a:srgbClr val="DA18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THIS MATTERS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508000" y="1130300"/>
            <a:ext cx="11176000" cy="482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Defining the Frontier for Integration</a:t>
            </a:r>
            <a:endParaRPr lang="en-US" sz="3000" dirty="0"/>
          </a:p>
        </p:txBody>
      </p:sp>
      <p:sp>
        <p:nvSpPr>
          <p:cNvPr id="9" name="Text 6"/>
          <p:cNvSpPr txBox="1"/>
          <p:nvPr/>
        </p:nvSpPr>
        <p:spPr>
          <a:xfrm>
            <a:off x="508000" y="1663700"/>
            <a:ext cx="11176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400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There are many ways to move data between clients, services and partners. Choosing one is rarely obvious.</a:t>
            </a:r>
            <a:endParaRPr lang="en-US" sz="1400" dirty="0"/>
          </a:p>
        </p:txBody>
      </p:sp>
      <p:sp>
        <p:nvSpPr>
          <p:cNvPr id="11" name="Shape 7"/>
          <p:cNvSpPr/>
          <p:nvPr/>
        </p:nvSpPr>
        <p:spPr>
          <a:xfrm>
            <a:off x="508000" y="2159000"/>
            <a:ext cx="3587750" cy="2159000"/>
          </a:xfrm>
          <a:prstGeom prst="rect">
            <a:avLst/>
          </a:prstGeom>
          <a:solidFill>
            <a:srgbClr val="F4F4F4"/>
          </a:solidFill>
          <a:ln/>
          <a:effectLst>
            <a:outerShdw blurRad="50800" dist="25400" dir="54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Shape 8"/>
          <p:cNvSpPr/>
          <p:nvPr/>
        </p:nvSpPr>
        <p:spPr>
          <a:xfrm>
            <a:off x="508000" y="2159000"/>
            <a:ext cx="3587750" cy="50800"/>
          </a:xfrm>
          <a:prstGeom prst="rect">
            <a:avLst/>
          </a:prstGeom>
          <a:solidFill>
            <a:srgbClr val="DA188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9"/>
          <p:cNvSpPr txBox="1"/>
          <p:nvPr/>
        </p:nvSpPr>
        <p:spPr>
          <a:xfrm>
            <a:off x="736600" y="2387600"/>
            <a:ext cx="3130550" cy="1752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sz="1200" b="1" dirty="0">
                <a:solidFill>
                  <a:srgbClr val="DA18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· THE PROBLEM</a:t>
            </a:r>
            <a:endParaRPr lang="en-US" sz="1200" dirty="0"/>
          </a:p>
          <a:p>
            <a:pPr marL="0" indent="0"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sz="15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team has a default</a:t>
            </a:r>
            <a:endParaRPr lang="en-US" sz="12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Frontend, backend and integration teams each reach for what they know, so the data contract becomes a negotiation.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4298950" y="2159000"/>
            <a:ext cx="3587750" cy="2159000"/>
          </a:xfrm>
          <a:prstGeom prst="rect">
            <a:avLst/>
          </a:prstGeom>
          <a:solidFill>
            <a:srgbClr val="F4F4F4"/>
          </a:solidFill>
          <a:ln/>
          <a:effectLst>
            <a:outerShdw blurRad="50800" dist="25400" dir="54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Shape 11"/>
          <p:cNvSpPr/>
          <p:nvPr/>
        </p:nvSpPr>
        <p:spPr>
          <a:xfrm>
            <a:off x="4298950" y="2159000"/>
            <a:ext cx="3587750" cy="50800"/>
          </a:xfrm>
          <a:prstGeom prst="rect">
            <a:avLst/>
          </a:prstGeom>
          <a:solidFill>
            <a:srgbClr val="DA188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2"/>
          <p:cNvSpPr txBox="1"/>
          <p:nvPr/>
        </p:nvSpPr>
        <p:spPr>
          <a:xfrm>
            <a:off x="4527550" y="2387600"/>
            <a:ext cx="3130550" cy="1752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sz="1200" b="1" dirty="0">
                <a:solidFill>
                  <a:srgbClr val="DA18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· THE REALITY</a:t>
            </a:r>
            <a:endParaRPr lang="en-US" sz="1200" dirty="0"/>
          </a:p>
          <a:p>
            <a:pPr marL="0" indent="0"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sz="15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protocol has a sweet spot</a:t>
            </a:r>
            <a:endParaRPr lang="en-US" sz="12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Cacheable resources, client-shaped graphs and low-latency streams are different problems with different best answers.</a:t>
            </a:r>
            <a:endParaRPr lang="en-US" sz="1200" dirty="0"/>
          </a:p>
        </p:txBody>
      </p:sp>
      <p:sp>
        <p:nvSpPr>
          <p:cNvPr id="17" name="Shape 13"/>
          <p:cNvSpPr/>
          <p:nvPr/>
        </p:nvSpPr>
        <p:spPr>
          <a:xfrm>
            <a:off x="8089900" y="2159000"/>
            <a:ext cx="3587750" cy="2159000"/>
          </a:xfrm>
          <a:prstGeom prst="rect">
            <a:avLst/>
          </a:prstGeom>
          <a:solidFill>
            <a:srgbClr val="F4F4F4"/>
          </a:solidFill>
          <a:ln/>
          <a:effectLst>
            <a:outerShdw blurRad="50800" dist="25400" dir="54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8" name="Shape 14"/>
          <p:cNvSpPr/>
          <p:nvPr/>
        </p:nvSpPr>
        <p:spPr>
          <a:xfrm>
            <a:off x="8089900" y="2159000"/>
            <a:ext cx="3587750" cy="50800"/>
          </a:xfrm>
          <a:prstGeom prst="rect">
            <a:avLst/>
          </a:prstGeom>
          <a:solidFill>
            <a:srgbClr val="DA188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Text 15"/>
          <p:cNvSpPr txBox="1"/>
          <p:nvPr/>
        </p:nvSpPr>
        <p:spPr>
          <a:xfrm>
            <a:off x="8318500" y="2387600"/>
            <a:ext cx="3130550" cy="1752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sz="1200" b="1" dirty="0">
                <a:solidFill>
                  <a:srgbClr val="DA18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· THE APPROACH</a:t>
            </a:r>
            <a:endParaRPr lang="en-US" sz="1200" dirty="0"/>
          </a:p>
          <a:p>
            <a:pPr marL="0" indent="0"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sz="15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Choose per operation</a:t>
            </a:r>
            <a:endParaRPr lang="en-US" sz="12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Most systems benefit from more than one protocol, as long as each contract stays typed, versioned and visible.</a:t>
            </a:r>
            <a:endParaRPr lang="en-US" sz="1200" dirty="0"/>
          </a:p>
        </p:txBody>
      </p:sp>
      <p:sp>
        <p:nvSpPr>
          <p:cNvPr id="20" name="Shape 16"/>
          <p:cNvSpPr/>
          <p:nvPr/>
        </p:nvSpPr>
        <p:spPr>
          <a:xfrm>
            <a:off x="508000" y="4572000"/>
            <a:ext cx="11176000" cy="635000"/>
          </a:xfrm>
          <a:prstGeom prst="rect">
            <a:avLst/>
          </a:prstGeom>
          <a:solidFill>
            <a:srgbClr val="F4F4F4"/>
          </a:solidFill>
          <a:ln/>
          <a:effectLst>
            <a:outerShdw blurRad="50800" dist="25400" dir="54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1" name="Shape 17"/>
          <p:cNvSpPr/>
          <p:nvPr/>
        </p:nvSpPr>
        <p:spPr>
          <a:xfrm>
            <a:off x="508000" y="4572000"/>
            <a:ext cx="76200" cy="635000"/>
          </a:xfrm>
          <a:prstGeom prst="rect">
            <a:avLst/>
          </a:prstGeom>
          <a:solidFill>
            <a:srgbClr val="DA188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" name="Text 18"/>
          <p:cNvSpPr txBox="1"/>
          <p:nvPr/>
        </p:nvSpPr>
        <p:spPr>
          <a:xfrm>
            <a:off x="787400" y="4572000"/>
            <a:ext cx="1066800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question is not which protocol wins.  </a:t>
            </a:r>
            <a:r>
              <a:rPr lang="en-US" sz="1200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is which one fits the operation in front of you. Most production systems run more than one.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private/tmp/claude-501/-Users-spietrek-Projects-dev2next/d6614435-6e88-43b0-8755-153d1251090d/scratchpad/assets/insight-stack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8000" y="152400"/>
            <a:ext cx="990600" cy="4064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3556000" y="406400"/>
            <a:ext cx="5080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10000"/>
              </a:lnSpc>
              <a:buNone/>
            </a:pPr>
            <a:r>
              <a:rPr lang="en-US" sz="1000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Protocol Studio  —  REST · GraphQL · gRPC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6350000" y="406400"/>
            <a:ext cx="5334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DA18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LANDSCAPE</a:t>
            </a:r>
            <a:endParaRPr lang="en-US" sz="1000" dirty="0"/>
          </a:p>
        </p:txBody>
      </p:sp>
      <p:sp>
        <p:nvSpPr>
          <p:cNvPr id="5" name="Text 2"/>
          <p:cNvSpPr txBox="1"/>
          <p:nvPr/>
        </p:nvSpPr>
        <p:spPr>
          <a:xfrm>
            <a:off x="508000" y="6578600"/>
            <a:ext cx="889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900" dirty="0">
                <a:solidFill>
                  <a:srgbClr val="9E9E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Insight Proprietary &amp; Confidential.  Do Not Copy or Distribute.  © 2026 Insight.  All Rights Reserved.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10922000" y="6578600"/>
            <a:ext cx="762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lnSpc>
                <a:spcPct val="110000"/>
              </a:lnSpc>
              <a:buNone/>
            </a:pPr>
            <a:r>
              <a:rPr lang="en-US" sz="900" dirty="0">
                <a:solidFill>
                  <a:srgbClr val="9E9E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  <p:sp>
        <p:nvSpPr>
          <p:cNvPr id="7" name="Text 4"/>
          <p:cNvSpPr txBox="1"/>
          <p:nvPr/>
        </p:nvSpPr>
        <p:spPr>
          <a:xfrm>
            <a:off x="508000" y="889000"/>
            <a:ext cx="1117600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200" b="1" dirty="0">
                <a:solidFill>
                  <a:srgbClr val="DA18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SIDE BY SIDE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508000" y="1130300"/>
            <a:ext cx="11176000" cy="482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Comparisons</a:t>
            </a:r>
            <a:endParaRPr lang="en-US" sz="3000" dirty="0"/>
          </a:p>
        </p:txBody>
      </p:sp>
      <p:sp>
        <p:nvSpPr>
          <p:cNvPr id="9" name="Text 6"/>
          <p:cNvSpPr txBox="1"/>
          <p:nvPr/>
        </p:nvSpPr>
        <p:spPr>
          <a:xfrm>
            <a:off x="508000" y="1663700"/>
            <a:ext cx="11176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400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same questions asked of each protocol. There are no bad answers, only different fits.</a:t>
            </a:r>
            <a:endParaRPr lang="en-US" sz="14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8000" y="2159000"/>
          <a:ext cx="11176000" cy="3429000"/>
        </p:xfrm>
        <a:graphic>
          <a:graphicData uri="http://schemas.openxmlformats.org/drawingml/2006/table">
            <a:tbl>
              <a:tblPr/>
              <a:tblGrid>
                <a:gridCol w="2123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175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0175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0175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810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Feature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1D1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1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1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1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188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REST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1D1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1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1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1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188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GraphQL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1D1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1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1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1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188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gRPC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1D1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1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1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1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188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14141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Transport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1D1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1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1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1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HTTP/1.1, HTTP/2 or HTTP/3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1D1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1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1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1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HTTP, usually one POST endpoint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1D1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1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1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1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HTTP/2 (required)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1D1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1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1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1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14141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Payload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1D1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1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1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1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JSON (any media type)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1D1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1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1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1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JSON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1D1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1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1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1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Protobuf, binary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1D1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1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1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1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14141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Contract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1D1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1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1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1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OpenAPI (optional)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1D1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1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1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1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SDL schema (required)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1D1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1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1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1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.proto file (required)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1D1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1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1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1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14141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Data shape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1D1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1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1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1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Fixed per endpoint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1D1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1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1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1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Client selects fields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1D1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1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1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1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Fixed per RPC, strongly typed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1D1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1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1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1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14141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Caching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1D1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1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1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1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Native HTTP and CDN caching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1D1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1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1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1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Client-side or persisted queries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1D1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1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1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1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Application-level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1D1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1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1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1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14141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Streaming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1D1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1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1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1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SSE or chunked responses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1D1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1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1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1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Subscriptions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1D1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1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1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1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Server, client and bidirectional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1D1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1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1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1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14141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Browser support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1D1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1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1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1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Native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1D1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1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1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1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Native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1D1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1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1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1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Needs gRPC-Web or a bridge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1D1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1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1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1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14141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Best fit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1D1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1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1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1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Public and resource APIs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1D1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1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1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1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Client-driven nested data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1D1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1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1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1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Service-to-service, low latency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1D1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1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1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1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private/tmp/claude-501/-Users-spietrek-Projects-dev2next/d6614435-6e88-43b0-8755-153d1251090d/scratchpad/assets/insight-stack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8000" y="152400"/>
            <a:ext cx="990600" cy="4064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3556000" y="406400"/>
            <a:ext cx="5080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10000"/>
              </a:lnSpc>
              <a:buNone/>
            </a:pPr>
            <a:r>
              <a:rPr lang="en-US" sz="1000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Protocol Studio  —  REST · GraphQL · gRPC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6350000" y="406400"/>
            <a:ext cx="5334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DA18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LANDSCAPE</a:t>
            </a:r>
            <a:endParaRPr lang="en-US" sz="1000" dirty="0"/>
          </a:p>
        </p:txBody>
      </p:sp>
      <p:sp>
        <p:nvSpPr>
          <p:cNvPr id="5" name="Text 2"/>
          <p:cNvSpPr txBox="1"/>
          <p:nvPr/>
        </p:nvSpPr>
        <p:spPr>
          <a:xfrm>
            <a:off x="508000" y="6578600"/>
            <a:ext cx="889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900" dirty="0">
                <a:solidFill>
                  <a:srgbClr val="9E9E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Insight Proprietary &amp; Confidential.  Do Not Copy or Distribute.  © 2026 Insight.  All Rights Reserved.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10922000" y="6578600"/>
            <a:ext cx="762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lnSpc>
                <a:spcPct val="110000"/>
              </a:lnSpc>
              <a:buNone/>
            </a:pPr>
            <a:r>
              <a:rPr lang="en-US" sz="900" dirty="0">
                <a:solidFill>
                  <a:srgbClr val="9E9E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  <p:sp>
        <p:nvSpPr>
          <p:cNvPr id="7" name="Text 4"/>
          <p:cNvSpPr txBox="1"/>
          <p:nvPr/>
        </p:nvSpPr>
        <p:spPr>
          <a:xfrm>
            <a:off x="508000" y="889000"/>
            <a:ext cx="1117600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200" b="1" dirty="0">
                <a:solidFill>
                  <a:srgbClr val="DA18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DEMO DATA SET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508000" y="1130300"/>
            <a:ext cx="11176000" cy="482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Catalog Behind All Three Protocols</a:t>
            </a:r>
            <a:endParaRPr lang="en-US" sz="3000" dirty="0"/>
          </a:p>
        </p:txBody>
      </p:sp>
      <p:sp>
        <p:nvSpPr>
          <p:cNvPr id="9" name="Text 6"/>
          <p:cNvSpPr txBox="1"/>
          <p:nvPr/>
        </p:nvSpPr>
        <p:spPr>
          <a:xfrm>
            <a:off x="508000" y="1663700"/>
            <a:ext cx="11176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400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Carried forward from last year's demo repository, with original IDs, numeric fields and relationships intact.</a:t>
            </a:r>
            <a:endParaRPr lang="en-US" sz="1400" dirty="0"/>
          </a:p>
        </p:txBody>
      </p:sp>
      <p:sp>
        <p:nvSpPr>
          <p:cNvPr id="11" name="Shape 7"/>
          <p:cNvSpPr/>
          <p:nvPr/>
        </p:nvSpPr>
        <p:spPr>
          <a:xfrm>
            <a:off x="508000" y="2222500"/>
            <a:ext cx="2984500" cy="2476500"/>
          </a:xfrm>
          <a:prstGeom prst="rect">
            <a:avLst/>
          </a:prstGeom>
          <a:solidFill>
            <a:srgbClr val="F4F4F4"/>
          </a:solidFill>
          <a:ln/>
          <a:effectLst>
            <a:outerShdw blurRad="50800" dist="25400" dir="54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Shape 8"/>
          <p:cNvSpPr/>
          <p:nvPr/>
        </p:nvSpPr>
        <p:spPr>
          <a:xfrm>
            <a:off x="508000" y="2222500"/>
            <a:ext cx="2984500" cy="50800"/>
          </a:xfrm>
          <a:prstGeom prst="rect">
            <a:avLst/>
          </a:prstGeom>
          <a:solidFill>
            <a:srgbClr val="DA188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9"/>
          <p:cNvSpPr txBox="1"/>
          <p:nvPr/>
        </p:nvSpPr>
        <p:spPr>
          <a:xfrm>
            <a:off x="736600" y="2451100"/>
            <a:ext cx="254000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200" b="1" dirty="0">
                <a:solidFill>
                  <a:srgbClr val="DA18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STARSHIPS</a:t>
            </a:r>
            <a:endParaRPr lang="en-US" sz="1200" dirty="0"/>
          </a:p>
        </p:txBody>
      </p:sp>
      <p:sp>
        <p:nvSpPr>
          <p:cNvPr id="14" name="Text 10"/>
          <p:cNvSpPr txBox="1"/>
          <p:nvPr/>
        </p:nvSpPr>
        <p:spPr>
          <a:xfrm>
            <a:off x="736600" y="2730500"/>
            <a:ext cx="2540000" cy="825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60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</a:t>
            </a:r>
            <a:endParaRPr lang="en-US" sz="6000" dirty="0"/>
          </a:p>
        </p:txBody>
      </p:sp>
      <p:sp>
        <p:nvSpPr>
          <p:cNvPr id="15" name="Text 11"/>
          <p:cNvSpPr txBox="1"/>
          <p:nvPr/>
        </p:nvSpPr>
        <p:spPr>
          <a:xfrm>
            <a:off x="736600" y="3746500"/>
            <a:ext cx="25400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Name, max speed and length, from the CR90 corvette to the Millennium Falcon.</a:t>
            </a:r>
            <a:endParaRPr lang="en-US" sz="1200" dirty="0"/>
          </a:p>
        </p:txBody>
      </p:sp>
      <p:sp>
        <p:nvSpPr>
          <p:cNvPr id="16" name="Shape 12"/>
          <p:cNvSpPr/>
          <p:nvPr/>
        </p:nvSpPr>
        <p:spPr>
          <a:xfrm>
            <a:off x="4603750" y="2222500"/>
            <a:ext cx="2984500" cy="2476500"/>
          </a:xfrm>
          <a:prstGeom prst="rect">
            <a:avLst/>
          </a:prstGeom>
          <a:solidFill>
            <a:srgbClr val="F4F4F4"/>
          </a:solidFill>
          <a:ln/>
          <a:effectLst>
            <a:outerShdw blurRad="50800" dist="25400" dir="54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7" name="Shape 13"/>
          <p:cNvSpPr/>
          <p:nvPr/>
        </p:nvSpPr>
        <p:spPr>
          <a:xfrm>
            <a:off x="4603750" y="2222500"/>
            <a:ext cx="2984500" cy="50800"/>
          </a:xfrm>
          <a:prstGeom prst="rect">
            <a:avLst/>
          </a:prstGeom>
          <a:solidFill>
            <a:srgbClr val="DA188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Text 14"/>
          <p:cNvSpPr txBox="1"/>
          <p:nvPr/>
        </p:nvSpPr>
        <p:spPr>
          <a:xfrm>
            <a:off x="4832350" y="2451100"/>
            <a:ext cx="254000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200" b="1" dirty="0">
                <a:solidFill>
                  <a:srgbClr val="DA18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FILMS</a:t>
            </a:r>
            <a:endParaRPr lang="en-US" sz="1200" dirty="0"/>
          </a:p>
        </p:txBody>
      </p:sp>
      <p:sp>
        <p:nvSpPr>
          <p:cNvPr id="19" name="Text 15"/>
          <p:cNvSpPr txBox="1"/>
          <p:nvPr/>
        </p:nvSpPr>
        <p:spPr>
          <a:xfrm>
            <a:off x="4832350" y="2730500"/>
            <a:ext cx="2540000" cy="825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60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6000" dirty="0"/>
          </a:p>
        </p:txBody>
      </p:sp>
      <p:sp>
        <p:nvSpPr>
          <p:cNvPr id="20" name="Text 16"/>
          <p:cNvSpPr txBox="1"/>
          <p:nvPr/>
        </p:nvSpPr>
        <p:spPr>
          <a:xfrm>
            <a:off x="4832350" y="3746500"/>
            <a:ext cx="25400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New Hope through Revenge of the Sith.</a:t>
            </a:r>
            <a:endParaRPr lang="en-US" sz="1200" dirty="0"/>
          </a:p>
        </p:txBody>
      </p:sp>
      <p:sp>
        <p:nvSpPr>
          <p:cNvPr id="21" name="Shape 17"/>
          <p:cNvSpPr/>
          <p:nvPr/>
        </p:nvSpPr>
        <p:spPr>
          <a:xfrm>
            <a:off x="8699500" y="2222500"/>
            <a:ext cx="2984500" cy="2476500"/>
          </a:xfrm>
          <a:prstGeom prst="rect">
            <a:avLst/>
          </a:prstGeom>
          <a:solidFill>
            <a:srgbClr val="F4F4F4"/>
          </a:solidFill>
          <a:ln/>
          <a:effectLst>
            <a:outerShdw blurRad="50800" dist="25400" dir="54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2" name="Shape 18"/>
          <p:cNvSpPr/>
          <p:nvPr/>
        </p:nvSpPr>
        <p:spPr>
          <a:xfrm>
            <a:off x="8699500" y="2222500"/>
            <a:ext cx="2984500" cy="50800"/>
          </a:xfrm>
          <a:prstGeom prst="rect">
            <a:avLst/>
          </a:prstGeom>
          <a:solidFill>
            <a:srgbClr val="DA188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Text 19"/>
          <p:cNvSpPr txBox="1"/>
          <p:nvPr/>
        </p:nvSpPr>
        <p:spPr>
          <a:xfrm>
            <a:off x="8928100" y="2451100"/>
            <a:ext cx="254000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200" b="1" dirty="0">
                <a:solidFill>
                  <a:srgbClr val="DA18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PRODUCERS</a:t>
            </a:r>
            <a:endParaRPr lang="en-US" sz="1200" dirty="0"/>
          </a:p>
        </p:txBody>
      </p:sp>
      <p:sp>
        <p:nvSpPr>
          <p:cNvPr id="24" name="Text 20"/>
          <p:cNvSpPr txBox="1"/>
          <p:nvPr/>
        </p:nvSpPr>
        <p:spPr>
          <a:xfrm>
            <a:off x="8928100" y="2730500"/>
            <a:ext cx="2540000" cy="825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60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6000" dirty="0"/>
          </a:p>
        </p:txBody>
      </p:sp>
      <p:sp>
        <p:nvSpPr>
          <p:cNvPr id="25" name="Text 21"/>
          <p:cNvSpPr txBox="1"/>
          <p:nvPr/>
        </p:nvSpPr>
        <p:spPr>
          <a:xfrm>
            <a:off x="8928100" y="3746500"/>
            <a:ext cx="25400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Gary Kurtz, Rick McCallum, Howard G. Kazanjian and George Lucas.</a:t>
            </a:r>
            <a:endParaRPr lang="en-US" sz="1200" dirty="0"/>
          </a:p>
        </p:txBody>
      </p:sp>
      <p:sp>
        <p:nvSpPr>
          <p:cNvPr id="26" name="Text 22"/>
          <p:cNvSpPr txBox="1"/>
          <p:nvPr/>
        </p:nvSpPr>
        <p:spPr>
          <a:xfrm>
            <a:off x="3492500" y="3111500"/>
            <a:ext cx="111125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many-to-many</a:t>
            </a:r>
            <a:endParaRPr lang="en-US" sz="1100" dirty="0"/>
          </a:p>
        </p:txBody>
      </p:sp>
      <p:sp>
        <p:nvSpPr>
          <p:cNvPr id="27" name="Shape 23"/>
          <p:cNvSpPr/>
          <p:nvPr/>
        </p:nvSpPr>
        <p:spPr>
          <a:xfrm>
            <a:off x="3568700" y="3403600"/>
            <a:ext cx="457200" cy="203200"/>
          </a:xfrm>
          <a:prstGeom prst="leftArrow">
            <a:avLst/>
          </a:prstGeom>
          <a:solidFill>
            <a:srgbClr val="DA188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8" name="Shape 24"/>
          <p:cNvSpPr/>
          <p:nvPr/>
        </p:nvSpPr>
        <p:spPr>
          <a:xfrm>
            <a:off x="4064000" y="3403600"/>
            <a:ext cx="457200" cy="203200"/>
          </a:xfrm>
          <a:prstGeom prst="rightArrow">
            <a:avLst/>
          </a:prstGeom>
          <a:solidFill>
            <a:srgbClr val="DA188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9" name="Text 25"/>
          <p:cNvSpPr txBox="1"/>
          <p:nvPr/>
        </p:nvSpPr>
        <p:spPr>
          <a:xfrm>
            <a:off x="7588250" y="3111500"/>
            <a:ext cx="111125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many-to-many</a:t>
            </a:r>
            <a:endParaRPr lang="en-US" sz="1100" dirty="0"/>
          </a:p>
        </p:txBody>
      </p:sp>
      <p:sp>
        <p:nvSpPr>
          <p:cNvPr id="30" name="Shape 26"/>
          <p:cNvSpPr/>
          <p:nvPr/>
        </p:nvSpPr>
        <p:spPr>
          <a:xfrm>
            <a:off x="7664450" y="3403600"/>
            <a:ext cx="457200" cy="203200"/>
          </a:xfrm>
          <a:prstGeom prst="leftArrow">
            <a:avLst/>
          </a:prstGeom>
          <a:solidFill>
            <a:srgbClr val="DA188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1" name="Shape 27"/>
          <p:cNvSpPr/>
          <p:nvPr/>
        </p:nvSpPr>
        <p:spPr>
          <a:xfrm>
            <a:off x="8159750" y="3403600"/>
            <a:ext cx="457200" cy="203200"/>
          </a:xfrm>
          <a:prstGeom prst="rightArrow">
            <a:avLst/>
          </a:prstGeom>
          <a:solidFill>
            <a:srgbClr val="DA188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2" name="Shape 28"/>
          <p:cNvSpPr/>
          <p:nvPr/>
        </p:nvSpPr>
        <p:spPr>
          <a:xfrm>
            <a:off x="508000" y="5016500"/>
            <a:ext cx="11176000" cy="635000"/>
          </a:xfrm>
          <a:prstGeom prst="rect">
            <a:avLst/>
          </a:prstGeom>
          <a:solidFill>
            <a:srgbClr val="F4F4F4"/>
          </a:solidFill>
          <a:ln/>
          <a:effectLst>
            <a:outerShdw blurRad="50800" dist="25400" dir="54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3" name="Shape 29"/>
          <p:cNvSpPr/>
          <p:nvPr/>
        </p:nvSpPr>
        <p:spPr>
          <a:xfrm>
            <a:off x="508000" y="5016500"/>
            <a:ext cx="76200" cy="635000"/>
          </a:xfrm>
          <a:prstGeom prst="rect">
            <a:avLst/>
          </a:prstGeom>
          <a:solidFill>
            <a:srgbClr val="DA188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4" name="Text 30"/>
          <p:cNvSpPr txBox="1"/>
          <p:nvPr/>
        </p:nvSpPr>
        <p:spPr>
          <a:xfrm>
            <a:off x="787400" y="5016500"/>
            <a:ext cx="1066800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immutable, in-memory catalog.  </a:t>
            </a:r>
            <a:r>
              <a:rPr lang="en-US" sz="1200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REST, GraphQL and gRPC all read the same seeded source. There is no database to configure, and all three protocols see identical data.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private/tmp/claude-501/-Users-spietrek-Projects-dev2next/d6614435-6e88-43b0-8755-153d1251090d/scratchpad/assets/insight-stack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8000" y="152400"/>
            <a:ext cx="990600" cy="4064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3556000" y="406400"/>
            <a:ext cx="5080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10000"/>
              </a:lnSpc>
              <a:buNone/>
            </a:pPr>
            <a:r>
              <a:rPr lang="en-US" sz="1000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Protocol Studio  —  REST · GraphQL · gRPC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6350000" y="406400"/>
            <a:ext cx="5334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DA18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SECTION 02</a:t>
            </a:r>
            <a:endParaRPr lang="en-US" sz="1000" dirty="0"/>
          </a:p>
        </p:txBody>
      </p:sp>
      <p:sp>
        <p:nvSpPr>
          <p:cNvPr id="5" name="Text 2"/>
          <p:cNvSpPr txBox="1"/>
          <p:nvPr/>
        </p:nvSpPr>
        <p:spPr>
          <a:xfrm>
            <a:off x="508000" y="6578600"/>
            <a:ext cx="889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900" dirty="0">
                <a:solidFill>
                  <a:srgbClr val="9E9E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Insight Proprietary &amp; Confidential.  Do Not Copy or Distribute.  © 2026 Insight.  All Rights Reserved.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10922000" y="6578600"/>
            <a:ext cx="762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lnSpc>
                <a:spcPct val="110000"/>
              </a:lnSpc>
              <a:buNone/>
            </a:pPr>
            <a:r>
              <a:rPr lang="en-US" sz="900" dirty="0">
                <a:solidFill>
                  <a:srgbClr val="9E9E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1587500"/>
            <a:ext cx="5080000" cy="165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90000"/>
              </a:lnSpc>
              <a:buNone/>
            </a:pPr>
            <a:r>
              <a:rPr lang="en-US" sz="12000" b="1" dirty="0">
                <a:solidFill>
                  <a:srgbClr val="DA18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2000" dirty="0"/>
          </a:p>
        </p:txBody>
      </p:sp>
      <p:sp>
        <p:nvSpPr>
          <p:cNvPr id="8" name="Text 5"/>
          <p:cNvSpPr txBox="1"/>
          <p:nvPr/>
        </p:nvSpPr>
        <p:spPr>
          <a:xfrm>
            <a:off x="508000" y="3302000"/>
            <a:ext cx="5207000" cy="66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44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Protocols</a:t>
            </a:r>
            <a:endParaRPr lang="en-US" sz="4400" dirty="0"/>
          </a:p>
        </p:txBody>
      </p:sp>
      <p:sp>
        <p:nvSpPr>
          <p:cNvPr id="9" name="Shape 6"/>
          <p:cNvSpPr/>
          <p:nvPr/>
        </p:nvSpPr>
        <p:spPr>
          <a:xfrm>
            <a:off x="508000" y="4140200"/>
            <a:ext cx="1016000" cy="50800"/>
          </a:xfrm>
          <a:prstGeom prst="rect">
            <a:avLst/>
          </a:prstGeom>
          <a:solidFill>
            <a:srgbClr val="DA188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7"/>
          <p:cNvSpPr txBox="1"/>
          <p:nvPr/>
        </p:nvSpPr>
        <p:spPr>
          <a:xfrm>
            <a:off x="508000" y="4368800"/>
            <a:ext cx="520700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500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REST, GraphQL and gRPC: each in concept, then in working code.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6223000" y="2413000"/>
            <a:ext cx="5461000" cy="2540000"/>
          </a:xfrm>
          <a:prstGeom prst="rect">
            <a:avLst/>
          </a:prstGeom>
          <a:solidFill>
            <a:srgbClr val="F4F4F4"/>
          </a:solidFill>
          <a:ln/>
          <a:effectLst>
            <a:outerShdw blurRad="50800" dist="25400" dir="54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Shape 9"/>
          <p:cNvSpPr/>
          <p:nvPr/>
        </p:nvSpPr>
        <p:spPr>
          <a:xfrm>
            <a:off x="6223000" y="2413000"/>
            <a:ext cx="5461000" cy="50800"/>
          </a:xfrm>
          <a:prstGeom prst="rect">
            <a:avLst/>
          </a:prstGeom>
          <a:solidFill>
            <a:srgbClr val="DA188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0"/>
          <p:cNvSpPr txBox="1"/>
          <p:nvPr/>
        </p:nvSpPr>
        <p:spPr>
          <a:xfrm>
            <a:off x="6477000" y="2641600"/>
            <a:ext cx="495300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200" b="1" dirty="0">
                <a:solidFill>
                  <a:srgbClr val="DA18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THIS SECTION</a:t>
            </a:r>
            <a:endParaRPr lang="en-US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6477000" y="2997200"/>
            <a:ext cx="4953000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REST: resources over HTTP</a:t>
            </a:r>
            <a:endParaRPr lang="en-US" sz="1300" dirty="0"/>
          </a:p>
        </p:txBody>
      </p:sp>
      <p:sp>
        <p:nvSpPr>
          <p:cNvPr id="15" name="Text 12"/>
          <p:cNvSpPr txBox="1"/>
          <p:nvPr/>
        </p:nvSpPr>
        <p:spPr>
          <a:xfrm>
            <a:off x="6477000" y="3479800"/>
            <a:ext cx="4953000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GraphQL: client-shaped queries over one schema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6477000" y="3962400"/>
            <a:ext cx="4953000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gRPC: typed contracts and streaming over HTTP/2</a:t>
            </a:r>
            <a:endParaRPr lang="en-US" sz="1300" dirty="0"/>
          </a:p>
        </p:txBody>
      </p:sp>
      <p:sp>
        <p:nvSpPr>
          <p:cNvPr id="17" name="Text 14"/>
          <p:cNvSpPr txBox="1"/>
          <p:nvPr/>
        </p:nvSpPr>
        <p:spPr>
          <a:xfrm>
            <a:off x="6477000" y="4445000"/>
            <a:ext cx="4953000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Usage Comparison: history, learning curve and use cases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private/tmp/claude-501/-Users-spietrek-Projects-dev2next/d6614435-6e88-43b0-8755-153d1251090d/scratchpad/assets/insight-stack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8000" y="152400"/>
            <a:ext cx="990600" cy="4064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3556000" y="406400"/>
            <a:ext cx="5080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10000"/>
              </a:lnSpc>
              <a:buNone/>
            </a:pPr>
            <a:r>
              <a:rPr lang="en-US" sz="1000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Protocol Studio  —  REST · GraphQL · gRPC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6350000" y="406400"/>
            <a:ext cx="5334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DA18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REST</a:t>
            </a:r>
            <a:endParaRPr lang="en-US" sz="1000" dirty="0"/>
          </a:p>
        </p:txBody>
      </p:sp>
      <p:sp>
        <p:nvSpPr>
          <p:cNvPr id="5" name="Text 2"/>
          <p:cNvSpPr txBox="1"/>
          <p:nvPr/>
        </p:nvSpPr>
        <p:spPr>
          <a:xfrm>
            <a:off x="508000" y="6578600"/>
            <a:ext cx="889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900" dirty="0">
                <a:solidFill>
                  <a:srgbClr val="9E9E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Insight Proprietary &amp; Confidential.  Do Not Copy or Distribute.  © 2026 Insight.  All Rights Reserved.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10922000" y="6578600"/>
            <a:ext cx="762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lnSpc>
                <a:spcPct val="110000"/>
              </a:lnSpc>
              <a:buNone/>
            </a:pPr>
            <a:r>
              <a:rPr lang="en-US" sz="900" dirty="0">
                <a:solidFill>
                  <a:srgbClr val="9E9E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  <p:sp>
        <p:nvSpPr>
          <p:cNvPr id="7" name="Text 4"/>
          <p:cNvSpPr txBox="1"/>
          <p:nvPr/>
        </p:nvSpPr>
        <p:spPr>
          <a:xfrm>
            <a:off x="508000" y="889000"/>
            <a:ext cx="1117600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200" b="1" dirty="0">
                <a:solidFill>
                  <a:srgbClr val="DA18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REST · HOW IT WORKS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508000" y="1130300"/>
            <a:ext cx="11176000" cy="482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REST: Resources Over HTTP</a:t>
            </a:r>
            <a:endParaRPr lang="en-US" sz="3000" dirty="0"/>
          </a:p>
        </p:txBody>
      </p:sp>
      <p:sp>
        <p:nvSpPr>
          <p:cNvPr id="9" name="Text 6"/>
          <p:cNvSpPr txBox="1"/>
          <p:nvPr/>
        </p:nvSpPr>
        <p:spPr>
          <a:xfrm>
            <a:off x="508000" y="1663700"/>
            <a:ext cx="11176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400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resource gets a URL and HTTP verbs carry the intent. Its simplicity is both the strength and the ceiling.</a:t>
            </a:r>
            <a:endParaRPr lang="en-US" sz="1400" dirty="0"/>
          </a:p>
        </p:txBody>
      </p:sp>
      <p:sp>
        <p:nvSpPr>
          <p:cNvPr id="11" name="Shape 7"/>
          <p:cNvSpPr/>
          <p:nvPr/>
        </p:nvSpPr>
        <p:spPr>
          <a:xfrm>
            <a:off x="508000" y="2159000"/>
            <a:ext cx="5486400" cy="2794000"/>
          </a:xfrm>
          <a:prstGeom prst="rect">
            <a:avLst/>
          </a:prstGeom>
          <a:solidFill>
            <a:srgbClr val="F4F4F4"/>
          </a:solidFill>
          <a:ln/>
          <a:effectLst>
            <a:outerShdw blurRad="50800" dist="25400" dir="54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Shape 8"/>
          <p:cNvSpPr/>
          <p:nvPr/>
        </p:nvSpPr>
        <p:spPr>
          <a:xfrm>
            <a:off x="508000" y="2159000"/>
            <a:ext cx="5486400" cy="406400"/>
          </a:xfrm>
          <a:prstGeom prst="rect">
            <a:avLst/>
          </a:prstGeom>
          <a:solidFill>
            <a:srgbClr val="DA188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9"/>
          <p:cNvSpPr txBox="1"/>
          <p:nvPr/>
        </p:nvSpPr>
        <p:spPr>
          <a:xfrm>
            <a:off x="736600" y="2159000"/>
            <a:ext cx="5029200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REST shines</a:t>
            </a:r>
            <a:endParaRPr lang="en-US" sz="1300" dirty="0"/>
          </a:p>
        </p:txBody>
      </p:sp>
      <p:sp>
        <p:nvSpPr>
          <p:cNvPr id="14" name="Text 10"/>
          <p:cNvSpPr txBox="1"/>
          <p:nvPr/>
        </p:nvSpPr>
        <p:spPr>
          <a:xfrm>
            <a:off x="736600" y="2743200"/>
            <a:ext cx="5029200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Addressable resources with standard verbs and status codes</a:t>
            </a:r>
            <a:endParaRPr lang="en-US" sz="12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Native HTTP caching through browsers, CDNs and proxies</a:t>
            </a:r>
            <a:endParaRPr lang="en-US" sz="12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Universal tooling: curl, OpenAPI, gateways and API management</a:t>
            </a:r>
            <a:endParaRPr lang="en-US" sz="12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lowest barrier for partners and public consumers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6197600" y="2159000"/>
            <a:ext cx="5486400" cy="2794000"/>
          </a:xfrm>
          <a:prstGeom prst="rect">
            <a:avLst/>
          </a:prstGeom>
          <a:solidFill>
            <a:srgbClr val="F4F4F4"/>
          </a:solidFill>
          <a:ln/>
          <a:effectLst>
            <a:outerShdw blurRad="50800" dist="25400" dir="54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Shape 12"/>
          <p:cNvSpPr/>
          <p:nvPr/>
        </p:nvSpPr>
        <p:spPr>
          <a:xfrm>
            <a:off x="6197600" y="2159000"/>
            <a:ext cx="5486400" cy="406400"/>
          </a:xfrm>
          <a:prstGeom prst="rect">
            <a:avLst/>
          </a:prstGeom>
          <a:solidFill>
            <a:srgbClr val="A1005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3"/>
          <p:cNvSpPr txBox="1"/>
          <p:nvPr/>
        </p:nvSpPr>
        <p:spPr>
          <a:xfrm>
            <a:off x="6426200" y="2159000"/>
            <a:ext cx="5029200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it strains</a:t>
            </a:r>
            <a:endParaRPr lang="en-US" sz="1300" dirty="0"/>
          </a:p>
        </p:txBody>
      </p:sp>
      <p:sp>
        <p:nvSpPr>
          <p:cNvPr id="18" name="Text 14"/>
          <p:cNvSpPr txBox="1"/>
          <p:nvPr/>
        </p:nvSpPr>
        <p:spPr>
          <a:xfrm>
            <a:off x="6426200" y="2743200"/>
            <a:ext cx="5029200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Over-fetching: fixed payloads return fields you do not need</a:t>
            </a:r>
            <a:endParaRPr lang="en-US" sz="12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Under-fetching: related data means extra round trips</a:t>
            </a:r>
            <a:endParaRPr lang="en-US" sz="12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Versioning pressure as client needs diverge</a:t>
            </a:r>
            <a:endParaRPr lang="en-US" sz="12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first-class streaming (SSE or polling instead)</a:t>
            </a:r>
            <a:endParaRPr lang="en-US" sz="1200" dirty="0"/>
          </a:p>
        </p:txBody>
      </p:sp>
      <p:sp>
        <p:nvSpPr>
          <p:cNvPr id="19" name="Shape 15"/>
          <p:cNvSpPr/>
          <p:nvPr/>
        </p:nvSpPr>
        <p:spPr>
          <a:xfrm>
            <a:off x="508000" y="5207000"/>
            <a:ext cx="11176000" cy="635000"/>
          </a:xfrm>
          <a:prstGeom prst="rect">
            <a:avLst/>
          </a:prstGeom>
          <a:solidFill>
            <a:srgbClr val="F4F4F4"/>
          </a:solidFill>
          <a:ln/>
          <a:effectLst>
            <a:outerShdw blurRad="50800" dist="25400" dir="54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Shape 16"/>
          <p:cNvSpPr/>
          <p:nvPr/>
        </p:nvSpPr>
        <p:spPr>
          <a:xfrm>
            <a:off x="508000" y="5207000"/>
            <a:ext cx="76200" cy="635000"/>
          </a:xfrm>
          <a:prstGeom prst="rect">
            <a:avLst/>
          </a:prstGeom>
          <a:solidFill>
            <a:srgbClr val="DA188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Text 17"/>
          <p:cNvSpPr txBox="1"/>
          <p:nvPr/>
        </p:nvSpPr>
        <p:spPr>
          <a:xfrm>
            <a:off x="787400" y="5207000"/>
            <a:ext cx="1066800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REST for  </a:t>
            </a:r>
            <a:r>
              <a:rPr lang="en-US" sz="1200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simple, cacheable, stateless resource APIs, especially ones you publish to others.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private/tmp/claude-501/-Users-spietrek-Projects-dev2next/d6614435-6e88-43b0-8755-153d1251090d/scratchpad/assets/insight-stack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8000" y="152400"/>
            <a:ext cx="990600" cy="4064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3556000" y="406400"/>
            <a:ext cx="5080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10000"/>
              </a:lnSpc>
              <a:buNone/>
            </a:pPr>
            <a:r>
              <a:rPr lang="en-US" sz="1000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Protocol Studio  —  REST · GraphQL · gRPC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6350000" y="406400"/>
            <a:ext cx="5334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DA18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REST</a:t>
            </a:r>
            <a:endParaRPr lang="en-US" sz="1000" dirty="0"/>
          </a:p>
        </p:txBody>
      </p:sp>
      <p:sp>
        <p:nvSpPr>
          <p:cNvPr id="5" name="Text 2"/>
          <p:cNvSpPr txBox="1"/>
          <p:nvPr/>
        </p:nvSpPr>
        <p:spPr>
          <a:xfrm>
            <a:off x="508000" y="6578600"/>
            <a:ext cx="889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900" dirty="0">
                <a:solidFill>
                  <a:srgbClr val="9E9E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Insight Proprietary &amp; Confidential.  Do Not Copy or Distribute.  © 2026 Insight.  All Rights Reserved.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10922000" y="6578600"/>
            <a:ext cx="762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lnSpc>
                <a:spcPct val="110000"/>
              </a:lnSpc>
              <a:buNone/>
            </a:pPr>
            <a:r>
              <a:rPr lang="en-US" sz="900" dirty="0">
                <a:solidFill>
                  <a:srgbClr val="9E9E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  <p:sp>
        <p:nvSpPr>
          <p:cNvPr id="7" name="Text 4"/>
          <p:cNvSpPr txBox="1"/>
          <p:nvPr/>
        </p:nvSpPr>
        <p:spPr>
          <a:xfrm>
            <a:off x="508000" y="889000"/>
            <a:ext cx="1117600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200" b="1" dirty="0">
                <a:solidFill>
                  <a:srgbClr val="DA18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REST · IN THE DEMO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508000" y="1130300"/>
            <a:ext cx="11176000" cy="482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REST in Protocol Studio</a:t>
            </a:r>
            <a:endParaRPr lang="en-US" sz="3000" dirty="0"/>
          </a:p>
        </p:txBody>
      </p:sp>
      <p:sp>
        <p:nvSpPr>
          <p:cNvPr id="9" name="Text 6"/>
          <p:cNvSpPr txBox="1"/>
          <p:nvPr/>
        </p:nvSpPr>
        <p:spPr>
          <a:xfrm>
            <a:off x="508000" y="1663700"/>
            <a:ext cx="11176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400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Single-resource lookups route here: one URL per resource and a cacheable JSON response.</a:t>
            </a:r>
            <a:endParaRPr lang="en-US" sz="1400" dirty="0"/>
          </a:p>
        </p:txBody>
      </p:sp>
      <p:sp>
        <p:nvSpPr>
          <p:cNvPr id="11" name="Shape 7"/>
          <p:cNvSpPr/>
          <p:nvPr/>
        </p:nvSpPr>
        <p:spPr>
          <a:xfrm>
            <a:off x="508000" y="2159000"/>
            <a:ext cx="5588000" cy="3937000"/>
          </a:xfrm>
          <a:prstGeom prst="rect">
            <a:avLst/>
          </a:prstGeom>
          <a:solidFill>
            <a:srgbClr val="1B1B1F"/>
          </a:solidFill>
          <a:ln/>
          <a:effectLst>
            <a:outerShdw blurRad="50800" dist="25400" dir="54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Shape 8"/>
          <p:cNvSpPr/>
          <p:nvPr/>
        </p:nvSpPr>
        <p:spPr>
          <a:xfrm>
            <a:off x="508000" y="2159000"/>
            <a:ext cx="5588000" cy="355600"/>
          </a:xfrm>
          <a:prstGeom prst="rect">
            <a:avLst/>
          </a:prstGeom>
          <a:solidFill>
            <a:srgbClr val="DA188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9"/>
          <p:cNvSpPr txBox="1"/>
          <p:nvPr/>
        </p:nvSpPr>
        <p:spPr>
          <a:xfrm>
            <a:off x="711200" y="2159000"/>
            <a:ext cx="51816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REQUEST · RESPONSE</a:t>
            </a:r>
            <a:endParaRPr lang="en-US" sz="1200" dirty="0"/>
          </a:p>
        </p:txBody>
      </p:sp>
      <p:sp>
        <p:nvSpPr>
          <p:cNvPr id="14" name="Text 10"/>
          <p:cNvSpPr txBox="1"/>
          <p:nvPr/>
        </p:nvSpPr>
        <p:spPr>
          <a:xfrm>
            <a:off x="711200" y="2667000"/>
            <a:ext cx="5181600" cy="3276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EDED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 /api/catalog/starships/ship:5</a:t>
            </a:r>
            <a:endParaRPr lang="en-US" sz="12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EDED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2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EDED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200 OK</a:t>
            </a:r>
            <a:endParaRPr lang="en-US" sz="12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EDED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Cache-Control: max-age=300</a:t>
            </a:r>
            <a:endParaRPr lang="en-US" sz="12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EDED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</a:t>
            </a:r>
            <a:endParaRPr lang="en-US" sz="12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EDED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{</a:t>
            </a:r>
            <a:endParaRPr lang="en-US" sz="12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EDED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"id": "5",</a:t>
            </a:r>
            <a:endParaRPr lang="en-US" sz="12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EDED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"name": "Millennium Falcon",</a:t>
            </a:r>
            <a:endParaRPr lang="en-US" sz="12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EDED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"maxSpeed": 1050,</a:t>
            </a:r>
            <a:endParaRPr lang="en-US" sz="12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EDED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"length": 34.37,</a:t>
            </a:r>
            <a:endParaRPr lang="en-US" sz="12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EDED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"films": [ … ]</a:t>
            </a:r>
            <a:endParaRPr lang="en-US" sz="12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EDED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}</a:t>
            </a:r>
            <a:endParaRPr lang="en-US" sz="12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EDED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6299200" y="2159000"/>
            <a:ext cx="5384800" cy="889000"/>
          </a:xfrm>
          <a:prstGeom prst="rect">
            <a:avLst/>
          </a:prstGeom>
          <a:solidFill>
            <a:srgbClr val="F4F4F4"/>
          </a:solidFill>
          <a:ln/>
          <a:effectLst>
            <a:outerShdw blurRad="50800" dist="25400" dir="54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Shape 12"/>
          <p:cNvSpPr/>
          <p:nvPr/>
        </p:nvSpPr>
        <p:spPr>
          <a:xfrm>
            <a:off x="6299200" y="2159000"/>
            <a:ext cx="63500" cy="889000"/>
          </a:xfrm>
          <a:prstGeom prst="rect">
            <a:avLst/>
          </a:prstGeom>
          <a:solidFill>
            <a:srgbClr val="DA188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3"/>
          <p:cNvSpPr txBox="1"/>
          <p:nvPr/>
        </p:nvSpPr>
        <p:spPr>
          <a:xfrm>
            <a:off x="6527800" y="2311400"/>
            <a:ext cx="381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600" b="1" dirty="0">
                <a:solidFill>
                  <a:srgbClr val="DA18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600" dirty="0"/>
          </a:p>
        </p:txBody>
      </p:sp>
      <p:sp>
        <p:nvSpPr>
          <p:cNvPr id="18" name="Text 14"/>
          <p:cNvSpPr txBox="1"/>
          <p:nvPr/>
        </p:nvSpPr>
        <p:spPr>
          <a:xfrm>
            <a:off x="7035800" y="2311400"/>
            <a:ext cx="444500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route per resource</a:t>
            </a:r>
            <a:endParaRPr lang="en-US" sz="13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/starships/{target}, /films/{id} and /producers/{id} on Spring MVC.</a:t>
            </a:r>
            <a:endParaRPr lang="en-US" sz="1300" dirty="0"/>
          </a:p>
        </p:txBody>
      </p:sp>
      <p:sp>
        <p:nvSpPr>
          <p:cNvPr id="19" name="Shape 15"/>
          <p:cNvSpPr/>
          <p:nvPr/>
        </p:nvSpPr>
        <p:spPr>
          <a:xfrm>
            <a:off x="6299200" y="3149600"/>
            <a:ext cx="5384800" cy="889000"/>
          </a:xfrm>
          <a:prstGeom prst="rect">
            <a:avLst/>
          </a:prstGeom>
          <a:solidFill>
            <a:srgbClr val="F4F4F4"/>
          </a:solidFill>
          <a:ln/>
          <a:effectLst>
            <a:outerShdw blurRad="50800" dist="25400" dir="54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Shape 16"/>
          <p:cNvSpPr/>
          <p:nvPr/>
        </p:nvSpPr>
        <p:spPr>
          <a:xfrm>
            <a:off x="6299200" y="3149600"/>
            <a:ext cx="63500" cy="889000"/>
          </a:xfrm>
          <a:prstGeom prst="rect">
            <a:avLst/>
          </a:prstGeom>
          <a:solidFill>
            <a:srgbClr val="DA188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Text 17"/>
          <p:cNvSpPr txBox="1"/>
          <p:nvPr/>
        </p:nvSpPr>
        <p:spPr>
          <a:xfrm>
            <a:off x="6527800" y="3302000"/>
            <a:ext cx="381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600" b="1" dirty="0">
                <a:solidFill>
                  <a:srgbClr val="DA18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600" dirty="0"/>
          </a:p>
        </p:txBody>
      </p:sp>
      <p:sp>
        <p:nvSpPr>
          <p:cNvPr id="22" name="Text 18"/>
          <p:cNvSpPr txBox="1"/>
          <p:nvPr/>
        </p:nvSpPr>
        <p:spPr>
          <a:xfrm>
            <a:off x="7035800" y="3302000"/>
            <a:ext cx="444500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Cacheable by default</a:t>
            </a:r>
            <a:endParaRPr lang="en-US" sz="13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Starship reads send Cache-Control: max-age=300.</a:t>
            </a:r>
            <a:endParaRPr lang="en-US" sz="1300" dirty="0"/>
          </a:p>
        </p:txBody>
      </p:sp>
      <p:sp>
        <p:nvSpPr>
          <p:cNvPr id="23" name="Shape 19"/>
          <p:cNvSpPr/>
          <p:nvPr/>
        </p:nvSpPr>
        <p:spPr>
          <a:xfrm>
            <a:off x="6299200" y="4140200"/>
            <a:ext cx="5384800" cy="889000"/>
          </a:xfrm>
          <a:prstGeom prst="rect">
            <a:avLst/>
          </a:prstGeom>
          <a:solidFill>
            <a:srgbClr val="F4F4F4"/>
          </a:solidFill>
          <a:ln/>
          <a:effectLst>
            <a:outerShdw blurRad="50800" dist="25400" dir="54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4" name="Shape 20"/>
          <p:cNvSpPr/>
          <p:nvPr/>
        </p:nvSpPr>
        <p:spPr>
          <a:xfrm>
            <a:off x="6299200" y="4140200"/>
            <a:ext cx="63500" cy="889000"/>
          </a:xfrm>
          <a:prstGeom prst="rect">
            <a:avLst/>
          </a:prstGeom>
          <a:solidFill>
            <a:srgbClr val="DA188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Text 21"/>
          <p:cNvSpPr txBox="1"/>
          <p:nvPr/>
        </p:nvSpPr>
        <p:spPr>
          <a:xfrm>
            <a:off x="6527800" y="4292600"/>
            <a:ext cx="381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600" b="1" dirty="0">
                <a:solidFill>
                  <a:srgbClr val="DA18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600" dirty="0"/>
          </a:p>
        </p:txBody>
      </p:sp>
      <p:sp>
        <p:nvSpPr>
          <p:cNvPr id="26" name="Text 22"/>
          <p:cNvSpPr txBox="1"/>
          <p:nvPr/>
        </p:nvSpPr>
        <p:spPr>
          <a:xfrm>
            <a:off x="7035800" y="4292600"/>
            <a:ext cx="444500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Picked for simple lookups</a:t>
            </a:r>
            <a:endParaRPr lang="en-US" sz="13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router sends speed, length and detail questions here.</a:t>
            </a:r>
            <a:endParaRPr lang="en-US" sz="1300" dirty="0"/>
          </a:p>
        </p:txBody>
      </p:sp>
      <p:sp>
        <p:nvSpPr>
          <p:cNvPr id="27" name="Shape 23"/>
          <p:cNvSpPr/>
          <p:nvPr/>
        </p:nvSpPr>
        <p:spPr>
          <a:xfrm>
            <a:off x="6299200" y="5130800"/>
            <a:ext cx="5384800" cy="787400"/>
          </a:xfrm>
          <a:prstGeom prst="rect">
            <a:avLst/>
          </a:prstGeom>
          <a:solidFill>
            <a:srgbClr val="F4F4F4"/>
          </a:solidFill>
          <a:ln/>
          <a:effectLst>
            <a:outerShdw blurRad="50800" dist="25400" dir="54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8" name="Shape 24"/>
          <p:cNvSpPr/>
          <p:nvPr/>
        </p:nvSpPr>
        <p:spPr>
          <a:xfrm>
            <a:off x="6299200" y="5130800"/>
            <a:ext cx="76200" cy="787400"/>
          </a:xfrm>
          <a:prstGeom prst="rect">
            <a:avLst/>
          </a:prstGeom>
          <a:solidFill>
            <a:srgbClr val="DA188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9" name="Text 25"/>
          <p:cNvSpPr txBox="1"/>
          <p:nvPr/>
        </p:nvSpPr>
        <p:spPr>
          <a:xfrm>
            <a:off x="6578600" y="5130800"/>
            <a:ext cx="4876800" cy="787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Try it:  </a:t>
            </a:r>
            <a:r>
              <a:rPr lang="en-US" sz="1200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“Tell me about the Millennium Falcon.”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private/tmp/claude-501/-Users-spietrek-Projects-dev2next/d6614435-6e88-43b0-8755-153d1251090d/scratchpad/assets/insight-stack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8000" y="152400"/>
            <a:ext cx="990600" cy="4064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3556000" y="406400"/>
            <a:ext cx="5080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10000"/>
              </a:lnSpc>
              <a:buNone/>
            </a:pPr>
            <a:r>
              <a:rPr lang="en-US" sz="1000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Protocol Studio  —  REST · GraphQL · gRPC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6350000" y="406400"/>
            <a:ext cx="5334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DA18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GRAPHQL</a:t>
            </a:r>
            <a:endParaRPr lang="en-US" sz="1000" dirty="0"/>
          </a:p>
        </p:txBody>
      </p:sp>
      <p:sp>
        <p:nvSpPr>
          <p:cNvPr id="5" name="Text 2"/>
          <p:cNvSpPr txBox="1"/>
          <p:nvPr/>
        </p:nvSpPr>
        <p:spPr>
          <a:xfrm>
            <a:off x="508000" y="6578600"/>
            <a:ext cx="889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900" dirty="0">
                <a:solidFill>
                  <a:srgbClr val="9E9E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Insight Proprietary &amp; Confidential.  Do Not Copy or Distribute.  © 2026 Insight.  All Rights Reserved.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10922000" y="6578600"/>
            <a:ext cx="762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lnSpc>
                <a:spcPct val="110000"/>
              </a:lnSpc>
              <a:buNone/>
            </a:pPr>
            <a:r>
              <a:rPr lang="en-US" sz="900" dirty="0">
                <a:solidFill>
                  <a:srgbClr val="9E9E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  <p:sp>
        <p:nvSpPr>
          <p:cNvPr id="7" name="Text 4"/>
          <p:cNvSpPr txBox="1"/>
          <p:nvPr/>
        </p:nvSpPr>
        <p:spPr>
          <a:xfrm>
            <a:off x="508000" y="889000"/>
            <a:ext cx="1117600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200" b="1" dirty="0">
                <a:solidFill>
                  <a:srgbClr val="DA18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GRAPHQL · HOW IT WORKS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508000" y="1130300"/>
            <a:ext cx="11176000" cy="482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GraphQL: Ask for Exactly What You Need</a:t>
            </a:r>
            <a:endParaRPr lang="en-US" sz="3000" dirty="0"/>
          </a:p>
        </p:txBody>
      </p:sp>
      <p:sp>
        <p:nvSpPr>
          <p:cNvPr id="9" name="Text 6"/>
          <p:cNvSpPr txBox="1"/>
          <p:nvPr/>
        </p:nvSpPr>
        <p:spPr>
          <a:xfrm>
            <a:off x="508000" y="1663700"/>
            <a:ext cx="11176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400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endpoint and one typed schema. The client decides the shape of the response.</a:t>
            </a:r>
            <a:endParaRPr lang="en-US" sz="1400" dirty="0"/>
          </a:p>
        </p:txBody>
      </p:sp>
      <p:sp>
        <p:nvSpPr>
          <p:cNvPr id="11" name="Shape 7"/>
          <p:cNvSpPr/>
          <p:nvPr/>
        </p:nvSpPr>
        <p:spPr>
          <a:xfrm>
            <a:off x="508000" y="2159000"/>
            <a:ext cx="5486400" cy="2794000"/>
          </a:xfrm>
          <a:prstGeom prst="rect">
            <a:avLst/>
          </a:prstGeom>
          <a:solidFill>
            <a:srgbClr val="F4F4F4"/>
          </a:solidFill>
          <a:ln/>
          <a:effectLst>
            <a:outerShdw blurRad="50800" dist="25400" dir="54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Shape 8"/>
          <p:cNvSpPr/>
          <p:nvPr/>
        </p:nvSpPr>
        <p:spPr>
          <a:xfrm>
            <a:off x="508000" y="2159000"/>
            <a:ext cx="5486400" cy="406400"/>
          </a:xfrm>
          <a:prstGeom prst="rect">
            <a:avLst/>
          </a:prstGeom>
          <a:solidFill>
            <a:srgbClr val="DA188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9"/>
          <p:cNvSpPr txBox="1"/>
          <p:nvPr/>
        </p:nvSpPr>
        <p:spPr>
          <a:xfrm>
            <a:off x="736600" y="2159000"/>
            <a:ext cx="5029200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GraphQL shines</a:t>
            </a:r>
            <a:endParaRPr lang="en-US" sz="1300" dirty="0"/>
          </a:p>
        </p:txBody>
      </p:sp>
      <p:sp>
        <p:nvSpPr>
          <p:cNvPr id="14" name="Text 10"/>
          <p:cNvSpPr txBox="1"/>
          <p:nvPr/>
        </p:nvSpPr>
        <p:spPr>
          <a:xfrm>
            <a:off x="736600" y="2743200"/>
            <a:ext cx="5029200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single typed schema (SDL) that describes the whole graph</a:t>
            </a:r>
            <a:endParaRPr lang="en-US" sz="12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Clients select exactly the fields a screen needs</a:t>
            </a:r>
            <a:endParaRPr lang="en-US" sz="12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Nested relationships resolved in one round trip</a:t>
            </a:r>
            <a:endParaRPr lang="en-US" sz="12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Introspection powers tooling, docs and code generation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6197600" y="2159000"/>
            <a:ext cx="5486400" cy="2794000"/>
          </a:xfrm>
          <a:prstGeom prst="rect">
            <a:avLst/>
          </a:prstGeom>
          <a:solidFill>
            <a:srgbClr val="F4F4F4"/>
          </a:solidFill>
          <a:ln/>
          <a:effectLst>
            <a:outerShdw blurRad="50800" dist="25400" dir="54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Shape 12"/>
          <p:cNvSpPr/>
          <p:nvPr/>
        </p:nvSpPr>
        <p:spPr>
          <a:xfrm>
            <a:off x="6197600" y="2159000"/>
            <a:ext cx="5486400" cy="406400"/>
          </a:xfrm>
          <a:prstGeom prst="rect">
            <a:avLst/>
          </a:prstGeom>
          <a:solidFill>
            <a:srgbClr val="A1005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3"/>
          <p:cNvSpPr txBox="1"/>
          <p:nvPr/>
        </p:nvSpPr>
        <p:spPr>
          <a:xfrm>
            <a:off x="6426200" y="2159000"/>
            <a:ext cx="5029200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it strains</a:t>
            </a:r>
            <a:endParaRPr lang="en-US" sz="1300" dirty="0"/>
          </a:p>
        </p:txBody>
      </p:sp>
      <p:sp>
        <p:nvSpPr>
          <p:cNvPr id="18" name="Text 14"/>
          <p:cNvSpPr txBox="1"/>
          <p:nvPr/>
        </p:nvSpPr>
        <p:spPr>
          <a:xfrm>
            <a:off x="6426200" y="2743200"/>
            <a:ext cx="5029200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 caching is harder: POST to one URL</a:t>
            </a:r>
            <a:endParaRPr lang="en-US" sz="12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N+1 resolver load without batching such as DataLoader</a:t>
            </a:r>
            <a:endParaRPr lang="en-US" sz="12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Public APIs need query depth and cost limits</a:t>
            </a:r>
            <a:endParaRPr lang="en-US" sz="12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More server-side complexity to operate and secure</a:t>
            </a:r>
            <a:endParaRPr lang="en-US" sz="1200" dirty="0"/>
          </a:p>
        </p:txBody>
      </p:sp>
      <p:sp>
        <p:nvSpPr>
          <p:cNvPr id="19" name="Shape 15"/>
          <p:cNvSpPr/>
          <p:nvPr/>
        </p:nvSpPr>
        <p:spPr>
          <a:xfrm>
            <a:off x="508000" y="5207000"/>
            <a:ext cx="11176000" cy="635000"/>
          </a:xfrm>
          <a:prstGeom prst="rect">
            <a:avLst/>
          </a:prstGeom>
          <a:solidFill>
            <a:srgbClr val="F4F4F4"/>
          </a:solidFill>
          <a:ln/>
          <a:effectLst>
            <a:outerShdw blurRad="50800" dist="25400" dir="54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Shape 16"/>
          <p:cNvSpPr/>
          <p:nvPr/>
        </p:nvSpPr>
        <p:spPr>
          <a:xfrm>
            <a:off x="508000" y="5207000"/>
            <a:ext cx="76200" cy="635000"/>
          </a:xfrm>
          <a:prstGeom prst="rect">
            <a:avLst/>
          </a:prstGeom>
          <a:solidFill>
            <a:srgbClr val="DA188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Text 17"/>
          <p:cNvSpPr txBox="1"/>
          <p:nvPr/>
        </p:nvSpPr>
        <p:spPr>
          <a:xfrm>
            <a:off x="787400" y="5207000"/>
            <a:ext cx="1066800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GraphQL for  </a:t>
            </a:r>
            <a:r>
              <a:rPr lang="en-US" sz="1200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client-driven screens that stitch related data: BFFs, mobile apps and micro-frontends.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private/tmp/claude-501/-Users-spietrek-Projects-dev2next/d6614435-6e88-43b0-8755-153d1251090d/scratchpad/assets/insight-stack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8000" y="152400"/>
            <a:ext cx="990600" cy="4064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3556000" y="406400"/>
            <a:ext cx="5080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10000"/>
              </a:lnSpc>
              <a:buNone/>
            </a:pPr>
            <a:r>
              <a:rPr lang="en-US" sz="1000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Protocol Studio  —  REST · GraphQL · gRPC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6350000" y="406400"/>
            <a:ext cx="5334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DA18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GRAPHQL</a:t>
            </a:r>
            <a:endParaRPr lang="en-US" sz="1000" dirty="0"/>
          </a:p>
        </p:txBody>
      </p:sp>
      <p:sp>
        <p:nvSpPr>
          <p:cNvPr id="5" name="Text 2"/>
          <p:cNvSpPr txBox="1"/>
          <p:nvPr/>
        </p:nvSpPr>
        <p:spPr>
          <a:xfrm>
            <a:off x="508000" y="6578600"/>
            <a:ext cx="889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900" dirty="0">
                <a:solidFill>
                  <a:srgbClr val="9E9E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Insight Proprietary &amp; Confidential.  Do Not Copy or Distribute.  © 2026 Insight.  All Rights Reserved.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10922000" y="6578600"/>
            <a:ext cx="762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lnSpc>
                <a:spcPct val="110000"/>
              </a:lnSpc>
              <a:buNone/>
            </a:pPr>
            <a:r>
              <a:rPr lang="en-US" sz="900" dirty="0">
                <a:solidFill>
                  <a:srgbClr val="9E9E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900" dirty="0"/>
          </a:p>
        </p:txBody>
      </p:sp>
      <p:sp>
        <p:nvSpPr>
          <p:cNvPr id="7" name="Text 4"/>
          <p:cNvSpPr txBox="1"/>
          <p:nvPr/>
        </p:nvSpPr>
        <p:spPr>
          <a:xfrm>
            <a:off x="508000" y="889000"/>
            <a:ext cx="1117600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200" b="1" dirty="0">
                <a:solidFill>
                  <a:srgbClr val="DA18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GRAPHQL · IN THE DEMO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508000" y="1130300"/>
            <a:ext cx="11176000" cy="482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GraphQL in Protocol Studio</a:t>
            </a:r>
            <a:endParaRPr lang="en-US" sz="3000" dirty="0"/>
          </a:p>
        </p:txBody>
      </p:sp>
      <p:sp>
        <p:nvSpPr>
          <p:cNvPr id="9" name="Text 6"/>
          <p:cNvSpPr txBox="1"/>
          <p:nvPr/>
        </p:nvSpPr>
        <p:spPr>
          <a:xfrm>
            <a:off x="508000" y="1663700"/>
            <a:ext cx="11176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400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Relationship questions route here: starships, films and producers in a single request.</a:t>
            </a:r>
            <a:endParaRPr lang="en-US" sz="1400" dirty="0"/>
          </a:p>
        </p:txBody>
      </p:sp>
      <p:sp>
        <p:nvSpPr>
          <p:cNvPr id="11" name="Shape 7"/>
          <p:cNvSpPr/>
          <p:nvPr/>
        </p:nvSpPr>
        <p:spPr>
          <a:xfrm>
            <a:off x="508000" y="2159000"/>
            <a:ext cx="5588000" cy="3937000"/>
          </a:xfrm>
          <a:prstGeom prst="rect">
            <a:avLst/>
          </a:prstGeom>
          <a:solidFill>
            <a:srgbClr val="1B1B1F"/>
          </a:solidFill>
          <a:ln/>
          <a:effectLst>
            <a:outerShdw blurRad="50800" dist="25400" dir="54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Shape 8"/>
          <p:cNvSpPr/>
          <p:nvPr/>
        </p:nvSpPr>
        <p:spPr>
          <a:xfrm>
            <a:off x="508000" y="2159000"/>
            <a:ext cx="5588000" cy="355600"/>
          </a:xfrm>
          <a:prstGeom prst="rect">
            <a:avLst/>
          </a:prstGeom>
          <a:solidFill>
            <a:srgbClr val="DA188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9"/>
          <p:cNvSpPr txBox="1"/>
          <p:nvPr/>
        </p:nvSpPr>
        <p:spPr>
          <a:xfrm>
            <a:off x="711200" y="2159000"/>
            <a:ext cx="51816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POST /GRAPHQL</a:t>
            </a:r>
            <a:endParaRPr lang="en-US" sz="1200" dirty="0"/>
          </a:p>
        </p:txBody>
      </p:sp>
      <p:sp>
        <p:nvSpPr>
          <p:cNvPr id="14" name="Text 10"/>
          <p:cNvSpPr txBox="1"/>
          <p:nvPr/>
        </p:nvSpPr>
        <p:spPr>
          <a:xfrm>
            <a:off x="711200" y="2667000"/>
            <a:ext cx="5181600" cy="3276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EDED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query ExploreStarships($target: String!) {</a:t>
            </a:r>
            <a:endParaRPr lang="en-US" sz="12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EDED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starships(target: $target) {</a:t>
            </a:r>
            <a:endParaRPr lang="en-US" sz="12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EDED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id name maxSpeed length</a:t>
            </a:r>
            <a:endParaRPr lang="en-US" sz="12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EDED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films {</a:t>
            </a:r>
            <a:endParaRPr lang="en-US" sz="12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EDED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title</a:t>
            </a:r>
            <a:endParaRPr lang="en-US" sz="12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EDED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producers { name }</a:t>
            </a:r>
            <a:endParaRPr lang="en-US" sz="12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EDED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}</a:t>
            </a:r>
            <a:endParaRPr lang="en-US" sz="12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EDED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}</a:t>
            </a:r>
            <a:endParaRPr lang="en-US" sz="12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EDED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2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EDED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2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9E9E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variables: { "target": "film:1" }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6299200" y="2159000"/>
            <a:ext cx="5384800" cy="889000"/>
          </a:xfrm>
          <a:prstGeom prst="rect">
            <a:avLst/>
          </a:prstGeom>
          <a:solidFill>
            <a:srgbClr val="F4F4F4"/>
          </a:solidFill>
          <a:ln/>
          <a:effectLst>
            <a:outerShdw blurRad="50800" dist="25400" dir="54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Shape 12"/>
          <p:cNvSpPr/>
          <p:nvPr/>
        </p:nvSpPr>
        <p:spPr>
          <a:xfrm>
            <a:off x="6299200" y="2159000"/>
            <a:ext cx="63500" cy="889000"/>
          </a:xfrm>
          <a:prstGeom prst="rect">
            <a:avLst/>
          </a:prstGeom>
          <a:solidFill>
            <a:srgbClr val="DA188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3"/>
          <p:cNvSpPr txBox="1"/>
          <p:nvPr/>
        </p:nvSpPr>
        <p:spPr>
          <a:xfrm>
            <a:off x="6527800" y="2311400"/>
            <a:ext cx="381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600" b="1" dirty="0">
                <a:solidFill>
                  <a:srgbClr val="DA18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600" dirty="0"/>
          </a:p>
        </p:txBody>
      </p:sp>
      <p:sp>
        <p:nvSpPr>
          <p:cNvPr id="18" name="Text 14"/>
          <p:cNvSpPr txBox="1"/>
          <p:nvPr/>
        </p:nvSpPr>
        <p:spPr>
          <a:xfrm>
            <a:off x="7035800" y="2311400"/>
            <a:ext cx="444500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request, three entities</a:t>
            </a:r>
            <a:endParaRPr lang="en-US" sz="13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Starships to films to producers in one round trip.</a:t>
            </a:r>
            <a:endParaRPr lang="en-US" sz="1300" dirty="0"/>
          </a:p>
        </p:txBody>
      </p:sp>
      <p:sp>
        <p:nvSpPr>
          <p:cNvPr id="19" name="Shape 15"/>
          <p:cNvSpPr/>
          <p:nvPr/>
        </p:nvSpPr>
        <p:spPr>
          <a:xfrm>
            <a:off x="6299200" y="3149600"/>
            <a:ext cx="5384800" cy="889000"/>
          </a:xfrm>
          <a:prstGeom prst="rect">
            <a:avLst/>
          </a:prstGeom>
          <a:solidFill>
            <a:srgbClr val="F4F4F4"/>
          </a:solidFill>
          <a:ln/>
          <a:effectLst>
            <a:outerShdw blurRad="50800" dist="25400" dir="54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Shape 16"/>
          <p:cNvSpPr/>
          <p:nvPr/>
        </p:nvSpPr>
        <p:spPr>
          <a:xfrm>
            <a:off x="6299200" y="3149600"/>
            <a:ext cx="63500" cy="889000"/>
          </a:xfrm>
          <a:prstGeom prst="rect">
            <a:avLst/>
          </a:prstGeom>
          <a:solidFill>
            <a:srgbClr val="DA188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Text 17"/>
          <p:cNvSpPr txBox="1"/>
          <p:nvPr/>
        </p:nvSpPr>
        <p:spPr>
          <a:xfrm>
            <a:off x="6527800" y="3302000"/>
            <a:ext cx="381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600" b="1" dirty="0">
                <a:solidFill>
                  <a:srgbClr val="DA18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600" dirty="0"/>
          </a:p>
        </p:txBody>
      </p:sp>
      <p:sp>
        <p:nvSpPr>
          <p:cNvPr id="22" name="Text 18"/>
          <p:cNvSpPr txBox="1"/>
          <p:nvPr/>
        </p:nvSpPr>
        <p:spPr>
          <a:xfrm>
            <a:off x="7035800" y="3302000"/>
            <a:ext cx="444500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Spring for GraphQL</a:t>
            </a:r>
            <a:endParaRPr lang="en-US" sz="13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@QueryMapping resolvers read the same catalog that REST serves.</a:t>
            </a:r>
            <a:endParaRPr lang="en-US" sz="1300" dirty="0"/>
          </a:p>
        </p:txBody>
      </p:sp>
      <p:sp>
        <p:nvSpPr>
          <p:cNvPr id="23" name="Shape 19"/>
          <p:cNvSpPr/>
          <p:nvPr/>
        </p:nvSpPr>
        <p:spPr>
          <a:xfrm>
            <a:off x="6299200" y="4140200"/>
            <a:ext cx="5384800" cy="889000"/>
          </a:xfrm>
          <a:prstGeom prst="rect">
            <a:avLst/>
          </a:prstGeom>
          <a:solidFill>
            <a:srgbClr val="F4F4F4"/>
          </a:solidFill>
          <a:ln/>
          <a:effectLst>
            <a:outerShdw blurRad="50800" dist="25400" dir="54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4" name="Shape 20"/>
          <p:cNvSpPr/>
          <p:nvPr/>
        </p:nvSpPr>
        <p:spPr>
          <a:xfrm>
            <a:off x="6299200" y="4140200"/>
            <a:ext cx="63500" cy="889000"/>
          </a:xfrm>
          <a:prstGeom prst="rect">
            <a:avLst/>
          </a:prstGeom>
          <a:solidFill>
            <a:srgbClr val="DA188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Text 21"/>
          <p:cNvSpPr txBox="1"/>
          <p:nvPr/>
        </p:nvSpPr>
        <p:spPr>
          <a:xfrm>
            <a:off x="6527800" y="4292600"/>
            <a:ext cx="381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600" b="1" dirty="0">
                <a:solidFill>
                  <a:srgbClr val="DA18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600" dirty="0"/>
          </a:p>
        </p:txBody>
      </p:sp>
      <p:sp>
        <p:nvSpPr>
          <p:cNvPr id="26" name="Text 22"/>
          <p:cNvSpPr txBox="1"/>
          <p:nvPr/>
        </p:nvSpPr>
        <p:spPr>
          <a:xfrm>
            <a:off x="7035800" y="4292600"/>
            <a:ext cx="444500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Picked for relationships</a:t>
            </a:r>
            <a:endParaRPr lang="en-US" sz="13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“Which films” and “who produced” route here, even for one ship.</a:t>
            </a:r>
            <a:endParaRPr lang="en-US" sz="1300" dirty="0"/>
          </a:p>
        </p:txBody>
      </p:sp>
      <p:sp>
        <p:nvSpPr>
          <p:cNvPr id="27" name="Shape 23"/>
          <p:cNvSpPr/>
          <p:nvPr/>
        </p:nvSpPr>
        <p:spPr>
          <a:xfrm>
            <a:off x="6299200" y="5130800"/>
            <a:ext cx="5384800" cy="787400"/>
          </a:xfrm>
          <a:prstGeom prst="rect">
            <a:avLst/>
          </a:prstGeom>
          <a:solidFill>
            <a:srgbClr val="F4F4F4"/>
          </a:solidFill>
          <a:ln/>
          <a:effectLst>
            <a:outerShdw blurRad="50800" dist="25400" dir="54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8" name="Shape 24"/>
          <p:cNvSpPr/>
          <p:nvPr/>
        </p:nvSpPr>
        <p:spPr>
          <a:xfrm>
            <a:off x="6299200" y="5130800"/>
            <a:ext cx="76200" cy="787400"/>
          </a:xfrm>
          <a:prstGeom prst="rect">
            <a:avLst/>
          </a:prstGeom>
          <a:solidFill>
            <a:srgbClr val="DA188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9" name="Text 25"/>
          <p:cNvSpPr txBox="1"/>
          <p:nvPr/>
        </p:nvSpPr>
        <p:spPr>
          <a:xfrm>
            <a:off x="6578600" y="5130800"/>
            <a:ext cx="4876800" cy="787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Try it:  </a:t>
            </a:r>
            <a:r>
              <a:rPr lang="en-US" sz="1200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“Which starships appear in A New Hope, and who produced it?”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private/tmp/claude-501/-Users-spietrek-Projects-dev2next/d6614435-6e88-43b0-8755-153d1251090d/scratchpad/assets/insight-stack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8000" y="152400"/>
            <a:ext cx="990600" cy="4064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3556000" y="406400"/>
            <a:ext cx="5080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10000"/>
              </a:lnSpc>
              <a:buNone/>
            </a:pPr>
            <a:r>
              <a:rPr lang="en-US" sz="1000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Protocol Studio  —  REST · GraphQL · gRPC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6350000" y="406400"/>
            <a:ext cx="5334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DA18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GRPC</a:t>
            </a:r>
            <a:endParaRPr lang="en-US" sz="1000" dirty="0"/>
          </a:p>
        </p:txBody>
      </p:sp>
      <p:sp>
        <p:nvSpPr>
          <p:cNvPr id="5" name="Text 2"/>
          <p:cNvSpPr txBox="1"/>
          <p:nvPr/>
        </p:nvSpPr>
        <p:spPr>
          <a:xfrm>
            <a:off x="508000" y="6578600"/>
            <a:ext cx="889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900" dirty="0">
                <a:solidFill>
                  <a:srgbClr val="9E9E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Insight Proprietary &amp; Confidential.  Do Not Copy or Distribute.  © 2026 Insight.  All Rights Reserved.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10922000" y="6578600"/>
            <a:ext cx="762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lnSpc>
                <a:spcPct val="110000"/>
              </a:lnSpc>
              <a:buNone/>
            </a:pPr>
            <a:r>
              <a:rPr lang="en-US" sz="900" dirty="0">
                <a:solidFill>
                  <a:srgbClr val="9E9E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900" dirty="0"/>
          </a:p>
        </p:txBody>
      </p:sp>
      <p:sp>
        <p:nvSpPr>
          <p:cNvPr id="7" name="Text 4"/>
          <p:cNvSpPr txBox="1"/>
          <p:nvPr/>
        </p:nvSpPr>
        <p:spPr>
          <a:xfrm>
            <a:off x="508000" y="889000"/>
            <a:ext cx="1117600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200" b="1" dirty="0">
                <a:solidFill>
                  <a:srgbClr val="DA18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GRPC · HOW IT WORKS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508000" y="1130300"/>
            <a:ext cx="11176000" cy="482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gRPC: Typed Contracts, Streaming by Default</a:t>
            </a:r>
            <a:endParaRPr lang="en-US" sz="3000" dirty="0"/>
          </a:p>
        </p:txBody>
      </p:sp>
      <p:sp>
        <p:nvSpPr>
          <p:cNvPr id="9" name="Text 6"/>
          <p:cNvSpPr txBox="1"/>
          <p:nvPr/>
        </p:nvSpPr>
        <p:spPr>
          <a:xfrm>
            <a:off x="508000" y="1663700"/>
            <a:ext cx="11176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400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Contract-first RPC over HTTP/2 with compact Protobuf messages and four call types.</a:t>
            </a:r>
            <a:endParaRPr lang="en-US" sz="1400" dirty="0"/>
          </a:p>
        </p:txBody>
      </p:sp>
      <p:sp>
        <p:nvSpPr>
          <p:cNvPr id="11" name="Shape 7"/>
          <p:cNvSpPr/>
          <p:nvPr/>
        </p:nvSpPr>
        <p:spPr>
          <a:xfrm>
            <a:off x="508000" y="2159000"/>
            <a:ext cx="5486400" cy="2794000"/>
          </a:xfrm>
          <a:prstGeom prst="rect">
            <a:avLst/>
          </a:prstGeom>
          <a:solidFill>
            <a:srgbClr val="F4F4F4"/>
          </a:solidFill>
          <a:ln/>
          <a:effectLst>
            <a:outerShdw blurRad="50800" dist="25400" dir="54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Shape 8"/>
          <p:cNvSpPr/>
          <p:nvPr/>
        </p:nvSpPr>
        <p:spPr>
          <a:xfrm>
            <a:off x="508000" y="2159000"/>
            <a:ext cx="5486400" cy="406400"/>
          </a:xfrm>
          <a:prstGeom prst="rect">
            <a:avLst/>
          </a:prstGeom>
          <a:solidFill>
            <a:srgbClr val="DA188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9"/>
          <p:cNvSpPr txBox="1"/>
          <p:nvPr/>
        </p:nvSpPr>
        <p:spPr>
          <a:xfrm>
            <a:off x="736600" y="2159000"/>
            <a:ext cx="5029200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gRPC shines</a:t>
            </a:r>
            <a:endParaRPr lang="en-US" sz="1300" dirty="0"/>
          </a:p>
        </p:txBody>
      </p:sp>
      <p:sp>
        <p:nvSpPr>
          <p:cNvPr id="14" name="Text 10"/>
          <p:cNvSpPr txBox="1"/>
          <p:nvPr/>
        </p:nvSpPr>
        <p:spPr>
          <a:xfrm>
            <a:off x="736600" y="2743200"/>
            <a:ext cx="5029200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Contract-first .proto files with generated clients in many languages</a:t>
            </a:r>
            <a:endParaRPr lang="en-US" sz="12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Compact binary Protobuf with HTTP/2 multiplexing</a:t>
            </a:r>
            <a:endParaRPr lang="en-US" sz="12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Unary, server, client and bidirectional streaming</a:t>
            </a:r>
            <a:endParaRPr lang="en-US" sz="12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Deadlines, cancellation and metadata built in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6197600" y="2159000"/>
            <a:ext cx="5486400" cy="2794000"/>
          </a:xfrm>
          <a:prstGeom prst="rect">
            <a:avLst/>
          </a:prstGeom>
          <a:solidFill>
            <a:srgbClr val="F4F4F4"/>
          </a:solidFill>
          <a:ln/>
          <a:effectLst>
            <a:outerShdw blurRad="50800" dist="25400" dir="54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Shape 12"/>
          <p:cNvSpPr/>
          <p:nvPr/>
        </p:nvSpPr>
        <p:spPr>
          <a:xfrm>
            <a:off x="6197600" y="2159000"/>
            <a:ext cx="5486400" cy="406400"/>
          </a:xfrm>
          <a:prstGeom prst="rect">
            <a:avLst/>
          </a:prstGeom>
          <a:solidFill>
            <a:srgbClr val="A1005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3"/>
          <p:cNvSpPr txBox="1"/>
          <p:nvPr/>
        </p:nvSpPr>
        <p:spPr>
          <a:xfrm>
            <a:off x="6426200" y="2159000"/>
            <a:ext cx="5029200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it strains</a:t>
            </a:r>
            <a:endParaRPr lang="en-US" sz="1300" dirty="0"/>
          </a:p>
        </p:txBody>
      </p:sp>
      <p:sp>
        <p:nvSpPr>
          <p:cNvPr id="18" name="Text 14"/>
          <p:cNvSpPr txBox="1"/>
          <p:nvPr/>
        </p:nvSpPr>
        <p:spPr>
          <a:xfrm>
            <a:off x="6426200" y="2743200"/>
            <a:ext cx="5029200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Browsers need gRPC-Web or an HTTP bridge</a:t>
            </a:r>
            <a:endParaRPr lang="en-US" sz="12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Binary payloads are harder to read and debug</a:t>
            </a:r>
            <a:endParaRPr lang="en-US" sz="12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HTTP/2 end to end through proxies and load balancers</a:t>
            </a:r>
            <a:endParaRPr lang="en-US" sz="12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Schema discipline: field numbers are forever</a:t>
            </a:r>
            <a:endParaRPr lang="en-US" sz="1200" dirty="0"/>
          </a:p>
        </p:txBody>
      </p:sp>
      <p:sp>
        <p:nvSpPr>
          <p:cNvPr id="19" name="Shape 15"/>
          <p:cNvSpPr/>
          <p:nvPr/>
        </p:nvSpPr>
        <p:spPr>
          <a:xfrm>
            <a:off x="508000" y="5207000"/>
            <a:ext cx="11176000" cy="635000"/>
          </a:xfrm>
          <a:prstGeom prst="rect">
            <a:avLst/>
          </a:prstGeom>
          <a:solidFill>
            <a:srgbClr val="F4F4F4"/>
          </a:solidFill>
          <a:ln/>
          <a:effectLst>
            <a:outerShdw blurRad="50800" dist="25400" dir="54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Shape 16"/>
          <p:cNvSpPr/>
          <p:nvPr/>
        </p:nvSpPr>
        <p:spPr>
          <a:xfrm>
            <a:off x="508000" y="5207000"/>
            <a:ext cx="76200" cy="635000"/>
          </a:xfrm>
          <a:prstGeom prst="rect">
            <a:avLst/>
          </a:prstGeom>
          <a:solidFill>
            <a:srgbClr val="DA188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Text 17"/>
          <p:cNvSpPr txBox="1"/>
          <p:nvPr/>
        </p:nvSpPr>
        <p:spPr>
          <a:xfrm>
            <a:off x="787400" y="5207000"/>
            <a:ext cx="1066800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gRPC for  </a:t>
            </a:r>
            <a:r>
              <a:rPr lang="en-US" sz="1200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internal service-to-service calls, low-latency paths and real-time streams.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private/tmp/claude-501/-Users-spietrek-Projects-dev2next/d6614435-6e88-43b0-8755-153d1251090d/scratchpad/assets/insight-stack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8000" y="152400"/>
            <a:ext cx="990600" cy="4064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3556000" y="406400"/>
            <a:ext cx="5080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10000"/>
              </a:lnSpc>
              <a:buNone/>
            </a:pPr>
            <a:r>
              <a:rPr lang="en-US" sz="1000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Protocol Studio  —  REST · GraphQL · gRPC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6350000" y="406400"/>
            <a:ext cx="5334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DA18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GRPC</a:t>
            </a:r>
            <a:endParaRPr lang="en-US" sz="1000" dirty="0"/>
          </a:p>
        </p:txBody>
      </p:sp>
      <p:sp>
        <p:nvSpPr>
          <p:cNvPr id="5" name="Text 2"/>
          <p:cNvSpPr txBox="1"/>
          <p:nvPr/>
        </p:nvSpPr>
        <p:spPr>
          <a:xfrm>
            <a:off x="508000" y="6578600"/>
            <a:ext cx="889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900" dirty="0">
                <a:solidFill>
                  <a:srgbClr val="9E9E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Insight Proprietary &amp; Confidential.  Do Not Copy or Distribute.  © 2026 Insight.  All Rights Reserved.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10922000" y="6578600"/>
            <a:ext cx="762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lnSpc>
                <a:spcPct val="110000"/>
              </a:lnSpc>
              <a:buNone/>
            </a:pPr>
            <a:r>
              <a:rPr lang="en-US" sz="900" dirty="0">
                <a:solidFill>
                  <a:srgbClr val="9E9E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900" dirty="0"/>
          </a:p>
        </p:txBody>
      </p:sp>
      <p:sp>
        <p:nvSpPr>
          <p:cNvPr id="7" name="Text 4"/>
          <p:cNvSpPr txBox="1"/>
          <p:nvPr/>
        </p:nvSpPr>
        <p:spPr>
          <a:xfrm>
            <a:off x="508000" y="889000"/>
            <a:ext cx="1117600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200" b="1" dirty="0">
                <a:solidFill>
                  <a:srgbClr val="DA18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GRPC · IN THE DEMO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508000" y="1130300"/>
            <a:ext cx="11176000" cy="482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gRPC in Protocol Studio</a:t>
            </a:r>
            <a:endParaRPr lang="en-US" sz="3000" dirty="0"/>
          </a:p>
        </p:txBody>
      </p:sp>
      <p:sp>
        <p:nvSpPr>
          <p:cNvPr id="9" name="Text 6"/>
          <p:cNvSpPr txBox="1"/>
          <p:nvPr/>
        </p:nvSpPr>
        <p:spPr>
          <a:xfrm>
            <a:off x="508000" y="1663700"/>
            <a:ext cx="11176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400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Tracking questions route here: a real bidirectional Protobuf stream on port 9090.</a:t>
            </a:r>
            <a:endParaRPr lang="en-US" sz="1400" dirty="0"/>
          </a:p>
        </p:txBody>
      </p:sp>
      <p:sp>
        <p:nvSpPr>
          <p:cNvPr id="11" name="Shape 7"/>
          <p:cNvSpPr/>
          <p:nvPr/>
        </p:nvSpPr>
        <p:spPr>
          <a:xfrm>
            <a:off x="508000" y="2159000"/>
            <a:ext cx="5588000" cy="3937000"/>
          </a:xfrm>
          <a:prstGeom prst="rect">
            <a:avLst/>
          </a:prstGeom>
          <a:solidFill>
            <a:srgbClr val="1B1B1F"/>
          </a:solidFill>
          <a:ln/>
          <a:effectLst>
            <a:outerShdw blurRad="50800" dist="25400" dir="54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Shape 8"/>
          <p:cNvSpPr/>
          <p:nvPr/>
        </p:nvSpPr>
        <p:spPr>
          <a:xfrm>
            <a:off x="508000" y="2159000"/>
            <a:ext cx="5588000" cy="355600"/>
          </a:xfrm>
          <a:prstGeom prst="rect">
            <a:avLst/>
          </a:prstGeom>
          <a:solidFill>
            <a:srgbClr val="DA188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9"/>
          <p:cNvSpPr txBox="1"/>
          <p:nvPr/>
        </p:nvSpPr>
        <p:spPr>
          <a:xfrm>
            <a:off x="711200" y="2159000"/>
            <a:ext cx="51816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CATALOG.PROTO</a:t>
            </a:r>
            <a:endParaRPr lang="en-US" sz="1200" dirty="0"/>
          </a:p>
        </p:txBody>
      </p:sp>
      <p:sp>
        <p:nvSpPr>
          <p:cNvPr id="14" name="Text 10"/>
          <p:cNvSpPr txBox="1"/>
          <p:nvPr/>
        </p:nvSpPr>
        <p:spPr>
          <a:xfrm>
            <a:off x="711200" y="2667000"/>
            <a:ext cx="5181600" cy="3276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EDED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service StarshipTracker {</a:t>
            </a:r>
            <a:endParaRPr lang="en-US" sz="12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EDED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rpc Track(stream TrackRequest)</a:t>
            </a:r>
            <a:endParaRPr lang="en-US" sz="12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EDED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returns (stream TrackSnapshot);</a:t>
            </a:r>
            <a:endParaRPr lang="en-US" sz="12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EDED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2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EDED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message TrackRequest {</a:t>
            </a:r>
            <a:endParaRPr lang="en-US" sz="12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EDED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string target = 1;</a:t>
            </a:r>
            <a:endParaRPr lang="en-US" sz="12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EDED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int32 sequence = 2;</a:t>
            </a:r>
            <a:endParaRPr lang="en-US" sz="12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EDED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2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EDED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message TrackSnapshot {</a:t>
            </a:r>
            <a:endParaRPr lang="en-US" sz="12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EDED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repeated TrackedShip starships = 1;</a:t>
            </a:r>
            <a:endParaRPr lang="en-US" sz="12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EDED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int32 sequence = 2;</a:t>
            </a:r>
            <a:endParaRPr lang="en-US" sz="12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EDED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string observed_at = 3;</a:t>
            </a:r>
            <a:endParaRPr lang="en-US" sz="12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EDED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6299200" y="2159000"/>
            <a:ext cx="5384800" cy="889000"/>
          </a:xfrm>
          <a:prstGeom prst="rect">
            <a:avLst/>
          </a:prstGeom>
          <a:solidFill>
            <a:srgbClr val="F4F4F4"/>
          </a:solidFill>
          <a:ln/>
          <a:effectLst>
            <a:outerShdw blurRad="50800" dist="25400" dir="54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Shape 12"/>
          <p:cNvSpPr/>
          <p:nvPr/>
        </p:nvSpPr>
        <p:spPr>
          <a:xfrm>
            <a:off x="6299200" y="2159000"/>
            <a:ext cx="63500" cy="889000"/>
          </a:xfrm>
          <a:prstGeom prst="rect">
            <a:avLst/>
          </a:prstGeom>
          <a:solidFill>
            <a:srgbClr val="DA188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3"/>
          <p:cNvSpPr txBox="1"/>
          <p:nvPr/>
        </p:nvSpPr>
        <p:spPr>
          <a:xfrm>
            <a:off x="6527800" y="2311400"/>
            <a:ext cx="381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600" b="1" dirty="0">
                <a:solidFill>
                  <a:srgbClr val="DA18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600" dirty="0"/>
          </a:p>
        </p:txBody>
      </p:sp>
      <p:sp>
        <p:nvSpPr>
          <p:cNvPr id="18" name="Text 14"/>
          <p:cNvSpPr txBox="1"/>
          <p:nvPr/>
        </p:nvSpPr>
        <p:spPr>
          <a:xfrm>
            <a:off x="7035800" y="2311400"/>
            <a:ext cx="444500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Truly bidirectional</a:t>
            </a:r>
            <a:endParaRPr lang="en-US" sz="13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client sends three requests while the response stream stays open.</a:t>
            </a:r>
            <a:endParaRPr lang="en-US" sz="1300" dirty="0"/>
          </a:p>
        </p:txBody>
      </p:sp>
      <p:sp>
        <p:nvSpPr>
          <p:cNvPr id="19" name="Shape 15"/>
          <p:cNvSpPr/>
          <p:nvPr/>
        </p:nvSpPr>
        <p:spPr>
          <a:xfrm>
            <a:off x="6299200" y="3149600"/>
            <a:ext cx="5384800" cy="889000"/>
          </a:xfrm>
          <a:prstGeom prst="rect">
            <a:avLst/>
          </a:prstGeom>
          <a:solidFill>
            <a:srgbClr val="F4F4F4"/>
          </a:solidFill>
          <a:ln/>
          <a:effectLst>
            <a:outerShdw blurRad="50800" dist="25400" dir="54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Shape 16"/>
          <p:cNvSpPr/>
          <p:nvPr/>
        </p:nvSpPr>
        <p:spPr>
          <a:xfrm>
            <a:off x="6299200" y="3149600"/>
            <a:ext cx="63500" cy="889000"/>
          </a:xfrm>
          <a:prstGeom prst="rect">
            <a:avLst/>
          </a:prstGeom>
          <a:solidFill>
            <a:srgbClr val="DA188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Text 17"/>
          <p:cNvSpPr txBox="1"/>
          <p:nvPr/>
        </p:nvSpPr>
        <p:spPr>
          <a:xfrm>
            <a:off x="6527800" y="3302000"/>
            <a:ext cx="381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600" b="1" dirty="0">
                <a:solidFill>
                  <a:srgbClr val="DA18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600" dirty="0"/>
          </a:p>
        </p:txBody>
      </p:sp>
      <p:sp>
        <p:nvSpPr>
          <p:cNvPr id="22" name="Text 18"/>
          <p:cNvSpPr txBox="1"/>
          <p:nvPr/>
        </p:nvSpPr>
        <p:spPr>
          <a:xfrm>
            <a:off x="7035800" y="3302000"/>
            <a:ext cx="444500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Bridged to the browser</a:t>
            </a:r>
            <a:endParaRPr lang="en-US" sz="13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snapshot is flushed to the UI as NDJSON as it arrives.</a:t>
            </a:r>
            <a:endParaRPr lang="en-US" sz="1300" dirty="0"/>
          </a:p>
        </p:txBody>
      </p:sp>
      <p:sp>
        <p:nvSpPr>
          <p:cNvPr id="23" name="Shape 19"/>
          <p:cNvSpPr/>
          <p:nvPr/>
        </p:nvSpPr>
        <p:spPr>
          <a:xfrm>
            <a:off x="6299200" y="4140200"/>
            <a:ext cx="5384800" cy="889000"/>
          </a:xfrm>
          <a:prstGeom prst="rect">
            <a:avLst/>
          </a:prstGeom>
          <a:solidFill>
            <a:srgbClr val="F4F4F4"/>
          </a:solidFill>
          <a:ln/>
          <a:effectLst>
            <a:outerShdw blurRad="50800" dist="25400" dir="54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4" name="Shape 20"/>
          <p:cNvSpPr/>
          <p:nvPr/>
        </p:nvSpPr>
        <p:spPr>
          <a:xfrm>
            <a:off x="6299200" y="4140200"/>
            <a:ext cx="63500" cy="889000"/>
          </a:xfrm>
          <a:prstGeom prst="rect">
            <a:avLst/>
          </a:prstGeom>
          <a:solidFill>
            <a:srgbClr val="DA188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Text 21"/>
          <p:cNvSpPr txBox="1"/>
          <p:nvPr/>
        </p:nvSpPr>
        <p:spPr>
          <a:xfrm>
            <a:off x="6527800" y="4292600"/>
            <a:ext cx="381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600" b="1" dirty="0">
                <a:solidFill>
                  <a:srgbClr val="DA18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600" dirty="0"/>
          </a:p>
        </p:txBody>
      </p:sp>
      <p:sp>
        <p:nvSpPr>
          <p:cNvPr id="26" name="Text 22"/>
          <p:cNvSpPr txBox="1"/>
          <p:nvPr/>
        </p:nvSpPr>
        <p:spPr>
          <a:xfrm>
            <a:off x="7035800" y="4292600"/>
            <a:ext cx="444500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Bounded and honest</a:t>
            </a:r>
            <a:endParaRPr lang="en-US" sz="13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10-second deadline; sizes count serialized Protobuf bytes.</a:t>
            </a:r>
            <a:endParaRPr lang="en-US" sz="1300" dirty="0"/>
          </a:p>
        </p:txBody>
      </p:sp>
      <p:sp>
        <p:nvSpPr>
          <p:cNvPr id="27" name="Shape 23"/>
          <p:cNvSpPr/>
          <p:nvPr/>
        </p:nvSpPr>
        <p:spPr>
          <a:xfrm>
            <a:off x="6299200" y="5130800"/>
            <a:ext cx="5384800" cy="787400"/>
          </a:xfrm>
          <a:prstGeom prst="rect">
            <a:avLst/>
          </a:prstGeom>
          <a:solidFill>
            <a:srgbClr val="F4F4F4"/>
          </a:solidFill>
          <a:ln/>
          <a:effectLst>
            <a:outerShdw blurRad="50800" dist="25400" dir="54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8" name="Shape 24"/>
          <p:cNvSpPr/>
          <p:nvPr/>
        </p:nvSpPr>
        <p:spPr>
          <a:xfrm>
            <a:off x="6299200" y="5130800"/>
            <a:ext cx="76200" cy="787400"/>
          </a:xfrm>
          <a:prstGeom prst="rect">
            <a:avLst/>
          </a:prstGeom>
          <a:solidFill>
            <a:srgbClr val="DA188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9" name="Text 25"/>
          <p:cNvSpPr txBox="1"/>
          <p:nvPr/>
        </p:nvSpPr>
        <p:spPr>
          <a:xfrm>
            <a:off x="6578600" y="5130800"/>
            <a:ext cx="4876800" cy="787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Try it:  </a:t>
            </a:r>
            <a:r>
              <a:rPr lang="en-US" sz="1200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“Track the Millennium Falcon.”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private/tmp/claude-501/-Users-spietrek-Projects-dev2next/d6614435-6e88-43b0-8755-153d1251090d/scratchpad/assets/insight-stack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8000" y="152400"/>
            <a:ext cx="990600" cy="4064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3556000" y="406400"/>
            <a:ext cx="5080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10000"/>
              </a:lnSpc>
              <a:buNone/>
            </a:pPr>
            <a:r>
              <a:rPr lang="en-US" sz="1000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Protocol Studio  —  REST · GraphQL · gRPC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6350000" y="406400"/>
            <a:ext cx="5334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DA18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PROTOCOLS</a:t>
            </a:r>
            <a:endParaRPr lang="en-US" sz="1000" dirty="0"/>
          </a:p>
        </p:txBody>
      </p:sp>
      <p:sp>
        <p:nvSpPr>
          <p:cNvPr id="5" name="Text 2"/>
          <p:cNvSpPr txBox="1"/>
          <p:nvPr/>
        </p:nvSpPr>
        <p:spPr>
          <a:xfrm>
            <a:off x="508000" y="6578600"/>
            <a:ext cx="889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900" dirty="0">
                <a:solidFill>
                  <a:srgbClr val="9E9E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Insight Proprietary &amp; Confidential.  Do Not Copy or Distribute.  © 2026 Insight.  All Rights Reserved.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10922000" y="6578600"/>
            <a:ext cx="762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lnSpc>
                <a:spcPct val="110000"/>
              </a:lnSpc>
              <a:buNone/>
            </a:pPr>
            <a:r>
              <a:rPr lang="en-US" sz="900" dirty="0">
                <a:solidFill>
                  <a:srgbClr val="9E9E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900" dirty="0"/>
          </a:p>
        </p:txBody>
      </p:sp>
      <p:sp>
        <p:nvSpPr>
          <p:cNvPr id="7" name="Text 4"/>
          <p:cNvSpPr txBox="1"/>
          <p:nvPr/>
        </p:nvSpPr>
        <p:spPr>
          <a:xfrm>
            <a:off x="508000" y="889000"/>
            <a:ext cx="1117600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200" b="1" dirty="0">
                <a:solidFill>
                  <a:srgbClr val="DA18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USAGE COMPARISON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508000" y="1130300"/>
            <a:ext cx="11176000" cy="482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Each Protocol Came From, and Where It Fits</a:t>
            </a:r>
            <a:endParaRPr lang="en-US" sz="3000" dirty="0"/>
          </a:p>
        </p:txBody>
      </p:sp>
      <p:sp>
        <p:nvSpPr>
          <p:cNvPr id="9" name="Text 6"/>
          <p:cNvSpPr txBox="1"/>
          <p:nvPr/>
        </p:nvSpPr>
        <p:spPr>
          <a:xfrm>
            <a:off x="508000" y="1663700"/>
            <a:ext cx="11176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400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decades of API design. Each protocol answered the problem of its moment.</a:t>
            </a:r>
            <a:endParaRPr lang="en-US" sz="1400" dirty="0"/>
          </a:p>
        </p:txBody>
      </p:sp>
      <p:sp>
        <p:nvSpPr>
          <p:cNvPr id="11" name="Shape 7"/>
          <p:cNvSpPr/>
          <p:nvPr/>
        </p:nvSpPr>
        <p:spPr>
          <a:xfrm>
            <a:off x="508000" y="2159000"/>
            <a:ext cx="2679700" cy="38100"/>
          </a:xfrm>
          <a:prstGeom prst="rect">
            <a:avLst/>
          </a:prstGeom>
          <a:solidFill>
            <a:srgbClr val="DA188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8"/>
          <p:cNvSpPr txBox="1"/>
          <p:nvPr/>
        </p:nvSpPr>
        <p:spPr>
          <a:xfrm>
            <a:off x="508000" y="2311400"/>
            <a:ext cx="267970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DA18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2000</a:t>
            </a:r>
            <a:endParaRPr lang="en-US" sz="1800" dirty="0"/>
          </a:p>
        </p:txBody>
      </p:sp>
      <p:sp>
        <p:nvSpPr>
          <p:cNvPr id="13" name="Text 9"/>
          <p:cNvSpPr txBox="1"/>
          <p:nvPr/>
        </p:nvSpPr>
        <p:spPr>
          <a:xfrm>
            <a:off x="508000" y="2654300"/>
            <a:ext cx="2540000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REST described in Roy Fielding's dissertation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3340100" y="2159000"/>
            <a:ext cx="2679700" cy="38100"/>
          </a:xfrm>
          <a:prstGeom prst="rect">
            <a:avLst/>
          </a:prstGeom>
          <a:solidFill>
            <a:srgbClr val="DA188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1"/>
          <p:cNvSpPr txBox="1"/>
          <p:nvPr/>
        </p:nvSpPr>
        <p:spPr>
          <a:xfrm>
            <a:off x="3340100" y="2311400"/>
            <a:ext cx="267970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DA18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2012</a:t>
            </a:r>
            <a:endParaRPr lang="en-US" sz="1800" dirty="0"/>
          </a:p>
        </p:txBody>
      </p:sp>
      <p:sp>
        <p:nvSpPr>
          <p:cNvPr id="16" name="Text 12"/>
          <p:cNvSpPr txBox="1"/>
          <p:nvPr/>
        </p:nvSpPr>
        <p:spPr>
          <a:xfrm>
            <a:off x="3340100" y="2654300"/>
            <a:ext cx="2540000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GraphQL built inside Facebook for mobile</a:t>
            </a:r>
            <a:endParaRPr lang="en-US" sz="1200" dirty="0"/>
          </a:p>
        </p:txBody>
      </p:sp>
      <p:sp>
        <p:nvSpPr>
          <p:cNvPr id="17" name="Shape 13"/>
          <p:cNvSpPr/>
          <p:nvPr/>
        </p:nvSpPr>
        <p:spPr>
          <a:xfrm>
            <a:off x="6172200" y="2159000"/>
            <a:ext cx="2679700" cy="38100"/>
          </a:xfrm>
          <a:prstGeom prst="rect">
            <a:avLst/>
          </a:prstGeom>
          <a:solidFill>
            <a:srgbClr val="DA188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Text 14"/>
          <p:cNvSpPr txBox="1"/>
          <p:nvPr/>
        </p:nvSpPr>
        <p:spPr>
          <a:xfrm>
            <a:off x="6172200" y="2311400"/>
            <a:ext cx="267970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DA18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2015</a:t>
            </a:r>
            <a:endParaRPr lang="en-US" sz="1800" dirty="0"/>
          </a:p>
        </p:txBody>
      </p:sp>
      <p:sp>
        <p:nvSpPr>
          <p:cNvPr id="19" name="Text 15"/>
          <p:cNvSpPr txBox="1"/>
          <p:nvPr/>
        </p:nvSpPr>
        <p:spPr>
          <a:xfrm>
            <a:off x="6172200" y="2654300"/>
            <a:ext cx="2540000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GraphQL spec published; gRPC open-sourced by Google</a:t>
            </a:r>
            <a:endParaRPr lang="en-US" sz="1200" dirty="0"/>
          </a:p>
        </p:txBody>
      </p:sp>
      <p:sp>
        <p:nvSpPr>
          <p:cNvPr id="20" name="Shape 16"/>
          <p:cNvSpPr/>
          <p:nvPr/>
        </p:nvSpPr>
        <p:spPr>
          <a:xfrm>
            <a:off x="9004300" y="2159000"/>
            <a:ext cx="2679700" cy="38100"/>
          </a:xfrm>
          <a:prstGeom prst="rect">
            <a:avLst/>
          </a:prstGeom>
          <a:solidFill>
            <a:srgbClr val="DA188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Text 17"/>
          <p:cNvSpPr txBox="1"/>
          <p:nvPr/>
        </p:nvSpPr>
        <p:spPr>
          <a:xfrm>
            <a:off x="9004300" y="2311400"/>
            <a:ext cx="267970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DA18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2016</a:t>
            </a:r>
            <a:endParaRPr lang="en-US" sz="1800" dirty="0"/>
          </a:p>
        </p:txBody>
      </p:sp>
      <p:sp>
        <p:nvSpPr>
          <p:cNvPr id="22" name="Text 18"/>
          <p:cNvSpPr txBox="1"/>
          <p:nvPr/>
        </p:nvSpPr>
        <p:spPr>
          <a:xfrm>
            <a:off x="9004300" y="2654300"/>
            <a:ext cx="2540000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gRPC 1.0 released; adopted by CNCF in 2017</a:t>
            </a:r>
            <a:endParaRPr lang="en-US" sz="12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10151413"/>
              </p:ext>
            </p:extLst>
          </p:nvPr>
        </p:nvGraphicFramePr>
        <p:xfrm>
          <a:off x="508000" y="3429000"/>
          <a:ext cx="11176000" cy="1930400"/>
        </p:xfrm>
        <a:graphic>
          <a:graphicData uri="http://schemas.openxmlformats.org/drawingml/2006/table">
            <a:tbl>
              <a:tblPr/>
              <a:tblGrid>
                <a:gridCol w="2123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175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0175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0175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826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1D1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1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1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1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188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REST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1D1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1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1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1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188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GraphQL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1D1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1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1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1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188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gRPC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1D1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1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1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1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188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826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14141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Learning curve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1D1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1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1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1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Low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1D1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1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1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1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Medium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1D1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1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1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1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Medium: Protobuf and toolchain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1D1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1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1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1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826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14141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Ecosystem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1D1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1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1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1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Abundant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1D1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1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1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1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Mature and growing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1D1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1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1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1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Mature in cloud-native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1D1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1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1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1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826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14141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Typical use cases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1D1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1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1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1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Public APIs, identity, legacy integration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1D1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1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1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1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Mobile, BFFs, micro-frontends, multi-tenant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1D1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1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1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1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Microservices, IoT, real-time streams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1D1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1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1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1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private/tmp/claude-501/-Users-spietrek-Projects-dev2next/d6614435-6e88-43b0-8755-153d1251090d/scratchpad/assets/insight-stack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8000" y="152400"/>
            <a:ext cx="990600" cy="4064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3556000" y="406400"/>
            <a:ext cx="5080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10000"/>
              </a:lnSpc>
              <a:buNone/>
            </a:pPr>
            <a:r>
              <a:rPr lang="en-US" sz="1000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Protocol Studio  —  REST · GraphQL · gRPC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6350000" y="406400"/>
            <a:ext cx="5334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DA18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SECTION 03</a:t>
            </a:r>
            <a:endParaRPr lang="en-US" sz="1000" dirty="0"/>
          </a:p>
        </p:txBody>
      </p:sp>
      <p:sp>
        <p:nvSpPr>
          <p:cNvPr id="5" name="Text 2"/>
          <p:cNvSpPr txBox="1"/>
          <p:nvPr/>
        </p:nvSpPr>
        <p:spPr>
          <a:xfrm>
            <a:off x="508000" y="6578600"/>
            <a:ext cx="889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900" dirty="0">
                <a:solidFill>
                  <a:srgbClr val="9E9E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Insight Proprietary &amp; Confidential.  Do Not Copy or Distribute.  © 2026 Insight.  All Rights Reserved.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10922000" y="6578600"/>
            <a:ext cx="762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lnSpc>
                <a:spcPct val="110000"/>
              </a:lnSpc>
              <a:buNone/>
            </a:pPr>
            <a:r>
              <a:rPr lang="en-US" sz="900" dirty="0">
                <a:solidFill>
                  <a:srgbClr val="9E9E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1587500"/>
            <a:ext cx="5080000" cy="165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90000"/>
              </a:lnSpc>
              <a:buNone/>
            </a:pPr>
            <a:r>
              <a:rPr lang="en-US" sz="12000" b="1" dirty="0">
                <a:solidFill>
                  <a:srgbClr val="DA18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2000" dirty="0"/>
          </a:p>
        </p:txBody>
      </p:sp>
      <p:sp>
        <p:nvSpPr>
          <p:cNvPr id="8" name="Text 5"/>
          <p:cNvSpPr txBox="1"/>
          <p:nvPr/>
        </p:nvSpPr>
        <p:spPr>
          <a:xfrm>
            <a:off x="508000" y="3302000"/>
            <a:ext cx="5207000" cy="1320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44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Demo &amp; Field Stories</a:t>
            </a:r>
            <a:endParaRPr lang="en-US" sz="4400" dirty="0"/>
          </a:p>
        </p:txBody>
      </p:sp>
      <p:sp>
        <p:nvSpPr>
          <p:cNvPr id="9" name="Shape 6"/>
          <p:cNvSpPr/>
          <p:nvPr/>
        </p:nvSpPr>
        <p:spPr>
          <a:xfrm>
            <a:off x="508000" y="4800600"/>
            <a:ext cx="1016000" cy="50800"/>
          </a:xfrm>
          <a:prstGeom prst="rect">
            <a:avLst/>
          </a:prstGeom>
          <a:solidFill>
            <a:srgbClr val="DA188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7"/>
          <p:cNvSpPr txBox="1"/>
          <p:nvPr/>
        </p:nvSpPr>
        <p:spPr>
          <a:xfrm>
            <a:off x="508000" y="5029200"/>
            <a:ext cx="520700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500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Protocol Studio live, then where the choice mattered for clients.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6223000" y="2654300"/>
            <a:ext cx="5461000" cy="2057400"/>
          </a:xfrm>
          <a:prstGeom prst="rect">
            <a:avLst/>
          </a:prstGeom>
          <a:solidFill>
            <a:srgbClr val="F4F4F4"/>
          </a:solidFill>
          <a:ln/>
          <a:effectLst>
            <a:outerShdw blurRad="50800" dist="25400" dir="54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Shape 9"/>
          <p:cNvSpPr/>
          <p:nvPr/>
        </p:nvSpPr>
        <p:spPr>
          <a:xfrm>
            <a:off x="6223000" y="2654300"/>
            <a:ext cx="5461000" cy="50800"/>
          </a:xfrm>
          <a:prstGeom prst="rect">
            <a:avLst/>
          </a:prstGeom>
          <a:solidFill>
            <a:srgbClr val="DA188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0"/>
          <p:cNvSpPr txBox="1"/>
          <p:nvPr/>
        </p:nvSpPr>
        <p:spPr>
          <a:xfrm>
            <a:off x="6477000" y="2882900"/>
            <a:ext cx="495300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200" b="1" dirty="0">
                <a:solidFill>
                  <a:srgbClr val="DA18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THIS SECTION</a:t>
            </a:r>
            <a:endParaRPr lang="en-US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6477000" y="3238500"/>
            <a:ext cx="4953000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demo: three questions, three protocols</a:t>
            </a:r>
            <a:endParaRPr lang="en-US" sz="1300" dirty="0"/>
          </a:p>
        </p:txBody>
      </p:sp>
      <p:sp>
        <p:nvSpPr>
          <p:cNvPr id="15" name="Text 12"/>
          <p:cNvSpPr txBox="1"/>
          <p:nvPr/>
        </p:nvSpPr>
        <p:spPr>
          <a:xfrm>
            <a:off x="6477000" y="3721100"/>
            <a:ext cx="4953000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Large-scale distribution: REST and GraphQL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6477000" y="4203700"/>
            <a:ext cx="4953000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Global retail coffee: gRPC at the edge</a:t>
            </a:r>
            <a:endParaRPr lang="en-US" sz="13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private/tmp/claude-501/-Users-spietrek-Projects-dev2next/d6614435-6e88-43b0-8755-153d1251090d/scratchpad/assets/insight-stack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8000" y="152400"/>
            <a:ext cx="990600" cy="4064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3556000" y="406400"/>
            <a:ext cx="5080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10000"/>
              </a:lnSpc>
              <a:buNone/>
            </a:pPr>
            <a:r>
              <a:rPr lang="en-US" sz="1000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Protocol Studio  —  REST · GraphQL · gRPC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6350000" y="406400"/>
            <a:ext cx="5334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DA18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DEMO</a:t>
            </a:r>
            <a:endParaRPr lang="en-US" sz="1000" dirty="0"/>
          </a:p>
        </p:txBody>
      </p:sp>
      <p:sp>
        <p:nvSpPr>
          <p:cNvPr id="5" name="Text 2"/>
          <p:cNvSpPr txBox="1"/>
          <p:nvPr/>
        </p:nvSpPr>
        <p:spPr>
          <a:xfrm>
            <a:off x="508000" y="6578600"/>
            <a:ext cx="889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900" dirty="0">
                <a:solidFill>
                  <a:srgbClr val="9E9E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Insight Proprietary &amp; Confidential.  Do Not Copy or Distribute.  © 2026 Insight.  All Rights Reserved.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10922000" y="6578600"/>
            <a:ext cx="762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lnSpc>
                <a:spcPct val="110000"/>
              </a:lnSpc>
              <a:buNone/>
            </a:pPr>
            <a:r>
              <a:rPr lang="en-US" sz="900" dirty="0">
                <a:solidFill>
                  <a:srgbClr val="9E9E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</a:t>
            </a:r>
            <a:endParaRPr lang="en-US" sz="900" dirty="0"/>
          </a:p>
        </p:txBody>
      </p:sp>
      <p:sp>
        <p:nvSpPr>
          <p:cNvPr id="7" name="Text 4"/>
          <p:cNvSpPr txBox="1"/>
          <p:nvPr/>
        </p:nvSpPr>
        <p:spPr>
          <a:xfrm>
            <a:off x="508000" y="889000"/>
            <a:ext cx="1117600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200" b="1" dirty="0">
                <a:solidFill>
                  <a:srgbClr val="DA18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DEMO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508000" y="1130300"/>
            <a:ext cx="11176000" cy="482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Demo: Let's Get Into the Code</a:t>
            </a:r>
            <a:endParaRPr lang="en-US" sz="3000" dirty="0"/>
          </a:p>
        </p:txBody>
      </p:sp>
      <p:sp>
        <p:nvSpPr>
          <p:cNvPr id="9" name="Text 6"/>
          <p:cNvSpPr txBox="1"/>
          <p:nvPr/>
        </p:nvSpPr>
        <p:spPr>
          <a:xfrm>
            <a:off x="508000" y="1663700"/>
            <a:ext cx="11176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400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Ask a question, watch the model pick a protocol, and inspect the real request and response.</a:t>
            </a:r>
            <a:endParaRPr lang="en-US" sz="1400" dirty="0"/>
          </a:p>
        </p:txBody>
      </p:sp>
      <p:sp>
        <p:nvSpPr>
          <p:cNvPr id="11" name="Shape 7"/>
          <p:cNvSpPr/>
          <p:nvPr/>
        </p:nvSpPr>
        <p:spPr>
          <a:xfrm>
            <a:off x="508000" y="2159000"/>
            <a:ext cx="3587750" cy="2540000"/>
          </a:xfrm>
          <a:prstGeom prst="rect">
            <a:avLst/>
          </a:prstGeom>
          <a:solidFill>
            <a:srgbClr val="F4F4F4"/>
          </a:solidFill>
          <a:ln/>
          <a:effectLst>
            <a:outerShdw blurRad="50800" dist="25400" dir="54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Shape 8"/>
          <p:cNvSpPr/>
          <p:nvPr/>
        </p:nvSpPr>
        <p:spPr>
          <a:xfrm>
            <a:off x="508000" y="2159000"/>
            <a:ext cx="3587750" cy="50800"/>
          </a:xfrm>
          <a:prstGeom prst="rect">
            <a:avLst/>
          </a:prstGeom>
          <a:solidFill>
            <a:srgbClr val="DA188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9"/>
          <p:cNvSpPr txBox="1"/>
          <p:nvPr/>
        </p:nvSpPr>
        <p:spPr>
          <a:xfrm>
            <a:off x="736600" y="2387600"/>
            <a:ext cx="3130550" cy="2133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sz="1200" b="1" dirty="0">
                <a:solidFill>
                  <a:srgbClr val="DA18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REST · SIMPLE LOOKUP</a:t>
            </a:r>
            <a:endParaRPr lang="en-US" sz="1200" dirty="0"/>
          </a:p>
          <a:p>
            <a:pPr marL="0" indent="0"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sz="15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“Tell me about the Millennium Falcon.”</a:t>
            </a:r>
            <a:endParaRPr lang="en-US" sz="12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Routes to GET /api/catalog/starships/ship:5 and returns a cacheable JSON body.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4298950" y="2159000"/>
            <a:ext cx="3587750" cy="2540000"/>
          </a:xfrm>
          <a:prstGeom prst="rect">
            <a:avLst/>
          </a:prstGeom>
          <a:solidFill>
            <a:srgbClr val="F4F4F4"/>
          </a:solidFill>
          <a:ln/>
          <a:effectLst>
            <a:outerShdw blurRad="50800" dist="25400" dir="54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Shape 11"/>
          <p:cNvSpPr/>
          <p:nvPr/>
        </p:nvSpPr>
        <p:spPr>
          <a:xfrm>
            <a:off x="4298950" y="2159000"/>
            <a:ext cx="3587750" cy="50800"/>
          </a:xfrm>
          <a:prstGeom prst="rect">
            <a:avLst/>
          </a:prstGeom>
          <a:solidFill>
            <a:srgbClr val="DA188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2"/>
          <p:cNvSpPr txBox="1"/>
          <p:nvPr/>
        </p:nvSpPr>
        <p:spPr>
          <a:xfrm>
            <a:off x="4527550" y="2387600"/>
            <a:ext cx="3130550" cy="2133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sz="1200" b="1" dirty="0">
                <a:solidFill>
                  <a:srgbClr val="DA18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GRAPHQL · RELATIONSHIPS</a:t>
            </a:r>
            <a:endParaRPr lang="en-US" sz="1200" dirty="0"/>
          </a:p>
          <a:p>
            <a:pPr marL="0" indent="0"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sz="15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“Which starships appear in A New Hope, and who produced it?”</a:t>
            </a:r>
            <a:endParaRPr lang="en-US" sz="12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Routes to query ExploreStarships, returning ships, films and producers together.</a:t>
            </a:r>
            <a:endParaRPr lang="en-US" sz="1200" dirty="0"/>
          </a:p>
        </p:txBody>
      </p:sp>
      <p:sp>
        <p:nvSpPr>
          <p:cNvPr id="17" name="Shape 13"/>
          <p:cNvSpPr/>
          <p:nvPr/>
        </p:nvSpPr>
        <p:spPr>
          <a:xfrm>
            <a:off x="8089900" y="2159000"/>
            <a:ext cx="3587750" cy="2540000"/>
          </a:xfrm>
          <a:prstGeom prst="rect">
            <a:avLst/>
          </a:prstGeom>
          <a:solidFill>
            <a:srgbClr val="F4F4F4"/>
          </a:solidFill>
          <a:ln/>
          <a:effectLst>
            <a:outerShdw blurRad="50800" dist="25400" dir="54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8" name="Shape 14"/>
          <p:cNvSpPr/>
          <p:nvPr/>
        </p:nvSpPr>
        <p:spPr>
          <a:xfrm>
            <a:off x="8089900" y="2159000"/>
            <a:ext cx="3587750" cy="50800"/>
          </a:xfrm>
          <a:prstGeom prst="rect">
            <a:avLst/>
          </a:prstGeom>
          <a:solidFill>
            <a:srgbClr val="DA188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Text 15"/>
          <p:cNvSpPr txBox="1"/>
          <p:nvPr/>
        </p:nvSpPr>
        <p:spPr>
          <a:xfrm>
            <a:off x="8318500" y="2387600"/>
            <a:ext cx="3130550" cy="2133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sz="1200" b="1" dirty="0">
                <a:solidFill>
                  <a:srgbClr val="DA18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GRPC · STREAMING</a:t>
            </a:r>
            <a:endParaRPr lang="en-US" sz="1200" dirty="0"/>
          </a:p>
          <a:p>
            <a:pPr marL="0" indent="0"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sz="15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“Track the Millennium Falcon.”</a:t>
            </a:r>
            <a:endParaRPr lang="en-US" sz="12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Opens StarshipTracker/Track, and three snapshots stream back over HTTP/2.</a:t>
            </a:r>
            <a:endParaRPr lang="en-US" sz="1200" dirty="0"/>
          </a:p>
        </p:txBody>
      </p:sp>
      <p:sp>
        <p:nvSpPr>
          <p:cNvPr id="20" name="Shape 16"/>
          <p:cNvSpPr/>
          <p:nvPr/>
        </p:nvSpPr>
        <p:spPr>
          <a:xfrm>
            <a:off x="508000" y="4927600"/>
            <a:ext cx="5486400" cy="1168400"/>
          </a:xfrm>
          <a:prstGeom prst="rect">
            <a:avLst/>
          </a:prstGeom>
          <a:solidFill>
            <a:srgbClr val="1B1B1F"/>
          </a:solidFill>
          <a:ln/>
          <a:effectLst>
            <a:outerShdw blurRad="50800" dist="25400" dir="54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1" name="Shape 17"/>
          <p:cNvSpPr/>
          <p:nvPr/>
        </p:nvSpPr>
        <p:spPr>
          <a:xfrm>
            <a:off x="508000" y="4927600"/>
            <a:ext cx="5486400" cy="355600"/>
          </a:xfrm>
          <a:prstGeom prst="rect">
            <a:avLst/>
          </a:prstGeom>
          <a:solidFill>
            <a:srgbClr val="DA188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" name="Text 18"/>
          <p:cNvSpPr txBox="1"/>
          <p:nvPr/>
        </p:nvSpPr>
        <p:spPr>
          <a:xfrm>
            <a:off x="711200" y="4927600"/>
            <a:ext cx="50800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 IT</a:t>
            </a:r>
            <a:endParaRPr lang="en-US" sz="1200" dirty="0"/>
          </a:p>
        </p:txBody>
      </p:sp>
      <p:sp>
        <p:nvSpPr>
          <p:cNvPr id="23" name="Text 19"/>
          <p:cNvSpPr txBox="1"/>
          <p:nvPr/>
        </p:nvSpPr>
        <p:spPr>
          <a:xfrm>
            <a:off x="711200" y="5435600"/>
            <a:ext cx="5080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EDED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docker compose up --build -d</a:t>
            </a:r>
            <a:endParaRPr lang="en-US" sz="12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EDED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open http://localhost:3000</a:t>
            </a:r>
            <a:endParaRPr lang="en-US" sz="1200" dirty="0"/>
          </a:p>
        </p:txBody>
      </p:sp>
      <p:sp>
        <p:nvSpPr>
          <p:cNvPr id="24" name="Text 20"/>
          <p:cNvSpPr txBox="1"/>
          <p:nvPr/>
        </p:nvSpPr>
        <p:spPr>
          <a:xfrm>
            <a:off x="6400800" y="4953000"/>
            <a:ext cx="528320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200" b="1" dirty="0">
                <a:solidFill>
                  <a:srgbClr val="DA18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BUILT WITH</a:t>
            </a:r>
            <a:endParaRPr lang="en-US" sz="1200" dirty="0"/>
          </a:p>
        </p:txBody>
      </p:sp>
      <p:sp>
        <p:nvSpPr>
          <p:cNvPr id="25" name="Text 21"/>
          <p:cNvSpPr txBox="1"/>
          <p:nvPr/>
        </p:nvSpPr>
        <p:spPr>
          <a:xfrm>
            <a:off x="6400800" y="5232400"/>
            <a:ext cx="5283200" cy="825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React 19 · TypeScript · assistant-ui · Zustand · Tailwind v4</a:t>
            </a:r>
            <a:endParaRPr lang="en-US" sz="1200" dirty="0"/>
          </a:p>
          <a:p>
            <a:pPr marL="0" indent="0" algn="l">
              <a:lnSpc>
                <a:spcPct val="130000"/>
              </a:lnSpc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Java 21 · Spring Boot 3.5 · Spring for GraphQL · grpc-java</a:t>
            </a:r>
            <a:endParaRPr lang="en-US" sz="1200" dirty="0"/>
          </a:p>
          <a:p>
            <a:pPr marL="0" indent="0" algn="l">
              <a:lnSpc>
                <a:spcPct val="130000"/>
              </a:lnSpc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Ollama (local) · Jev (optional, hosted)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private/tmp/claude-501/-Users-spietrek-Projects-dev2next/d6614435-6e88-43b0-8755-153d1251090d/scratchpad/assets/insight-stack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8000" y="152400"/>
            <a:ext cx="990600" cy="4064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3556000" y="406400"/>
            <a:ext cx="5080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10000"/>
              </a:lnSpc>
              <a:buNone/>
            </a:pPr>
            <a:r>
              <a:rPr lang="en-US" sz="1000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Protocol Studio  —  REST · GraphQL · gRPC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6350000" y="406400"/>
            <a:ext cx="5334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DA18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CLIENT STORIES</a:t>
            </a:r>
            <a:endParaRPr lang="en-US" sz="1000" dirty="0"/>
          </a:p>
        </p:txBody>
      </p:sp>
      <p:sp>
        <p:nvSpPr>
          <p:cNvPr id="5" name="Text 2"/>
          <p:cNvSpPr txBox="1"/>
          <p:nvPr/>
        </p:nvSpPr>
        <p:spPr>
          <a:xfrm>
            <a:off x="508000" y="6578600"/>
            <a:ext cx="889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900" dirty="0">
                <a:solidFill>
                  <a:srgbClr val="9E9E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Insight Proprietary &amp; Confidential.  Do Not Copy or Distribute.  © 2026 Insight.  All Rights Reserved.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10922000" y="6578600"/>
            <a:ext cx="762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lnSpc>
                <a:spcPct val="110000"/>
              </a:lnSpc>
              <a:buNone/>
            </a:pPr>
            <a:r>
              <a:rPr lang="en-US" sz="900" dirty="0">
                <a:solidFill>
                  <a:srgbClr val="9E9E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</a:t>
            </a:r>
            <a:endParaRPr lang="en-US" sz="900" dirty="0"/>
          </a:p>
        </p:txBody>
      </p:sp>
      <p:sp>
        <p:nvSpPr>
          <p:cNvPr id="7" name="Text 4"/>
          <p:cNvSpPr txBox="1"/>
          <p:nvPr/>
        </p:nvSpPr>
        <p:spPr>
          <a:xfrm>
            <a:off x="508000" y="889000"/>
            <a:ext cx="1117600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200" b="1" dirty="0">
                <a:solidFill>
                  <a:srgbClr val="DA18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CLIENT STORY · DISTRIBUTION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508000" y="1130300"/>
            <a:ext cx="11176000" cy="482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Large-Scale Distribution</a:t>
            </a:r>
            <a:endParaRPr lang="en-US" sz="3000" dirty="0"/>
          </a:p>
        </p:txBody>
      </p:sp>
      <p:sp>
        <p:nvSpPr>
          <p:cNvPr id="9" name="Text 6"/>
          <p:cNvSpPr txBox="1"/>
          <p:nvPr/>
        </p:nvSpPr>
        <p:spPr>
          <a:xfrm>
            <a:off x="508000" y="1663700"/>
            <a:ext cx="11176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400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 automated material handling systems, equipment and consulting company.</a:t>
            </a:r>
            <a:endParaRPr lang="en-US" sz="1400" dirty="0"/>
          </a:p>
        </p:txBody>
      </p:sp>
      <p:sp>
        <p:nvSpPr>
          <p:cNvPr id="11" name="Text 7"/>
          <p:cNvSpPr txBox="1"/>
          <p:nvPr/>
        </p:nvSpPr>
        <p:spPr>
          <a:xfrm>
            <a:off x="508000" y="2159000"/>
            <a:ext cx="6731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client set out to build the next-generation warehouse execution system.</a:t>
            </a:r>
            <a:endParaRPr lang="en-US" sz="1500" dirty="0"/>
          </a:p>
        </p:txBody>
      </p:sp>
      <p:sp>
        <p:nvSpPr>
          <p:cNvPr id="12" name="Shape 8"/>
          <p:cNvSpPr/>
          <p:nvPr/>
        </p:nvSpPr>
        <p:spPr>
          <a:xfrm>
            <a:off x="508000" y="2870200"/>
            <a:ext cx="6731000" cy="2984500"/>
          </a:xfrm>
          <a:prstGeom prst="rect">
            <a:avLst/>
          </a:prstGeom>
          <a:solidFill>
            <a:srgbClr val="F4F4F4"/>
          </a:solidFill>
          <a:ln/>
          <a:effectLst>
            <a:outerShdw blurRad="50800" dist="25400" dir="54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Shape 9"/>
          <p:cNvSpPr/>
          <p:nvPr/>
        </p:nvSpPr>
        <p:spPr>
          <a:xfrm>
            <a:off x="508000" y="2870200"/>
            <a:ext cx="6731000" cy="406400"/>
          </a:xfrm>
          <a:prstGeom prst="rect">
            <a:avLst/>
          </a:prstGeom>
          <a:solidFill>
            <a:srgbClr val="DA188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0"/>
          <p:cNvSpPr txBox="1"/>
          <p:nvPr/>
        </p:nvSpPr>
        <p:spPr>
          <a:xfrm>
            <a:off x="736600" y="2870200"/>
            <a:ext cx="6273800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approach</a:t>
            </a:r>
            <a:endParaRPr lang="en-US" sz="1300" dirty="0"/>
          </a:p>
        </p:txBody>
      </p:sp>
      <p:sp>
        <p:nvSpPr>
          <p:cNvPr id="15" name="Text 11"/>
          <p:cNvSpPr txBox="1"/>
          <p:nvPr/>
        </p:nvSpPr>
        <p:spPr>
          <a:xfrm>
            <a:off x="736600" y="3454400"/>
            <a:ext cx="6273800" cy="2247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 “Waze for the warehouse” in the public cloud</a:t>
            </a:r>
            <a:endParaRPr lang="en-US" sz="12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Complete automation, which had never been done before</a:t>
            </a:r>
            <a:endParaRPr lang="en-US" sz="12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 industrial IoT solution: sorting, picking and conveyors</a:t>
            </a:r>
            <a:endParaRPr lang="en-US" sz="12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“basecamp to the summit” delivery approach</a:t>
            </a:r>
            <a:endParaRPr lang="en-US" sz="1200" dirty="0"/>
          </a:p>
        </p:txBody>
      </p:sp>
      <p:sp>
        <p:nvSpPr>
          <p:cNvPr id="16" name="Shape 12"/>
          <p:cNvSpPr/>
          <p:nvPr/>
        </p:nvSpPr>
        <p:spPr>
          <a:xfrm>
            <a:off x="7493000" y="2159000"/>
            <a:ext cx="4191000" cy="1778000"/>
          </a:xfrm>
          <a:prstGeom prst="rect">
            <a:avLst/>
          </a:prstGeom>
          <a:solidFill>
            <a:srgbClr val="F4F4F4"/>
          </a:solidFill>
          <a:ln/>
          <a:effectLst>
            <a:outerShdw blurRad="50800" dist="25400" dir="54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7" name="Shape 13"/>
          <p:cNvSpPr/>
          <p:nvPr/>
        </p:nvSpPr>
        <p:spPr>
          <a:xfrm>
            <a:off x="7493000" y="2159000"/>
            <a:ext cx="4191000" cy="50800"/>
          </a:xfrm>
          <a:prstGeom prst="rect">
            <a:avLst/>
          </a:prstGeom>
          <a:solidFill>
            <a:srgbClr val="DA188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Text 14"/>
          <p:cNvSpPr txBox="1"/>
          <p:nvPr/>
        </p:nvSpPr>
        <p:spPr>
          <a:xfrm>
            <a:off x="7721600" y="2387600"/>
            <a:ext cx="37338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sz="1200" b="1" dirty="0">
                <a:solidFill>
                  <a:srgbClr val="DA18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PROTOCOLS IN PLAY</a:t>
            </a:r>
            <a:endParaRPr lang="en-US" sz="1200" dirty="0"/>
          </a:p>
          <a:p>
            <a:pPr marL="0" indent="0"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sz="15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REST and GraphQL</a:t>
            </a:r>
            <a:endParaRPr lang="en-US" sz="12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Microservices and functions expose REST APIs for resources and GraphQL for the connected warehouse view.</a:t>
            </a:r>
            <a:endParaRPr lang="en-US" sz="1200" dirty="0"/>
          </a:p>
        </p:txBody>
      </p:sp>
      <p:sp>
        <p:nvSpPr>
          <p:cNvPr id="19" name="Shape 15"/>
          <p:cNvSpPr/>
          <p:nvPr/>
        </p:nvSpPr>
        <p:spPr>
          <a:xfrm>
            <a:off x="7493000" y="4140200"/>
            <a:ext cx="4191000" cy="1714500"/>
          </a:xfrm>
          <a:prstGeom prst="rect">
            <a:avLst/>
          </a:prstGeom>
          <a:solidFill>
            <a:srgbClr val="F4F4F4"/>
          </a:solidFill>
          <a:ln/>
          <a:effectLst>
            <a:outerShdw blurRad="50800" dist="25400" dir="54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Shape 16"/>
          <p:cNvSpPr/>
          <p:nvPr/>
        </p:nvSpPr>
        <p:spPr>
          <a:xfrm>
            <a:off x="7493000" y="4140200"/>
            <a:ext cx="4191000" cy="50800"/>
          </a:xfrm>
          <a:prstGeom prst="rect">
            <a:avLst/>
          </a:prstGeom>
          <a:solidFill>
            <a:srgbClr val="DA188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Text 17"/>
          <p:cNvSpPr txBox="1"/>
          <p:nvPr/>
        </p:nvSpPr>
        <p:spPr>
          <a:xfrm>
            <a:off x="7721600" y="4368800"/>
            <a:ext cx="3733800" cy="1308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sz="1200" b="1" dirty="0">
                <a:solidFill>
                  <a:srgbClr val="DA18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IT IS GOING</a:t>
            </a:r>
            <a:endParaRPr lang="en-US" sz="1200" dirty="0"/>
          </a:p>
          <a:p>
            <a:pPr marL="0" indent="0"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sz="15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 “Jinan”</a:t>
            </a:r>
            <a:endParaRPr lang="en-US" sz="12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multi-year engagement to build the next platform. The name means “second son.”</a:t>
            </a:r>
            <a:endParaRPr lang="en-US" sz="1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private/tmp/claude-501/-Users-spietrek-Projects-dev2next/d6614435-6e88-43b0-8755-153d1251090d/scratchpad/assets/insight-stack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8000" y="152400"/>
            <a:ext cx="990600" cy="4064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3556000" y="406400"/>
            <a:ext cx="5080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10000"/>
              </a:lnSpc>
              <a:buNone/>
            </a:pPr>
            <a:r>
              <a:rPr lang="en-US" sz="1000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Protocol Studio  —  REST · GraphQL · gRPC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6350000" y="406400"/>
            <a:ext cx="5334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DA18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CLIENT STORIES</a:t>
            </a:r>
            <a:endParaRPr lang="en-US" sz="1000" dirty="0"/>
          </a:p>
        </p:txBody>
      </p:sp>
      <p:sp>
        <p:nvSpPr>
          <p:cNvPr id="5" name="Text 2"/>
          <p:cNvSpPr txBox="1"/>
          <p:nvPr/>
        </p:nvSpPr>
        <p:spPr>
          <a:xfrm>
            <a:off x="508000" y="6578600"/>
            <a:ext cx="889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900" dirty="0">
                <a:solidFill>
                  <a:srgbClr val="9E9E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Insight Proprietary &amp; Confidential.  Do Not Copy or Distribute.  © 2026 Insight.  All Rights Reserved.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10922000" y="6578600"/>
            <a:ext cx="762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lnSpc>
                <a:spcPct val="110000"/>
              </a:lnSpc>
              <a:buNone/>
            </a:pPr>
            <a:r>
              <a:rPr lang="en-US" sz="900" dirty="0">
                <a:solidFill>
                  <a:srgbClr val="9E9E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900" dirty="0"/>
          </a:p>
        </p:txBody>
      </p:sp>
      <p:sp>
        <p:nvSpPr>
          <p:cNvPr id="7" name="Text 4"/>
          <p:cNvSpPr txBox="1"/>
          <p:nvPr/>
        </p:nvSpPr>
        <p:spPr>
          <a:xfrm>
            <a:off x="508000" y="889000"/>
            <a:ext cx="1117600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200" b="1" dirty="0">
                <a:solidFill>
                  <a:srgbClr val="DA18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CLIENT STORY · RETAIL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508000" y="1130300"/>
            <a:ext cx="11176000" cy="482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Global Retail Coffee Manufacturer</a:t>
            </a:r>
            <a:endParaRPr lang="en-US" sz="3000" dirty="0"/>
          </a:p>
        </p:txBody>
      </p:sp>
      <p:sp>
        <p:nvSpPr>
          <p:cNvPr id="9" name="Text 6"/>
          <p:cNvSpPr txBox="1"/>
          <p:nvPr/>
        </p:nvSpPr>
        <p:spPr>
          <a:xfrm>
            <a:off x="508000" y="1663700"/>
            <a:ext cx="11176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400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Next-generation point of sale and order operations.</a:t>
            </a:r>
            <a:endParaRPr lang="en-US" sz="1400" dirty="0"/>
          </a:p>
        </p:txBody>
      </p:sp>
      <p:sp>
        <p:nvSpPr>
          <p:cNvPr id="11" name="Shape 7"/>
          <p:cNvSpPr/>
          <p:nvPr/>
        </p:nvSpPr>
        <p:spPr>
          <a:xfrm>
            <a:off x="508000" y="2159000"/>
            <a:ext cx="3429000" cy="1549400"/>
          </a:xfrm>
          <a:prstGeom prst="rect">
            <a:avLst/>
          </a:prstGeom>
          <a:solidFill>
            <a:srgbClr val="F4F4F4"/>
          </a:solidFill>
          <a:ln/>
          <a:effectLst>
            <a:outerShdw blurRad="50800" dist="25400" dir="54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Shape 8"/>
          <p:cNvSpPr/>
          <p:nvPr/>
        </p:nvSpPr>
        <p:spPr>
          <a:xfrm>
            <a:off x="508000" y="2159000"/>
            <a:ext cx="3429000" cy="50800"/>
          </a:xfrm>
          <a:prstGeom prst="rect">
            <a:avLst/>
          </a:prstGeom>
          <a:solidFill>
            <a:srgbClr val="DA188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9"/>
          <p:cNvSpPr txBox="1"/>
          <p:nvPr/>
        </p:nvSpPr>
        <p:spPr>
          <a:xfrm>
            <a:off x="736600" y="2349500"/>
            <a:ext cx="297180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200" b="1" dirty="0">
                <a:solidFill>
                  <a:srgbClr val="DA18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LOCATIONS</a:t>
            </a:r>
            <a:endParaRPr lang="en-US" sz="1200" dirty="0"/>
          </a:p>
        </p:txBody>
      </p:sp>
      <p:sp>
        <p:nvSpPr>
          <p:cNvPr id="14" name="Text 10"/>
          <p:cNvSpPr txBox="1"/>
          <p:nvPr/>
        </p:nvSpPr>
        <p:spPr>
          <a:xfrm>
            <a:off x="736600" y="2616200"/>
            <a:ext cx="297180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40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33k</a:t>
            </a:r>
            <a:endParaRPr lang="en-US" sz="4000" dirty="0"/>
          </a:p>
        </p:txBody>
      </p:sp>
      <p:sp>
        <p:nvSpPr>
          <p:cNvPr id="15" name="Text 11"/>
          <p:cNvSpPr txBox="1"/>
          <p:nvPr/>
        </p:nvSpPr>
        <p:spPr>
          <a:xfrm>
            <a:off x="736600" y="3327400"/>
            <a:ext cx="297180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200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security and offline operation are key</a:t>
            </a:r>
            <a:endParaRPr lang="en-US" sz="1200" dirty="0"/>
          </a:p>
        </p:txBody>
      </p:sp>
      <p:sp>
        <p:nvSpPr>
          <p:cNvPr id="16" name="Shape 12"/>
          <p:cNvSpPr/>
          <p:nvPr/>
        </p:nvSpPr>
        <p:spPr>
          <a:xfrm>
            <a:off x="508000" y="3911600"/>
            <a:ext cx="3429000" cy="1943100"/>
          </a:xfrm>
          <a:prstGeom prst="rect">
            <a:avLst/>
          </a:prstGeom>
          <a:solidFill>
            <a:srgbClr val="F4F4F4"/>
          </a:solidFill>
          <a:ln/>
          <a:effectLst>
            <a:outerShdw blurRad="50800" dist="25400" dir="54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7" name="Shape 13"/>
          <p:cNvSpPr/>
          <p:nvPr/>
        </p:nvSpPr>
        <p:spPr>
          <a:xfrm>
            <a:off x="508000" y="3911600"/>
            <a:ext cx="3429000" cy="50800"/>
          </a:xfrm>
          <a:prstGeom prst="rect">
            <a:avLst/>
          </a:prstGeom>
          <a:solidFill>
            <a:srgbClr val="DA188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Text 14"/>
          <p:cNvSpPr txBox="1"/>
          <p:nvPr/>
        </p:nvSpPr>
        <p:spPr>
          <a:xfrm>
            <a:off x="736600" y="4140200"/>
            <a:ext cx="2971800" cy="153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sz="1200" b="1" dirty="0">
                <a:solidFill>
                  <a:srgbClr val="DA18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IT IS GOING</a:t>
            </a:r>
            <a:endParaRPr lang="en-US" sz="1200" dirty="0"/>
          </a:p>
          <a:p>
            <a:pPr marL="0" indent="0"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sz="15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drive-thru</a:t>
            </a:r>
            <a:endParaRPr lang="en-US" sz="12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Now engaged on opportunities to improve drive-thru experiences.</a:t>
            </a:r>
            <a:endParaRPr lang="en-US" sz="1200" dirty="0"/>
          </a:p>
        </p:txBody>
      </p:sp>
      <p:sp>
        <p:nvSpPr>
          <p:cNvPr id="19" name="Text 15"/>
          <p:cNvSpPr txBox="1"/>
          <p:nvPr/>
        </p:nvSpPr>
        <p:spPr>
          <a:xfrm>
            <a:off x="4191000" y="2159000"/>
            <a:ext cx="7493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client set out to build the next-generation POS and ordering system.</a:t>
            </a:r>
            <a:endParaRPr lang="en-US" sz="1500" dirty="0"/>
          </a:p>
        </p:txBody>
      </p:sp>
      <p:sp>
        <p:nvSpPr>
          <p:cNvPr id="20" name="Shape 16"/>
          <p:cNvSpPr/>
          <p:nvPr/>
        </p:nvSpPr>
        <p:spPr>
          <a:xfrm>
            <a:off x="4191000" y="2870200"/>
            <a:ext cx="7493000" cy="2984500"/>
          </a:xfrm>
          <a:prstGeom prst="rect">
            <a:avLst/>
          </a:prstGeom>
          <a:solidFill>
            <a:srgbClr val="F4F4F4"/>
          </a:solidFill>
          <a:ln/>
          <a:effectLst>
            <a:outerShdw blurRad="50800" dist="25400" dir="54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1" name="Shape 17"/>
          <p:cNvSpPr/>
          <p:nvPr/>
        </p:nvSpPr>
        <p:spPr>
          <a:xfrm>
            <a:off x="4191000" y="2870200"/>
            <a:ext cx="7493000" cy="406400"/>
          </a:xfrm>
          <a:prstGeom prst="rect">
            <a:avLst/>
          </a:prstGeom>
          <a:solidFill>
            <a:srgbClr val="DA188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" name="Text 18"/>
          <p:cNvSpPr txBox="1"/>
          <p:nvPr/>
        </p:nvSpPr>
        <p:spPr>
          <a:xfrm>
            <a:off x="4419600" y="2870200"/>
            <a:ext cx="7035800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gRPC</a:t>
            </a:r>
            <a:endParaRPr lang="en-US" sz="1300" dirty="0"/>
          </a:p>
        </p:txBody>
      </p:sp>
      <p:sp>
        <p:nvSpPr>
          <p:cNvPr id="23" name="Text 19"/>
          <p:cNvSpPr txBox="1"/>
          <p:nvPr/>
        </p:nvSpPr>
        <p:spPr>
          <a:xfrm>
            <a:off x="4419600" y="3454400"/>
            <a:ext cx="7035800" cy="2247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Better experiences for both the barista partner and the customer</a:t>
            </a:r>
            <a:endParaRPr lang="en-US" sz="12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Limited ability to expose endpoints at the store</a:t>
            </a:r>
            <a:endParaRPr lang="en-US" sz="12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gRPC integration reduces exposure and increases performance</a:t>
            </a:r>
            <a:endParaRPr lang="en-US" sz="12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Service-based integration built on typed gRPC contracts</a:t>
            </a:r>
            <a:endParaRPr lang="en-US" sz="1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private/tmp/claude-501/-Users-spietrek-Projects-dev2next/d6614435-6e88-43b0-8755-153d1251090d/scratchpad/assets/insight-stack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8000" y="152400"/>
            <a:ext cx="990600" cy="4064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3556000" y="406400"/>
            <a:ext cx="5080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10000"/>
              </a:lnSpc>
              <a:buNone/>
            </a:pPr>
            <a:r>
              <a:rPr lang="en-US" sz="1000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Protocol Studio  —  REST · GraphQL · gRPC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6350000" y="406400"/>
            <a:ext cx="5334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DA18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CLOSING</a:t>
            </a:r>
            <a:endParaRPr lang="en-US" sz="1000" dirty="0"/>
          </a:p>
        </p:txBody>
      </p:sp>
      <p:sp>
        <p:nvSpPr>
          <p:cNvPr id="5" name="Text 2"/>
          <p:cNvSpPr txBox="1"/>
          <p:nvPr/>
        </p:nvSpPr>
        <p:spPr>
          <a:xfrm>
            <a:off x="508000" y="6578600"/>
            <a:ext cx="889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900" dirty="0">
                <a:solidFill>
                  <a:srgbClr val="9E9E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Insight Proprietary &amp; Confidential.  Do Not Copy or Distribute.  © 2026 Insight.  All Rights Reserved.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10922000" y="6578600"/>
            <a:ext cx="762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lnSpc>
                <a:spcPct val="110000"/>
              </a:lnSpc>
              <a:buNone/>
            </a:pPr>
            <a:r>
              <a:rPr lang="en-US" sz="900" dirty="0">
                <a:solidFill>
                  <a:srgbClr val="9E9E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</a:t>
            </a:r>
            <a:endParaRPr lang="en-US" sz="900" dirty="0"/>
          </a:p>
        </p:txBody>
      </p:sp>
      <p:sp>
        <p:nvSpPr>
          <p:cNvPr id="7" name="Text 4"/>
          <p:cNvSpPr txBox="1"/>
          <p:nvPr/>
        </p:nvSpPr>
        <p:spPr>
          <a:xfrm>
            <a:off x="508000" y="889000"/>
            <a:ext cx="1117600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200" b="1" dirty="0">
                <a:solidFill>
                  <a:srgbClr val="DA18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TO TAKE AWAY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508000" y="1130300"/>
            <a:ext cx="11176000" cy="482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Things to Take Away</a:t>
            </a:r>
            <a:endParaRPr lang="en-US" sz="3000" dirty="0"/>
          </a:p>
        </p:txBody>
      </p:sp>
      <p:sp>
        <p:nvSpPr>
          <p:cNvPr id="9" name="Text 6"/>
          <p:cNvSpPr txBox="1"/>
          <p:nvPr/>
        </p:nvSpPr>
        <p:spPr>
          <a:xfrm>
            <a:off x="508000" y="1663700"/>
            <a:ext cx="11176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400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Pick the protocol per operation, design the contract first, and measure the whole path.</a:t>
            </a:r>
            <a:endParaRPr lang="en-US" sz="1400" dirty="0"/>
          </a:p>
        </p:txBody>
      </p:sp>
      <p:sp>
        <p:nvSpPr>
          <p:cNvPr id="11" name="Shape 7"/>
          <p:cNvSpPr/>
          <p:nvPr/>
        </p:nvSpPr>
        <p:spPr>
          <a:xfrm>
            <a:off x="508000" y="2159000"/>
            <a:ext cx="3587750" cy="2476500"/>
          </a:xfrm>
          <a:prstGeom prst="rect">
            <a:avLst/>
          </a:prstGeom>
          <a:solidFill>
            <a:srgbClr val="F4F4F4"/>
          </a:solidFill>
          <a:ln/>
          <a:effectLst>
            <a:outerShdw blurRad="50800" dist="25400" dir="54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Shape 8"/>
          <p:cNvSpPr/>
          <p:nvPr/>
        </p:nvSpPr>
        <p:spPr>
          <a:xfrm>
            <a:off x="508000" y="2159000"/>
            <a:ext cx="3587750" cy="50800"/>
          </a:xfrm>
          <a:prstGeom prst="rect">
            <a:avLst/>
          </a:prstGeom>
          <a:solidFill>
            <a:srgbClr val="DA188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9"/>
          <p:cNvSpPr txBox="1"/>
          <p:nvPr/>
        </p:nvSpPr>
        <p:spPr>
          <a:xfrm>
            <a:off x="736600" y="2387600"/>
            <a:ext cx="3130550" cy="2070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sz="1200" b="1" dirty="0">
                <a:solidFill>
                  <a:srgbClr val="DA18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200" dirty="0"/>
          </a:p>
          <a:p>
            <a:pPr marL="0" indent="0"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sz="15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Choose per operation</a:t>
            </a:r>
            <a:endParaRPr lang="en-US" sz="12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REST for cacheable resources, GraphQL for related data, and gRPC for streams and service-to-service calls. Most systems use more than one.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4298950" y="2159000"/>
            <a:ext cx="3587750" cy="2476500"/>
          </a:xfrm>
          <a:prstGeom prst="rect">
            <a:avLst/>
          </a:prstGeom>
          <a:solidFill>
            <a:srgbClr val="F4F4F4"/>
          </a:solidFill>
          <a:ln/>
          <a:effectLst>
            <a:outerShdw blurRad="50800" dist="25400" dir="54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Shape 11"/>
          <p:cNvSpPr/>
          <p:nvPr/>
        </p:nvSpPr>
        <p:spPr>
          <a:xfrm>
            <a:off x="4298950" y="2159000"/>
            <a:ext cx="3587750" cy="50800"/>
          </a:xfrm>
          <a:prstGeom prst="rect">
            <a:avLst/>
          </a:prstGeom>
          <a:solidFill>
            <a:srgbClr val="DA188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2"/>
          <p:cNvSpPr txBox="1"/>
          <p:nvPr/>
        </p:nvSpPr>
        <p:spPr>
          <a:xfrm>
            <a:off x="4527550" y="2387600"/>
            <a:ext cx="3130550" cy="2070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sz="1200" b="1" dirty="0">
                <a:solidFill>
                  <a:srgbClr val="DA18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200" dirty="0"/>
          </a:p>
          <a:p>
            <a:pPr marL="0" indent="0"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sz="15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 the contract first</a:t>
            </a:r>
            <a:endParaRPr lang="en-US" sz="12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OpenAPI, SDL or .proto: the contract outlives any implementation and drives tooling, testing and code generation.</a:t>
            </a:r>
            <a:endParaRPr lang="en-US" sz="1200" dirty="0"/>
          </a:p>
        </p:txBody>
      </p:sp>
      <p:sp>
        <p:nvSpPr>
          <p:cNvPr id="17" name="Shape 13"/>
          <p:cNvSpPr/>
          <p:nvPr/>
        </p:nvSpPr>
        <p:spPr>
          <a:xfrm>
            <a:off x="8089900" y="2159000"/>
            <a:ext cx="3587750" cy="2476500"/>
          </a:xfrm>
          <a:prstGeom prst="rect">
            <a:avLst/>
          </a:prstGeom>
          <a:solidFill>
            <a:srgbClr val="F4F4F4"/>
          </a:solidFill>
          <a:ln/>
          <a:effectLst>
            <a:outerShdw blurRad="50800" dist="25400" dir="54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8" name="Shape 14"/>
          <p:cNvSpPr/>
          <p:nvPr/>
        </p:nvSpPr>
        <p:spPr>
          <a:xfrm>
            <a:off x="8089900" y="2159000"/>
            <a:ext cx="3587750" cy="50800"/>
          </a:xfrm>
          <a:prstGeom prst="rect">
            <a:avLst/>
          </a:prstGeom>
          <a:solidFill>
            <a:srgbClr val="DA188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Text 15"/>
          <p:cNvSpPr txBox="1"/>
          <p:nvPr/>
        </p:nvSpPr>
        <p:spPr>
          <a:xfrm>
            <a:off x="8318500" y="2387600"/>
            <a:ext cx="3130550" cy="2070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sz="1200" b="1" dirty="0">
                <a:solidFill>
                  <a:srgbClr val="DA18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200" dirty="0"/>
          </a:p>
          <a:p>
            <a:pPr marL="0" indent="0"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sz="15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Measure the whole path</a:t>
            </a:r>
            <a:endParaRPr lang="en-US" sz="12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Round trips, payload size and caching decide real-world latency more than the protocol label does.</a:t>
            </a:r>
            <a:endParaRPr lang="en-US" sz="1200" dirty="0"/>
          </a:p>
        </p:txBody>
      </p:sp>
      <p:sp>
        <p:nvSpPr>
          <p:cNvPr id="20" name="Shape 16"/>
          <p:cNvSpPr/>
          <p:nvPr/>
        </p:nvSpPr>
        <p:spPr>
          <a:xfrm>
            <a:off x="508000" y="4889500"/>
            <a:ext cx="11176000" cy="1079500"/>
          </a:xfrm>
          <a:prstGeom prst="rect">
            <a:avLst/>
          </a:prstGeom>
          <a:solidFill>
            <a:srgbClr val="DA1884"/>
          </a:solidFill>
          <a:ln/>
          <a:effectLst>
            <a:outerShdw blurRad="50800" dist="25400" dir="54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1" name="Text 17"/>
          <p:cNvSpPr txBox="1"/>
          <p:nvPr/>
        </p:nvSpPr>
        <p:spPr>
          <a:xfrm>
            <a:off x="787400" y="5080000"/>
            <a:ext cx="10668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“Three protocols. One question. The right call, made where you can see it.”</a:t>
            </a:r>
            <a:endParaRPr lang="en-US" sz="1800" dirty="0"/>
          </a:p>
        </p:txBody>
      </p:sp>
      <p:sp>
        <p:nvSpPr>
          <p:cNvPr id="22" name="Text 18"/>
          <p:cNvSpPr txBox="1"/>
          <p:nvPr/>
        </p:nvSpPr>
        <p:spPr>
          <a:xfrm>
            <a:off x="787400" y="5575300"/>
            <a:ext cx="1066800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Repository, runbook and measurements: [repository link]</a:t>
            </a:r>
            <a:endParaRPr lang="en-US" sz="1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128000" y="0"/>
            <a:ext cx="4064000" cy="6858000"/>
          </a:xfrm>
          <a:prstGeom prst="rect">
            <a:avLst/>
          </a:prstGeom>
          <a:solidFill>
            <a:srgbClr val="DA1884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3" name="Image 0" descr="/private/tmp/claude-501/-Users-spietrek-Projects-dev2next/d6614435-6e88-43b0-8755-153d1251090d/scratchpad/assets/insight-stack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" y="825500"/>
            <a:ext cx="1905000" cy="78740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609600" y="2095500"/>
            <a:ext cx="6985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DA18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</a:t>
            </a:r>
            <a:endParaRPr lang="en-US" sz="1300" dirty="0"/>
          </a:p>
        </p:txBody>
      </p:sp>
      <p:sp>
        <p:nvSpPr>
          <p:cNvPr id="5" name="Text 2"/>
          <p:cNvSpPr txBox="1"/>
          <p:nvPr/>
        </p:nvSpPr>
        <p:spPr>
          <a:xfrm>
            <a:off x="609600" y="2413000"/>
            <a:ext cx="6985000" cy="88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60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/questions</a:t>
            </a:r>
            <a:endParaRPr lang="en-US" sz="6000" dirty="0"/>
          </a:p>
        </p:txBody>
      </p:sp>
      <p:sp>
        <p:nvSpPr>
          <p:cNvPr id="6" name="Shape 3"/>
          <p:cNvSpPr/>
          <p:nvPr/>
        </p:nvSpPr>
        <p:spPr>
          <a:xfrm>
            <a:off x="609600" y="3479800"/>
            <a:ext cx="1016000" cy="50800"/>
          </a:xfrm>
          <a:prstGeom prst="rect">
            <a:avLst/>
          </a:prstGeom>
          <a:solidFill>
            <a:srgbClr val="DA188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4"/>
          <p:cNvSpPr txBox="1"/>
          <p:nvPr/>
        </p:nvSpPr>
        <p:spPr>
          <a:xfrm>
            <a:off x="609600" y="3746500"/>
            <a:ext cx="69850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40000"/>
              </a:lnSpc>
              <a:buNone/>
            </a:pPr>
            <a:r>
              <a:rPr lang="en-US" sz="15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[Presenter name]</a:t>
            </a: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|  [Title]</a:t>
            </a:r>
            <a:endParaRPr lang="en-US" sz="15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5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[Presenter name]</a:t>
            </a: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|  [Title]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609600" y="6578600"/>
            <a:ext cx="7366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900" dirty="0">
                <a:solidFill>
                  <a:srgbClr val="9E9E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Insight Proprietary &amp; Confidential.  Do Not Copy or Distribute.  © 2026 Insight.  All Rights Reserved.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8636000" y="1587500"/>
            <a:ext cx="3048000" cy="152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Try it yourself.</a:t>
            </a:r>
            <a:endParaRPr lang="en-US" sz="3000" dirty="0"/>
          </a:p>
        </p:txBody>
      </p:sp>
      <p:sp>
        <p:nvSpPr>
          <p:cNvPr id="10" name="Shape 7"/>
          <p:cNvSpPr/>
          <p:nvPr/>
        </p:nvSpPr>
        <p:spPr>
          <a:xfrm>
            <a:off x="8636000" y="3238500"/>
            <a:ext cx="508000" cy="381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8"/>
          <p:cNvSpPr txBox="1"/>
          <p:nvPr/>
        </p:nvSpPr>
        <p:spPr>
          <a:xfrm>
            <a:off x="8636000" y="3492500"/>
            <a:ext cx="3048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· RUN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8636000" y="3733800"/>
            <a:ext cx="3048000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docker compose up --build -d, then open localhost:3000.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8636000" y="4318000"/>
            <a:ext cx="3048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· ASK</a:t>
            </a:r>
            <a:endParaRPr lang="en-US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8636000" y="4559300"/>
            <a:ext cx="3048000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the three guided prompts, then ask your own.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8636000" y="5143500"/>
            <a:ext cx="3048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· INSPECT</a:t>
            </a:r>
            <a:endParaRPr 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8636000" y="5384800"/>
            <a:ext cx="3048000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 the inspector to see every payload and timing.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10922000" y="6578600"/>
            <a:ext cx="762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lnSpc>
                <a:spcPct val="110000"/>
              </a:lnSpc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private/tmp/claude-501/-Users-spietrek-Projects-dev2next/d6614435-6e88-43b0-8755-153d1251090d/scratchpad/assets/insight-stack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8000" y="152400"/>
            <a:ext cx="990600" cy="4064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3556000" y="406400"/>
            <a:ext cx="5080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10000"/>
              </a:lnSpc>
              <a:buNone/>
            </a:pPr>
            <a:r>
              <a:rPr lang="en-US" sz="1000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Protocol Studio  —  REST · GraphQL · gRPC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6350000" y="406400"/>
            <a:ext cx="5334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DA18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</a:t>
            </a:r>
            <a:endParaRPr lang="en-US" sz="1000" dirty="0"/>
          </a:p>
        </p:txBody>
      </p:sp>
      <p:sp>
        <p:nvSpPr>
          <p:cNvPr id="5" name="Text 2"/>
          <p:cNvSpPr txBox="1"/>
          <p:nvPr/>
        </p:nvSpPr>
        <p:spPr>
          <a:xfrm>
            <a:off x="508000" y="6578600"/>
            <a:ext cx="889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900" dirty="0">
                <a:solidFill>
                  <a:srgbClr val="9E9E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Insight Proprietary &amp; Confidential.  Do Not Copy or Distribute.  © 2026 Insight.  All Rights Reserved.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10922000" y="6578600"/>
            <a:ext cx="762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lnSpc>
                <a:spcPct val="110000"/>
              </a:lnSpc>
              <a:buNone/>
            </a:pPr>
            <a:r>
              <a:rPr lang="en-US" sz="900" dirty="0">
                <a:solidFill>
                  <a:srgbClr val="9E9E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</a:t>
            </a:r>
            <a:endParaRPr lang="en-US" sz="90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1587500"/>
            <a:ext cx="5080000" cy="165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90000"/>
              </a:lnSpc>
              <a:buNone/>
            </a:pPr>
            <a:r>
              <a:rPr lang="en-US" sz="12000" b="1" dirty="0">
                <a:solidFill>
                  <a:srgbClr val="DA18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2000" dirty="0"/>
          </a:p>
        </p:txBody>
      </p:sp>
      <p:sp>
        <p:nvSpPr>
          <p:cNvPr id="8" name="Text 5"/>
          <p:cNvSpPr txBox="1"/>
          <p:nvPr/>
        </p:nvSpPr>
        <p:spPr>
          <a:xfrm>
            <a:off x="508000" y="3302000"/>
            <a:ext cx="5207000" cy="1320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44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Appendix: AI Routing</a:t>
            </a:r>
            <a:endParaRPr lang="en-US" sz="4400" dirty="0"/>
          </a:p>
        </p:txBody>
      </p:sp>
      <p:sp>
        <p:nvSpPr>
          <p:cNvPr id="9" name="Shape 6"/>
          <p:cNvSpPr/>
          <p:nvPr/>
        </p:nvSpPr>
        <p:spPr>
          <a:xfrm>
            <a:off x="508000" y="4800600"/>
            <a:ext cx="1016000" cy="50800"/>
          </a:xfrm>
          <a:prstGeom prst="rect">
            <a:avLst/>
          </a:prstGeom>
          <a:solidFill>
            <a:srgbClr val="DA188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7"/>
          <p:cNvSpPr txBox="1"/>
          <p:nvPr/>
        </p:nvSpPr>
        <p:spPr>
          <a:xfrm>
            <a:off x="508000" y="5029200"/>
            <a:ext cx="520700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500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Reference material: how Protocol Studio lets a model choose the protocol.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6223000" y="2413000"/>
            <a:ext cx="5461000" cy="2540000"/>
          </a:xfrm>
          <a:prstGeom prst="rect">
            <a:avLst/>
          </a:prstGeom>
          <a:solidFill>
            <a:srgbClr val="F4F4F4"/>
          </a:solidFill>
          <a:ln/>
          <a:effectLst>
            <a:outerShdw blurRad="50800" dist="25400" dir="54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Shape 9"/>
          <p:cNvSpPr/>
          <p:nvPr/>
        </p:nvSpPr>
        <p:spPr>
          <a:xfrm>
            <a:off x="6223000" y="2413000"/>
            <a:ext cx="5461000" cy="50800"/>
          </a:xfrm>
          <a:prstGeom prst="rect">
            <a:avLst/>
          </a:prstGeom>
          <a:solidFill>
            <a:srgbClr val="DA188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0"/>
          <p:cNvSpPr txBox="1"/>
          <p:nvPr/>
        </p:nvSpPr>
        <p:spPr>
          <a:xfrm>
            <a:off x="6477000" y="2641600"/>
            <a:ext cx="495300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200" b="1" dirty="0">
                <a:solidFill>
                  <a:srgbClr val="DA18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THIS SECTION</a:t>
            </a:r>
            <a:endParaRPr lang="en-US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6477000" y="2997200"/>
            <a:ext cx="4953000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Architecture: how a question becomes a protocol call</a:t>
            </a:r>
            <a:endParaRPr lang="en-US" sz="1300" dirty="0"/>
          </a:p>
        </p:txBody>
      </p:sp>
      <p:sp>
        <p:nvSpPr>
          <p:cNvPr id="15" name="Text 12"/>
          <p:cNvSpPr txBox="1"/>
          <p:nvPr/>
        </p:nvSpPr>
        <p:spPr>
          <a:xfrm>
            <a:off x="6477000" y="3479800"/>
            <a:ext cx="4953000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Ollama: local tool calling on a 4B model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6477000" y="3962400"/>
            <a:ext cx="4953000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Jev: structured decisions with confidence</a:t>
            </a:r>
            <a:endParaRPr lang="en-US" sz="1300" dirty="0"/>
          </a:p>
        </p:txBody>
      </p:sp>
      <p:sp>
        <p:nvSpPr>
          <p:cNvPr id="17" name="Text 14"/>
          <p:cNvSpPr txBox="1"/>
          <p:nvPr/>
        </p:nvSpPr>
        <p:spPr>
          <a:xfrm>
            <a:off x="6477000" y="4445000"/>
            <a:ext cx="4953000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Guardrails and measured latency</a:t>
            </a:r>
            <a:endParaRPr lang="en-US" sz="13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private/tmp/claude-501/-Users-spietrek-Projects-dev2next/d6614435-6e88-43b0-8755-153d1251090d/scratchpad/assets/insight-stack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8000" y="152400"/>
            <a:ext cx="990600" cy="4064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3556000" y="406400"/>
            <a:ext cx="5080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10000"/>
              </a:lnSpc>
              <a:buNone/>
            </a:pPr>
            <a:r>
              <a:rPr lang="en-US" sz="1000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Protocol Studio  —  REST · GraphQL · gRPC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6350000" y="406400"/>
            <a:ext cx="5334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DA18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· AI ROUTING</a:t>
            </a:r>
            <a:endParaRPr lang="en-US" sz="1000" dirty="0"/>
          </a:p>
        </p:txBody>
      </p:sp>
      <p:sp>
        <p:nvSpPr>
          <p:cNvPr id="5" name="Text 2"/>
          <p:cNvSpPr txBox="1"/>
          <p:nvPr/>
        </p:nvSpPr>
        <p:spPr>
          <a:xfrm>
            <a:off x="508000" y="6578600"/>
            <a:ext cx="889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900" dirty="0">
                <a:solidFill>
                  <a:srgbClr val="9E9E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Insight Proprietary &amp; Confidential.  Do Not Copy or Distribute.  © 2026 Insight.  All Rights Reserved.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10922000" y="6578600"/>
            <a:ext cx="762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lnSpc>
                <a:spcPct val="110000"/>
              </a:lnSpc>
              <a:buNone/>
            </a:pPr>
            <a:r>
              <a:rPr lang="en-US" sz="900" dirty="0">
                <a:solidFill>
                  <a:srgbClr val="9E9E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</a:t>
            </a:r>
            <a:endParaRPr lang="en-US" sz="900" dirty="0"/>
          </a:p>
        </p:txBody>
      </p:sp>
      <p:sp>
        <p:nvSpPr>
          <p:cNvPr id="7" name="Text 4"/>
          <p:cNvSpPr txBox="1"/>
          <p:nvPr/>
        </p:nvSpPr>
        <p:spPr>
          <a:xfrm>
            <a:off x="508000" y="889000"/>
            <a:ext cx="1117600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200" b="1" dirty="0">
                <a:solidFill>
                  <a:srgbClr val="DA18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508000" y="1130300"/>
            <a:ext cx="11176000" cy="482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Protocol Studio Routes a Question</a:t>
            </a:r>
            <a:endParaRPr lang="en-US" sz="3000" dirty="0"/>
          </a:p>
        </p:txBody>
      </p:sp>
      <p:sp>
        <p:nvSpPr>
          <p:cNvPr id="9" name="Text 6"/>
          <p:cNvSpPr txBox="1"/>
          <p:nvPr/>
        </p:nvSpPr>
        <p:spPr>
          <a:xfrm>
            <a:off x="508000" y="1663700"/>
            <a:ext cx="11176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400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interface, IntentClassifier, with two implementations: Ollama by default and Jev optionally.</a:t>
            </a:r>
            <a:endParaRPr lang="en-US" sz="1400" dirty="0"/>
          </a:p>
        </p:txBody>
      </p:sp>
      <p:sp>
        <p:nvSpPr>
          <p:cNvPr id="11" name="Shape 7"/>
          <p:cNvSpPr/>
          <p:nvPr/>
        </p:nvSpPr>
        <p:spPr>
          <a:xfrm>
            <a:off x="508000" y="2159000"/>
            <a:ext cx="1955800" cy="2540000"/>
          </a:xfrm>
          <a:prstGeom prst="rect">
            <a:avLst/>
          </a:prstGeom>
          <a:solidFill>
            <a:srgbClr val="F4F4F4"/>
          </a:solidFill>
          <a:ln/>
          <a:effectLst>
            <a:outerShdw blurRad="50800" dist="25400" dir="54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Shape 8"/>
          <p:cNvSpPr/>
          <p:nvPr/>
        </p:nvSpPr>
        <p:spPr>
          <a:xfrm>
            <a:off x="508000" y="2159000"/>
            <a:ext cx="1955800" cy="50800"/>
          </a:xfrm>
          <a:prstGeom prst="rect">
            <a:avLst/>
          </a:prstGeom>
          <a:solidFill>
            <a:srgbClr val="DA188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9"/>
          <p:cNvSpPr txBox="1"/>
          <p:nvPr/>
        </p:nvSpPr>
        <p:spPr>
          <a:xfrm>
            <a:off x="673100" y="2362200"/>
            <a:ext cx="1625600" cy="222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sz="1200" b="1" dirty="0">
                <a:solidFill>
                  <a:srgbClr val="DA18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· ASK</a:t>
            </a:r>
            <a:endParaRPr lang="en-US" sz="1200" dirty="0"/>
          </a:p>
          <a:p>
            <a:pPr marL="0" indent="0"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sz="13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plain question</a:t>
            </a:r>
            <a:endParaRPr lang="en-US" sz="12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browser posts the message and recent turns to /api/chat.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2520950" y="3352800"/>
            <a:ext cx="241300" cy="152400"/>
          </a:xfrm>
          <a:prstGeom prst="rightArrow">
            <a:avLst/>
          </a:prstGeom>
          <a:solidFill>
            <a:srgbClr val="DA188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Shape 11"/>
          <p:cNvSpPr/>
          <p:nvPr/>
        </p:nvSpPr>
        <p:spPr>
          <a:xfrm>
            <a:off x="2813050" y="2159000"/>
            <a:ext cx="1955800" cy="2540000"/>
          </a:xfrm>
          <a:prstGeom prst="rect">
            <a:avLst/>
          </a:prstGeom>
          <a:solidFill>
            <a:srgbClr val="F4F4F4"/>
          </a:solidFill>
          <a:ln/>
          <a:effectLst>
            <a:outerShdw blurRad="50800" dist="25400" dir="54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Shape 12"/>
          <p:cNvSpPr/>
          <p:nvPr/>
        </p:nvSpPr>
        <p:spPr>
          <a:xfrm>
            <a:off x="2813050" y="2159000"/>
            <a:ext cx="1955800" cy="50800"/>
          </a:xfrm>
          <a:prstGeom prst="rect">
            <a:avLst/>
          </a:prstGeom>
          <a:solidFill>
            <a:srgbClr val="DA188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3"/>
          <p:cNvSpPr txBox="1"/>
          <p:nvPr/>
        </p:nvSpPr>
        <p:spPr>
          <a:xfrm>
            <a:off x="2978150" y="2362200"/>
            <a:ext cx="1625600" cy="222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sz="1200" b="1" dirty="0">
                <a:solidFill>
                  <a:srgbClr val="DA18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· CLASSIFY</a:t>
            </a:r>
            <a:endParaRPr lang="en-US" sz="1200" dirty="0"/>
          </a:p>
          <a:p>
            <a:pPr marL="0" indent="0"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sz="13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Ollama or Jev</a:t>
            </a:r>
            <a:endParaRPr lang="en-US" sz="12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Picks one protocol and one allowlisted catalog target.</a:t>
            </a:r>
            <a:endParaRPr lang="en-US" sz="1200" dirty="0"/>
          </a:p>
        </p:txBody>
      </p:sp>
      <p:sp>
        <p:nvSpPr>
          <p:cNvPr id="18" name="Shape 14"/>
          <p:cNvSpPr/>
          <p:nvPr/>
        </p:nvSpPr>
        <p:spPr>
          <a:xfrm>
            <a:off x="4826000" y="3352800"/>
            <a:ext cx="241300" cy="152400"/>
          </a:xfrm>
          <a:prstGeom prst="rightArrow">
            <a:avLst/>
          </a:prstGeom>
          <a:solidFill>
            <a:srgbClr val="DA188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Shape 15"/>
          <p:cNvSpPr/>
          <p:nvPr/>
        </p:nvSpPr>
        <p:spPr>
          <a:xfrm>
            <a:off x="5118100" y="2159000"/>
            <a:ext cx="1955800" cy="2540000"/>
          </a:xfrm>
          <a:prstGeom prst="rect">
            <a:avLst/>
          </a:prstGeom>
          <a:solidFill>
            <a:srgbClr val="F4F4F4"/>
          </a:solidFill>
          <a:ln/>
          <a:effectLst>
            <a:outerShdw blurRad="50800" dist="25400" dir="54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Shape 16"/>
          <p:cNvSpPr/>
          <p:nvPr/>
        </p:nvSpPr>
        <p:spPr>
          <a:xfrm>
            <a:off x="5118100" y="2159000"/>
            <a:ext cx="1955800" cy="50800"/>
          </a:xfrm>
          <a:prstGeom prst="rect">
            <a:avLst/>
          </a:prstGeom>
          <a:solidFill>
            <a:srgbClr val="DA188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Text 17"/>
          <p:cNvSpPr txBox="1"/>
          <p:nvPr/>
        </p:nvSpPr>
        <p:spPr>
          <a:xfrm>
            <a:off x="5283200" y="2362200"/>
            <a:ext cx="1625600" cy="222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sz="1200" b="1" dirty="0">
                <a:solidFill>
                  <a:srgbClr val="DA18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· DECIDE</a:t>
            </a:r>
            <a:endParaRPr lang="en-US" sz="1200" dirty="0"/>
          </a:p>
          <a:p>
            <a:pPr marL="0" indent="0"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sz="13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typed decision</a:t>
            </a:r>
            <a:endParaRPr lang="en-US" sz="12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Only { protocol, target }: never a URL or query text.</a:t>
            </a:r>
            <a:endParaRPr lang="en-US" sz="1200" dirty="0"/>
          </a:p>
        </p:txBody>
      </p:sp>
      <p:sp>
        <p:nvSpPr>
          <p:cNvPr id="22" name="Shape 18"/>
          <p:cNvSpPr/>
          <p:nvPr/>
        </p:nvSpPr>
        <p:spPr>
          <a:xfrm>
            <a:off x="7131050" y="3352800"/>
            <a:ext cx="241300" cy="152400"/>
          </a:xfrm>
          <a:prstGeom prst="rightArrow">
            <a:avLst/>
          </a:prstGeom>
          <a:solidFill>
            <a:srgbClr val="DA188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Shape 19"/>
          <p:cNvSpPr/>
          <p:nvPr/>
        </p:nvSpPr>
        <p:spPr>
          <a:xfrm>
            <a:off x="7423150" y="2159000"/>
            <a:ext cx="1955800" cy="2540000"/>
          </a:xfrm>
          <a:prstGeom prst="rect">
            <a:avLst/>
          </a:prstGeom>
          <a:solidFill>
            <a:srgbClr val="F4F4F4"/>
          </a:solidFill>
          <a:ln/>
          <a:effectLst>
            <a:outerShdw blurRad="50800" dist="25400" dir="54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4" name="Shape 20"/>
          <p:cNvSpPr/>
          <p:nvPr/>
        </p:nvSpPr>
        <p:spPr>
          <a:xfrm>
            <a:off x="7423150" y="2159000"/>
            <a:ext cx="1955800" cy="50800"/>
          </a:xfrm>
          <a:prstGeom prst="rect">
            <a:avLst/>
          </a:prstGeom>
          <a:solidFill>
            <a:srgbClr val="DA188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Text 21"/>
          <p:cNvSpPr txBox="1"/>
          <p:nvPr/>
        </p:nvSpPr>
        <p:spPr>
          <a:xfrm>
            <a:off x="7588250" y="2362200"/>
            <a:ext cx="1625600" cy="222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sz="1200" b="1" dirty="0">
                <a:solidFill>
                  <a:srgbClr val="DA18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· EXECUTE</a:t>
            </a:r>
            <a:endParaRPr lang="en-US" sz="1200" dirty="0"/>
          </a:p>
          <a:p>
            <a:pPr marL="0" indent="0"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sz="13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 transport</a:t>
            </a:r>
            <a:endParaRPr lang="en-US" sz="12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Calls its own REST, GraphQL or native gRPC endpoint.</a:t>
            </a:r>
            <a:endParaRPr lang="en-US" sz="1200" dirty="0"/>
          </a:p>
        </p:txBody>
      </p:sp>
      <p:sp>
        <p:nvSpPr>
          <p:cNvPr id="26" name="Shape 22"/>
          <p:cNvSpPr/>
          <p:nvPr/>
        </p:nvSpPr>
        <p:spPr>
          <a:xfrm>
            <a:off x="9436100" y="3352800"/>
            <a:ext cx="241300" cy="152400"/>
          </a:xfrm>
          <a:prstGeom prst="rightArrow">
            <a:avLst/>
          </a:prstGeom>
          <a:solidFill>
            <a:srgbClr val="DA188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7" name="Shape 23"/>
          <p:cNvSpPr/>
          <p:nvPr/>
        </p:nvSpPr>
        <p:spPr>
          <a:xfrm>
            <a:off x="9728200" y="2159000"/>
            <a:ext cx="1955800" cy="2540000"/>
          </a:xfrm>
          <a:prstGeom prst="rect">
            <a:avLst/>
          </a:prstGeom>
          <a:solidFill>
            <a:srgbClr val="F4F4F4"/>
          </a:solidFill>
          <a:ln/>
          <a:effectLst>
            <a:outerShdw blurRad="50800" dist="25400" dir="54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8" name="Shape 24"/>
          <p:cNvSpPr/>
          <p:nvPr/>
        </p:nvSpPr>
        <p:spPr>
          <a:xfrm>
            <a:off x="9728200" y="2159000"/>
            <a:ext cx="1955800" cy="50800"/>
          </a:xfrm>
          <a:prstGeom prst="rect">
            <a:avLst/>
          </a:prstGeom>
          <a:solidFill>
            <a:srgbClr val="DA188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9" name="Text 25"/>
          <p:cNvSpPr txBox="1"/>
          <p:nvPr/>
        </p:nvSpPr>
        <p:spPr>
          <a:xfrm>
            <a:off x="9893300" y="2362200"/>
            <a:ext cx="1625600" cy="222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sz="1200" b="1" dirty="0">
                <a:solidFill>
                  <a:srgbClr val="DA18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· ANSWER</a:t>
            </a:r>
            <a:endParaRPr lang="en-US" sz="1200" dirty="0"/>
          </a:p>
          <a:p>
            <a:pPr marL="0" indent="0"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sz="13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Compose, inspect</a:t>
            </a:r>
            <a:endParaRPr lang="en-US" sz="12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Built from the response, with payloads and timings shown.</a:t>
            </a:r>
            <a:endParaRPr lang="en-US" sz="1200" dirty="0"/>
          </a:p>
        </p:txBody>
      </p:sp>
      <p:sp>
        <p:nvSpPr>
          <p:cNvPr id="30" name="Shape 26"/>
          <p:cNvSpPr/>
          <p:nvPr/>
        </p:nvSpPr>
        <p:spPr>
          <a:xfrm>
            <a:off x="508000" y="5016500"/>
            <a:ext cx="11176000" cy="698500"/>
          </a:xfrm>
          <a:prstGeom prst="rect">
            <a:avLst/>
          </a:prstGeom>
          <a:solidFill>
            <a:srgbClr val="F4F4F4"/>
          </a:solidFill>
          <a:ln/>
          <a:effectLst>
            <a:outerShdw blurRad="50800" dist="25400" dir="54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1" name="Shape 27"/>
          <p:cNvSpPr/>
          <p:nvPr/>
        </p:nvSpPr>
        <p:spPr>
          <a:xfrm>
            <a:off x="508000" y="5016500"/>
            <a:ext cx="76200" cy="698500"/>
          </a:xfrm>
          <a:prstGeom prst="rect">
            <a:avLst/>
          </a:prstGeom>
          <a:solidFill>
            <a:srgbClr val="DA188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2" name="Text 28"/>
          <p:cNvSpPr txBox="1"/>
          <p:nvPr/>
        </p:nvSpPr>
        <p:spPr>
          <a:xfrm>
            <a:off x="787400" y="5016500"/>
            <a:ext cx="10668000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model chooses the route. It never supplies the data.  </a:t>
            </a:r>
            <a:r>
              <a:rPr lang="en-US" sz="1200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Answers are composed deterministically from what the protocol returned, so a routing mistake is visible and no facts are invented.</a:t>
            </a:r>
            <a:endParaRPr lang="en-US" sz="12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private/tmp/claude-501/-Users-spietrek-Projects-dev2next/d6614435-6e88-43b0-8755-153d1251090d/scratchpad/assets/insight-stack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8000" y="152400"/>
            <a:ext cx="990600" cy="4064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3556000" y="406400"/>
            <a:ext cx="5080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10000"/>
              </a:lnSpc>
              <a:buNone/>
            </a:pPr>
            <a:r>
              <a:rPr lang="en-US" sz="1000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Protocol Studio  —  REST · GraphQL · gRPC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6350000" y="406400"/>
            <a:ext cx="5334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DA18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· AI ROUTING</a:t>
            </a:r>
            <a:endParaRPr lang="en-US" sz="1000" dirty="0"/>
          </a:p>
        </p:txBody>
      </p:sp>
      <p:sp>
        <p:nvSpPr>
          <p:cNvPr id="5" name="Text 2"/>
          <p:cNvSpPr txBox="1"/>
          <p:nvPr/>
        </p:nvSpPr>
        <p:spPr>
          <a:xfrm>
            <a:off x="508000" y="6578600"/>
            <a:ext cx="889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900" dirty="0">
                <a:solidFill>
                  <a:srgbClr val="9E9E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Insight Proprietary &amp; Confidential.  Do Not Copy or Distribute.  © 2026 Insight.  All Rights Reserved.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10922000" y="6578600"/>
            <a:ext cx="762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lnSpc>
                <a:spcPct val="110000"/>
              </a:lnSpc>
              <a:buNone/>
            </a:pPr>
            <a:r>
              <a:rPr lang="en-US" sz="900" dirty="0">
                <a:solidFill>
                  <a:srgbClr val="9E9E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</a:t>
            </a:r>
            <a:endParaRPr lang="en-US" sz="900" dirty="0"/>
          </a:p>
        </p:txBody>
      </p:sp>
      <p:sp>
        <p:nvSpPr>
          <p:cNvPr id="7" name="Text 4"/>
          <p:cNvSpPr txBox="1"/>
          <p:nvPr/>
        </p:nvSpPr>
        <p:spPr>
          <a:xfrm>
            <a:off x="508000" y="889000"/>
            <a:ext cx="1117600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200" b="1" dirty="0">
                <a:solidFill>
                  <a:srgbClr val="DA18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ROUTING · OLLAMA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508000" y="1130300"/>
            <a:ext cx="11176000" cy="482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Local Routing with Ollama Tool Calling</a:t>
            </a:r>
            <a:endParaRPr lang="en-US" sz="3000" dirty="0"/>
          </a:p>
        </p:txBody>
      </p:sp>
      <p:sp>
        <p:nvSpPr>
          <p:cNvPr id="9" name="Text 6"/>
          <p:cNvSpPr txBox="1"/>
          <p:nvPr/>
        </p:nvSpPr>
        <p:spPr>
          <a:xfrm>
            <a:off x="508000" y="1663700"/>
            <a:ext cx="11176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400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Genuine tool calling on a small local model: no API key and no cloud dependency.</a:t>
            </a:r>
            <a:endParaRPr lang="en-US" sz="1400" dirty="0"/>
          </a:p>
        </p:txBody>
      </p:sp>
      <p:sp>
        <p:nvSpPr>
          <p:cNvPr id="11" name="Shape 7"/>
          <p:cNvSpPr/>
          <p:nvPr/>
        </p:nvSpPr>
        <p:spPr>
          <a:xfrm>
            <a:off x="508000" y="2159000"/>
            <a:ext cx="5588000" cy="3810000"/>
          </a:xfrm>
          <a:prstGeom prst="rect">
            <a:avLst/>
          </a:prstGeom>
          <a:solidFill>
            <a:srgbClr val="1B1B1F"/>
          </a:solidFill>
          <a:ln/>
          <a:effectLst>
            <a:outerShdw blurRad="50800" dist="25400" dir="54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Shape 8"/>
          <p:cNvSpPr/>
          <p:nvPr/>
        </p:nvSpPr>
        <p:spPr>
          <a:xfrm>
            <a:off x="508000" y="2159000"/>
            <a:ext cx="5588000" cy="355600"/>
          </a:xfrm>
          <a:prstGeom prst="rect">
            <a:avLst/>
          </a:prstGeom>
          <a:solidFill>
            <a:srgbClr val="DA188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9"/>
          <p:cNvSpPr txBox="1"/>
          <p:nvPr/>
        </p:nvSpPr>
        <p:spPr>
          <a:xfrm>
            <a:off x="711200" y="2159000"/>
            <a:ext cx="51816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TOOL PER PROTOCOL</a:t>
            </a:r>
            <a:endParaRPr lang="en-US" sz="1200" dirty="0"/>
          </a:p>
        </p:txBody>
      </p:sp>
      <p:sp>
        <p:nvSpPr>
          <p:cNvPr id="14" name="Text 10"/>
          <p:cNvSpPr txBox="1"/>
          <p:nvPr/>
        </p:nvSpPr>
        <p:spPr>
          <a:xfrm>
            <a:off x="711200" y="2667000"/>
            <a:ext cx="5181600" cy="314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EDED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2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EDED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"type": "function",</a:t>
            </a:r>
            <a:endParaRPr lang="en-US" sz="12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EDED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"function": {</a:t>
            </a:r>
            <a:endParaRPr lang="en-US" sz="12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EDED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"name": "GRAPHQL",</a:t>
            </a:r>
            <a:endParaRPr lang="en-US" sz="12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EDED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"description": "A nested query brings…",</a:t>
            </a:r>
            <a:endParaRPr lang="en-US" sz="12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EDED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"parameters": {</a:t>
            </a:r>
            <a:endParaRPr lang="en-US" sz="12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EDED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"properties": { "target": {</a:t>
            </a:r>
            <a:endParaRPr lang="en-US" sz="12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EDED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"type": "string",</a:t>
            </a:r>
            <a:endParaRPr lang="en-US" sz="12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EDED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"enum": ["ship:5", "film:1", …]</a:t>
            </a:r>
            <a:endParaRPr lang="en-US" sz="12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EDED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} },</a:t>
            </a:r>
            <a:endParaRPr lang="en-US" sz="12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EDED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"required": ["target"]</a:t>
            </a:r>
            <a:endParaRPr lang="en-US" sz="12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EDED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 } }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6299200" y="2159000"/>
            <a:ext cx="5384800" cy="876300"/>
          </a:xfrm>
          <a:prstGeom prst="rect">
            <a:avLst/>
          </a:prstGeom>
          <a:solidFill>
            <a:srgbClr val="F4F4F4"/>
          </a:solidFill>
          <a:ln/>
          <a:effectLst>
            <a:outerShdw blurRad="50800" dist="25400" dir="54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Shape 12"/>
          <p:cNvSpPr/>
          <p:nvPr/>
        </p:nvSpPr>
        <p:spPr>
          <a:xfrm>
            <a:off x="6299200" y="2159000"/>
            <a:ext cx="63500" cy="876300"/>
          </a:xfrm>
          <a:prstGeom prst="rect">
            <a:avLst/>
          </a:prstGeom>
          <a:solidFill>
            <a:srgbClr val="DA188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3"/>
          <p:cNvSpPr txBox="1"/>
          <p:nvPr/>
        </p:nvSpPr>
        <p:spPr>
          <a:xfrm>
            <a:off x="6527800" y="2311400"/>
            <a:ext cx="381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600" b="1" dirty="0">
                <a:solidFill>
                  <a:srgbClr val="DA18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600" dirty="0"/>
          </a:p>
        </p:txBody>
      </p:sp>
      <p:sp>
        <p:nvSpPr>
          <p:cNvPr id="18" name="Text 14"/>
          <p:cNvSpPr txBox="1"/>
          <p:nvPr/>
        </p:nvSpPr>
        <p:spPr>
          <a:xfrm>
            <a:off x="7035800" y="2311400"/>
            <a:ext cx="4445000" cy="622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tool name is the decision</a:t>
            </a:r>
            <a:endParaRPr lang="en-US" sz="13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REST, GRAPHQL or GRPC: the model must call exactly one.</a:t>
            </a:r>
            <a:endParaRPr lang="en-US" sz="1300" dirty="0"/>
          </a:p>
        </p:txBody>
      </p:sp>
      <p:sp>
        <p:nvSpPr>
          <p:cNvPr id="19" name="Shape 15"/>
          <p:cNvSpPr/>
          <p:nvPr/>
        </p:nvSpPr>
        <p:spPr>
          <a:xfrm>
            <a:off x="6299200" y="3124200"/>
            <a:ext cx="5384800" cy="876300"/>
          </a:xfrm>
          <a:prstGeom prst="rect">
            <a:avLst/>
          </a:prstGeom>
          <a:solidFill>
            <a:srgbClr val="F4F4F4"/>
          </a:solidFill>
          <a:ln/>
          <a:effectLst>
            <a:outerShdw blurRad="50800" dist="25400" dir="54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Shape 16"/>
          <p:cNvSpPr/>
          <p:nvPr/>
        </p:nvSpPr>
        <p:spPr>
          <a:xfrm>
            <a:off x="6299200" y="3124200"/>
            <a:ext cx="63500" cy="876300"/>
          </a:xfrm>
          <a:prstGeom prst="rect">
            <a:avLst/>
          </a:prstGeom>
          <a:solidFill>
            <a:srgbClr val="DA188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Text 17"/>
          <p:cNvSpPr txBox="1"/>
          <p:nvPr/>
        </p:nvSpPr>
        <p:spPr>
          <a:xfrm>
            <a:off x="6527800" y="3276600"/>
            <a:ext cx="381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600" b="1" dirty="0">
                <a:solidFill>
                  <a:srgbClr val="DA18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600" dirty="0"/>
          </a:p>
        </p:txBody>
      </p:sp>
      <p:sp>
        <p:nvSpPr>
          <p:cNvPr id="22" name="Text 18"/>
          <p:cNvSpPr txBox="1"/>
          <p:nvPr/>
        </p:nvSpPr>
        <p:spPr>
          <a:xfrm>
            <a:off x="7035800" y="3276600"/>
            <a:ext cx="4445000" cy="622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Enum-bound targets</a:t>
            </a:r>
            <a:endParaRPr lang="en-US" sz="13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Only catalog IDs that exist can be selected.</a:t>
            </a:r>
            <a:endParaRPr lang="en-US" sz="1300" dirty="0"/>
          </a:p>
        </p:txBody>
      </p:sp>
      <p:sp>
        <p:nvSpPr>
          <p:cNvPr id="23" name="Shape 19"/>
          <p:cNvSpPr/>
          <p:nvPr/>
        </p:nvSpPr>
        <p:spPr>
          <a:xfrm>
            <a:off x="6299200" y="4089400"/>
            <a:ext cx="5384800" cy="876300"/>
          </a:xfrm>
          <a:prstGeom prst="rect">
            <a:avLst/>
          </a:prstGeom>
          <a:solidFill>
            <a:srgbClr val="F4F4F4"/>
          </a:solidFill>
          <a:ln/>
          <a:effectLst>
            <a:outerShdw blurRad="50800" dist="25400" dir="54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4" name="Shape 20"/>
          <p:cNvSpPr/>
          <p:nvPr/>
        </p:nvSpPr>
        <p:spPr>
          <a:xfrm>
            <a:off x="6299200" y="4089400"/>
            <a:ext cx="63500" cy="876300"/>
          </a:xfrm>
          <a:prstGeom prst="rect">
            <a:avLst/>
          </a:prstGeom>
          <a:solidFill>
            <a:srgbClr val="DA188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Text 21"/>
          <p:cNvSpPr txBox="1"/>
          <p:nvPr/>
        </p:nvSpPr>
        <p:spPr>
          <a:xfrm>
            <a:off x="6527800" y="4241800"/>
            <a:ext cx="381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600" b="1" dirty="0">
                <a:solidFill>
                  <a:srgbClr val="DA18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600" dirty="0"/>
          </a:p>
        </p:txBody>
      </p:sp>
      <p:sp>
        <p:nvSpPr>
          <p:cNvPr id="26" name="Text 22"/>
          <p:cNvSpPr txBox="1"/>
          <p:nvPr/>
        </p:nvSpPr>
        <p:spPr>
          <a:xfrm>
            <a:off x="7035800" y="4241800"/>
            <a:ext cx="4445000" cy="622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pinned small model</a:t>
            </a:r>
            <a:endParaRPr lang="en-US" sz="13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qwen3:4b-instruct-2507 (q4_K_M), no thinking mode, runs locally.</a:t>
            </a:r>
            <a:endParaRPr lang="en-US" sz="1300" dirty="0"/>
          </a:p>
        </p:txBody>
      </p:sp>
      <p:sp>
        <p:nvSpPr>
          <p:cNvPr id="27" name="Shape 23"/>
          <p:cNvSpPr/>
          <p:nvPr/>
        </p:nvSpPr>
        <p:spPr>
          <a:xfrm>
            <a:off x="6299200" y="5054600"/>
            <a:ext cx="5384800" cy="876300"/>
          </a:xfrm>
          <a:prstGeom prst="rect">
            <a:avLst/>
          </a:prstGeom>
          <a:solidFill>
            <a:srgbClr val="F4F4F4"/>
          </a:solidFill>
          <a:ln/>
          <a:effectLst>
            <a:outerShdw blurRad="50800" dist="25400" dir="54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8" name="Shape 24"/>
          <p:cNvSpPr/>
          <p:nvPr/>
        </p:nvSpPr>
        <p:spPr>
          <a:xfrm>
            <a:off x="6299200" y="5054600"/>
            <a:ext cx="63500" cy="876300"/>
          </a:xfrm>
          <a:prstGeom prst="rect">
            <a:avLst/>
          </a:prstGeom>
          <a:solidFill>
            <a:srgbClr val="DA188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9" name="Text 25"/>
          <p:cNvSpPr txBox="1"/>
          <p:nvPr/>
        </p:nvSpPr>
        <p:spPr>
          <a:xfrm>
            <a:off x="6527800" y="5207000"/>
            <a:ext cx="381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600" b="1" dirty="0">
                <a:solidFill>
                  <a:srgbClr val="DA18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600" dirty="0"/>
          </a:p>
        </p:txBody>
      </p:sp>
      <p:sp>
        <p:nvSpPr>
          <p:cNvPr id="30" name="Text 26"/>
          <p:cNvSpPr txBox="1"/>
          <p:nvPr/>
        </p:nvSpPr>
        <p:spPr>
          <a:xfrm>
            <a:off x="7035800" y="5207000"/>
            <a:ext cx="4445000" cy="622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Tuned for latency</a:t>
            </a:r>
            <a:endParaRPr lang="en-US" sz="13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Temperature 0, 96-token cap, 30-minute keep-alive, startup warm-up.</a:t>
            </a:r>
            <a:endParaRPr lang="en-US" sz="13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private/tmp/claude-501/-Users-spietrek-Projects-dev2next/d6614435-6e88-43b0-8755-153d1251090d/scratchpad/assets/insight-stack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8000" y="152400"/>
            <a:ext cx="990600" cy="4064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3556000" y="406400"/>
            <a:ext cx="5080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10000"/>
              </a:lnSpc>
              <a:buNone/>
            </a:pPr>
            <a:r>
              <a:rPr lang="en-US" sz="1000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Protocol Studio  —  REST · GraphQL · gRPC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6350000" y="406400"/>
            <a:ext cx="5334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DA18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· AI ROUTING</a:t>
            </a:r>
            <a:endParaRPr lang="en-US" sz="1000" dirty="0"/>
          </a:p>
        </p:txBody>
      </p:sp>
      <p:sp>
        <p:nvSpPr>
          <p:cNvPr id="5" name="Text 2"/>
          <p:cNvSpPr txBox="1"/>
          <p:nvPr/>
        </p:nvSpPr>
        <p:spPr>
          <a:xfrm>
            <a:off x="508000" y="6578600"/>
            <a:ext cx="889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900" dirty="0">
                <a:solidFill>
                  <a:srgbClr val="9E9E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Insight Proprietary &amp; Confidential.  Do Not Copy or Distribute.  © 2026 Insight.  All Rights Reserved.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10922000" y="6578600"/>
            <a:ext cx="762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lnSpc>
                <a:spcPct val="110000"/>
              </a:lnSpc>
              <a:buNone/>
            </a:pPr>
            <a:r>
              <a:rPr lang="en-US" sz="900" dirty="0">
                <a:solidFill>
                  <a:srgbClr val="9E9E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</a:t>
            </a:r>
            <a:endParaRPr lang="en-US" sz="900" dirty="0"/>
          </a:p>
        </p:txBody>
      </p:sp>
      <p:sp>
        <p:nvSpPr>
          <p:cNvPr id="7" name="Text 4"/>
          <p:cNvSpPr txBox="1"/>
          <p:nvPr/>
        </p:nvSpPr>
        <p:spPr>
          <a:xfrm>
            <a:off x="508000" y="889000"/>
            <a:ext cx="1117600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200" b="1" dirty="0">
                <a:solidFill>
                  <a:srgbClr val="DA18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ROUTING · JEV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508000" y="1130300"/>
            <a:ext cx="11176000" cy="482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Jev: A Decision Model, Not a Text Generator</a:t>
            </a:r>
            <a:endParaRPr lang="en-US" sz="3000" dirty="0"/>
          </a:p>
        </p:txBody>
      </p:sp>
      <p:sp>
        <p:nvSpPr>
          <p:cNvPr id="9" name="Text 6"/>
          <p:cNvSpPr txBox="1"/>
          <p:nvPr/>
        </p:nvSpPr>
        <p:spPr>
          <a:xfrm>
            <a:off x="508000" y="1663700"/>
            <a:ext cx="11176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400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typed Choice questions replace free-form generation, which suits a small, closed decision space.</a:t>
            </a:r>
            <a:endParaRPr lang="en-US" sz="1400" dirty="0"/>
          </a:p>
        </p:txBody>
      </p:sp>
      <p:sp>
        <p:nvSpPr>
          <p:cNvPr id="11" name="Shape 7"/>
          <p:cNvSpPr/>
          <p:nvPr/>
        </p:nvSpPr>
        <p:spPr>
          <a:xfrm>
            <a:off x="508000" y="2159000"/>
            <a:ext cx="5588000" cy="3810000"/>
          </a:xfrm>
          <a:prstGeom prst="rect">
            <a:avLst/>
          </a:prstGeom>
          <a:solidFill>
            <a:srgbClr val="1B1B1F"/>
          </a:solidFill>
          <a:ln/>
          <a:effectLst>
            <a:outerShdw blurRad="50800" dist="25400" dir="54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Shape 8"/>
          <p:cNvSpPr/>
          <p:nvPr/>
        </p:nvSpPr>
        <p:spPr>
          <a:xfrm>
            <a:off x="508000" y="2159000"/>
            <a:ext cx="5588000" cy="355600"/>
          </a:xfrm>
          <a:prstGeom prst="rect">
            <a:avLst/>
          </a:prstGeom>
          <a:solidFill>
            <a:srgbClr val="DA188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9"/>
          <p:cNvSpPr txBox="1"/>
          <p:nvPr/>
        </p:nvSpPr>
        <p:spPr>
          <a:xfrm>
            <a:off x="711200" y="2159000"/>
            <a:ext cx="51816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POST /V1/SYSTEMONE</a:t>
            </a:r>
            <a:endParaRPr lang="en-US" sz="1200" dirty="0"/>
          </a:p>
        </p:txBody>
      </p:sp>
      <p:sp>
        <p:nvSpPr>
          <p:cNvPr id="14" name="Text 10"/>
          <p:cNvSpPr txBox="1"/>
          <p:nvPr/>
        </p:nvSpPr>
        <p:spPr>
          <a:xfrm>
            <a:off x="711200" y="2667000"/>
            <a:ext cx="5181600" cy="314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EDED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2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EDED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"model": "jev-latest",</a:t>
            </a:r>
            <a:endParaRPr lang="en-US" sz="12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EDED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"state": { "message": "…",</a:t>
            </a:r>
            <a:endParaRPr lang="en-US" sz="12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EDED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"history": [ … ] },</a:t>
            </a:r>
            <a:endParaRPr lang="en-US" sz="12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EDED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"questions": {</a:t>
            </a:r>
            <a:endParaRPr lang="en-US" sz="12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EDED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"protocol": { "type": "choice",</a:t>
            </a:r>
            <a:endParaRPr lang="en-US" sz="12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EDED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"criteria": { "REST": "…",</a:t>
            </a:r>
            <a:endParaRPr lang="en-US" sz="12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EDED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"GRAPHQL": "…", "GRPC": "…" } },</a:t>
            </a:r>
            <a:endParaRPr lang="en-US" sz="12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EDED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"target": { "type": "choice",</a:t>
            </a:r>
            <a:endParaRPr lang="en-US" sz="12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EDED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"criteria": { "ship:5": "…" } }</a:t>
            </a:r>
            <a:endParaRPr lang="en-US" sz="12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EDED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}</a:t>
            </a:r>
            <a:endParaRPr lang="en-US" sz="12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EDED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6299200" y="2159000"/>
            <a:ext cx="5384800" cy="1168400"/>
          </a:xfrm>
          <a:prstGeom prst="rect">
            <a:avLst/>
          </a:prstGeom>
          <a:solidFill>
            <a:srgbClr val="F4F4F4"/>
          </a:solidFill>
          <a:ln/>
          <a:effectLst>
            <a:outerShdw blurRad="50800" dist="25400" dir="54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Shape 12"/>
          <p:cNvSpPr/>
          <p:nvPr/>
        </p:nvSpPr>
        <p:spPr>
          <a:xfrm>
            <a:off x="6299200" y="2159000"/>
            <a:ext cx="63500" cy="1168400"/>
          </a:xfrm>
          <a:prstGeom prst="rect">
            <a:avLst/>
          </a:prstGeom>
          <a:solidFill>
            <a:srgbClr val="DA188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3"/>
          <p:cNvSpPr txBox="1"/>
          <p:nvPr/>
        </p:nvSpPr>
        <p:spPr>
          <a:xfrm>
            <a:off x="6527800" y="2311400"/>
            <a:ext cx="381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600" b="1" dirty="0">
                <a:solidFill>
                  <a:srgbClr val="DA18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600" dirty="0"/>
          </a:p>
        </p:txBody>
      </p:sp>
      <p:sp>
        <p:nvSpPr>
          <p:cNvPr id="18" name="Text 14"/>
          <p:cNvSpPr txBox="1"/>
          <p:nvPr/>
        </p:nvSpPr>
        <p:spPr>
          <a:xfrm>
            <a:off x="7035800" y="2311400"/>
            <a:ext cx="4445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Answers, not prose</a:t>
            </a:r>
            <a:endParaRPr lang="en-US" sz="13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question returns a choice with confidence and probabilities, shown in the inspector.</a:t>
            </a:r>
            <a:endParaRPr lang="en-US" sz="1300" dirty="0"/>
          </a:p>
        </p:txBody>
      </p:sp>
      <p:sp>
        <p:nvSpPr>
          <p:cNvPr id="19" name="Shape 15"/>
          <p:cNvSpPr/>
          <p:nvPr/>
        </p:nvSpPr>
        <p:spPr>
          <a:xfrm>
            <a:off x="6299200" y="3454400"/>
            <a:ext cx="5384800" cy="1168400"/>
          </a:xfrm>
          <a:prstGeom prst="rect">
            <a:avLst/>
          </a:prstGeom>
          <a:solidFill>
            <a:srgbClr val="F4F4F4"/>
          </a:solidFill>
          <a:ln/>
          <a:effectLst>
            <a:outerShdw blurRad="50800" dist="25400" dir="54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Shape 16"/>
          <p:cNvSpPr/>
          <p:nvPr/>
        </p:nvSpPr>
        <p:spPr>
          <a:xfrm>
            <a:off x="6299200" y="3454400"/>
            <a:ext cx="63500" cy="1168400"/>
          </a:xfrm>
          <a:prstGeom prst="rect">
            <a:avLst/>
          </a:prstGeom>
          <a:solidFill>
            <a:srgbClr val="DA188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Text 17"/>
          <p:cNvSpPr txBox="1"/>
          <p:nvPr/>
        </p:nvSpPr>
        <p:spPr>
          <a:xfrm>
            <a:off x="6527800" y="3606800"/>
            <a:ext cx="381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600" b="1" dirty="0">
                <a:solidFill>
                  <a:srgbClr val="DA18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600" dirty="0"/>
          </a:p>
        </p:txBody>
      </p:sp>
      <p:sp>
        <p:nvSpPr>
          <p:cNvPr id="22" name="Text 18"/>
          <p:cNvSpPr txBox="1"/>
          <p:nvPr/>
        </p:nvSpPr>
        <p:spPr>
          <a:xfrm>
            <a:off x="7035800" y="3606800"/>
            <a:ext cx="4445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 contract as Ollama</a:t>
            </a:r>
            <a:endParaRPr lang="en-US" sz="13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Plugs in behind IntentClassifier with AI_PROVIDER=jev.</a:t>
            </a:r>
            <a:endParaRPr lang="en-US" sz="1300" dirty="0"/>
          </a:p>
        </p:txBody>
      </p:sp>
      <p:sp>
        <p:nvSpPr>
          <p:cNvPr id="23" name="Shape 19"/>
          <p:cNvSpPr/>
          <p:nvPr/>
        </p:nvSpPr>
        <p:spPr>
          <a:xfrm>
            <a:off x="6299200" y="4749800"/>
            <a:ext cx="5384800" cy="1168400"/>
          </a:xfrm>
          <a:prstGeom prst="rect">
            <a:avLst/>
          </a:prstGeom>
          <a:solidFill>
            <a:srgbClr val="F4F4F4"/>
          </a:solidFill>
          <a:ln/>
          <a:effectLst>
            <a:outerShdw blurRad="50800" dist="25400" dir="54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4" name="Shape 20"/>
          <p:cNvSpPr/>
          <p:nvPr/>
        </p:nvSpPr>
        <p:spPr>
          <a:xfrm>
            <a:off x="6299200" y="4749800"/>
            <a:ext cx="63500" cy="1168400"/>
          </a:xfrm>
          <a:prstGeom prst="rect">
            <a:avLst/>
          </a:prstGeom>
          <a:solidFill>
            <a:srgbClr val="DA188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Text 21"/>
          <p:cNvSpPr txBox="1"/>
          <p:nvPr/>
        </p:nvSpPr>
        <p:spPr>
          <a:xfrm>
            <a:off x="6527800" y="4902200"/>
            <a:ext cx="381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600" b="1" dirty="0">
                <a:solidFill>
                  <a:srgbClr val="DA18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600" dirty="0"/>
          </a:p>
        </p:txBody>
      </p:sp>
      <p:sp>
        <p:nvSpPr>
          <p:cNvPr id="26" name="Text 22"/>
          <p:cNvSpPr txBox="1"/>
          <p:nvPr/>
        </p:nvSpPr>
        <p:spPr>
          <a:xfrm>
            <a:off x="7035800" y="4902200"/>
            <a:ext cx="4445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Hosted by TypeSafe</a:t>
            </a:r>
            <a:endParaRPr lang="en-US" sz="13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Needs internet and TYPESAFE_API_KEY, and the key never leaves the server.</a:t>
            </a:r>
            <a:endParaRPr lang="en-US" sz="13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private/tmp/claude-501/-Users-spietrek-Projects-dev2next/d6614435-6e88-43b0-8755-153d1251090d/scratchpad/assets/insight-stack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8000" y="152400"/>
            <a:ext cx="990600" cy="4064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3556000" y="406400"/>
            <a:ext cx="5080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10000"/>
              </a:lnSpc>
              <a:buNone/>
            </a:pPr>
            <a:r>
              <a:rPr lang="en-US" sz="1000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Protocol Studio  —  REST · GraphQL · gRPC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6350000" y="406400"/>
            <a:ext cx="5334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DA18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· AI ROUTING</a:t>
            </a:r>
            <a:endParaRPr lang="en-US" sz="1000" dirty="0"/>
          </a:p>
        </p:txBody>
      </p:sp>
      <p:sp>
        <p:nvSpPr>
          <p:cNvPr id="5" name="Text 2"/>
          <p:cNvSpPr txBox="1"/>
          <p:nvPr/>
        </p:nvSpPr>
        <p:spPr>
          <a:xfrm>
            <a:off x="508000" y="6578600"/>
            <a:ext cx="889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900" dirty="0">
                <a:solidFill>
                  <a:srgbClr val="9E9E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Insight Proprietary &amp; Confidential.  Do Not Copy or Distribute.  © 2026 Insight.  All Rights Reserved.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10922000" y="6578600"/>
            <a:ext cx="762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lnSpc>
                <a:spcPct val="110000"/>
              </a:lnSpc>
              <a:buNone/>
            </a:pPr>
            <a:r>
              <a:rPr lang="en-US" sz="900" dirty="0">
                <a:solidFill>
                  <a:srgbClr val="9E9E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</a:t>
            </a:r>
            <a:endParaRPr lang="en-US" sz="900" dirty="0"/>
          </a:p>
        </p:txBody>
      </p:sp>
      <p:sp>
        <p:nvSpPr>
          <p:cNvPr id="7" name="Text 4"/>
          <p:cNvSpPr txBox="1"/>
          <p:nvPr/>
        </p:nvSpPr>
        <p:spPr>
          <a:xfrm>
            <a:off x="508000" y="889000"/>
            <a:ext cx="1117600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200" b="1" dirty="0">
                <a:solidFill>
                  <a:srgbClr val="DA18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CHOOSING A ROUTER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508000" y="1130300"/>
            <a:ext cx="11176000" cy="482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Ollama vs Jev</a:t>
            </a:r>
            <a:endParaRPr lang="en-US" sz="3000" dirty="0"/>
          </a:p>
        </p:txBody>
      </p:sp>
      <p:sp>
        <p:nvSpPr>
          <p:cNvPr id="9" name="Text 6"/>
          <p:cNvSpPr txBox="1"/>
          <p:nvPr/>
        </p:nvSpPr>
        <p:spPr>
          <a:xfrm>
            <a:off x="508000" y="1663700"/>
            <a:ext cx="11176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400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ways to make the same decision. Swap between them with one environment variable.</a:t>
            </a:r>
            <a:endParaRPr lang="en-US" sz="1400" dirty="0"/>
          </a:p>
        </p:txBody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8000" y="2159000"/>
          <a:ext cx="11176000" cy="914400"/>
        </p:xfrm>
        <a:graphic>
          <a:graphicData uri="http://schemas.openxmlformats.org/drawingml/2006/table">
            <a:tbl>
              <a:tblPr/>
              <a:tblGrid>
                <a:gridCol w="2458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358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3586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937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1D1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1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1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1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188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Ollama (default)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1D1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1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1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1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188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Jev (optional)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1D1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1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1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1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188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37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14141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Mechanism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1D1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1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1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1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LLM tool calling across three tool schemas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1D1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1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1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1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Two typed Choice questions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1D1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1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1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1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937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14141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Where it runs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1D1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1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1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1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Locally, in Docker or native on the host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1D1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1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1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1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Hosted TypeSafe API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1D1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1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1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1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937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14141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Output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1D1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1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1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1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One tool call plus an enum target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1D1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1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1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1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 choice per question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1D1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1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1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1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937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14141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Confidence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1D1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1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1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1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None reported, and none invented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1D1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1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1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1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Confidence and probabilities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1D1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1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1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1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937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14141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Setup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1D1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1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1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1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Pull a model of several GB once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1D1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1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1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1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API key and internet access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1D1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1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1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1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937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14141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Best for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1D1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1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1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1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Offline demos and data residency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1D1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1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1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1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Closed decisions that need calibrated confidence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1D1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1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1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1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12" name="Shape 7"/>
          <p:cNvSpPr/>
          <p:nvPr/>
        </p:nvSpPr>
        <p:spPr>
          <a:xfrm>
            <a:off x="508000" y="5270500"/>
            <a:ext cx="11176000" cy="635000"/>
          </a:xfrm>
          <a:prstGeom prst="rect">
            <a:avLst/>
          </a:prstGeom>
          <a:solidFill>
            <a:srgbClr val="F4F4F4"/>
          </a:solidFill>
          <a:ln/>
          <a:effectLst>
            <a:outerShdw blurRad="50800" dist="25400" dir="54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Shape 8"/>
          <p:cNvSpPr/>
          <p:nvPr/>
        </p:nvSpPr>
        <p:spPr>
          <a:xfrm>
            <a:off x="508000" y="5270500"/>
            <a:ext cx="76200" cy="635000"/>
          </a:xfrm>
          <a:prstGeom prst="rect">
            <a:avLst/>
          </a:prstGeom>
          <a:solidFill>
            <a:srgbClr val="DA188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9"/>
          <p:cNvSpPr txBox="1"/>
          <p:nvPr/>
        </p:nvSpPr>
        <p:spPr>
          <a:xfrm>
            <a:off x="787400" y="5270500"/>
            <a:ext cx="1066800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Presenter overrides  </a:t>
            </a:r>
            <a:r>
              <a:rPr lang="en-US" sz="1200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bypass the model entirely for one question, and the UI says so. They are never passed off as AI classification.</a:t>
            </a:r>
            <a:endParaRPr lang="en-US" sz="12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private/tmp/claude-501/-Users-spietrek-Projects-dev2next/d6614435-6e88-43b0-8755-153d1251090d/scratchpad/assets/insight-stack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8000" y="152400"/>
            <a:ext cx="990600" cy="4064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3556000" y="406400"/>
            <a:ext cx="5080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10000"/>
              </a:lnSpc>
              <a:buNone/>
            </a:pPr>
            <a:r>
              <a:rPr lang="en-US" sz="1000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Protocol Studio  —  REST · GraphQL · gRPC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6350000" y="406400"/>
            <a:ext cx="5334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DA18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· AI ROUTING</a:t>
            </a:r>
            <a:endParaRPr lang="en-US" sz="1000" dirty="0"/>
          </a:p>
        </p:txBody>
      </p:sp>
      <p:sp>
        <p:nvSpPr>
          <p:cNvPr id="5" name="Text 2"/>
          <p:cNvSpPr txBox="1"/>
          <p:nvPr/>
        </p:nvSpPr>
        <p:spPr>
          <a:xfrm>
            <a:off x="508000" y="6578600"/>
            <a:ext cx="889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900" dirty="0">
                <a:solidFill>
                  <a:srgbClr val="9E9E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Insight Proprietary &amp; Confidential.  Do Not Copy or Distribute.  © 2026 Insight.  All Rights Reserved.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10922000" y="6578600"/>
            <a:ext cx="762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lnSpc>
                <a:spcPct val="110000"/>
              </a:lnSpc>
              <a:buNone/>
            </a:pPr>
            <a:r>
              <a:rPr lang="en-US" sz="900" dirty="0">
                <a:solidFill>
                  <a:srgbClr val="9E9E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</a:t>
            </a:r>
            <a:endParaRPr lang="en-US" sz="900" dirty="0"/>
          </a:p>
        </p:txBody>
      </p:sp>
      <p:sp>
        <p:nvSpPr>
          <p:cNvPr id="7" name="Text 4"/>
          <p:cNvSpPr txBox="1"/>
          <p:nvPr/>
        </p:nvSpPr>
        <p:spPr>
          <a:xfrm>
            <a:off x="508000" y="889000"/>
            <a:ext cx="1117600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200" b="1" dirty="0">
                <a:solidFill>
                  <a:srgbClr val="DA18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GUARDRAILS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508000" y="1130300"/>
            <a:ext cx="11176000" cy="482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Five Rules That Keep the Router Honest</a:t>
            </a:r>
            <a:endParaRPr lang="en-US" sz="3000" dirty="0"/>
          </a:p>
        </p:txBody>
      </p:sp>
      <p:sp>
        <p:nvSpPr>
          <p:cNvPr id="9" name="Text 6"/>
          <p:cNvSpPr txBox="1"/>
          <p:nvPr/>
        </p:nvSpPr>
        <p:spPr>
          <a:xfrm>
            <a:off x="508000" y="1663700"/>
            <a:ext cx="11176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400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model gets a narrow job, and the system makes every choice it makes visible.</a:t>
            </a:r>
            <a:endParaRPr lang="en-US" sz="1400" dirty="0"/>
          </a:p>
        </p:txBody>
      </p:sp>
      <p:sp>
        <p:nvSpPr>
          <p:cNvPr id="11" name="Shape 7"/>
          <p:cNvSpPr/>
          <p:nvPr/>
        </p:nvSpPr>
        <p:spPr>
          <a:xfrm>
            <a:off x="508000" y="2159000"/>
            <a:ext cx="11176000" cy="698500"/>
          </a:xfrm>
          <a:prstGeom prst="rect">
            <a:avLst/>
          </a:prstGeom>
          <a:solidFill>
            <a:srgbClr val="F4F4F4"/>
          </a:solidFill>
          <a:ln/>
          <a:effectLst>
            <a:outerShdw blurRad="50800" dist="25400" dir="54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Shape 8"/>
          <p:cNvSpPr/>
          <p:nvPr/>
        </p:nvSpPr>
        <p:spPr>
          <a:xfrm>
            <a:off x="508000" y="2159000"/>
            <a:ext cx="63500" cy="698500"/>
          </a:xfrm>
          <a:prstGeom prst="rect">
            <a:avLst/>
          </a:prstGeom>
          <a:solidFill>
            <a:srgbClr val="DA188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9"/>
          <p:cNvSpPr txBox="1"/>
          <p:nvPr/>
        </p:nvSpPr>
        <p:spPr>
          <a:xfrm>
            <a:off x="787400" y="2159000"/>
            <a:ext cx="482600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DA18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800" dirty="0"/>
          </a:p>
        </p:txBody>
      </p:sp>
      <p:sp>
        <p:nvSpPr>
          <p:cNvPr id="14" name="Text 10"/>
          <p:cNvSpPr txBox="1"/>
          <p:nvPr/>
        </p:nvSpPr>
        <p:spPr>
          <a:xfrm>
            <a:off x="1397000" y="2159000"/>
            <a:ext cx="2540000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Allowlisted targets</a:t>
            </a:r>
            <a:endParaRPr lang="en-US" sz="1300" dirty="0"/>
          </a:p>
        </p:txBody>
      </p:sp>
      <p:sp>
        <p:nvSpPr>
          <p:cNvPr id="15" name="Text 11"/>
          <p:cNvSpPr txBox="1"/>
          <p:nvPr/>
        </p:nvSpPr>
        <p:spPr>
          <a:xfrm>
            <a:off x="4140200" y="2159000"/>
            <a:ext cx="4470400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Models choose catalog IDs through an enum or criteria, never URLs, queries or service names.</a:t>
            </a:r>
            <a:endParaRPr lang="en-US" sz="1200" dirty="0"/>
          </a:p>
        </p:txBody>
      </p:sp>
      <p:sp>
        <p:nvSpPr>
          <p:cNvPr id="16" name="Text 12"/>
          <p:cNvSpPr txBox="1"/>
          <p:nvPr/>
        </p:nvSpPr>
        <p:spPr>
          <a:xfrm>
            <a:off x="8763000" y="2159000"/>
            <a:ext cx="2667000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200" i="1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Blocks injected or hallucinated calls</a:t>
            </a:r>
            <a:endParaRPr lang="en-US" sz="1200" dirty="0"/>
          </a:p>
        </p:txBody>
      </p:sp>
      <p:sp>
        <p:nvSpPr>
          <p:cNvPr id="17" name="Shape 13"/>
          <p:cNvSpPr/>
          <p:nvPr/>
        </p:nvSpPr>
        <p:spPr>
          <a:xfrm>
            <a:off x="508000" y="2946400"/>
            <a:ext cx="11176000" cy="69850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54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8" name="Shape 14"/>
          <p:cNvSpPr/>
          <p:nvPr/>
        </p:nvSpPr>
        <p:spPr>
          <a:xfrm>
            <a:off x="508000" y="2946400"/>
            <a:ext cx="63500" cy="698500"/>
          </a:xfrm>
          <a:prstGeom prst="rect">
            <a:avLst/>
          </a:prstGeom>
          <a:solidFill>
            <a:srgbClr val="DA188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Text 15"/>
          <p:cNvSpPr txBox="1"/>
          <p:nvPr/>
        </p:nvSpPr>
        <p:spPr>
          <a:xfrm>
            <a:off x="787400" y="2946400"/>
            <a:ext cx="482600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DA18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800" dirty="0"/>
          </a:p>
        </p:txBody>
      </p:sp>
      <p:sp>
        <p:nvSpPr>
          <p:cNvPr id="20" name="Text 16"/>
          <p:cNvSpPr txBox="1"/>
          <p:nvPr/>
        </p:nvSpPr>
        <p:spPr>
          <a:xfrm>
            <a:off x="1397000" y="2946400"/>
            <a:ext cx="2540000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hidden fallback</a:t>
            </a:r>
            <a:endParaRPr lang="en-US" sz="1300" dirty="0"/>
          </a:p>
        </p:txBody>
      </p:sp>
      <p:sp>
        <p:nvSpPr>
          <p:cNvPr id="21" name="Text 17"/>
          <p:cNvSpPr txBox="1"/>
          <p:nvPr/>
        </p:nvSpPr>
        <p:spPr>
          <a:xfrm>
            <a:off x="4140200" y="2946400"/>
            <a:ext cx="4470400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Invalid output or an unavailable provider shows an error. Nothing is keyword-routed and labeled as AI.</a:t>
            </a:r>
            <a:endParaRPr lang="en-US" sz="1200" dirty="0"/>
          </a:p>
        </p:txBody>
      </p:sp>
      <p:sp>
        <p:nvSpPr>
          <p:cNvPr id="22" name="Text 18"/>
          <p:cNvSpPr txBox="1"/>
          <p:nvPr/>
        </p:nvSpPr>
        <p:spPr>
          <a:xfrm>
            <a:off x="8763000" y="2946400"/>
            <a:ext cx="2667000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200" i="1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you see is what the model did</a:t>
            </a:r>
            <a:endParaRPr lang="en-US" sz="1200" dirty="0"/>
          </a:p>
        </p:txBody>
      </p:sp>
      <p:sp>
        <p:nvSpPr>
          <p:cNvPr id="23" name="Shape 19"/>
          <p:cNvSpPr/>
          <p:nvPr/>
        </p:nvSpPr>
        <p:spPr>
          <a:xfrm>
            <a:off x="508000" y="3733800"/>
            <a:ext cx="11176000" cy="698500"/>
          </a:xfrm>
          <a:prstGeom prst="rect">
            <a:avLst/>
          </a:prstGeom>
          <a:solidFill>
            <a:srgbClr val="F4F4F4"/>
          </a:solidFill>
          <a:ln/>
          <a:effectLst>
            <a:outerShdw blurRad="50800" dist="25400" dir="54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4" name="Shape 20"/>
          <p:cNvSpPr/>
          <p:nvPr/>
        </p:nvSpPr>
        <p:spPr>
          <a:xfrm>
            <a:off x="508000" y="3733800"/>
            <a:ext cx="63500" cy="698500"/>
          </a:xfrm>
          <a:prstGeom prst="rect">
            <a:avLst/>
          </a:prstGeom>
          <a:solidFill>
            <a:srgbClr val="DA188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Text 21"/>
          <p:cNvSpPr txBox="1"/>
          <p:nvPr/>
        </p:nvSpPr>
        <p:spPr>
          <a:xfrm>
            <a:off x="787400" y="3733800"/>
            <a:ext cx="482600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DA18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800" dirty="0"/>
          </a:p>
        </p:txBody>
      </p:sp>
      <p:sp>
        <p:nvSpPr>
          <p:cNvPr id="26" name="Text 22"/>
          <p:cNvSpPr txBox="1"/>
          <p:nvPr/>
        </p:nvSpPr>
        <p:spPr>
          <a:xfrm>
            <a:off x="1397000" y="3733800"/>
            <a:ext cx="2540000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Labeled overrides</a:t>
            </a:r>
            <a:endParaRPr lang="en-US" sz="1300" dirty="0"/>
          </a:p>
        </p:txBody>
      </p:sp>
      <p:sp>
        <p:nvSpPr>
          <p:cNvPr id="27" name="Text 23"/>
          <p:cNvSpPr txBox="1"/>
          <p:nvPr/>
        </p:nvSpPr>
        <p:spPr>
          <a:xfrm>
            <a:off x="4140200" y="3733800"/>
            <a:ext cx="4470400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Presenter overrides apply to one question, then the router resets to Auto.</a:t>
            </a:r>
            <a:endParaRPr lang="en-US" sz="1200" dirty="0"/>
          </a:p>
        </p:txBody>
      </p:sp>
      <p:sp>
        <p:nvSpPr>
          <p:cNvPr id="28" name="Text 24"/>
          <p:cNvSpPr txBox="1"/>
          <p:nvPr/>
        </p:nvSpPr>
        <p:spPr>
          <a:xfrm>
            <a:off x="8763000" y="3733800"/>
            <a:ext cx="2667000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200" i="1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Demos never stall on a cold model</a:t>
            </a:r>
            <a:endParaRPr lang="en-US" sz="1200" dirty="0"/>
          </a:p>
        </p:txBody>
      </p:sp>
      <p:sp>
        <p:nvSpPr>
          <p:cNvPr id="29" name="Shape 25"/>
          <p:cNvSpPr/>
          <p:nvPr/>
        </p:nvSpPr>
        <p:spPr>
          <a:xfrm>
            <a:off x="508000" y="4521200"/>
            <a:ext cx="11176000" cy="69850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54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0" name="Shape 26"/>
          <p:cNvSpPr/>
          <p:nvPr/>
        </p:nvSpPr>
        <p:spPr>
          <a:xfrm>
            <a:off x="508000" y="4521200"/>
            <a:ext cx="63500" cy="698500"/>
          </a:xfrm>
          <a:prstGeom prst="rect">
            <a:avLst/>
          </a:prstGeom>
          <a:solidFill>
            <a:srgbClr val="DA188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1" name="Text 27"/>
          <p:cNvSpPr txBox="1"/>
          <p:nvPr/>
        </p:nvSpPr>
        <p:spPr>
          <a:xfrm>
            <a:off x="787400" y="4521200"/>
            <a:ext cx="482600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DA18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800" dirty="0"/>
          </a:p>
        </p:txBody>
      </p:sp>
      <p:sp>
        <p:nvSpPr>
          <p:cNvPr id="32" name="Text 28"/>
          <p:cNvSpPr txBox="1"/>
          <p:nvPr/>
        </p:nvSpPr>
        <p:spPr>
          <a:xfrm>
            <a:off x="1397000" y="4521200"/>
            <a:ext cx="2540000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Grounded answers</a:t>
            </a:r>
            <a:endParaRPr lang="en-US" sz="1300" dirty="0"/>
          </a:p>
        </p:txBody>
      </p:sp>
      <p:sp>
        <p:nvSpPr>
          <p:cNvPr id="33" name="Text 29"/>
          <p:cNvSpPr txBox="1"/>
          <p:nvPr/>
        </p:nvSpPr>
        <p:spPr>
          <a:xfrm>
            <a:off x="4140200" y="4521200"/>
            <a:ext cx="4470400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answer is composed from the actual transport response.</a:t>
            </a:r>
            <a:endParaRPr lang="en-US" sz="1200" dirty="0"/>
          </a:p>
        </p:txBody>
      </p:sp>
      <p:sp>
        <p:nvSpPr>
          <p:cNvPr id="34" name="Text 30"/>
          <p:cNvSpPr txBox="1"/>
          <p:nvPr/>
        </p:nvSpPr>
        <p:spPr>
          <a:xfrm>
            <a:off x="8763000" y="4521200"/>
            <a:ext cx="2667000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200" i="1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invented facts</a:t>
            </a:r>
            <a:endParaRPr lang="en-US" sz="1200" dirty="0"/>
          </a:p>
        </p:txBody>
      </p:sp>
      <p:sp>
        <p:nvSpPr>
          <p:cNvPr id="35" name="Shape 31"/>
          <p:cNvSpPr/>
          <p:nvPr/>
        </p:nvSpPr>
        <p:spPr>
          <a:xfrm>
            <a:off x="508000" y="5308600"/>
            <a:ext cx="11176000" cy="698500"/>
          </a:xfrm>
          <a:prstGeom prst="rect">
            <a:avLst/>
          </a:prstGeom>
          <a:solidFill>
            <a:srgbClr val="F4F4F4"/>
          </a:solidFill>
          <a:ln/>
          <a:effectLst>
            <a:outerShdw blurRad="50800" dist="25400" dir="54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6" name="Shape 32"/>
          <p:cNvSpPr/>
          <p:nvPr/>
        </p:nvSpPr>
        <p:spPr>
          <a:xfrm>
            <a:off x="508000" y="5308600"/>
            <a:ext cx="63500" cy="698500"/>
          </a:xfrm>
          <a:prstGeom prst="rect">
            <a:avLst/>
          </a:prstGeom>
          <a:solidFill>
            <a:srgbClr val="DA188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7" name="Text 33"/>
          <p:cNvSpPr txBox="1"/>
          <p:nvPr/>
        </p:nvSpPr>
        <p:spPr>
          <a:xfrm>
            <a:off x="787400" y="5308600"/>
            <a:ext cx="482600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DA18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800" dirty="0"/>
          </a:p>
        </p:txBody>
      </p:sp>
      <p:sp>
        <p:nvSpPr>
          <p:cNvPr id="38" name="Text 34"/>
          <p:cNvSpPr txBox="1"/>
          <p:nvPr/>
        </p:nvSpPr>
        <p:spPr>
          <a:xfrm>
            <a:off x="1397000" y="5308600"/>
            <a:ext cx="2540000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Secrets stay server-side</a:t>
            </a:r>
            <a:endParaRPr lang="en-US" sz="1300" dirty="0"/>
          </a:p>
        </p:txBody>
      </p:sp>
      <p:sp>
        <p:nvSpPr>
          <p:cNvPr id="39" name="Text 35"/>
          <p:cNvSpPr txBox="1"/>
          <p:nvPr/>
        </p:nvSpPr>
        <p:spPr>
          <a:xfrm>
            <a:off x="4140200" y="5308600"/>
            <a:ext cx="4470400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Keys and auth headers never reach the browser. Ports bind to loopback.</a:t>
            </a:r>
            <a:endParaRPr lang="en-US" sz="1200" dirty="0"/>
          </a:p>
        </p:txBody>
      </p:sp>
      <p:sp>
        <p:nvSpPr>
          <p:cNvPr id="40" name="Text 36"/>
          <p:cNvSpPr txBox="1"/>
          <p:nvPr/>
        </p:nvSpPr>
        <p:spPr>
          <a:xfrm>
            <a:off x="8763000" y="5308600"/>
            <a:ext cx="2667000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200" i="1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Safe local-first defaults</a:t>
            </a:r>
            <a:endParaRPr lang="en-US" sz="12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private/tmp/claude-501/-Users-spietrek-Projects-dev2next/d6614435-6e88-43b0-8755-153d1251090d/scratchpad/assets/insight-stack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8000" y="152400"/>
            <a:ext cx="990600" cy="4064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3556000" y="406400"/>
            <a:ext cx="5080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10000"/>
              </a:lnSpc>
              <a:buNone/>
            </a:pPr>
            <a:r>
              <a:rPr lang="en-US" sz="1000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Protocol Studio  —  REST · GraphQL · gRPC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6350000" y="406400"/>
            <a:ext cx="5334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DA18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· AI ROUTING</a:t>
            </a:r>
            <a:endParaRPr lang="en-US" sz="1000" dirty="0"/>
          </a:p>
        </p:txBody>
      </p:sp>
      <p:sp>
        <p:nvSpPr>
          <p:cNvPr id="5" name="Text 2"/>
          <p:cNvSpPr txBox="1"/>
          <p:nvPr/>
        </p:nvSpPr>
        <p:spPr>
          <a:xfrm>
            <a:off x="508000" y="6578600"/>
            <a:ext cx="889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900" dirty="0">
                <a:solidFill>
                  <a:srgbClr val="9E9E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Insight Proprietary &amp; Confidential.  Do Not Copy or Distribute.  © 2026 Insight.  All Rights Reserved.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10922000" y="6578600"/>
            <a:ext cx="762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lnSpc>
                <a:spcPct val="110000"/>
              </a:lnSpc>
              <a:buNone/>
            </a:pPr>
            <a:r>
              <a:rPr lang="en-US" sz="900" dirty="0">
                <a:solidFill>
                  <a:srgbClr val="9E9E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</a:t>
            </a:r>
            <a:endParaRPr lang="en-US" sz="900" dirty="0"/>
          </a:p>
        </p:txBody>
      </p:sp>
      <p:sp>
        <p:nvSpPr>
          <p:cNvPr id="7" name="Text 4"/>
          <p:cNvSpPr txBox="1"/>
          <p:nvPr/>
        </p:nvSpPr>
        <p:spPr>
          <a:xfrm>
            <a:off x="508000" y="889000"/>
            <a:ext cx="1117600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200" b="1" dirty="0">
                <a:solidFill>
                  <a:srgbClr val="DA18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MEASURED, NOT PROMISED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508000" y="1130300"/>
            <a:ext cx="11176000" cy="482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the Router Costs</a:t>
            </a:r>
            <a:endParaRPr lang="en-US" sz="3000" dirty="0"/>
          </a:p>
        </p:txBody>
      </p:sp>
      <p:sp>
        <p:nvSpPr>
          <p:cNvPr id="9" name="Text 6"/>
          <p:cNvSpPr txBox="1"/>
          <p:nvPr/>
        </p:nvSpPr>
        <p:spPr>
          <a:xfrm>
            <a:off x="508000" y="1663700"/>
            <a:ext cx="11176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400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Median time to a complete response on warm, sequential runs with native Ollama on Apple Silicon.</a:t>
            </a:r>
            <a:endParaRPr lang="en-US" sz="1400" dirty="0"/>
          </a:p>
        </p:txBody>
      </p:sp>
      <p:sp>
        <p:nvSpPr>
          <p:cNvPr id="11" name="Shape 7"/>
          <p:cNvSpPr/>
          <p:nvPr/>
        </p:nvSpPr>
        <p:spPr>
          <a:xfrm>
            <a:off x="508000" y="2159000"/>
            <a:ext cx="3587750" cy="1549400"/>
          </a:xfrm>
          <a:prstGeom prst="rect">
            <a:avLst/>
          </a:prstGeom>
          <a:solidFill>
            <a:srgbClr val="F4F4F4"/>
          </a:solidFill>
          <a:ln/>
          <a:effectLst>
            <a:outerShdw blurRad="50800" dist="25400" dir="54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Shape 8"/>
          <p:cNvSpPr/>
          <p:nvPr/>
        </p:nvSpPr>
        <p:spPr>
          <a:xfrm>
            <a:off x="508000" y="2159000"/>
            <a:ext cx="3587750" cy="50800"/>
          </a:xfrm>
          <a:prstGeom prst="rect">
            <a:avLst/>
          </a:prstGeom>
          <a:solidFill>
            <a:srgbClr val="DA188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9"/>
          <p:cNvSpPr txBox="1"/>
          <p:nvPr/>
        </p:nvSpPr>
        <p:spPr>
          <a:xfrm>
            <a:off x="736600" y="2349500"/>
            <a:ext cx="313055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200" b="1" dirty="0">
                <a:solidFill>
                  <a:srgbClr val="DA18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REST</a:t>
            </a:r>
            <a:endParaRPr lang="en-US" sz="1200" dirty="0"/>
          </a:p>
        </p:txBody>
      </p:sp>
      <p:sp>
        <p:nvSpPr>
          <p:cNvPr id="14" name="Text 10"/>
          <p:cNvSpPr txBox="1"/>
          <p:nvPr/>
        </p:nvSpPr>
        <p:spPr>
          <a:xfrm>
            <a:off x="736600" y="2616200"/>
            <a:ext cx="313055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40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1.11 s</a:t>
            </a:r>
            <a:endParaRPr lang="en-US" sz="4000" dirty="0"/>
          </a:p>
        </p:txBody>
      </p:sp>
      <p:sp>
        <p:nvSpPr>
          <p:cNvPr id="15" name="Text 11"/>
          <p:cNvSpPr txBox="1"/>
          <p:nvPr/>
        </p:nvSpPr>
        <p:spPr>
          <a:xfrm>
            <a:off x="736600" y="3327400"/>
            <a:ext cx="313055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200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median complete response</a:t>
            </a:r>
            <a:endParaRPr lang="en-US" sz="1200" dirty="0"/>
          </a:p>
        </p:txBody>
      </p:sp>
      <p:sp>
        <p:nvSpPr>
          <p:cNvPr id="16" name="Shape 12"/>
          <p:cNvSpPr/>
          <p:nvPr/>
        </p:nvSpPr>
        <p:spPr>
          <a:xfrm>
            <a:off x="4298950" y="2159000"/>
            <a:ext cx="3587750" cy="1549400"/>
          </a:xfrm>
          <a:prstGeom prst="rect">
            <a:avLst/>
          </a:prstGeom>
          <a:solidFill>
            <a:srgbClr val="F4F4F4"/>
          </a:solidFill>
          <a:ln/>
          <a:effectLst>
            <a:outerShdw blurRad="50800" dist="25400" dir="54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7" name="Shape 13"/>
          <p:cNvSpPr/>
          <p:nvPr/>
        </p:nvSpPr>
        <p:spPr>
          <a:xfrm>
            <a:off x="4298950" y="2159000"/>
            <a:ext cx="3587750" cy="50800"/>
          </a:xfrm>
          <a:prstGeom prst="rect">
            <a:avLst/>
          </a:prstGeom>
          <a:solidFill>
            <a:srgbClr val="DA188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Text 14"/>
          <p:cNvSpPr txBox="1"/>
          <p:nvPr/>
        </p:nvSpPr>
        <p:spPr>
          <a:xfrm>
            <a:off x="4527550" y="2349500"/>
            <a:ext cx="313055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200" b="1" dirty="0">
                <a:solidFill>
                  <a:srgbClr val="DA18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GRAPHQL</a:t>
            </a:r>
            <a:endParaRPr lang="en-US" sz="1200" dirty="0"/>
          </a:p>
        </p:txBody>
      </p:sp>
      <p:sp>
        <p:nvSpPr>
          <p:cNvPr id="19" name="Text 15"/>
          <p:cNvSpPr txBox="1"/>
          <p:nvPr/>
        </p:nvSpPr>
        <p:spPr>
          <a:xfrm>
            <a:off x="4527550" y="2616200"/>
            <a:ext cx="313055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40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1.26 s</a:t>
            </a:r>
            <a:endParaRPr lang="en-US" sz="4000" dirty="0"/>
          </a:p>
        </p:txBody>
      </p:sp>
      <p:sp>
        <p:nvSpPr>
          <p:cNvPr id="20" name="Text 16"/>
          <p:cNvSpPr txBox="1"/>
          <p:nvPr/>
        </p:nvSpPr>
        <p:spPr>
          <a:xfrm>
            <a:off x="4527550" y="3327400"/>
            <a:ext cx="313055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200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median complete response</a:t>
            </a:r>
            <a:endParaRPr lang="en-US" sz="1200" dirty="0"/>
          </a:p>
        </p:txBody>
      </p:sp>
      <p:sp>
        <p:nvSpPr>
          <p:cNvPr id="21" name="Shape 17"/>
          <p:cNvSpPr/>
          <p:nvPr/>
        </p:nvSpPr>
        <p:spPr>
          <a:xfrm>
            <a:off x="8089900" y="2159000"/>
            <a:ext cx="3587750" cy="1549400"/>
          </a:xfrm>
          <a:prstGeom prst="rect">
            <a:avLst/>
          </a:prstGeom>
          <a:solidFill>
            <a:srgbClr val="F4F4F4"/>
          </a:solidFill>
          <a:ln/>
          <a:effectLst>
            <a:outerShdw blurRad="50800" dist="25400" dir="54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2" name="Shape 18"/>
          <p:cNvSpPr/>
          <p:nvPr/>
        </p:nvSpPr>
        <p:spPr>
          <a:xfrm>
            <a:off x="8089900" y="2159000"/>
            <a:ext cx="3587750" cy="50800"/>
          </a:xfrm>
          <a:prstGeom prst="rect">
            <a:avLst/>
          </a:prstGeom>
          <a:solidFill>
            <a:srgbClr val="DA188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Text 19"/>
          <p:cNvSpPr txBox="1"/>
          <p:nvPr/>
        </p:nvSpPr>
        <p:spPr>
          <a:xfrm>
            <a:off x="8318500" y="2349500"/>
            <a:ext cx="313055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200" b="1" dirty="0">
                <a:solidFill>
                  <a:srgbClr val="DA18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GRPC</a:t>
            </a:r>
            <a:endParaRPr lang="en-US" sz="1200" dirty="0"/>
          </a:p>
        </p:txBody>
      </p:sp>
      <p:sp>
        <p:nvSpPr>
          <p:cNvPr id="24" name="Text 20"/>
          <p:cNvSpPr txBox="1"/>
          <p:nvPr/>
        </p:nvSpPr>
        <p:spPr>
          <a:xfrm>
            <a:off x="8318500" y="2616200"/>
            <a:ext cx="313055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40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1.86 s</a:t>
            </a:r>
            <a:endParaRPr lang="en-US" sz="4000" dirty="0"/>
          </a:p>
        </p:txBody>
      </p:sp>
      <p:sp>
        <p:nvSpPr>
          <p:cNvPr id="25" name="Text 21"/>
          <p:cNvSpPr txBox="1"/>
          <p:nvPr/>
        </p:nvSpPr>
        <p:spPr>
          <a:xfrm>
            <a:off x="8318500" y="3327400"/>
            <a:ext cx="313055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200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includes three streamed snapshots</a:t>
            </a:r>
            <a:endParaRPr lang="en-US" sz="1200" dirty="0"/>
          </a:p>
        </p:txBody>
      </p:sp>
      <p:sp>
        <p:nvSpPr>
          <p:cNvPr id="26" name="Text 22"/>
          <p:cNvSpPr txBox="1"/>
          <p:nvPr/>
        </p:nvSpPr>
        <p:spPr>
          <a:xfrm>
            <a:off x="508000" y="3911600"/>
            <a:ext cx="1117600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DA18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Routing (model)</a:t>
            </a:r>
            <a:r>
              <a:rPr lang="en-US" sz="1200" b="1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■ Protocol execution</a:t>
            </a:r>
            <a:r>
              <a:rPr lang="en-US" sz="1200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(round 3 sample)</a:t>
            </a:r>
            <a:endParaRPr lang="en-US" sz="1200" dirty="0"/>
          </a:p>
        </p:txBody>
      </p:sp>
      <p:sp>
        <p:nvSpPr>
          <p:cNvPr id="27" name="Text 23"/>
          <p:cNvSpPr txBox="1"/>
          <p:nvPr/>
        </p:nvSpPr>
        <p:spPr>
          <a:xfrm>
            <a:off x="508000" y="4229100"/>
            <a:ext cx="9525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2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REST</a:t>
            </a:r>
            <a:endParaRPr lang="en-US" sz="1200" dirty="0"/>
          </a:p>
        </p:txBody>
      </p:sp>
      <p:sp>
        <p:nvSpPr>
          <p:cNvPr id="28" name="Shape 24"/>
          <p:cNvSpPr/>
          <p:nvPr/>
        </p:nvSpPr>
        <p:spPr>
          <a:xfrm>
            <a:off x="1612900" y="4229100"/>
            <a:ext cx="3606800" cy="254000"/>
          </a:xfrm>
          <a:prstGeom prst="rect">
            <a:avLst/>
          </a:prstGeom>
          <a:solidFill>
            <a:srgbClr val="DA188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9" name="Shape 25"/>
          <p:cNvSpPr/>
          <p:nvPr/>
        </p:nvSpPr>
        <p:spPr>
          <a:xfrm>
            <a:off x="5219700" y="4229100"/>
            <a:ext cx="25400" cy="254000"/>
          </a:xfrm>
          <a:prstGeom prst="rect">
            <a:avLst/>
          </a:prstGeom>
          <a:solidFill>
            <a:srgbClr val="6B6B6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0" name="Text 26"/>
          <p:cNvSpPr txBox="1"/>
          <p:nvPr/>
        </p:nvSpPr>
        <p:spPr>
          <a:xfrm>
            <a:off x="5397500" y="4229100"/>
            <a:ext cx="3810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1,093 ms routing + 4 ms protocol</a:t>
            </a:r>
            <a:endParaRPr lang="en-US" sz="1200" dirty="0"/>
          </a:p>
        </p:txBody>
      </p:sp>
      <p:sp>
        <p:nvSpPr>
          <p:cNvPr id="31" name="Text 27"/>
          <p:cNvSpPr txBox="1"/>
          <p:nvPr/>
        </p:nvSpPr>
        <p:spPr>
          <a:xfrm>
            <a:off x="508000" y="4597400"/>
            <a:ext cx="9525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2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GraphQL</a:t>
            </a:r>
            <a:endParaRPr lang="en-US" sz="1200" dirty="0"/>
          </a:p>
        </p:txBody>
      </p:sp>
      <p:sp>
        <p:nvSpPr>
          <p:cNvPr id="32" name="Shape 28"/>
          <p:cNvSpPr/>
          <p:nvPr/>
        </p:nvSpPr>
        <p:spPr>
          <a:xfrm>
            <a:off x="1612900" y="4597400"/>
            <a:ext cx="4095750" cy="254000"/>
          </a:xfrm>
          <a:prstGeom prst="rect">
            <a:avLst/>
          </a:prstGeom>
          <a:solidFill>
            <a:srgbClr val="DA188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3" name="Shape 29"/>
          <p:cNvSpPr/>
          <p:nvPr/>
        </p:nvSpPr>
        <p:spPr>
          <a:xfrm>
            <a:off x="5708650" y="4597400"/>
            <a:ext cx="25400" cy="254000"/>
          </a:xfrm>
          <a:prstGeom prst="rect">
            <a:avLst/>
          </a:prstGeom>
          <a:solidFill>
            <a:srgbClr val="6B6B6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4" name="Text 30"/>
          <p:cNvSpPr txBox="1"/>
          <p:nvPr/>
        </p:nvSpPr>
        <p:spPr>
          <a:xfrm>
            <a:off x="5886450" y="4597400"/>
            <a:ext cx="3810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1,241 ms routing + 7 ms protocol</a:t>
            </a:r>
            <a:endParaRPr lang="en-US" sz="1200" dirty="0"/>
          </a:p>
        </p:txBody>
      </p:sp>
      <p:sp>
        <p:nvSpPr>
          <p:cNvPr id="35" name="Text 31"/>
          <p:cNvSpPr txBox="1"/>
          <p:nvPr/>
        </p:nvSpPr>
        <p:spPr>
          <a:xfrm>
            <a:off x="508000" y="4965700"/>
            <a:ext cx="9525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2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gRPC</a:t>
            </a:r>
            <a:endParaRPr lang="en-US" sz="1200" dirty="0"/>
          </a:p>
        </p:txBody>
      </p:sp>
      <p:sp>
        <p:nvSpPr>
          <p:cNvPr id="36" name="Shape 32"/>
          <p:cNvSpPr/>
          <p:nvPr/>
        </p:nvSpPr>
        <p:spPr>
          <a:xfrm>
            <a:off x="1612900" y="4965700"/>
            <a:ext cx="3670300" cy="254000"/>
          </a:xfrm>
          <a:prstGeom prst="rect">
            <a:avLst/>
          </a:prstGeom>
          <a:solidFill>
            <a:srgbClr val="DA188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7" name="Shape 33"/>
          <p:cNvSpPr/>
          <p:nvPr/>
        </p:nvSpPr>
        <p:spPr>
          <a:xfrm>
            <a:off x="5283200" y="4965700"/>
            <a:ext cx="2362200" cy="254000"/>
          </a:xfrm>
          <a:prstGeom prst="rect">
            <a:avLst/>
          </a:prstGeom>
          <a:solidFill>
            <a:srgbClr val="6B6B6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8" name="Text 34"/>
          <p:cNvSpPr txBox="1"/>
          <p:nvPr/>
        </p:nvSpPr>
        <p:spPr>
          <a:xfrm>
            <a:off x="7797800" y="4965700"/>
            <a:ext cx="3810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1,112 ms routing + 716 ms stream*</a:t>
            </a:r>
            <a:endParaRPr lang="en-US" sz="1200" dirty="0"/>
          </a:p>
        </p:txBody>
      </p:sp>
      <p:sp>
        <p:nvSpPr>
          <p:cNvPr id="39" name="Text 35"/>
          <p:cNvSpPr txBox="1"/>
          <p:nvPr/>
        </p:nvSpPr>
        <p:spPr>
          <a:xfrm>
            <a:off x="508000" y="5461000"/>
            <a:ext cx="11176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200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includes 700 ms of deliberate pacing between stream requests. Three runs per protocol; this is a request diagnostic, not a load test or protocol benchmark.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d4def53c-905d-442a-ba22-72ae0f5bcf4f}" enabled="1" method="Standard" siteId="{6c637512-c417-4e78-9d62-b61258e4b619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7559</Words>
  <Application>Microsoft Macintosh PowerPoint</Application>
  <PresentationFormat>Widescreen</PresentationFormat>
  <Paragraphs>923</Paragraphs>
  <Slides>27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0" baseType="lpstr">
      <vt:lpstr>Arial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Insight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REST vs GraphQL vs gRPC — AI Routing</dc:title>
  <dc:subject>PptxGenJS Presentation</dc:subject>
  <dc:creator>PptxGenJS</dc:creator>
  <cp:lastModifiedBy>Steve Pietrek</cp:lastModifiedBy>
  <cp:revision>2</cp:revision>
  <dcterms:created xsi:type="dcterms:W3CDTF">2026-09-26T23:07:21Z</dcterms:created>
  <dcterms:modified xsi:type="dcterms:W3CDTF">2026-10-03T23:15:05Z</dcterms:modified>
</cp:coreProperties>
</file>