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"Thank you all for being here. There is a lot on the agenda today, and we do not take your time lightly."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"This is a 300-level session on REST, GraphQL and gRPC. Not a beginner overview, and not a vendor pitch."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"We will look at where each protocol fits and where it strains."
</a:t>
            </a:r>
          </a:p>
          <a:p>
            <a:r>
              <a:rPr lang="en-US" dirty="0"/>
              <a:t>2. "We will show all three running side by side in one application — real traffic, nothing mocked."
</a:t>
            </a:r>
          </a:p>
          <a:p>
            <a:r>
              <a:rPr lang="en-US" dirty="0"/>
              <a:t>3. "And we will share what we have seen in the field, with clients who had to make this choice for real."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BE CLEAR ABOUT THIS:
</a:t>
            </a:r>
          </a:p>
          <a:p>
            <a:r>
              <a:rPr lang="en-US" dirty="0"/>
              <a:t>"There is no winner in this talk. The goal is to leave you with a way to choose, not a protocol to adopt."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"Let me show you how the session is laid out."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"Here is the shape of the session."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"Section one is the landscape — why this choice is still contentious, how the three compare, and the data set we will use throughout."
</a:t>
            </a:r>
          </a:p>
          <a:p>
            <a:r>
              <a:rPr lang="en-US" dirty="0"/>
              <a:t>2. "Section two is the protocols themselves. Each one gets two slides: the concept, then the working code."
</a:t>
            </a:r>
          </a:p>
          <a:p>
            <a:r>
              <a:rPr lang="en-US" dirty="0"/>
              <a:t>3. "Section three is the live demo and two client stories from the field."
</a:t>
            </a:r>
          </a:p>
          <a:p>
            <a:r>
              <a:rPr lang="en-US" dirty="0"/>
              <a:t>4. "There is an appendix on how the demo uses AI to route questions. We will cover it if time allows, or in Q&amp;A."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BE CLEAR ABOUT THIS:
</a:t>
            </a:r>
          </a:p>
          <a:p>
            <a:r>
              <a:rPr lang="en-US" dirty="0"/>
              <a:t>"Everything you see today runs. Every request in the demo is real HTTP, GraphQL or gRPC traffic you can inspect."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"Let's start with the landscape."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"Section one: the landscape."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"Three short slides here — the problem, the comparison, and the data we will use for every example."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"First, why this is still a debate at all."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"The standard for exchanging data between frontends, backends and integrations has always been contentious."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"Every team has a default. Frontend teams reach for one thing, backend teams for another, integration teams for a third — and the contract becomes a negotiation."
</a:t>
            </a:r>
          </a:p>
          <a:p>
            <a:r>
              <a:rPr lang="en-US" dirty="0"/>
              <a:t>2. "Each protocol has a sweet spot. Cacheable resources, client-shaped graphs and low-latency streams are genuinely different problems."
</a:t>
            </a:r>
          </a:p>
          <a:p>
            <a:r>
              <a:rPr lang="en-US" dirty="0"/>
              <a:t>3. "So the practical answer is to choose per operation. Most systems we see in production run more than one protocol, deliberately."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BE CLEAR ABOUT THIS:
</a:t>
            </a:r>
          </a:p>
          <a:p>
            <a:r>
              <a:rPr lang="en-US" dirty="0"/>
              <a:t>"The question is not which protocol wins. It is which one fits the operation in front of you."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"Let's put them side by side."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"Here are the same questions asked of all three."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"Transport and payload: REST and GraphQL are HTTP and JSON. gRPC requires HTTP/2 and uses binary Protobuf."
</a:t>
            </a:r>
          </a:p>
          <a:p>
            <a:r>
              <a:rPr lang="en-US" dirty="0"/>
              <a:t>2. "Contract: optional for REST with OpenAPI, required for GraphQL with its schema, and required for gRPC with the proto file."
</a:t>
            </a:r>
          </a:p>
          <a:p>
            <a:r>
              <a:rPr lang="en-US" dirty="0"/>
              <a:t>3. "Caching is where REST is strongest — it gets HTTP and CDN caching for free. GraphQL and gRPC have to work harder."
</a:t>
            </a:r>
          </a:p>
          <a:p>
            <a:r>
              <a:rPr lang="en-US" dirty="0"/>
              <a:t>4. "Streaming and browser support are where gRPC stands out, in both directions: it streams natively, but browsers need gRPC-Web or a bridge."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BE CLEAR ABOUT THIS:
</a:t>
            </a:r>
          </a:p>
          <a:p>
            <a:r>
              <a:rPr lang="en-US" dirty="0"/>
              <a:t>"Two corrections from last year's version of this table: GraphQL does stream, through subscriptions, and gRPC does not run natively in a browser. Our demo bridges it, and we will show you how."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"To make this concrete, here is the data every example uses."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"One catalog sits behind all three protocols."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"Nineteen starships, six films, four producers — carried forward from last year's demo with the original IDs and relationships."
</a:t>
            </a:r>
          </a:p>
          <a:p>
            <a:r>
              <a:rPr lang="en-US" dirty="0"/>
              <a:t>2. "Ships appear in many films. Films have many producers. Those many-to-many links are the interesting part."
</a:t>
            </a:r>
          </a:p>
          <a:p>
            <a:r>
              <a:rPr lang="en-US" dirty="0"/>
              <a:t>3. "It is an immutable, in-memory catalog. REST, GraphQL and gRPC all read exactly the same data, so any difference you see comes from the protocol."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BE CLEAR ABOUT THIS:
</a:t>
            </a:r>
          </a:p>
          <a:p>
            <a:r>
              <a:rPr lang="en-US" dirty="0"/>
              <a:t>"The relationships are the point. Ship to film to producer is exactly the nested shape where GraphQL shines and REST needs follow-up calls."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"With that in place, let's go protocol by protocol."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"Section two: the protocols."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"Each one gets two slides — the concept first, then the exact code the demo runs. We finish with a short history and a usage comparison."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"We start with the one everyone knows: REST."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"REST is resources over HTTP. Every resource has a URL and the HTTP verbs carry the intent."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"Where it shines: standard verbs and status codes, native caching through browsers, CDNs and proxies, and tooling that every developer and every partner already has."
</a:t>
            </a:r>
          </a:p>
          <a:p>
            <a:r>
              <a:rPr lang="en-US" dirty="0"/>
              <a:t>2. "Where it strains: fixed payloads over-fetch, related data means extra round trips, versions multiply as clients diverge, and there is no first-class streaming."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BE CLEAR ABOUT THIS:
</a:t>
            </a:r>
          </a:p>
          <a:p>
            <a:r>
              <a:rPr lang="en-US" dirty="0"/>
              <a:t>"REST is still the right default for simple, cacheable, stateless APIs — especially anything you publish to people outside your team."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"Here is what that looks like in the demo."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"In Protocol Studio, single-resource lookups go to REST."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"One route per resource — starships, films and producers — on Spring MVC."
</a:t>
            </a:r>
          </a:p>
          <a:p>
            <a:r>
              <a:rPr lang="en-US" dirty="0"/>
              <a:t>2. "Starship reads return Cache-Control max-age of five minutes, so any HTTP cache along the way can help."
</a:t>
            </a:r>
          </a:p>
          <a:p>
            <a:r>
              <a:rPr lang="en-US" dirty="0"/>
              <a:t>3. "Questions about speed, length or details of one thing are routed here."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BE CLEAR ABOUT THIS:
</a:t>
            </a:r>
          </a:p>
          <a:p>
            <a:r>
              <a:rPr lang="en-US" dirty="0"/>
              <a:t>"Notice the films array. If I want the producers of those films, REST needs more calls. That is the gap GraphQL fills."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"So let's look at GraphQL."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"GraphQL is one endpoint and one typed schema, and the client decides the shape of the response."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"Where it shines: the schema describes the whole graph, clients ask for exactly the fields a screen needs, and nested relationships come back in one round trip."
</a:t>
            </a:r>
          </a:p>
          <a:p>
            <a:r>
              <a:rPr lang="en-US" dirty="0"/>
              <a:t>2. "Where it strains: HTTP caching is harder because everything is a POST to one URL, resolvers can cause N+1 load without batching, and public APIs need depth and cost limits."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BE CLEAR ABOUT THIS:
</a:t>
            </a:r>
          </a:p>
          <a:p>
            <a:r>
              <a:rPr lang="en-US" dirty="0"/>
              <a:t>"GraphQL moves the shaping work to the client — and moves the cost to the server. Plan for resolvers, batching and limits from day one."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"Here is the query the demo sends."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"Relationship questions go to GraphQL."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"One query — ExploreStarships — returns starships, their films, and each film's producers in a single request."
</a:t>
            </a:r>
          </a:p>
          <a:p>
            <a:r>
              <a:rPr lang="en-US" dirty="0"/>
              <a:t>2. "It runs on Spring for GraphQL, with resolvers reading the same catalog REST serves."
</a:t>
            </a:r>
          </a:p>
          <a:p>
            <a:r>
              <a:rPr lang="en-US" dirty="0"/>
              <a:t>3. "Even for a single ship, questions like 'which films' or 'who produced' are routed here, because the operation is about relationships."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BE CLEAR ABOUT THIS:
</a:t>
            </a:r>
          </a:p>
          <a:p>
            <a:r>
              <a:rPr lang="en-US" dirty="0"/>
              <a:t>"The protocol is chosen by the operation, not by how many entities are involved."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"Now the one that behaves most differently: gRPC."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"gRPC is contract-first RPC over HTTP/2, with compact binary Protobuf messages."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"Where it shines: generated clients from one proto file in many languages, HTTP/2 multiplexing, four call types including bidirectional streaming, and deadlines and cancellation built in."
</a:t>
            </a:r>
          </a:p>
          <a:p>
            <a:r>
              <a:rPr lang="en-US" dirty="0"/>
              <a:t>2. "Where it strains: browsers need gRPC-Web or a bridge, binary payloads are harder to debug, you need HTTP/2 end to end through every proxy, and field numbers are forever."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BE CLEAR ABOUT THIS:
</a:t>
            </a:r>
          </a:p>
          <a:p>
            <a:r>
              <a:rPr lang="en-US" dirty="0"/>
              <a:t>"gRPC is the right tool for internal service-to-service calls, low-latency paths and real-time streams — not usually for your public API."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"Here is the contract behind the demo's streaming feature."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"Tracking questions go to gRPC, over a real bidirectional stream on port 9090."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"The client sends three track requests while the response stream stays open, and the server answers each one with a snapshot."
</a:t>
            </a:r>
          </a:p>
          <a:p>
            <a:r>
              <a:rPr lang="en-US" dirty="0"/>
              <a:t>2. "Each snapshot is bridged to the browser as newline-delimited JSON the moment it arrives."
</a:t>
            </a:r>
          </a:p>
          <a:p>
            <a:r>
              <a:rPr lang="en-US" dirty="0"/>
              <a:t>3. "The call has a ten-second deadline, and the sizes you see count serialized Protobuf bytes."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BE CLEAR ABOUT THIS:
</a:t>
            </a:r>
          </a:p>
          <a:p>
            <a:r>
              <a:rPr lang="en-US" dirty="0"/>
              <a:t>"There is a deliberate 350-millisecond pause between requests so you can watch the snapshots arrive. The timestamps are real, and we do not fabricate any telemetry."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"Before the demo, a quick look at where these three came from."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"Each of these answered the problem of its moment."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"REST was described in Roy Fielding's dissertation in 2000."
</a:t>
            </a:r>
          </a:p>
          <a:p>
            <a:r>
              <a:rPr lang="en-US" dirty="0"/>
              <a:t>2. "GraphQL was built inside Facebook in 2012 for mobile, and published as a spec in 2015."
</a:t>
            </a:r>
          </a:p>
          <a:p>
            <a:r>
              <a:rPr lang="en-US" dirty="0"/>
              <a:t>3. "gRPC was open-sourced by Google in 2015, reached 1.0 in 2016, and joined the CNCF in 2017."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"On the practical side: REST has the lowest learning curve and the largest ecosystem. GraphQL and gRPC are both mature, and gRPC's learning curve is mostly the toolchain rather than the concepts."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"Enough slides. Let's look at it running."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"Section three: the demo, and then two stories from the field."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"Let me switch over to Protocol Studio."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"This is Protocol Studio. You ask a question in plain language, the app picks a protocol, and the inspector shows you the real request and response."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DO:
</a:t>
            </a:r>
          </a:p>
          <a:p>
            <a:r>
              <a:rPr lang="en-US" dirty="0"/>
              <a:t>1. Ask: "Tell me about the Millennium Falcon." Point out the REST route, the Cache-Control header and the response size.
</a:t>
            </a:r>
          </a:p>
          <a:p>
            <a:r>
              <a:rPr lang="en-US" dirty="0"/>
              <a:t>2. Ask: "Which starships appear in A New Hope, and who produced it?" Show the GraphQL query and the nested response.
</a:t>
            </a:r>
          </a:p>
          <a:p>
            <a:r>
              <a:rPr lang="en-US" dirty="0"/>
              <a:t>3. Ask: "Track the Millennium Falcon." Let the three gRPC snapshots stream in, then open the decoded Protobuf.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BE CLEAR ABOUT THIS:
</a:t>
            </a:r>
          </a:p>
          <a:p>
            <a:r>
              <a:rPr lang="en-US" dirty="0"/>
              <a:t>"If the model is slow to warm up, I will use a presenter override — and the screen will say it is an override. We never pass a manual choice off as AI."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"That is the lab version. Here is what this looks like with real clients."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"Our first client is a large-scale distribution company — automated material handling systems, equipment and consulting."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"They set out to build the next-generation warehouse execution system: 'Waze for the warehouse', in the public cloud."
</a:t>
            </a:r>
          </a:p>
          <a:p>
            <a:r>
              <a:rPr lang="en-US" dirty="0"/>
              <a:t>2. "Complete automation, which had not been done before, across an industrial IoT estate — sorting, picking and conveyors."
</a:t>
            </a:r>
          </a:p>
          <a:p>
            <a:r>
              <a:rPr lang="en-US" dirty="0"/>
              <a:t>3. "It is built on microservices and functions, with REST for resources and GraphQL for the connected view of the warehouse."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BE CLEAR ABOUT THIS:
</a:t>
            </a:r>
          </a:p>
          <a:p>
            <a:r>
              <a:rPr lang="en-US" dirty="0"/>
              <a:t>"This is a case of choosing per operation: REST where the resource is the unit, GraphQL where the relationships are the product."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"The second story made a very different choice."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"Our second client is a global retail coffee company, rebuilding point of sale and ordering."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"Thirty-three thousand locations. Security and offline operation are non-negotiable."
</a:t>
            </a:r>
          </a:p>
          <a:p>
            <a:r>
              <a:rPr lang="en-US" dirty="0"/>
              <a:t>2. "They have limited ability to expose endpoints at the store."
</a:t>
            </a:r>
          </a:p>
          <a:p>
            <a:r>
              <a:rPr lang="en-US" dirty="0"/>
              <a:t>3. "gRPC integration reduced that exposure and increased performance, with typed contracts between services."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BE CLEAR ABOUT THIS:
</a:t>
            </a:r>
          </a:p>
          <a:p>
            <a:r>
              <a:rPr lang="en-US" dirty="0"/>
              <a:t>"Same decision process, different answer. The constraints — exposure, offline, performance — pointed to gRPC."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"So what should you take away from all of this?"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"Three things to take away."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"Choose per operation. REST for cacheable resources, GraphQL for related data, gRPC for streams and service-to-service calls. Most systems use more than one."
</a:t>
            </a:r>
          </a:p>
          <a:p>
            <a:r>
              <a:rPr lang="en-US" dirty="0"/>
              <a:t>2. "Design the contract first. OpenAPI, schema or proto file — the contract outlives the implementation and drives your tooling, tests and code generation."
</a:t>
            </a:r>
          </a:p>
          <a:p>
            <a:r>
              <a:rPr lang="en-US" dirty="0"/>
              <a:t>3. "Measure the whole path. Round trips, payload size and caching decide real-world latency more than the protocol label does."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BE CLEAR ABOUT THIS:
</a:t>
            </a:r>
          </a:p>
          <a:p>
            <a:r>
              <a:rPr lang="en-US" dirty="0"/>
              <a:t>"Everything you saw today is in the repository — the code, the runbook and the measurements — so you can run it yourself."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"With that, let's open it up."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"Thank you. We would love to take your questions."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"If you want to try it yourself, it is one command: docker compose up, then open localhost:3000. No API keys needed."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IF ASKED ABOUT AI:
</a:t>
            </a:r>
          </a:p>
          <a:p>
            <a:r>
              <a:rPr lang="en-US" dirty="0"/>
              <a:t>"The appendix covers how the demo lets a local model or Jev choose the protocol — I am happy to walk through it."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(Replace the presenter placeholders before presenting.)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"This appendix explains how Protocol Studio lets a model choose the protocol — without letting it invent the answer."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"The architecture: how a question becomes a protocol call."
</a:t>
            </a:r>
          </a:p>
          <a:p>
            <a:r>
              <a:rPr lang="en-US" dirty="0"/>
              <a:t>2. "Two ways to make the decision: Ollama tool calling on a small local model, and Jev's structured decisions."
</a:t>
            </a:r>
          </a:p>
          <a:p>
            <a:r>
              <a:rPr lang="en-US" dirty="0"/>
              <a:t>3. "The guardrails, and what it costs in latency."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"Here is the path a question takes."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"Every question goes through five steps."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"The browser posts the message and recent turns."
</a:t>
            </a:r>
          </a:p>
          <a:p>
            <a:r>
              <a:rPr lang="en-US" dirty="0"/>
              <a:t>2. "A classifier — Ollama or Jev, behind one interface — picks one protocol and one allowlisted target."
</a:t>
            </a:r>
          </a:p>
          <a:p>
            <a:r>
              <a:rPr lang="en-US" dirty="0"/>
              <a:t>3. "The decision is just protocol plus target. Never a URL, never query text."
</a:t>
            </a:r>
          </a:p>
          <a:p>
            <a:r>
              <a:rPr lang="en-US" dirty="0"/>
              <a:t>4. "The server calls its own REST, GraphQL or native gRPC endpoint — real traffic."
</a:t>
            </a:r>
          </a:p>
          <a:p>
            <a:r>
              <a:rPr lang="en-US" dirty="0"/>
              <a:t>5. "The answer is composed from the response, and the inspector shows the payloads and timings."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BE CLEAR ABOUT THIS:
</a:t>
            </a:r>
          </a:p>
          <a:p>
            <a:r>
              <a:rPr lang="en-US" dirty="0"/>
              <a:t>"The model chooses the route. It never supplies the data. If it routes wrongly, you can see it — and it cannot invent facts."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"Let's look at the default router: Ollama."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"The default is genuine tool calling on a small local model — no API key, and no cloud dependency."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"There is one tool per protocol. The tool the model calls is the decision."
</a:t>
            </a:r>
          </a:p>
          <a:p>
            <a:r>
              <a:rPr lang="en-US" dirty="0"/>
              <a:t>2. "The target is an enum, so the model can only pick catalog IDs that exist."
</a:t>
            </a:r>
          </a:p>
          <a:p>
            <a:r>
              <a:rPr lang="en-US" dirty="0"/>
              <a:t>3. "We pin a four-billion-parameter instruct model without thinking mode, running locally."
</a:t>
            </a:r>
          </a:p>
          <a:p>
            <a:r>
              <a:rPr lang="en-US" dirty="0"/>
              <a:t>4. "It is tuned for latency: temperature zero, a 96-token cap, a thirty-minute keep-alive and a warm-up at startup."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BE CLEAR ABOUT THIS:
</a:t>
            </a:r>
          </a:p>
          <a:p>
            <a:r>
              <a:rPr lang="en-US" dirty="0"/>
              <a:t>"Pin the exact model tag. The unqualified tag resolves to a thinking model that burns tokens before it calls a tool."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"The alternative is a model built for decisions rather than text."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"Jev is a decision model, not a text generator."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"Instead of generating text, we ask two typed choice questions: which protocol, and which target."
</a:t>
            </a:r>
          </a:p>
          <a:p>
            <a:r>
              <a:rPr lang="en-US" dirty="0"/>
              <a:t>2. "Each answer comes back with a confidence and probabilities, and we show them in the inspector."
</a:t>
            </a:r>
          </a:p>
          <a:p>
            <a:r>
              <a:rPr lang="en-US" dirty="0"/>
              <a:t>3. "It plugs in behind the same interface — one environment variable switches providers."
</a:t>
            </a:r>
          </a:p>
          <a:p>
            <a:r>
              <a:rPr lang="en-US" dirty="0"/>
              <a:t>4. "It is hosted by TypeSafe, so it needs internet access and an API key. The key never leaves the server."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BE CLEAR ABOUT THIS:
</a:t>
            </a:r>
          </a:p>
          <a:p>
            <a:r>
              <a:rPr lang="en-US" dirty="0"/>
              <a:t>"Jev is optional. For a small, closed decision like this one, a structured decision fits better than free-form generation."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"So how do you choose between them?"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"Both routers make the same decision in different ways."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"Ollama runs locally and works offline, which matters for demos and data residency. It does not report confidence, and we do not invent one."
</a:t>
            </a:r>
          </a:p>
          <a:p>
            <a:r>
              <a:rPr lang="en-US" dirty="0"/>
              <a:t>2. "Jev is hosted, needs a key, and gives you calibrated confidence per decision."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BE CLEAR ABOUT THIS:
</a:t>
            </a:r>
          </a:p>
          <a:p>
            <a:r>
              <a:rPr lang="en-US" dirty="0"/>
              <a:t>"Presenter overrides bypass the model for one question, and the UI says so every time."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"That brings us to the rules that keep this honest."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"Five rules make it safe to put a model in the request path."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"Allowlisted targets — the model picks from catalog IDs, never URLs or queries."
</a:t>
            </a:r>
          </a:p>
          <a:p>
            <a:r>
              <a:rPr lang="en-US" dirty="0"/>
              <a:t>2. "No hidden fallback — if the model fails, you see an error, not keyword routing labeled as AI."
</a:t>
            </a:r>
          </a:p>
          <a:p>
            <a:r>
              <a:rPr lang="en-US" dirty="0"/>
              <a:t>3. "Labeled overrides — they apply to one question, then routing resets to Auto."
</a:t>
            </a:r>
          </a:p>
          <a:p>
            <a:r>
              <a:rPr lang="en-US" dirty="0"/>
              <a:t>4. "Grounded answers — every answer is built from the actual transport response."
</a:t>
            </a:r>
          </a:p>
          <a:p>
            <a:r>
              <a:rPr lang="en-US" dirty="0"/>
              <a:t>5. "Secrets stay server-side, and ports bind to loopback by default."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TRANSITION:
</a:t>
            </a:r>
          </a:p>
          <a:p>
            <a:r>
              <a:rPr lang="en-US" dirty="0"/>
              <a:t>"Finally, what does the router cost?"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</a:t>
            </a:r>
          </a:p>
          <a:p>
            <a:r>
              <a:rPr lang="en-US" dirty="0"/>
              <a:t>"These are medians to a complete response, on warm runs with native Ollama on Apple Silicon."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1. "REST in 1.11 seconds, GraphQL in 1.26, gRPC in 1.86 including three streamed snapshots."
</a:t>
            </a:r>
          </a:p>
          <a:p>
            <a:r>
              <a:rPr lang="en-US" dirty="0"/>
              <a:t>2. "Routing is the cost — about a second on a warm four-billion-parameter model. REST and GraphQL execute in single-digit milliseconds."
</a:t>
            </a:r>
          </a:p>
          <a:p>
            <a:r>
              <a:rPr lang="en-US" dirty="0"/>
              <a:t>3. "Most of the gRPC stream time is the deliberate pacing, so you can watch it happen."
</a:t>
            </a:r>
          </a:p>
          <a:p>
            <a:r>
              <a:rPr lang="en-US" dirty="0"/>
              <a:t>
</a:t>
            </a:r>
          </a:p>
          <a:p>
            <a:r>
              <a:rPr lang="en-US" dirty="0"/>
              <a:t>BE CLEAR ABOUT THIS:
</a:t>
            </a:r>
          </a:p>
          <a:p>
            <a:r>
              <a:rPr lang="en-US" dirty="0"/>
              <a:t>"This is a request diagnostic from three runs per protocol, not a load test or a protocol benchmark. You can reproduce it with the benchmark script in the repository."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rgbClr val="DA1884"/>
          </a:solidFill>
          <a:ln/>
        </p:spPr>
      </p:sp>
      <p:pic>
        <p:nvPicPr>
          <p:cNvPr id="3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825500"/>
            <a:ext cx="1905000" cy="787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9600" y="2095500"/>
            <a:ext cx="698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SESSION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23749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vs GraphQL vs gRPC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09600" y="3111500"/>
            <a:ext cx="698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right API protocol for the operation in front of you.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09600" y="3911600"/>
            <a:ext cx="50800" cy="1371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3600" y="3937000"/>
            <a:ext cx="673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63600" y="42164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300-level tour of REST, GraphQL and gRPC through one working app, Protocol Studio: a local or hosted model routes each question to the protocol that fits, and every request is real traffic you can inspect.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9600" y="5842000"/>
            <a:ext cx="698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[Conference name] 2026   •   Insight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09600" y="6578600"/>
            <a:ext cx="736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636000" y="15875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protocols.</a:t>
            </a:r>
            <a:endParaRPr lang="en-US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question.</a:t>
            </a:r>
            <a:endParaRPr lang="en-US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call.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8636000" y="3238500"/>
            <a:ext cx="508000" cy="38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36000" y="3492500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PROTOCOLS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36000" y="373380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REST, GraphQL and gRPC compared on real traffic.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636000" y="4318000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DEMO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636000" y="455930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app, three protocols, every request inspectable.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636000" y="5143500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THE FIELD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636000" y="538480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stories where the choice mattered.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Expectations &amp; Takeaways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sections, one running application. Every example is real HTTP, GraphQL and gRPC traffic, with no mocks.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11176000" cy="7366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63500" cy="736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7400" y="2159000"/>
            <a:ext cx="482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397000" y="2159000"/>
            <a:ext cx="254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140200" y="2159000"/>
            <a:ext cx="4470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protocol choice is still contentious, the key comparisons, and the demo data set.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763000" y="2159000"/>
            <a:ext cx="266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8000" y="2997200"/>
            <a:ext cx="11176000" cy="736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8000" y="2997200"/>
            <a:ext cx="63500" cy="736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87400" y="2997200"/>
            <a:ext cx="482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397000" y="2997200"/>
            <a:ext cx="254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Protocols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140200" y="2997200"/>
            <a:ext cx="4470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REST, GraphQL and gRPC, each covered twice: first the concept, then the working code.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8763000" y="2997200"/>
            <a:ext cx="266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slides per protocol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08000" y="3835400"/>
            <a:ext cx="11176000" cy="7366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08000" y="3835400"/>
            <a:ext cx="63500" cy="736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7400" y="3835400"/>
            <a:ext cx="482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1397000" y="3835400"/>
            <a:ext cx="254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Field Stories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140200" y="3835400"/>
            <a:ext cx="4470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live, then client stories where the choice mattered.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8763000" y="3835400"/>
            <a:ext cx="266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from the field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08000" y="4673600"/>
            <a:ext cx="11176000" cy="736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508000" y="4673600"/>
            <a:ext cx="63500" cy="736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87400" y="4673600"/>
            <a:ext cx="482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1397000" y="4673600"/>
            <a:ext cx="254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AI Routing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4140200" y="4673600"/>
            <a:ext cx="44704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demo lets Ollama or Jev choose the protocol, with guardrails and latency.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8763000" y="4673600"/>
            <a:ext cx="266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permitting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08000" y="5588000"/>
            <a:ext cx="11176000" cy="6096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508000" y="5588000"/>
            <a:ext cx="76200" cy="609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787400" y="5588000"/>
            <a:ext cx="1066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300-level.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assume you have built an API before. The focus is trade-offs you can apply on Monday.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875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3302000"/>
            <a:ext cx="5207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08000" y="4140200"/>
            <a:ext cx="1016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8000" y="43688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protocol choice is still contentious, and how the three compare.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23000" y="2654300"/>
            <a:ext cx="5461000" cy="2057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23000" y="2654300"/>
            <a:ext cx="5461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77000" y="2882900"/>
            <a:ext cx="495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77000" y="32385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the Frontier: the problem every integration team hits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77000" y="37211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Comparisons: transport, contract, caching and streaming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77000" y="42037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Data Set: one catalog behind all three protocols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the Frontier for Integration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many ways to move data between clients, services and partners. Choosing one is rarely obvious.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3587750" cy="215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387600"/>
            <a:ext cx="313055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PROBLEM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team has a default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Frontend, backend and integration teams each reach for what they know, so the data contract becomes a negotiation.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98950" y="2159000"/>
            <a:ext cx="3587750" cy="215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9895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527550" y="2387600"/>
            <a:ext cx="313055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REALITY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protocol has a sweet spot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Cacheable resources, client-shaped graphs and low-latency streams are different problems with different best answers.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89900" y="2159000"/>
            <a:ext cx="3587750" cy="215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899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318500" y="2387600"/>
            <a:ext cx="313055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THE APPROACH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per operation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systems benefit from more than one protocol, as long as each contract stays typed, versioned and visible.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8000" y="4572000"/>
            <a:ext cx="11176000" cy="635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8000" y="4572000"/>
            <a:ext cx="76200" cy="635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87400" y="45720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not which protocol wins.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which one fits the operation in front of you. Most production systems run more than one.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Comparisons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questions asked of each protocol. There are no bad answers, only different fits.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2159000"/>
          <a:ext cx="11176000" cy="914400"/>
        </p:xfrm>
        <a:graphic>
          <a:graphicData uri="http://schemas.openxmlformats.org/drawingml/2006/table">
            <a:tbl>
              <a:tblPr/>
              <a:tblGrid>
                <a:gridCol w="2123440"/>
                <a:gridCol w="3017520"/>
                <a:gridCol w="3017520"/>
                <a:gridCol w="301752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GraphQL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HTTP/1.1, HTTP/2 or HTTP/3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HTTP, usually one POST endpoint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HTTP/2 (required)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Payload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 (any media type)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Protobuf, binary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OpenAPI (optional)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SDL schema (required)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.proto file (required)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shape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per endpoint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selects fields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per RPC, strongly typed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HTTP and CDN caching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Client-side or persisted queries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Application-level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SSE or chunked responses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Subscriptions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Server, client and bidirectional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 support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gRPC-Web or a bridge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and resource APIs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Client-driven nested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Service-to-service, low latency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DATA SET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Catalog Behind All Three Protocols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Carried forward from last year's demo repository, with original IDs, numeric fields and relationships intact.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222500"/>
            <a:ext cx="2984500" cy="2476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222500"/>
            <a:ext cx="29845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4511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STARSHIPS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36600" y="27305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6000" dirty="0"/>
          </a:p>
        </p:txBody>
      </p:sp>
      <p:sp>
        <p:nvSpPr>
          <p:cNvPr id="15" name="Text 11"/>
          <p:cNvSpPr txBox="1"/>
          <p:nvPr/>
        </p:nvSpPr>
        <p:spPr>
          <a:xfrm>
            <a:off x="736600" y="3746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max speed and length, from the CR90 corvette to the Millennium Falcon.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03750" y="2222500"/>
            <a:ext cx="2984500" cy="2476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03750" y="2222500"/>
            <a:ext cx="29845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832350" y="24511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832350" y="27305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000" dirty="0"/>
          </a:p>
        </p:txBody>
      </p:sp>
      <p:sp>
        <p:nvSpPr>
          <p:cNvPr id="20" name="Text 16"/>
          <p:cNvSpPr txBox="1"/>
          <p:nvPr/>
        </p:nvSpPr>
        <p:spPr>
          <a:xfrm>
            <a:off x="4832350" y="3746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Hope through Revenge of the Sith.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699500" y="2222500"/>
            <a:ext cx="2984500" cy="2476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699500" y="2222500"/>
            <a:ext cx="29845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928100" y="24511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PRODUCERS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928100" y="27305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0" dirty="0"/>
          </a:p>
        </p:txBody>
      </p:sp>
      <p:sp>
        <p:nvSpPr>
          <p:cNvPr id="25" name="Text 21"/>
          <p:cNvSpPr txBox="1"/>
          <p:nvPr/>
        </p:nvSpPr>
        <p:spPr>
          <a:xfrm>
            <a:off x="8928100" y="3746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Gary Kurtz, Rick McCallum, Howard G. Kazanjian and George Lucas.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3492500" y="3111500"/>
            <a:ext cx="11112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many-to-many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568700" y="3403600"/>
            <a:ext cx="457200" cy="203200"/>
          </a:xfrm>
          <a:prstGeom prst="leftArrow">
            <a:avLst/>
          </a:prstGeom>
          <a:solidFill>
            <a:srgbClr val="DA1884"/>
          </a:solidFill>
          <a:ln/>
        </p:spPr>
      </p:sp>
      <p:sp>
        <p:nvSpPr>
          <p:cNvPr id="28" name="Shape 24"/>
          <p:cNvSpPr/>
          <p:nvPr/>
        </p:nvSpPr>
        <p:spPr>
          <a:xfrm>
            <a:off x="4064000" y="3403600"/>
            <a:ext cx="457200" cy="203200"/>
          </a:xfrm>
          <a:prstGeom prst="rightArrow">
            <a:avLst/>
          </a:prstGeom>
          <a:solidFill>
            <a:srgbClr val="DA188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588250" y="3111500"/>
            <a:ext cx="11112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many-to-many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664450" y="3403600"/>
            <a:ext cx="457200" cy="203200"/>
          </a:xfrm>
          <a:prstGeom prst="leftArrow">
            <a:avLst/>
          </a:prstGeom>
          <a:solidFill>
            <a:srgbClr val="DA1884"/>
          </a:solidFill>
          <a:ln/>
        </p:spPr>
      </p:sp>
      <p:sp>
        <p:nvSpPr>
          <p:cNvPr id="31" name="Shape 27"/>
          <p:cNvSpPr/>
          <p:nvPr/>
        </p:nvSpPr>
        <p:spPr>
          <a:xfrm>
            <a:off x="8159750" y="3403600"/>
            <a:ext cx="457200" cy="203200"/>
          </a:xfrm>
          <a:prstGeom prst="rightArrow">
            <a:avLst/>
          </a:prstGeom>
          <a:solidFill>
            <a:srgbClr val="DA1884"/>
          </a:solidFill>
          <a:ln/>
        </p:spPr>
      </p:sp>
      <p:sp>
        <p:nvSpPr>
          <p:cNvPr id="32" name="Shape 28"/>
          <p:cNvSpPr/>
          <p:nvPr/>
        </p:nvSpPr>
        <p:spPr>
          <a:xfrm>
            <a:off x="508000" y="5016500"/>
            <a:ext cx="11176000" cy="635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508000" y="5016500"/>
            <a:ext cx="76200" cy="635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787400" y="5016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immutable, in-memory catalog.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REST, GraphQL and gRPC all read the same seeded source. There is no database to configure, and all three protocols see identical data.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875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3302000"/>
            <a:ext cx="5207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Protocols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08000" y="4140200"/>
            <a:ext cx="1016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8000" y="43688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REST, GraphQL and gRPC: each in concept, then in working code.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23000" y="2413000"/>
            <a:ext cx="54610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23000" y="2413000"/>
            <a:ext cx="5461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77000" y="2641600"/>
            <a:ext cx="495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77000" y="29972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REST: resources over HTTP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77000" y="34798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GraphQL: client-shaped queries over one schema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77000" y="39624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gRPC: typed contracts and streaming over HTTP/2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77000" y="44450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Comparison: history, learning curve and use cases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· HOW IT WORKS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REST: Resources Over HTTP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resource gets a URL and HTTP verbs carry the intent. Its simplicity is both the strength and the ceiling.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486400" cy="2794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486400" cy="406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1590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REST shines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36600" y="274320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resources with standard verbs and status codes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HTTP caching through browsers, CDNs and proxies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tooling: curl, OpenAPI, gateways and API management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lowest barrier for partners and public consumers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97600" y="2159000"/>
            <a:ext cx="5486400" cy="2794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97600" y="2159000"/>
            <a:ext cx="5486400" cy="406400"/>
          </a:xfrm>
          <a:prstGeom prst="rect">
            <a:avLst/>
          </a:prstGeom>
          <a:solidFill>
            <a:srgbClr val="A1005D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26200" y="21590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strains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426200" y="274320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Over-fetching: fixed payloads return fields you do not need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Under-fetching: related data means extra round trips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 pressure as client needs diverge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first-class streaming (SSE or polling instead)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8000" y="5207000"/>
            <a:ext cx="11176000" cy="635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8000" y="5207000"/>
            <a:ext cx="76200" cy="635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7400" y="52070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REST for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cacheable, stateless resource APIs, especially ones you publish to others.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· IN THE DEMO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in Protocol Studio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Single-resource lookups route here: one URL per resource and a cacheable JSON response.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588000" cy="3937000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588000" cy="355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11200" y="21590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· RESPONSE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11200" y="2667000"/>
            <a:ext cx="5181600" cy="327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/api/catalog/starships/ship:5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 max-age=300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"id": "5",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"Millennium Falcon",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"maxSpeed": 1050,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"length": 34.37,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"films": [ … ]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99200" y="21590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9200" y="21590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27800" y="23114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035800" y="23114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route per resource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/starships/{target}, /films/{id} and /producers/{id} on Spring MVC.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99200" y="31496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99200" y="31496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27800" y="33020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035800" y="33020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Cacheable by default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Starship reads send Cache-Control: max-age=300.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299200" y="41402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99200" y="41402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527800" y="42926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7035800" y="42926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Picked for simple lookups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router sends speed, length and detail questions here.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299200" y="5130800"/>
            <a:ext cx="5384800" cy="787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99200" y="5130800"/>
            <a:ext cx="76200" cy="787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578600" y="5130800"/>
            <a:ext cx="48768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“Tell me about the Millennium Falcon.”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· HOW IT WORKS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GraphQL: Ask for Exactly What You Need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endpoint and one typed schema. The client decides the shape of the response.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486400" cy="2794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486400" cy="406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1590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GraphQL shines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36600" y="274320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typed schema (SDL) that describes the whole graph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select exactly the fields a screen needs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relationships resolved in one round trip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Introspection powers tooling, docs and code generation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97600" y="2159000"/>
            <a:ext cx="5486400" cy="2794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97600" y="2159000"/>
            <a:ext cx="5486400" cy="406400"/>
          </a:xfrm>
          <a:prstGeom prst="rect">
            <a:avLst/>
          </a:prstGeom>
          <a:solidFill>
            <a:srgbClr val="A1005D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26200" y="21590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strains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426200" y="274320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caching is harder: POST to one URL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N+1 resolver load without batching such as DataLoader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APIs need query depth and cost limits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server-side complexity to operate and secure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8000" y="5207000"/>
            <a:ext cx="11176000" cy="635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8000" y="5207000"/>
            <a:ext cx="76200" cy="635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7400" y="52070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GraphQL for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client-driven screens that stitch related data: BFFs, mobile apps and micro-frontends.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· IN THE DEMO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in Protocol Studio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questions route here: starships, films and producers in a single request.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588000" cy="3937000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588000" cy="355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11200" y="21590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/GRAPHQL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11200" y="2667000"/>
            <a:ext cx="5181600" cy="327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ExploreStarships($target: String!)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starships(target: $target)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name maxSpeed length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films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title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producers { name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variables: { "target": "film:1" }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99200" y="21590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9200" y="21590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27800" y="23114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035800" y="23114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request, three entities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Starships to films to producers in one round trip.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99200" y="31496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99200" y="31496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27800" y="33020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035800" y="33020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for GraphQL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@QueryMapping resolvers read the same catalog that REST serves.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299200" y="41402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99200" y="41402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527800" y="42926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7035800" y="42926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Picked for relationships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films” and “who produced” route here, even for one ship.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299200" y="5130800"/>
            <a:ext cx="5384800" cy="787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99200" y="5130800"/>
            <a:ext cx="76200" cy="787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578600" y="5130800"/>
            <a:ext cx="48768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starships appear in A New Hope, and who produced it?”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· HOW IT WORKS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gRPC: Typed Contracts, Streaming by Default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Contract-first RPC over HTTP/2 with compact Protobuf messages and four call types.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486400" cy="2794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486400" cy="406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1590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gRPC shines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36600" y="274320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Contract-first .proto files with generated clients in many languages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binary Protobuf with HTTP/2 multiplexing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Unary, server, client and bidirectional streaming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Deadlines, cancellation and metadata built in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97600" y="2159000"/>
            <a:ext cx="5486400" cy="2794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97600" y="2159000"/>
            <a:ext cx="5486400" cy="406400"/>
          </a:xfrm>
          <a:prstGeom prst="rect">
            <a:avLst/>
          </a:prstGeom>
          <a:solidFill>
            <a:srgbClr val="A1005D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26200" y="21590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strains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426200" y="274320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Browsers need gRPC-Web or an HTTP bridge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payloads are harder to read and debug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HTTP/2 end to end through proxies and load balancers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discipline: field numbers are forever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8000" y="5207000"/>
            <a:ext cx="11176000" cy="635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8000" y="5207000"/>
            <a:ext cx="76200" cy="635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7400" y="52070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gRPC for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service-to-service calls, low-latency paths and real-time streams.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· IN THE DEMO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in Protocol Studio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questions route here: a real bidirectional Protobuf stream on port 9090.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588000" cy="3937000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588000" cy="355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11200" y="21590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CATALOG.PROTO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11200" y="2667000"/>
            <a:ext cx="5181600" cy="327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StarshipTracker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rpc Track(stream TrackRequest)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returns (stream TrackSnapshot);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TrackRequest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target = 1;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int32 sequence = 2;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TrackSnapshot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repeated TrackedShip starships = 1;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int32 sequence = 2;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observed_at = 3;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99200" y="21590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9200" y="21590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27800" y="23114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035800" y="23114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Truly bidirectional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sends three requests while the response stream stays open.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99200" y="31496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99200" y="31496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27800" y="33020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035800" y="33020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Bridged to the browser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snapshot is flushed to the UI as NDJSON as it arrives.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299200" y="4140200"/>
            <a:ext cx="5384800" cy="889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99200" y="4140200"/>
            <a:ext cx="63500" cy="889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527800" y="42926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7035800" y="42926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and honest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10-second deadline; sizes count serialized Protobuf bytes.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299200" y="5130800"/>
            <a:ext cx="5384800" cy="787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99200" y="5130800"/>
            <a:ext cx="76200" cy="787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578600" y="5130800"/>
            <a:ext cx="48768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“Track the Millennium Falcon.”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COMPARISON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Protocol Came From, and Where It Fits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decades of API design. Each protocol answered the problem of its moment.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2679700" cy="381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08000" y="2311400"/>
            <a:ext cx="2679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08000" y="26543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described in Roy Fielding's dissertation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340100" y="2159000"/>
            <a:ext cx="2679700" cy="381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340100" y="2311400"/>
            <a:ext cx="2679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340100" y="26543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built inside Facebook for mobile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72200" y="2159000"/>
            <a:ext cx="2679700" cy="381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172200" y="2311400"/>
            <a:ext cx="2679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172200" y="26543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spec published; gRPC open-sourced by Google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9004300" y="2159000"/>
            <a:ext cx="2679700" cy="381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9004300" y="2311400"/>
            <a:ext cx="2679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9004300" y="26543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1.0 released; adopted by CNCF in 2017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3429000"/>
          <a:ext cx="11176000" cy="914400"/>
        </p:xfrm>
        <a:graphic>
          <a:graphicData uri="http://schemas.openxmlformats.org/drawingml/2006/table">
            <a:tbl>
              <a:tblPr/>
              <a:tblGrid>
                <a:gridCol w="2123440"/>
                <a:gridCol w="3017520"/>
                <a:gridCol w="3017520"/>
                <a:gridCol w="3017520"/>
              </a:tblGrid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GraphQL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curve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Medium: Protobuf and toolchain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Ecosystem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Ubiquitous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Mature and growing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Mature in cloud-native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use cases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APIs, identity, legacy integration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Mobile, BFFs, micro-frontends, multi-tenant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Microservices, IoT, real-time streams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875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3302000"/>
            <a:ext cx="5207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Field Stories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08000" y="4800600"/>
            <a:ext cx="1016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8000" y="50292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live, then where the choice mattered for clients.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23000" y="2654300"/>
            <a:ext cx="5461000" cy="2057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23000" y="2654300"/>
            <a:ext cx="5461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77000" y="2882900"/>
            <a:ext cx="495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77000" y="32385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three questions, three protocols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77000" y="37211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distribution: REST and GraphQL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77000" y="42037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retail coffee: gRPC at the edge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Let's Get Into the Code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question, watch the model pick a protocol, and inspect the real request and response.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358775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387600"/>
            <a:ext cx="313055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· SIMPLE LOOKUP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“Tell me about the Millennium Falcon.”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to GET /api/catalog/starships/ship:5 and returns a cacheable JSON body.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98950" y="2159000"/>
            <a:ext cx="358775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9895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527550" y="2387600"/>
            <a:ext cx="313055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· RELATIONSHIPS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starships appear in A New Hope, and who produced it?”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to query ExploreStarships, returning ships, films and producers together.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89900" y="2159000"/>
            <a:ext cx="358775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899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318500" y="2387600"/>
            <a:ext cx="313055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· STREAMING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“Track the Millennium Falcon.”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StarshipTracker/Track, and three snapshots stream back over HTTP/2.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8000" y="4927600"/>
            <a:ext cx="5486400" cy="1168400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8000" y="4927600"/>
            <a:ext cx="5486400" cy="355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11200" y="4927600"/>
            <a:ext cx="508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711200" y="54356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 -d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http://localhost:3000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6400800" y="4953000"/>
            <a:ext cx="5283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6400800" y="5232400"/>
            <a:ext cx="52832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TypeScript · assistant-ui · Zustand · Tailwind v4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21 · Spring Boot 3.5 · Spring for GraphQL · grpc-java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(local) · Jev (optional, hosted)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STORIES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STORY · DISTRIBUTION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Distribution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automated material handling systems, equipment and consulting company.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08000" y="2159000"/>
            <a:ext cx="673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set out to build the next-generation warehouse execution system.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08000" y="2870200"/>
            <a:ext cx="6731000" cy="2984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08000" y="2870200"/>
            <a:ext cx="6731000" cy="406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36600" y="2870200"/>
            <a:ext cx="6273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approach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36600" y="3454400"/>
            <a:ext cx="6273800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“Waze for the warehouse” in the public cloud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automation, which had never been done before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industrial IoT solution: sorting, picking and conveyors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“basecamp to the summit” delivery approach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493000" y="2159000"/>
            <a:ext cx="4191000" cy="1778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93000" y="2159000"/>
            <a:ext cx="4191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721600" y="2387600"/>
            <a:ext cx="3733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 IN PLAY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and GraphQL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and functions expose REST APIs for resources and GraphQL for the connected warehouse view.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493000" y="4140200"/>
            <a:ext cx="4191000" cy="1714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493000" y="4140200"/>
            <a:ext cx="4191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721600" y="4368800"/>
            <a:ext cx="3733800" cy="130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IS GOING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“Jinan”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multi-year engagement to build the next platform. The name means “second son.”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STORIES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STORY · RETAIL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Retail Coffee Manufacturer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point of sale and order operations.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3429000" cy="1549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3429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349500"/>
            <a:ext cx="2971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36600" y="2616200"/>
            <a:ext cx="2971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33k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736600" y="3327400"/>
            <a:ext cx="2971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offline operation are key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8000" y="3911600"/>
            <a:ext cx="3429000" cy="19431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8000" y="3911600"/>
            <a:ext cx="3429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36600" y="4140200"/>
            <a:ext cx="2971800" cy="153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IS GOING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drive-thru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engaged on opportunities to improve drive-thru experiences.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191000" y="2159000"/>
            <a:ext cx="749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set out to build the next-generation POS and ordering system.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191000" y="2870200"/>
            <a:ext cx="7493000" cy="2984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191000" y="2870200"/>
            <a:ext cx="7493000" cy="406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419600" y="2870200"/>
            <a:ext cx="7035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gRPC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4419600" y="3454400"/>
            <a:ext cx="7035800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experiences for both the barista partner and the customer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ability to expose endpoints at the store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integration reduces exposure and increases performance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Service-based integration built on typed gRPC contracts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AWAY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to Take Away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protocol per operation, design the contract first, and measure the whole path.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3587750" cy="2476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387600"/>
            <a:ext cx="3130550" cy="207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per operation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for cacheable resources, GraphQL for related data, and gRPC for streams and service-to-service calls. Most systems use more than one.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98950" y="2159000"/>
            <a:ext cx="3587750" cy="2476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9895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527550" y="2387600"/>
            <a:ext cx="3130550" cy="207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the contract first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OpenAPI, SDL or .proto: the contract outlives any implementation and drives tooling, testing and code generation.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89900" y="2159000"/>
            <a:ext cx="3587750" cy="2476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899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318500" y="2387600"/>
            <a:ext cx="3130550" cy="207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the whole path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trips, payload size and caching decide real-world latency more than the protocol label does.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8000" y="4889500"/>
            <a:ext cx="11176000" cy="1079500"/>
          </a:xfrm>
          <a:prstGeom prst="rect">
            <a:avLst/>
          </a:prstGeom>
          <a:solidFill>
            <a:srgbClr val="DA188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787400" y="5080000"/>
            <a:ext cx="1066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“Three protocols. One question. The right call, made where you can see it.”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787400" y="5575300"/>
            <a:ext cx="10668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Repository, runbook and measurements: [repository link]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rgbClr val="DA1884"/>
          </a:solidFill>
          <a:ln/>
        </p:spPr>
      </p:sp>
      <p:pic>
        <p:nvPicPr>
          <p:cNvPr id="3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825500"/>
            <a:ext cx="1905000" cy="787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9600" y="2095500"/>
            <a:ext cx="698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2413000"/>
            <a:ext cx="698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/questions</a:t>
            </a:r>
            <a:endParaRPr lang="en-US" sz="6000" dirty="0"/>
          </a:p>
        </p:txBody>
      </p:sp>
      <p:sp>
        <p:nvSpPr>
          <p:cNvPr id="6" name="Shape 3"/>
          <p:cNvSpPr/>
          <p:nvPr/>
        </p:nvSpPr>
        <p:spPr>
          <a:xfrm>
            <a:off x="609600" y="3479800"/>
            <a:ext cx="1016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09600" y="3746500"/>
            <a:ext cx="698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[Presenter name]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[Title]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[Presenter name]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[Title]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9600" y="6578600"/>
            <a:ext cx="736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636000" y="15875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yourself.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8636000" y="3238500"/>
            <a:ext cx="508000" cy="38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36000" y="3492500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RUN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36000" y="373380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up --build -d, then open localhost:3000.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636000" y="4318000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ASK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636000" y="455930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three guided prompts, then ask your own.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36000" y="5143500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INSPECT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636000" y="538480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inspector to see every payload and timing.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875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3302000"/>
            <a:ext cx="5207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AI Routing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08000" y="4800600"/>
            <a:ext cx="1016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8000" y="50292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material: how Protocol Studio lets a model choose the protocol.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23000" y="2413000"/>
            <a:ext cx="54610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23000" y="2413000"/>
            <a:ext cx="54610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77000" y="2641600"/>
            <a:ext cx="495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77000" y="29972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how a question becomes a protocol call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77000" y="34798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Ollama: local tool calling on a 4B model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77000" y="39624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Jev: structured decisions with confidence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77000" y="4445000"/>
            <a:ext cx="495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and measured latency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AI ROUTING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Protocol Studio Routes a Question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interface, IntentClassifier, with two implementations: Ollama by default and Jev optionally.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19558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19558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73100" y="2362200"/>
            <a:ext cx="16256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ASK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plain question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posts the message and recent turns to /api/chat.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520950" y="3352800"/>
            <a:ext cx="241300" cy="152400"/>
          </a:xfrm>
          <a:prstGeom prst="rightArrow">
            <a:avLst/>
          </a:prstGeom>
          <a:solidFill>
            <a:srgbClr val="DA1884"/>
          </a:solidFill>
          <a:ln/>
        </p:spPr>
      </p:sp>
      <p:sp>
        <p:nvSpPr>
          <p:cNvPr id="15" name="Shape 11"/>
          <p:cNvSpPr/>
          <p:nvPr/>
        </p:nvSpPr>
        <p:spPr>
          <a:xfrm>
            <a:off x="2813050" y="2159000"/>
            <a:ext cx="19558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813050" y="2159000"/>
            <a:ext cx="19558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978150" y="2362200"/>
            <a:ext cx="16256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CLASSIFY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or Jev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one protocol and one allowlisted catalog target.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826000" y="3352800"/>
            <a:ext cx="241300" cy="152400"/>
          </a:xfrm>
          <a:prstGeom prst="rightArrow">
            <a:avLst/>
          </a:prstGeom>
          <a:solidFill>
            <a:srgbClr val="DA1884"/>
          </a:solidFill>
          <a:ln/>
        </p:spPr>
      </p:sp>
      <p:sp>
        <p:nvSpPr>
          <p:cNvPr id="19" name="Shape 15"/>
          <p:cNvSpPr/>
          <p:nvPr/>
        </p:nvSpPr>
        <p:spPr>
          <a:xfrm>
            <a:off x="5118100" y="2159000"/>
            <a:ext cx="19558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118100" y="2159000"/>
            <a:ext cx="19558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283200" y="2362200"/>
            <a:ext cx="16256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DECIDE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typed decision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{ protocol, target }: never a URL or query text.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131050" y="3352800"/>
            <a:ext cx="241300" cy="152400"/>
          </a:xfrm>
          <a:prstGeom prst="rightArrow">
            <a:avLst/>
          </a:prstGeom>
          <a:solidFill>
            <a:srgbClr val="DA1884"/>
          </a:solidFill>
          <a:ln/>
        </p:spPr>
      </p:sp>
      <p:sp>
        <p:nvSpPr>
          <p:cNvPr id="23" name="Shape 19"/>
          <p:cNvSpPr/>
          <p:nvPr/>
        </p:nvSpPr>
        <p:spPr>
          <a:xfrm>
            <a:off x="7423150" y="2159000"/>
            <a:ext cx="19558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23150" y="2159000"/>
            <a:ext cx="19558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588250" y="2362200"/>
            <a:ext cx="16256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EXECUTE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transport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its own REST, GraphQL or native gRPC endpoint.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9436100" y="3352800"/>
            <a:ext cx="241300" cy="152400"/>
          </a:xfrm>
          <a:prstGeom prst="rightArrow">
            <a:avLst/>
          </a:prstGeom>
          <a:solidFill>
            <a:srgbClr val="DA1884"/>
          </a:solidFill>
          <a:ln/>
        </p:spPr>
      </p:sp>
      <p:sp>
        <p:nvSpPr>
          <p:cNvPr id="27" name="Shape 23"/>
          <p:cNvSpPr/>
          <p:nvPr/>
        </p:nvSpPr>
        <p:spPr>
          <a:xfrm>
            <a:off x="9728200" y="2159000"/>
            <a:ext cx="1955800" cy="2540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9728200" y="2159000"/>
            <a:ext cx="195580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9893300" y="2362200"/>
            <a:ext cx="16256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ANSWER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Compose, inspect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the response, with payloads and timings shown.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508000" y="5016500"/>
            <a:ext cx="11176000" cy="698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508000" y="5016500"/>
            <a:ext cx="76200" cy="6985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87400" y="5016500"/>
            <a:ext cx="1066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chooses the route. It never supplies the data.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are composed deterministically from what the protocol returned, so a routing mistake is visible and no facts are invented.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AI ROUTING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ROUTING · OLLAMA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Routing with Ollama Tool Calling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tool calling on a small local model: no API key and no cloud dependency.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588000" cy="3810000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588000" cy="355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11200" y="21590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TOOL PER PROTOCOL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11200" y="2667000"/>
            <a:ext cx="5181600" cy="31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"function",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"function":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"GRAPHQL",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"description": "A nested query brings…",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"parameters":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"properties": { "target":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"string",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"enum": ["ship:5", "film:1", …]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 },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"required": ["target"]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} }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99200" y="2159000"/>
            <a:ext cx="5384800" cy="8763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9200" y="2159000"/>
            <a:ext cx="63500" cy="8763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27800" y="23114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035800" y="2311400"/>
            <a:ext cx="44450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name is the decision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REST, GRAPHQL or GRPC: the model must call exactly one.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99200" y="3124200"/>
            <a:ext cx="5384800" cy="8763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99200" y="3124200"/>
            <a:ext cx="63500" cy="8763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27800" y="32766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035800" y="3276600"/>
            <a:ext cx="44450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Enum-bound targets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catalog IDs that exist can be selected.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299200" y="4089400"/>
            <a:ext cx="5384800" cy="8763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99200" y="4089400"/>
            <a:ext cx="63500" cy="8763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527800" y="42418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7035800" y="4241800"/>
            <a:ext cx="44450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pinned small model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qwen3:4b-instruct-2507 (q4_K_M), no thinking mode, runs locally.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299200" y="5054600"/>
            <a:ext cx="5384800" cy="8763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99200" y="5054600"/>
            <a:ext cx="63500" cy="8763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527800" y="52070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7035800" y="5207000"/>
            <a:ext cx="44450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Tuned for latency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0, 96-token cap, 30-minute keep-alive, startup warm-up.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AI ROUTING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ROUTING · JEV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Jev: A Decision Model, Not a Text Generator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typed Choice questions replace free-form generation, which suits a small, closed decision space.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5588000" cy="3810000"/>
          </a:xfrm>
          <a:prstGeom prst="rect">
            <a:avLst/>
          </a:prstGeom>
          <a:solidFill>
            <a:srgbClr val="1B1B1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5588000" cy="3556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11200" y="21590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/V1/SYSTEMONE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11200" y="2667000"/>
            <a:ext cx="5181600" cy="31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"jev-latest",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"state": { "message": "…",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"history": [ … ] },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"questions":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"protocol": { "type": "choice",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"criteria": { "REST": "…",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"GRAPHQL": "…", "GRPC": "…" } },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"target": { "type": "choice",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"criteria": { "ship:5": "…" }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99200" y="2159000"/>
            <a:ext cx="5384800" cy="1168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9200" y="2159000"/>
            <a:ext cx="63500" cy="1168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27800" y="23114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035800" y="2311400"/>
            <a:ext cx="444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Answers, not prose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question returns a choice with confidence and probabilities, shown in the inspector.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99200" y="3454400"/>
            <a:ext cx="5384800" cy="1168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99200" y="3454400"/>
            <a:ext cx="63500" cy="1168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27800" y="36068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035800" y="3606800"/>
            <a:ext cx="444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contract as Ollama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Plugs in behind IntentClassifier with AI_PROVIDER=jev.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299200" y="4749800"/>
            <a:ext cx="5384800" cy="1168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99200" y="4749800"/>
            <a:ext cx="63500" cy="11684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527800" y="4902200"/>
            <a:ext cx="38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7035800" y="4902200"/>
            <a:ext cx="444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by TypeSafe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internet and TYPESAFE_API_KEY, and the key never leaves the server.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AI ROUTING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ROUTER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vs Jev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make the same decision. Swap between them with one environment variable.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2159000"/>
          <a:ext cx="11176000" cy="914400"/>
        </p:xfrm>
        <a:graphic>
          <a:graphicData uri="http://schemas.openxmlformats.org/drawingml/2006/table">
            <a:tbl>
              <a:tblPr/>
              <a:tblGrid>
                <a:gridCol w="2458720"/>
                <a:gridCol w="4358640"/>
                <a:gridCol w="435864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Ollama (default)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Jev (optional)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188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Mechanism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tool calling across three tool schemas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typed Choice questions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it runs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Locally, in Docker or native on the host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Hosted TypeSafe API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tool call plus an enum target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choice per question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reported, and none invented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 and probabilities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Pull a model of several GB once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key and internet access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demos and data residency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 decisions that need calibrated confidence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08000" y="5270500"/>
            <a:ext cx="11176000" cy="6350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508000" y="5270500"/>
            <a:ext cx="76200" cy="635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787400" y="5270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overrides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 the model entirely for one question, and the UI says so. They are never passed off as AI classification.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AI ROUTING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Rules That Keep the Router Honest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gets a narrow job, and the system makes every choice it makes visible.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11176000" cy="698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63500" cy="6985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7400" y="2159000"/>
            <a:ext cx="482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397000" y="21590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Allowlisted targets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140200" y="2159000"/>
            <a:ext cx="4470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choose catalog IDs through an enum or criteria, never URLs, queries or service names.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763000" y="21590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injected or hallucinated calls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8000" y="2946400"/>
            <a:ext cx="11176000" cy="69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8000" y="2946400"/>
            <a:ext cx="63500" cy="6985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87400" y="2946400"/>
            <a:ext cx="482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397000" y="29464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hidden fallback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140200" y="2946400"/>
            <a:ext cx="4470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output or an unavailable provider shows an error. Nothing is keyword-routed and labeled as AI.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8763000" y="29464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see is what the model did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08000" y="3733800"/>
            <a:ext cx="11176000" cy="698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08000" y="3733800"/>
            <a:ext cx="63500" cy="6985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7400" y="3733800"/>
            <a:ext cx="482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1397000" y="37338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 overrides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140200" y="3733800"/>
            <a:ext cx="4470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overrides apply to one question, then the router resets to Auto.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8763000" y="37338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 never stall on a cold model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08000" y="4521200"/>
            <a:ext cx="11176000" cy="69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508000" y="4521200"/>
            <a:ext cx="63500" cy="6985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87400" y="4521200"/>
            <a:ext cx="482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1397000" y="45212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answers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4140200" y="4521200"/>
            <a:ext cx="4470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is composed from the actual transport response.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8763000" y="45212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invented facts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08000" y="5308600"/>
            <a:ext cx="11176000" cy="6985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508000" y="5308600"/>
            <a:ext cx="63500" cy="6985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787400" y="5308600"/>
            <a:ext cx="482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8" name="Text 34"/>
          <p:cNvSpPr txBox="1"/>
          <p:nvPr/>
        </p:nvSpPr>
        <p:spPr>
          <a:xfrm>
            <a:off x="1397000" y="53086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stay server-side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4140200" y="5308600"/>
            <a:ext cx="4470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and auth headers never reach the browser. Ports bind to loopback.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8763000" y="53086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local-first defaults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pietrek-Projects-dev2next/d6614435-6e88-43b0-8755-153d1251090d/scratchpad/assets/insight-sta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52400"/>
            <a:ext cx="990600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560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Studio  —  REST · GraphQL · gRPC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50000" y="40640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AI ROUTING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08000" y="6578600"/>
            <a:ext cx="889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 Do Not Copy or Distribute.  © 2026 Insight.  All Rights Reserved.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22000" y="65786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8000" y="8890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NOT PROMISED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8000" y="11303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Router Costs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" y="1663700"/>
            <a:ext cx="1117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time to a complete response on warm, sequential runs with native Ollama on Apple Silicon.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2159000"/>
            <a:ext cx="3587750" cy="1549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80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6600" y="2349500"/>
            <a:ext cx="31305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36600" y="2616200"/>
            <a:ext cx="313055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 s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736600" y="3327400"/>
            <a:ext cx="31305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complete response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298950" y="2159000"/>
            <a:ext cx="3587750" cy="1549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9895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527550" y="2349500"/>
            <a:ext cx="31305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527550" y="2616200"/>
            <a:ext cx="313055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1.26 s</a:t>
            </a:r>
            <a:endParaRPr lang="en-US" sz="4000" dirty="0"/>
          </a:p>
        </p:txBody>
      </p:sp>
      <p:sp>
        <p:nvSpPr>
          <p:cNvPr id="20" name="Text 16"/>
          <p:cNvSpPr txBox="1"/>
          <p:nvPr/>
        </p:nvSpPr>
        <p:spPr>
          <a:xfrm>
            <a:off x="4527550" y="3327400"/>
            <a:ext cx="31305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complete response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089900" y="2159000"/>
            <a:ext cx="3587750" cy="154940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089900" y="2159000"/>
            <a:ext cx="3587750" cy="508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318500" y="2349500"/>
            <a:ext cx="31305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318500" y="2616200"/>
            <a:ext cx="313055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1.86 s</a:t>
            </a:r>
            <a:endParaRPr lang="en-US" sz="4000" dirty="0"/>
          </a:p>
        </p:txBody>
      </p:sp>
      <p:sp>
        <p:nvSpPr>
          <p:cNvPr id="25" name="Text 21"/>
          <p:cNvSpPr txBox="1"/>
          <p:nvPr/>
        </p:nvSpPr>
        <p:spPr>
          <a:xfrm>
            <a:off x="8318500" y="3327400"/>
            <a:ext cx="31305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three streamed snapshots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508000" y="3911600"/>
            <a:ext cx="1117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1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Routing (model)</a:t>
            </a:r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■ Protocol execution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(round 3 sample)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08000" y="4229100"/>
            <a:ext cx="95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1612900" y="4229100"/>
            <a:ext cx="3606800" cy="254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29" name="Shape 25"/>
          <p:cNvSpPr/>
          <p:nvPr/>
        </p:nvSpPr>
        <p:spPr>
          <a:xfrm>
            <a:off x="5219700" y="4229100"/>
            <a:ext cx="25400" cy="25400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5397500" y="42291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1,093 ms routing + 4 ms protocol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508000" y="4597400"/>
            <a:ext cx="95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1612900" y="4597400"/>
            <a:ext cx="4095750" cy="254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3" name="Shape 29"/>
          <p:cNvSpPr/>
          <p:nvPr/>
        </p:nvSpPr>
        <p:spPr>
          <a:xfrm>
            <a:off x="5708650" y="4597400"/>
            <a:ext cx="25400" cy="25400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5886450" y="45974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1,241 ms routing + 7 ms protocol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508000" y="4965700"/>
            <a:ext cx="95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1612900" y="4965700"/>
            <a:ext cx="3670300" cy="254000"/>
          </a:xfrm>
          <a:prstGeom prst="rect">
            <a:avLst/>
          </a:prstGeom>
          <a:solidFill>
            <a:srgbClr val="DA1884"/>
          </a:solidFill>
          <a:ln/>
        </p:spPr>
      </p:sp>
      <p:sp>
        <p:nvSpPr>
          <p:cNvPr id="37" name="Shape 33"/>
          <p:cNvSpPr/>
          <p:nvPr/>
        </p:nvSpPr>
        <p:spPr>
          <a:xfrm>
            <a:off x="5283200" y="4965700"/>
            <a:ext cx="2362200" cy="25400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7797800" y="49657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1,112 ms routing + 716 ms stream*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508000" y="5461000"/>
            <a:ext cx="1117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includes 700 ms of deliberate pacing between stream requests. Three runs per protocol; this is a request diagnostic, not a load test or protocol benchmark.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Insight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 vs GraphQL vs gRPC — AI Routing</dc:title>
  <dc:subject>PptxGenJS Presentation</dc:subject>
  <dc:creator>PptxGenJS</dc:creator>
  <cp:lastModifiedBy>PptxGenJS</cp:lastModifiedBy>
  <cp:revision>1</cp:revision>
  <dcterms:created xsi:type="dcterms:W3CDTF">2026-09-26T23:07:21Z</dcterms:created>
  <dcterms:modified xsi:type="dcterms:W3CDTF">2026-09-26T23:07:21Z</dcterms:modified>
</cp:coreProperties>
</file>